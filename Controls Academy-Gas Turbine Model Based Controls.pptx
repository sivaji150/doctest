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714" r:id="rId2"/>
  </p:sldMasterIdLst>
  <p:notesMasterIdLst>
    <p:notesMasterId r:id="rId25"/>
  </p:notesMasterIdLst>
  <p:handoutMasterIdLst>
    <p:handoutMasterId r:id="rId26"/>
  </p:handoutMasterIdLst>
  <p:sldIdLst>
    <p:sldId id="310" r:id="rId3"/>
    <p:sldId id="290" r:id="rId4"/>
    <p:sldId id="323" r:id="rId5"/>
    <p:sldId id="331" r:id="rId6"/>
    <p:sldId id="332" r:id="rId7"/>
    <p:sldId id="333" r:id="rId8"/>
    <p:sldId id="311" r:id="rId9"/>
    <p:sldId id="313" r:id="rId10"/>
    <p:sldId id="314" r:id="rId11"/>
    <p:sldId id="315" r:id="rId12"/>
    <p:sldId id="317" r:id="rId13"/>
    <p:sldId id="318" r:id="rId14"/>
    <p:sldId id="321" r:id="rId15"/>
    <p:sldId id="320" r:id="rId16"/>
    <p:sldId id="316" r:id="rId17"/>
    <p:sldId id="324" r:id="rId18"/>
    <p:sldId id="322" r:id="rId19"/>
    <p:sldId id="325" r:id="rId20"/>
    <p:sldId id="327" r:id="rId21"/>
    <p:sldId id="328" r:id="rId22"/>
    <p:sldId id="329" r:id="rId23"/>
    <p:sldId id="33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056" userDrawn="1">
          <p15:clr>
            <a:srgbClr val="A4A3A4"/>
          </p15:clr>
        </p15:guide>
        <p15:guide id="4" orient="horz" pos="528" userDrawn="1">
          <p15:clr>
            <a:srgbClr val="A4A3A4"/>
          </p15:clr>
        </p15:guide>
        <p15:guide id="6" orient="horz" pos="3903">
          <p15:clr>
            <a:srgbClr val="A4A3A4"/>
          </p15:clr>
        </p15:guide>
        <p15:guide id="7" pos="7189" userDrawn="1">
          <p15:clr>
            <a:srgbClr val="A4A3A4"/>
          </p15:clr>
        </p15:guide>
        <p15:guide id="8" pos="1025">
          <p15:clr>
            <a:srgbClr val="A4A3A4"/>
          </p15:clr>
        </p15:guide>
        <p15:guide id="9" pos="6697">
          <p15:clr>
            <a:srgbClr val="A4A3A4"/>
          </p15:clr>
        </p15:guide>
        <p15:guide id="10" pos="4212">
          <p15:clr>
            <a:srgbClr val="A4A3A4"/>
          </p15:clr>
        </p15:guide>
        <p15:guide id="11" pos="46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85FF"/>
    <a:srgbClr val="DDDDDD"/>
    <a:srgbClr val="E9E9E9"/>
    <a:srgbClr val="BEDEFF"/>
    <a:srgbClr val="86BEFB"/>
    <a:srgbClr val="9A9A9A"/>
    <a:srgbClr val="D7FFBC"/>
    <a:srgbClr val="AFFF78"/>
    <a:srgbClr val="75D835"/>
    <a:srgbClr val="1D5F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7752061-5463-48E6-A297-43E0E91C0267}">
  <a:tblStyle styleId="{B7752061-5463-48E6-A297-43E0E91C0267}" styleName="GE Basic Table">
    <a:wholeTbl>
      <a:tcTxStyle>
        <a:fontRef idx="minor">
          <a:prstClr val="black"/>
        </a:fontRef>
        <a:schemeClr val="dk1"/>
      </a:tcTxStyle>
      <a:tcStyle>
        <a:tcBdr>
          <a:left>
            <a:ln>
              <a:noFill/>
            </a:ln>
          </a:left>
          <a:right>
            <a:ln>
              <a:noFill/>
            </a:ln>
          </a:right>
          <a:top>
            <a:ln>
              <a:noFill/>
            </a:ln>
          </a:top>
          <a:bottom>
            <a:ln w="12700" cmpd="sng">
              <a:solidFill>
                <a:schemeClr val="dk2"/>
              </a:solidFill>
            </a:ln>
          </a:bottom>
          <a:insideH>
            <a:ln w="12700" cmpd="sng">
              <a:solidFill>
                <a:schemeClr val="dk2"/>
              </a:solidFill>
            </a:ln>
          </a:insideH>
          <a:insideV>
            <a:ln w="12700" cmpd="sng">
              <a:solidFill>
                <a:schemeClr val="dk2"/>
              </a:solidFill>
            </a:ln>
          </a:insideV>
        </a:tcBdr>
        <a:fill>
          <a:noFill/>
        </a:fill>
      </a:tcStyle>
    </a:wholeTbl>
    <a:band1H>
      <a:tcStyle>
        <a:tcBdr/>
      </a:tcStyle>
    </a:band1H>
    <a:band2H>
      <a:tcStyle>
        <a:tcBdr/>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TxStyle b="on">
        <a:fontRef idx="minor">
          <a:prstClr val="black"/>
        </a:fontRef>
        <a:schemeClr val="dk1"/>
      </a:tcTxStyle>
      <a:tcStyle>
        <a:tcBdr/>
      </a:tcStyle>
    </a:lastRow>
    <a:firstRow>
      <a:tcTxStyle b="on">
        <a:fontRef idx="minor">
          <a:prstClr val="black"/>
        </a:fontRef>
        <a:schemeClr val="lt1"/>
      </a:tcTxStyle>
      <a:tcStyle>
        <a:tcBdr>
          <a:bottom>
            <a:ln w="0" cmpd="sng">
              <a:solidFill>
                <a:schemeClr val="accent3"/>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66" autoAdjust="0"/>
    <p:restoredTop sz="94660" autoAdjust="0"/>
  </p:normalViewPr>
  <p:slideViewPr>
    <p:cSldViewPr snapToGrid="0" showGuides="1">
      <p:cViewPr varScale="1">
        <p:scale>
          <a:sx n="89" d="100"/>
          <a:sy n="89" d="100"/>
        </p:scale>
        <p:origin x="90" y="600"/>
      </p:cViewPr>
      <p:guideLst>
        <p:guide orient="horz" pos="2160"/>
        <p:guide pos="3840"/>
        <p:guide orient="horz" pos="1056"/>
        <p:guide orient="horz" pos="528"/>
        <p:guide orient="horz" pos="3903"/>
        <p:guide pos="7189"/>
        <p:guide pos="1025"/>
        <p:guide pos="6697"/>
        <p:guide pos="4212"/>
        <p:guide pos="464"/>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92" d="100"/>
          <a:sy n="92" d="100"/>
        </p:scale>
        <p:origin x="-3410" y="-81"/>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BF77B6-06AB-43A3-89A4-8CD1677993D0}" type="datetimeFigureOut">
              <a:rPr lang="en-CA" smtClean="0"/>
              <a:t>07/03/2017</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2762B2D-468D-4837-8CAA-70AF425658B8}" type="slidenum">
              <a:rPr lang="en-CA" smtClean="0"/>
              <a:t>‹#›</a:t>
            </a:fld>
            <a:endParaRPr lang="en-CA"/>
          </a:p>
        </p:txBody>
      </p:sp>
      <p:pic>
        <p:nvPicPr>
          <p:cNvPr id="1026" name="Picture 2" descr="I:\Dockets\1421 SmallStuff GE PPT\Graphics\GE Grey.e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9312" y="65216"/>
            <a:ext cx="579375" cy="57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0291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6804B0-AD37-4623-8498-3C9AE39E25E5}" type="datetimeFigureOut">
              <a:rPr lang="en-CA" smtClean="0"/>
              <a:t>07/03/2017</a:t>
            </a:fld>
            <a:endParaRPr lang="en-C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77687" y="4343400"/>
            <a:ext cx="6102626" cy="41148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CDABC8-FD09-47BC-822A-A981D494E0D7}" type="slidenum">
              <a:rPr lang="en-CA" smtClean="0"/>
              <a:t>‹#›</a:t>
            </a:fld>
            <a:endParaRPr lang="en-CA"/>
          </a:p>
        </p:txBody>
      </p:sp>
      <p:pic>
        <p:nvPicPr>
          <p:cNvPr id="8" name="Picture 2" descr="I:\Dockets\1421 SmallStuff GE PPT\Graphics\GE Grey.e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9312" y="65216"/>
            <a:ext cx="579375" cy="57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857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228600" indent="0" algn="l" defTabSz="914400" rtl="0" eaLnBrk="1" latinLnBrk="0" hangingPunct="1">
      <a:defRPr sz="1200" kern="1200">
        <a:solidFill>
          <a:schemeClr val="tx1"/>
        </a:solidFill>
        <a:latin typeface="+mn-lt"/>
        <a:ea typeface="+mn-ea"/>
        <a:cs typeface="+mn-cs"/>
      </a:defRPr>
    </a:lvl2pPr>
    <a:lvl3pPr marL="457200" indent="0" algn="l" defTabSz="914400" rtl="0" eaLnBrk="1" latinLnBrk="0" hangingPunct="1">
      <a:defRPr sz="1200" kern="1200">
        <a:solidFill>
          <a:schemeClr val="tx1"/>
        </a:solidFill>
        <a:latin typeface="+mn-lt"/>
        <a:ea typeface="+mn-ea"/>
        <a:cs typeface="+mn-cs"/>
      </a:defRPr>
    </a:lvl3pPr>
    <a:lvl4pPr marL="685800" indent="0" algn="l" defTabSz="914400" rtl="0" eaLnBrk="1" latinLnBrk="0" hangingPunct="1">
      <a:defRPr sz="1200" kern="1200">
        <a:solidFill>
          <a:schemeClr val="tx1"/>
        </a:solidFill>
        <a:latin typeface="+mn-lt"/>
        <a:ea typeface="+mn-ea"/>
        <a:cs typeface="+mn-cs"/>
      </a:defRPr>
    </a:lvl4pPr>
    <a:lvl5pPr marL="914400" indent="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latin typeface="GE Inspira Sans" charset="0"/>
              <a:ea typeface="GE Inspira Sans" charset="0"/>
              <a:cs typeface="GE Inspira Sans" charset="0"/>
            </a:endParaRPr>
          </a:p>
        </p:txBody>
      </p:sp>
      <p:sp>
        <p:nvSpPr>
          <p:cNvPr id="4" name="Slide Number Placeholder 3"/>
          <p:cNvSpPr>
            <a:spLocks noGrp="1"/>
          </p:cNvSpPr>
          <p:nvPr>
            <p:ph type="sldNum" sz="quarter" idx="10"/>
          </p:nvPr>
        </p:nvSpPr>
        <p:spPr/>
        <p:txBody>
          <a:bodyPr/>
          <a:lstStyle/>
          <a:p>
            <a:fld id="{80CDABC8-FD09-47BC-822A-A981D494E0D7}" type="slidenum">
              <a:rPr lang="en-CA" smtClean="0"/>
              <a:t>1</a:t>
            </a:fld>
            <a:endParaRPr lang="en-CA"/>
          </a:p>
        </p:txBody>
      </p:sp>
    </p:spTree>
    <p:extLst>
      <p:ext uri="{BB962C8B-B14F-4D97-AF65-F5344CB8AC3E}">
        <p14:creationId xmlns:p14="http://schemas.microsoft.com/office/powerpoint/2010/main" val="342670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noRot="1" noChangeAspect="1" noChangeArrowheads="1" noTextEdit="1"/>
          </p:cNvSpPr>
          <p:nvPr>
            <p:ph type="sldImg"/>
          </p:nvPr>
        </p:nvSpPr>
        <p:spPr>
          <a:xfrm>
            <a:off x="407988" y="696913"/>
            <a:ext cx="6203950" cy="3490912"/>
          </a:xfrm>
          <a:ln/>
        </p:spPr>
      </p:sp>
      <p:sp>
        <p:nvSpPr>
          <p:cNvPr id="12291" name="Rectangle 1027"/>
          <p:cNvSpPr>
            <a:spLocks noGrp="1" noChangeArrowheads="1"/>
          </p:cNvSpPr>
          <p:nvPr>
            <p:ph type="body" idx="1"/>
          </p:nvPr>
        </p:nvSpPr>
        <p:spPr>
          <a:xfrm>
            <a:off x="936625" y="4421188"/>
            <a:ext cx="5146675" cy="4187825"/>
          </a:xfrm>
          <a:noFill/>
        </p:spPr>
        <p:txBody>
          <a:bodyPr/>
          <a:lstStyle/>
          <a:p>
            <a:pPr eaLnBrk="1" hangingPunct="1"/>
            <a:endParaRPr lang="en-US" altLang="en-US"/>
          </a:p>
        </p:txBody>
      </p:sp>
    </p:spTree>
    <p:extLst>
      <p:ext uri="{BB962C8B-B14F-4D97-AF65-F5344CB8AC3E}">
        <p14:creationId xmlns:p14="http://schemas.microsoft.com/office/powerpoint/2010/main" val="3609648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407988" y="696913"/>
            <a:ext cx="6203950" cy="3490912"/>
          </a:xfrm>
          <a:ln/>
        </p:spPr>
      </p:sp>
      <p:sp>
        <p:nvSpPr>
          <p:cNvPr id="16387" name="Rectangle 3"/>
          <p:cNvSpPr>
            <a:spLocks noGrp="1" noChangeArrowheads="1"/>
          </p:cNvSpPr>
          <p:nvPr>
            <p:ph type="body" idx="1"/>
          </p:nvPr>
        </p:nvSpPr>
        <p:spPr>
          <a:xfrm>
            <a:off x="936625" y="4421188"/>
            <a:ext cx="5146675" cy="4187825"/>
          </a:xfrm>
          <a:noFill/>
        </p:spPr>
        <p:txBody>
          <a:bodyPr/>
          <a:lstStyle/>
          <a:p>
            <a:pPr eaLnBrk="1" hangingPunct="1"/>
            <a:endParaRPr lang="en-US" altLang="en-US"/>
          </a:p>
        </p:txBody>
      </p:sp>
    </p:spTree>
    <p:extLst>
      <p:ext uri="{BB962C8B-B14F-4D97-AF65-F5344CB8AC3E}">
        <p14:creationId xmlns:p14="http://schemas.microsoft.com/office/powerpoint/2010/main" val="2963049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407988" y="696913"/>
            <a:ext cx="6203950" cy="3490912"/>
          </a:xfrm>
          <a:ln/>
        </p:spPr>
      </p:sp>
      <p:sp>
        <p:nvSpPr>
          <p:cNvPr id="18435" name="Rectangle 3"/>
          <p:cNvSpPr>
            <a:spLocks noGrp="1" noChangeArrowheads="1"/>
          </p:cNvSpPr>
          <p:nvPr>
            <p:ph type="body" idx="1"/>
          </p:nvPr>
        </p:nvSpPr>
        <p:spPr>
          <a:xfrm>
            <a:off x="936625" y="4421188"/>
            <a:ext cx="5146675" cy="4187825"/>
          </a:xfrm>
          <a:noFill/>
        </p:spPr>
        <p:txBody>
          <a:bodyPr/>
          <a:lstStyle/>
          <a:p>
            <a:pPr eaLnBrk="1" hangingPunct="1"/>
            <a:endParaRPr lang="en-US" altLang="en-US"/>
          </a:p>
        </p:txBody>
      </p:sp>
    </p:spTree>
    <p:extLst>
      <p:ext uri="{BB962C8B-B14F-4D97-AF65-F5344CB8AC3E}">
        <p14:creationId xmlns:p14="http://schemas.microsoft.com/office/powerpoint/2010/main" val="2226935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Grp="1" noRot="1" noChangeAspect="1" noChangeArrowheads="1" noTextEdit="1"/>
          </p:cNvSpPr>
          <p:nvPr>
            <p:ph type="sldImg"/>
          </p:nvPr>
        </p:nvSpPr>
        <p:spPr>
          <a:xfrm>
            <a:off x="407988" y="696913"/>
            <a:ext cx="6203950" cy="3490912"/>
          </a:xfrm>
          <a:ln/>
        </p:spPr>
      </p:sp>
      <p:sp>
        <p:nvSpPr>
          <p:cNvPr id="20483" name="Rectangle 1027"/>
          <p:cNvSpPr>
            <a:spLocks noGrp="1" noChangeArrowheads="1"/>
          </p:cNvSpPr>
          <p:nvPr>
            <p:ph type="body" idx="1"/>
          </p:nvPr>
        </p:nvSpPr>
        <p:spPr>
          <a:xfrm>
            <a:off x="936625" y="4421188"/>
            <a:ext cx="5146675" cy="4187825"/>
          </a:xfrm>
          <a:noFill/>
        </p:spPr>
        <p:txBody>
          <a:bodyPr/>
          <a:lstStyle/>
          <a:p>
            <a:pPr eaLnBrk="1" hangingPunct="1"/>
            <a:endParaRPr lang="en-US" altLang="en-US"/>
          </a:p>
        </p:txBody>
      </p:sp>
    </p:spTree>
    <p:extLst>
      <p:ext uri="{BB962C8B-B14F-4D97-AF65-F5344CB8AC3E}">
        <p14:creationId xmlns:p14="http://schemas.microsoft.com/office/powerpoint/2010/main" val="1318145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407988" y="696913"/>
            <a:ext cx="6203950" cy="3490912"/>
          </a:xfrm>
          <a:ln/>
        </p:spPr>
      </p:sp>
      <p:sp>
        <p:nvSpPr>
          <p:cNvPr id="22531" name="Rectangle 3"/>
          <p:cNvSpPr>
            <a:spLocks noGrp="1" noChangeArrowheads="1"/>
          </p:cNvSpPr>
          <p:nvPr>
            <p:ph type="body" idx="1"/>
          </p:nvPr>
        </p:nvSpPr>
        <p:spPr>
          <a:xfrm>
            <a:off x="936625" y="4421188"/>
            <a:ext cx="5146675" cy="4187825"/>
          </a:xfrm>
          <a:noFill/>
        </p:spPr>
        <p:txBody>
          <a:bodyPr/>
          <a:lstStyle/>
          <a:p>
            <a:pPr eaLnBrk="1" hangingPunct="1"/>
            <a:endParaRPr lang="en-US" altLang="en-US"/>
          </a:p>
        </p:txBody>
      </p:sp>
    </p:spTree>
    <p:extLst>
      <p:ext uri="{BB962C8B-B14F-4D97-AF65-F5344CB8AC3E}">
        <p14:creationId xmlns:p14="http://schemas.microsoft.com/office/powerpoint/2010/main" val="116600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Grp="1" noRot="1" noChangeAspect="1" noChangeArrowheads="1" noTextEdit="1"/>
          </p:cNvSpPr>
          <p:nvPr>
            <p:ph type="sldImg"/>
          </p:nvPr>
        </p:nvSpPr>
        <p:spPr>
          <a:xfrm>
            <a:off x="407988" y="696913"/>
            <a:ext cx="6203950" cy="3490912"/>
          </a:xfrm>
          <a:ln/>
        </p:spPr>
      </p:sp>
      <p:sp>
        <p:nvSpPr>
          <p:cNvPr id="24579" name="Rectangle 1027"/>
          <p:cNvSpPr>
            <a:spLocks noGrp="1" noChangeArrowheads="1"/>
          </p:cNvSpPr>
          <p:nvPr>
            <p:ph type="body" idx="1"/>
          </p:nvPr>
        </p:nvSpPr>
        <p:spPr>
          <a:xfrm>
            <a:off x="936625" y="4421188"/>
            <a:ext cx="5146675" cy="4187825"/>
          </a:xfrm>
          <a:noFill/>
        </p:spPr>
        <p:txBody>
          <a:bodyPr/>
          <a:lstStyle/>
          <a:p>
            <a:pPr eaLnBrk="1" hangingPunct="1"/>
            <a:endParaRPr lang="en-US" altLang="en-US"/>
          </a:p>
        </p:txBody>
      </p:sp>
    </p:spTree>
    <p:extLst>
      <p:ext uri="{BB962C8B-B14F-4D97-AF65-F5344CB8AC3E}">
        <p14:creationId xmlns:p14="http://schemas.microsoft.com/office/powerpoint/2010/main" val="525854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934876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407988" y="696913"/>
            <a:ext cx="6203950" cy="3490912"/>
          </a:xfrm>
          <a:ln/>
        </p:spPr>
      </p:sp>
      <p:sp>
        <p:nvSpPr>
          <p:cNvPr id="26627" name="Rectangle 3"/>
          <p:cNvSpPr>
            <a:spLocks noGrp="1" noChangeArrowheads="1"/>
          </p:cNvSpPr>
          <p:nvPr>
            <p:ph type="body" idx="1"/>
          </p:nvPr>
        </p:nvSpPr>
        <p:spPr>
          <a:xfrm>
            <a:off x="936625" y="4421188"/>
            <a:ext cx="5146675" cy="4187825"/>
          </a:xfrm>
          <a:noFill/>
        </p:spPr>
        <p:txBody>
          <a:bodyPr/>
          <a:lstStyle/>
          <a:p>
            <a:pPr eaLnBrk="1" hangingPunct="1"/>
            <a:endParaRPr lang="en-US" altLang="en-US"/>
          </a:p>
        </p:txBody>
      </p:sp>
    </p:spTree>
    <p:extLst>
      <p:ext uri="{BB962C8B-B14F-4D97-AF65-F5344CB8AC3E}">
        <p14:creationId xmlns:p14="http://schemas.microsoft.com/office/powerpoint/2010/main" val="571494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226634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Rot="1" noChangeAspect="1" noChangeArrowheads="1" noTextEdit="1"/>
          </p:cNvSpPr>
          <p:nvPr>
            <p:ph type="sldImg"/>
          </p:nvPr>
        </p:nvSpPr>
        <p:spPr>
          <a:ln/>
        </p:spPr>
      </p:sp>
      <p:sp>
        <p:nvSpPr>
          <p:cNvPr id="9219" name="Rectangle 1027"/>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934033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p:spPr>
        <p:txBody>
          <a:bodyPr/>
          <a:lstStyle/>
          <a:p>
            <a:endParaRPr lang="en-US" altLang="en-US"/>
          </a:p>
        </p:txBody>
      </p:sp>
    </p:spTree>
    <p:extLst>
      <p:ext uri="{BB962C8B-B14F-4D97-AF65-F5344CB8AC3E}">
        <p14:creationId xmlns:p14="http://schemas.microsoft.com/office/powerpoint/2010/main" val="35962782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11" y="4303727"/>
            <a:ext cx="12188952" cy="1836431"/>
          </a:xfrm>
          <a:prstGeom prst="rect">
            <a:avLst/>
          </a:prstGeom>
        </p:spPr>
      </p:pic>
      <p:sp>
        <p:nvSpPr>
          <p:cNvPr id="2" name="Title 1"/>
          <p:cNvSpPr>
            <a:spLocks noGrp="1"/>
          </p:cNvSpPr>
          <p:nvPr>
            <p:ph type="ctrTitle" hasCustomPrompt="1"/>
          </p:nvPr>
        </p:nvSpPr>
        <p:spPr>
          <a:xfrm>
            <a:off x="2558964" y="585216"/>
            <a:ext cx="9137736" cy="1554480"/>
          </a:xfrm>
        </p:spPr>
        <p:txBody>
          <a:bodyPr anchor="t" anchorCtr="0">
            <a:noAutofit/>
          </a:bodyPr>
          <a:lstStyle>
            <a:lvl1pPr algn="l">
              <a:lnSpc>
                <a:spcPct val="90000"/>
              </a:lnSpc>
              <a:defRPr sz="4800">
                <a:solidFill>
                  <a:schemeClr val="accent2"/>
                </a:solidFill>
              </a:defRPr>
            </a:lvl1pPr>
          </a:lstStyle>
          <a:p>
            <a:r>
              <a:rPr lang="en-US" dirty="0"/>
              <a:t>Title Slide Layout</a:t>
            </a:r>
            <a:endParaRPr lang="en-CA" dirty="0"/>
          </a:p>
        </p:txBody>
      </p:sp>
      <p:sp>
        <p:nvSpPr>
          <p:cNvPr id="4" name="Date Placeholder 3"/>
          <p:cNvSpPr>
            <a:spLocks noGrp="1"/>
          </p:cNvSpPr>
          <p:nvPr>
            <p:ph type="dt" sz="half" idx="10"/>
          </p:nvPr>
        </p:nvSpPr>
        <p:spPr>
          <a:xfrm>
            <a:off x="2558964" y="2441889"/>
            <a:ext cx="4467288" cy="254013"/>
          </a:xfrm>
        </p:spPr>
        <p:txBody>
          <a:bodyPr/>
          <a:lstStyle>
            <a:lvl1pPr algn="l">
              <a:defRPr sz="1400" b="1">
                <a:solidFill>
                  <a:schemeClr val="accent2"/>
                </a:solidFill>
              </a:defRPr>
            </a:lvl1pPr>
          </a:lstStyle>
          <a:p>
            <a:fld id="{BDD3AAE4-7C4A-4A7F-8B66-D0816E5028F6}" type="datetime3">
              <a:rPr lang="en-US" smtClean="0"/>
              <a:t>7 March 2017</a:t>
            </a:fld>
            <a:endParaRPr lang="en-CA" dirty="0"/>
          </a:p>
        </p:txBody>
      </p:sp>
      <p:sp>
        <p:nvSpPr>
          <p:cNvPr id="11" name="TextBox 10"/>
          <p:cNvSpPr txBox="1"/>
          <p:nvPr userDrawn="1"/>
        </p:nvSpPr>
        <p:spPr>
          <a:xfrm>
            <a:off x="2559607" y="3017520"/>
            <a:ext cx="8047433" cy="276999"/>
          </a:xfrm>
          <a:prstGeom prst="rect">
            <a:avLst/>
          </a:prstGeom>
          <a:noFill/>
        </p:spPr>
        <p:txBody>
          <a:bodyPr wrap="square" lIns="0" tIns="0" rIns="0" bIns="0" rtlCol="0" anchor="b">
            <a:spAutoFit/>
          </a:bodyPr>
          <a:lstStyle/>
          <a:p>
            <a:r>
              <a:rPr lang="en-US" sz="900" dirty="0">
                <a:solidFill>
                  <a:schemeClr val="accent2"/>
                </a:solidFill>
              </a:rPr>
              <a:t>Placeholder confidentiality disclosure. Edit or delete from layout master if not needed.</a:t>
            </a:r>
          </a:p>
          <a:p>
            <a:r>
              <a:rPr lang="en-US" sz="900" baseline="0" dirty="0">
                <a:solidFill>
                  <a:srgbClr val="63666A"/>
                </a:solidFill>
                <a:latin typeface="GE Inspira Sans" charset="0"/>
                <a:ea typeface="GE Inspira Sans" charset="0"/>
                <a:cs typeface="GE Inspira Sans" charset="0"/>
              </a:rPr>
              <a:t>Use this second line if additional confidentiality disclosure information is required. </a:t>
            </a:r>
            <a:endParaRPr lang="en-US" sz="2000" dirty="0">
              <a:solidFill>
                <a:srgbClr val="63666A"/>
              </a:solidFill>
              <a:latin typeface="GE Inspira Sans" charset="0"/>
              <a:ea typeface="GE Inspira Sans" charset="0"/>
              <a:cs typeface="GE Inspira Sans" charset="0"/>
            </a:endParaRPr>
          </a:p>
        </p:txBody>
      </p:sp>
      <p:sp>
        <p:nvSpPr>
          <p:cNvPr id="9" name="Freeform 5"/>
          <p:cNvSpPr>
            <a:spLocks noChangeAspect="1" noEditPoints="1"/>
          </p:cNvSpPr>
          <p:nvPr userDrawn="1"/>
        </p:nvSpPr>
        <p:spPr bwMode="auto">
          <a:xfrm>
            <a:off x="754593" y="475512"/>
            <a:ext cx="914400" cy="914400"/>
          </a:xfrm>
          <a:custGeom>
            <a:avLst/>
            <a:gdLst>
              <a:gd name="T0" fmla="*/ 3869 w 5760"/>
              <a:gd name="T1" fmla="*/ 1545 h 5760"/>
              <a:gd name="T2" fmla="*/ 2018 w 5760"/>
              <a:gd name="T3" fmla="*/ 2250 h 5760"/>
              <a:gd name="T4" fmla="*/ 2018 w 5760"/>
              <a:gd name="T5" fmla="*/ 2250 h 5760"/>
              <a:gd name="T6" fmla="*/ 1556 w 5760"/>
              <a:gd name="T7" fmla="*/ 3934 h 5760"/>
              <a:gd name="T8" fmla="*/ 1755 w 5760"/>
              <a:gd name="T9" fmla="*/ 4133 h 5760"/>
              <a:gd name="T10" fmla="*/ 3470 w 5760"/>
              <a:gd name="T11" fmla="*/ 3455 h 5760"/>
              <a:gd name="T12" fmla="*/ 3861 w 5760"/>
              <a:gd name="T13" fmla="*/ 3710 h 5760"/>
              <a:gd name="T14" fmla="*/ 3933 w 5760"/>
              <a:gd name="T15" fmla="*/ 3255 h 5760"/>
              <a:gd name="T16" fmla="*/ 3734 w 5760"/>
              <a:gd name="T17" fmla="*/ 4133 h 5760"/>
              <a:gd name="T18" fmla="*/ 3694 w 5760"/>
              <a:gd name="T19" fmla="*/ 2712 h 5760"/>
              <a:gd name="T20" fmla="*/ 3905 w 5760"/>
              <a:gd name="T21" fmla="*/ 2466 h 5760"/>
              <a:gd name="T22" fmla="*/ 3574 w 5760"/>
              <a:gd name="T23" fmla="*/ 2354 h 5760"/>
              <a:gd name="T24" fmla="*/ 3853 w 5760"/>
              <a:gd name="T25" fmla="*/ 1324 h 5760"/>
              <a:gd name="T26" fmla="*/ 3295 w 5760"/>
              <a:gd name="T27" fmla="*/ 2298 h 5760"/>
              <a:gd name="T28" fmla="*/ 2685 w 5760"/>
              <a:gd name="T29" fmla="*/ 2469 h 5760"/>
              <a:gd name="T30" fmla="*/ 2816 w 5760"/>
              <a:gd name="T31" fmla="*/ 1987 h 5760"/>
              <a:gd name="T32" fmla="*/ 2170 w 5760"/>
              <a:gd name="T33" fmla="*/ 2593 h 5760"/>
              <a:gd name="T34" fmla="*/ 2712 w 5760"/>
              <a:gd name="T35" fmla="*/ 1580 h 5760"/>
              <a:gd name="T36" fmla="*/ 1779 w 5760"/>
              <a:gd name="T37" fmla="*/ 2274 h 5760"/>
              <a:gd name="T38" fmla="*/ 1643 w 5760"/>
              <a:gd name="T39" fmla="*/ 1795 h 5760"/>
              <a:gd name="T40" fmla="*/ 1388 w 5760"/>
              <a:gd name="T41" fmla="*/ 2066 h 5760"/>
              <a:gd name="T42" fmla="*/ 2122 w 5760"/>
              <a:gd name="T43" fmla="*/ 2792 h 5760"/>
              <a:gd name="T44" fmla="*/ 2417 w 5760"/>
              <a:gd name="T45" fmla="*/ 2832 h 5760"/>
              <a:gd name="T46" fmla="*/ 1292 w 5760"/>
              <a:gd name="T47" fmla="*/ 3917 h 5760"/>
              <a:gd name="T48" fmla="*/ 2537 w 5760"/>
              <a:gd name="T49" fmla="*/ 3678 h 5760"/>
              <a:gd name="T50" fmla="*/ 3374 w 5760"/>
              <a:gd name="T51" fmla="*/ 2489 h 5760"/>
              <a:gd name="T52" fmla="*/ 2888 w 5760"/>
              <a:gd name="T53" fmla="*/ 3502 h 5760"/>
              <a:gd name="T54" fmla="*/ 4484 w 5760"/>
              <a:gd name="T55" fmla="*/ 3646 h 5760"/>
              <a:gd name="T56" fmla="*/ 5321 w 5760"/>
              <a:gd name="T57" fmla="*/ 3701 h 5760"/>
              <a:gd name="T58" fmla="*/ 5297 w 5760"/>
              <a:gd name="T59" fmla="*/ 3694 h 5760"/>
              <a:gd name="T60" fmla="*/ 5066 w 5760"/>
              <a:gd name="T61" fmla="*/ 2513 h 5760"/>
              <a:gd name="T62" fmla="*/ 5138 w 5760"/>
              <a:gd name="T63" fmla="*/ 3415 h 5760"/>
              <a:gd name="T64" fmla="*/ 2880 w 5760"/>
              <a:gd name="T65" fmla="*/ 5449 h 5760"/>
              <a:gd name="T66" fmla="*/ 2063 w 5760"/>
              <a:gd name="T67" fmla="*/ 5306 h 5760"/>
              <a:gd name="T68" fmla="*/ 2689 w 5760"/>
              <a:gd name="T69" fmla="*/ 5393 h 5760"/>
              <a:gd name="T70" fmla="*/ 3047 w 5760"/>
              <a:gd name="T71" fmla="*/ 4875 h 5760"/>
              <a:gd name="T72" fmla="*/ 1771 w 5760"/>
              <a:gd name="T73" fmla="*/ 5042 h 5760"/>
              <a:gd name="T74" fmla="*/ 440 w 5760"/>
              <a:gd name="T75" fmla="*/ 2067 h 5760"/>
              <a:gd name="T76" fmla="*/ 462 w 5760"/>
              <a:gd name="T77" fmla="*/ 2075 h 5760"/>
              <a:gd name="T78" fmla="*/ 694 w 5760"/>
              <a:gd name="T79" fmla="*/ 3247 h 5760"/>
              <a:gd name="T80" fmla="*/ 622 w 5760"/>
              <a:gd name="T81" fmla="*/ 2354 h 5760"/>
              <a:gd name="T82" fmla="*/ 2880 w 5760"/>
              <a:gd name="T83" fmla="*/ 311 h 5760"/>
              <a:gd name="T84" fmla="*/ 3696 w 5760"/>
              <a:gd name="T85" fmla="*/ 461 h 5760"/>
              <a:gd name="T86" fmla="*/ 3071 w 5760"/>
              <a:gd name="T87" fmla="*/ 367 h 5760"/>
              <a:gd name="T88" fmla="*/ 2712 w 5760"/>
              <a:gd name="T89" fmla="*/ 885 h 5760"/>
              <a:gd name="T90" fmla="*/ 3989 w 5760"/>
              <a:gd name="T91" fmla="*/ 726 h 5760"/>
              <a:gd name="T92" fmla="*/ 5321 w 5760"/>
              <a:gd name="T93" fmla="*/ 3701 h 5760"/>
              <a:gd name="T94" fmla="*/ 135 w 5760"/>
              <a:gd name="T95" fmla="*/ 2880 h 5760"/>
              <a:gd name="T96" fmla="*/ 5624 w 5760"/>
              <a:gd name="T97" fmla="*/ 2880 h 5760"/>
              <a:gd name="T98" fmla="*/ 2880 w 5760"/>
              <a:gd name="T99" fmla="*/ 5760 h 5760"/>
              <a:gd name="T100" fmla="*/ 2880 w 5760"/>
              <a:gd name="T101" fmla="*/ 0 h 5760"/>
              <a:gd name="T102" fmla="*/ 2880 w 5760"/>
              <a:gd name="T103" fmla="*/ 5760 h 5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60" h="5760">
                <a:moveTo>
                  <a:pt x="3526" y="2130"/>
                </a:moveTo>
                <a:cubicBezTo>
                  <a:pt x="3526" y="1803"/>
                  <a:pt x="3748" y="1485"/>
                  <a:pt x="3869" y="1545"/>
                </a:cubicBezTo>
                <a:cubicBezTo>
                  <a:pt x="4006" y="1614"/>
                  <a:pt x="3766" y="1923"/>
                  <a:pt x="3526" y="2130"/>
                </a:cubicBezTo>
                <a:moveTo>
                  <a:pt x="2018" y="2250"/>
                </a:moveTo>
                <a:cubicBezTo>
                  <a:pt x="2018" y="1987"/>
                  <a:pt x="2278" y="1486"/>
                  <a:pt x="2437" y="1539"/>
                </a:cubicBezTo>
                <a:cubicBezTo>
                  <a:pt x="2625" y="1601"/>
                  <a:pt x="2282" y="2106"/>
                  <a:pt x="2018" y="2250"/>
                </a:cubicBezTo>
                <a:close/>
                <a:moveTo>
                  <a:pt x="1755" y="4133"/>
                </a:moveTo>
                <a:cubicBezTo>
                  <a:pt x="1635" y="4138"/>
                  <a:pt x="1556" y="4062"/>
                  <a:pt x="1556" y="3934"/>
                </a:cubicBezTo>
                <a:cubicBezTo>
                  <a:pt x="1556" y="3591"/>
                  <a:pt x="2031" y="3264"/>
                  <a:pt x="2390" y="3088"/>
                </a:cubicBezTo>
                <a:cubicBezTo>
                  <a:pt x="2327" y="3567"/>
                  <a:pt x="2165" y="4114"/>
                  <a:pt x="1755" y="4133"/>
                </a:cubicBezTo>
                <a:close/>
                <a:moveTo>
                  <a:pt x="3949" y="3016"/>
                </a:moveTo>
                <a:cubicBezTo>
                  <a:pt x="3678" y="3016"/>
                  <a:pt x="3470" y="3215"/>
                  <a:pt x="3470" y="3455"/>
                </a:cubicBezTo>
                <a:cubicBezTo>
                  <a:pt x="3470" y="3654"/>
                  <a:pt x="3590" y="3813"/>
                  <a:pt x="3750" y="3813"/>
                </a:cubicBezTo>
                <a:cubicBezTo>
                  <a:pt x="3806" y="3813"/>
                  <a:pt x="3861" y="3782"/>
                  <a:pt x="3861" y="3710"/>
                </a:cubicBezTo>
                <a:cubicBezTo>
                  <a:pt x="3861" y="3606"/>
                  <a:pt x="3724" y="3581"/>
                  <a:pt x="3734" y="3426"/>
                </a:cubicBezTo>
                <a:cubicBezTo>
                  <a:pt x="3741" y="3323"/>
                  <a:pt x="3837" y="3255"/>
                  <a:pt x="3933" y="3255"/>
                </a:cubicBezTo>
                <a:cubicBezTo>
                  <a:pt x="4124" y="3255"/>
                  <a:pt x="4214" y="3440"/>
                  <a:pt x="4214" y="3632"/>
                </a:cubicBezTo>
                <a:cubicBezTo>
                  <a:pt x="4206" y="3927"/>
                  <a:pt x="3989" y="4133"/>
                  <a:pt x="3734" y="4133"/>
                </a:cubicBezTo>
                <a:cubicBezTo>
                  <a:pt x="3398" y="4133"/>
                  <a:pt x="3183" y="3813"/>
                  <a:pt x="3183" y="3470"/>
                </a:cubicBezTo>
                <a:cubicBezTo>
                  <a:pt x="3183" y="2960"/>
                  <a:pt x="3518" y="2760"/>
                  <a:pt x="3694" y="2712"/>
                </a:cubicBezTo>
                <a:cubicBezTo>
                  <a:pt x="3696" y="2712"/>
                  <a:pt x="4153" y="2794"/>
                  <a:pt x="4138" y="2592"/>
                </a:cubicBezTo>
                <a:cubicBezTo>
                  <a:pt x="4132" y="2504"/>
                  <a:pt x="4000" y="2470"/>
                  <a:pt x="3905" y="2466"/>
                </a:cubicBezTo>
                <a:cubicBezTo>
                  <a:pt x="3799" y="2462"/>
                  <a:pt x="3692" y="2500"/>
                  <a:pt x="3692" y="2500"/>
                </a:cubicBezTo>
                <a:cubicBezTo>
                  <a:pt x="3636" y="2472"/>
                  <a:pt x="3598" y="2417"/>
                  <a:pt x="3574" y="2354"/>
                </a:cubicBezTo>
                <a:cubicBezTo>
                  <a:pt x="3901" y="2106"/>
                  <a:pt x="4133" y="1867"/>
                  <a:pt x="4133" y="1596"/>
                </a:cubicBezTo>
                <a:cubicBezTo>
                  <a:pt x="4133" y="1452"/>
                  <a:pt x="4037" y="1324"/>
                  <a:pt x="3853" y="1324"/>
                </a:cubicBezTo>
                <a:cubicBezTo>
                  <a:pt x="3526" y="1324"/>
                  <a:pt x="3279" y="1739"/>
                  <a:pt x="3279" y="2114"/>
                </a:cubicBezTo>
                <a:cubicBezTo>
                  <a:pt x="3279" y="2178"/>
                  <a:pt x="3279" y="2242"/>
                  <a:pt x="3295" y="2298"/>
                </a:cubicBezTo>
                <a:cubicBezTo>
                  <a:pt x="3087" y="2449"/>
                  <a:pt x="2933" y="2543"/>
                  <a:pt x="2654" y="2711"/>
                </a:cubicBezTo>
                <a:cubicBezTo>
                  <a:pt x="2654" y="2676"/>
                  <a:pt x="2661" y="2586"/>
                  <a:pt x="2685" y="2469"/>
                </a:cubicBezTo>
                <a:cubicBezTo>
                  <a:pt x="2780" y="2365"/>
                  <a:pt x="2912" y="2210"/>
                  <a:pt x="2912" y="2090"/>
                </a:cubicBezTo>
                <a:cubicBezTo>
                  <a:pt x="2912" y="2034"/>
                  <a:pt x="2880" y="1987"/>
                  <a:pt x="2816" y="1987"/>
                </a:cubicBezTo>
                <a:cubicBezTo>
                  <a:pt x="2657" y="1987"/>
                  <a:pt x="2537" y="2226"/>
                  <a:pt x="2505" y="2393"/>
                </a:cubicBezTo>
                <a:cubicBezTo>
                  <a:pt x="2433" y="2481"/>
                  <a:pt x="2290" y="2593"/>
                  <a:pt x="2170" y="2593"/>
                </a:cubicBezTo>
                <a:cubicBezTo>
                  <a:pt x="2074" y="2593"/>
                  <a:pt x="2042" y="2505"/>
                  <a:pt x="2034" y="2473"/>
                </a:cubicBezTo>
                <a:cubicBezTo>
                  <a:pt x="2338" y="2369"/>
                  <a:pt x="2712" y="1955"/>
                  <a:pt x="2712" y="1580"/>
                </a:cubicBezTo>
                <a:cubicBezTo>
                  <a:pt x="2712" y="1500"/>
                  <a:pt x="2681" y="1324"/>
                  <a:pt x="2441" y="1324"/>
                </a:cubicBezTo>
                <a:cubicBezTo>
                  <a:pt x="2082" y="1324"/>
                  <a:pt x="1779" y="1859"/>
                  <a:pt x="1779" y="2274"/>
                </a:cubicBezTo>
                <a:cubicBezTo>
                  <a:pt x="1651" y="2274"/>
                  <a:pt x="1604" y="2138"/>
                  <a:pt x="1604" y="2034"/>
                </a:cubicBezTo>
                <a:cubicBezTo>
                  <a:pt x="1604" y="1931"/>
                  <a:pt x="1643" y="1827"/>
                  <a:pt x="1643" y="1795"/>
                </a:cubicBezTo>
                <a:cubicBezTo>
                  <a:pt x="1643" y="1763"/>
                  <a:pt x="1627" y="1723"/>
                  <a:pt x="1580" y="1723"/>
                </a:cubicBezTo>
                <a:cubicBezTo>
                  <a:pt x="1460" y="1723"/>
                  <a:pt x="1388" y="1883"/>
                  <a:pt x="1388" y="2066"/>
                </a:cubicBezTo>
                <a:cubicBezTo>
                  <a:pt x="1396" y="2322"/>
                  <a:pt x="1564" y="2481"/>
                  <a:pt x="1787" y="2497"/>
                </a:cubicBezTo>
                <a:cubicBezTo>
                  <a:pt x="1819" y="2649"/>
                  <a:pt x="1955" y="2792"/>
                  <a:pt x="2122" y="2792"/>
                </a:cubicBezTo>
                <a:cubicBezTo>
                  <a:pt x="2226" y="2792"/>
                  <a:pt x="2353" y="2760"/>
                  <a:pt x="2441" y="2681"/>
                </a:cubicBezTo>
                <a:cubicBezTo>
                  <a:pt x="2433" y="2737"/>
                  <a:pt x="2425" y="2784"/>
                  <a:pt x="2417" y="2832"/>
                </a:cubicBezTo>
                <a:cubicBezTo>
                  <a:pt x="2066" y="3016"/>
                  <a:pt x="1811" y="3143"/>
                  <a:pt x="1580" y="3351"/>
                </a:cubicBezTo>
                <a:cubicBezTo>
                  <a:pt x="1396" y="3518"/>
                  <a:pt x="1292" y="3742"/>
                  <a:pt x="1292" y="3917"/>
                </a:cubicBezTo>
                <a:cubicBezTo>
                  <a:pt x="1292" y="4157"/>
                  <a:pt x="1444" y="4380"/>
                  <a:pt x="1755" y="4380"/>
                </a:cubicBezTo>
                <a:cubicBezTo>
                  <a:pt x="2122" y="4380"/>
                  <a:pt x="2401" y="4085"/>
                  <a:pt x="2537" y="3678"/>
                </a:cubicBezTo>
                <a:cubicBezTo>
                  <a:pt x="2601" y="3486"/>
                  <a:pt x="2626" y="3208"/>
                  <a:pt x="2642" y="2952"/>
                </a:cubicBezTo>
                <a:cubicBezTo>
                  <a:pt x="3009" y="2745"/>
                  <a:pt x="3183" y="2625"/>
                  <a:pt x="3374" y="2489"/>
                </a:cubicBezTo>
                <a:cubicBezTo>
                  <a:pt x="3398" y="2529"/>
                  <a:pt x="3423" y="2561"/>
                  <a:pt x="3454" y="2585"/>
                </a:cubicBezTo>
                <a:cubicBezTo>
                  <a:pt x="3287" y="2673"/>
                  <a:pt x="2888" y="2920"/>
                  <a:pt x="2888" y="3502"/>
                </a:cubicBezTo>
                <a:cubicBezTo>
                  <a:pt x="2888" y="3917"/>
                  <a:pt x="3167" y="4380"/>
                  <a:pt x="3718" y="4380"/>
                </a:cubicBezTo>
                <a:cubicBezTo>
                  <a:pt x="4172" y="4380"/>
                  <a:pt x="4484" y="4005"/>
                  <a:pt x="4484" y="3646"/>
                </a:cubicBezTo>
                <a:cubicBezTo>
                  <a:pt x="4484" y="3319"/>
                  <a:pt x="4300" y="3016"/>
                  <a:pt x="3949" y="3016"/>
                </a:cubicBezTo>
                <a:close/>
                <a:moveTo>
                  <a:pt x="5321" y="3701"/>
                </a:moveTo>
                <a:cubicBezTo>
                  <a:pt x="5319" y="3703"/>
                  <a:pt x="5315" y="3707"/>
                  <a:pt x="5306" y="3704"/>
                </a:cubicBezTo>
                <a:cubicBezTo>
                  <a:pt x="5299" y="3702"/>
                  <a:pt x="5297" y="3698"/>
                  <a:pt x="5297" y="3694"/>
                </a:cubicBezTo>
                <a:cubicBezTo>
                  <a:pt x="5298" y="3689"/>
                  <a:pt x="5394" y="3405"/>
                  <a:pt x="5393" y="3080"/>
                </a:cubicBezTo>
                <a:cubicBezTo>
                  <a:pt x="5392" y="2728"/>
                  <a:pt x="5249" y="2513"/>
                  <a:pt x="5066" y="2513"/>
                </a:cubicBezTo>
                <a:cubicBezTo>
                  <a:pt x="4954" y="2513"/>
                  <a:pt x="4874" y="2593"/>
                  <a:pt x="4874" y="2712"/>
                </a:cubicBezTo>
                <a:cubicBezTo>
                  <a:pt x="4874" y="2928"/>
                  <a:pt x="5138" y="2944"/>
                  <a:pt x="5138" y="3415"/>
                </a:cubicBezTo>
                <a:cubicBezTo>
                  <a:pt x="5138" y="3606"/>
                  <a:pt x="5098" y="3789"/>
                  <a:pt x="5034" y="3989"/>
                </a:cubicBezTo>
                <a:cubicBezTo>
                  <a:pt x="4739" y="4986"/>
                  <a:pt x="3797" y="5449"/>
                  <a:pt x="2880" y="5449"/>
                </a:cubicBezTo>
                <a:cubicBezTo>
                  <a:pt x="2457" y="5449"/>
                  <a:pt x="2157" y="5362"/>
                  <a:pt x="2067" y="5322"/>
                </a:cubicBezTo>
                <a:cubicBezTo>
                  <a:pt x="2063" y="5320"/>
                  <a:pt x="2061" y="5313"/>
                  <a:pt x="2063" y="5306"/>
                </a:cubicBezTo>
                <a:cubicBezTo>
                  <a:pt x="2065" y="5300"/>
                  <a:pt x="2072" y="5296"/>
                  <a:pt x="2075" y="5298"/>
                </a:cubicBezTo>
                <a:cubicBezTo>
                  <a:pt x="2111" y="5312"/>
                  <a:pt x="2369" y="5393"/>
                  <a:pt x="2689" y="5393"/>
                </a:cubicBezTo>
                <a:cubicBezTo>
                  <a:pt x="3040" y="5393"/>
                  <a:pt x="3247" y="5250"/>
                  <a:pt x="3247" y="5074"/>
                </a:cubicBezTo>
                <a:cubicBezTo>
                  <a:pt x="3247" y="4962"/>
                  <a:pt x="3159" y="4875"/>
                  <a:pt x="3047" y="4875"/>
                </a:cubicBezTo>
                <a:cubicBezTo>
                  <a:pt x="2832" y="4875"/>
                  <a:pt x="2816" y="5146"/>
                  <a:pt x="2353" y="5146"/>
                </a:cubicBezTo>
                <a:cubicBezTo>
                  <a:pt x="2154" y="5146"/>
                  <a:pt x="1979" y="5106"/>
                  <a:pt x="1771" y="5042"/>
                </a:cubicBezTo>
                <a:cubicBezTo>
                  <a:pt x="782" y="4739"/>
                  <a:pt x="310" y="3805"/>
                  <a:pt x="311" y="2880"/>
                </a:cubicBezTo>
                <a:cubicBezTo>
                  <a:pt x="311" y="2429"/>
                  <a:pt x="438" y="2070"/>
                  <a:pt x="440" y="2067"/>
                </a:cubicBezTo>
                <a:cubicBezTo>
                  <a:pt x="441" y="2065"/>
                  <a:pt x="447" y="2062"/>
                  <a:pt x="454" y="2065"/>
                </a:cubicBezTo>
                <a:cubicBezTo>
                  <a:pt x="461" y="2067"/>
                  <a:pt x="463" y="2073"/>
                  <a:pt x="462" y="2075"/>
                </a:cubicBezTo>
                <a:cubicBezTo>
                  <a:pt x="451" y="2112"/>
                  <a:pt x="367" y="2370"/>
                  <a:pt x="367" y="2688"/>
                </a:cubicBezTo>
                <a:cubicBezTo>
                  <a:pt x="367" y="3040"/>
                  <a:pt x="511" y="3247"/>
                  <a:pt x="694" y="3247"/>
                </a:cubicBezTo>
                <a:cubicBezTo>
                  <a:pt x="798" y="3247"/>
                  <a:pt x="885" y="3167"/>
                  <a:pt x="885" y="3056"/>
                </a:cubicBezTo>
                <a:cubicBezTo>
                  <a:pt x="885" y="2840"/>
                  <a:pt x="622" y="2816"/>
                  <a:pt x="622" y="2354"/>
                </a:cubicBezTo>
                <a:cubicBezTo>
                  <a:pt x="622" y="2154"/>
                  <a:pt x="662" y="1978"/>
                  <a:pt x="726" y="1771"/>
                </a:cubicBezTo>
                <a:cubicBezTo>
                  <a:pt x="1029" y="782"/>
                  <a:pt x="1963" y="318"/>
                  <a:pt x="2880" y="311"/>
                </a:cubicBezTo>
                <a:cubicBezTo>
                  <a:pt x="3306" y="308"/>
                  <a:pt x="3680" y="435"/>
                  <a:pt x="3694" y="447"/>
                </a:cubicBezTo>
                <a:cubicBezTo>
                  <a:pt x="3696" y="449"/>
                  <a:pt x="3699" y="455"/>
                  <a:pt x="3696" y="461"/>
                </a:cubicBezTo>
                <a:cubicBezTo>
                  <a:pt x="3693" y="468"/>
                  <a:pt x="3688" y="469"/>
                  <a:pt x="3686" y="469"/>
                </a:cubicBezTo>
                <a:cubicBezTo>
                  <a:pt x="3681" y="468"/>
                  <a:pt x="3439" y="367"/>
                  <a:pt x="3071" y="367"/>
                </a:cubicBezTo>
                <a:cubicBezTo>
                  <a:pt x="2728" y="367"/>
                  <a:pt x="2513" y="510"/>
                  <a:pt x="2513" y="694"/>
                </a:cubicBezTo>
                <a:cubicBezTo>
                  <a:pt x="2513" y="798"/>
                  <a:pt x="2593" y="885"/>
                  <a:pt x="2712" y="885"/>
                </a:cubicBezTo>
                <a:cubicBezTo>
                  <a:pt x="2928" y="885"/>
                  <a:pt x="2944" y="622"/>
                  <a:pt x="3406" y="622"/>
                </a:cubicBezTo>
                <a:cubicBezTo>
                  <a:pt x="3606" y="622"/>
                  <a:pt x="3781" y="662"/>
                  <a:pt x="3989" y="726"/>
                </a:cubicBezTo>
                <a:cubicBezTo>
                  <a:pt x="4986" y="1029"/>
                  <a:pt x="5440" y="1971"/>
                  <a:pt x="5449" y="2880"/>
                </a:cubicBezTo>
                <a:cubicBezTo>
                  <a:pt x="5453" y="3346"/>
                  <a:pt x="5322" y="3699"/>
                  <a:pt x="5321" y="3701"/>
                </a:cubicBezTo>
                <a:close/>
                <a:moveTo>
                  <a:pt x="2880" y="136"/>
                </a:moveTo>
                <a:cubicBezTo>
                  <a:pt x="1364" y="136"/>
                  <a:pt x="135" y="1364"/>
                  <a:pt x="135" y="2880"/>
                </a:cubicBezTo>
                <a:cubicBezTo>
                  <a:pt x="135" y="4396"/>
                  <a:pt x="1364" y="5624"/>
                  <a:pt x="2880" y="5624"/>
                </a:cubicBezTo>
                <a:cubicBezTo>
                  <a:pt x="4396" y="5624"/>
                  <a:pt x="5624" y="4396"/>
                  <a:pt x="5624" y="2880"/>
                </a:cubicBezTo>
                <a:cubicBezTo>
                  <a:pt x="5624" y="1372"/>
                  <a:pt x="4396" y="136"/>
                  <a:pt x="2880" y="136"/>
                </a:cubicBezTo>
                <a:close/>
                <a:moveTo>
                  <a:pt x="2880" y="5760"/>
                </a:moveTo>
                <a:cubicBezTo>
                  <a:pt x="1292" y="5760"/>
                  <a:pt x="0" y="4476"/>
                  <a:pt x="0" y="2880"/>
                </a:cubicBezTo>
                <a:cubicBezTo>
                  <a:pt x="0" y="1292"/>
                  <a:pt x="1292" y="0"/>
                  <a:pt x="2880" y="0"/>
                </a:cubicBezTo>
                <a:cubicBezTo>
                  <a:pt x="4467" y="0"/>
                  <a:pt x="5760" y="1292"/>
                  <a:pt x="5760" y="2880"/>
                </a:cubicBezTo>
                <a:cubicBezTo>
                  <a:pt x="5760" y="4476"/>
                  <a:pt x="4467" y="5760"/>
                  <a:pt x="2880" y="5760"/>
                </a:cubicBezTo>
                <a:close/>
              </a:path>
            </a:pathLst>
          </a:custGeom>
          <a:solidFill>
            <a:srgbClr val="005C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83832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3">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43" y="-8587"/>
            <a:ext cx="12207238" cy="6874623"/>
          </a:xfrm>
          <a:prstGeom prst="rect">
            <a:avLst/>
          </a:prstGeom>
        </p:spPr>
      </p:pic>
      <p:sp>
        <p:nvSpPr>
          <p:cNvPr id="2" name="Title 1"/>
          <p:cNvSpPr>
            <a:spLocks noGrp="1"/>
          </p:cNvSpPr>
          <p:nvPr>
            <p:ph type="ctrTitle" hasCustomPrompt="1"/>
          </p:nvPr>
        </p:nvSpPr>
        <p:spPr>
          <a:xfrm>
            <a:off x="2558964" y="585216"/>
            <a:ext cx="9137736" cy="1554480"/>
          </a:xfrm>
        </p:spPr>
        <p:txBody>
          <a:bodyPr anchor="t" anchorCtr="0">
            <a:noAutofit/>
          </a:bodyPr>
          <a:lstStyle>
            <a:lvl1pPr algn="l">
              <a:lnSpc>
                <a:spcPct val="90000"/>
              </a:lnSpc>
              <a:defRPr sz="4800">
                <a:solidFill>
                  <a:schemeClr val="accent2"/>
                </a:solidFill>
              </a:defRPr>
            </a:lvl1pPr>
          </a:lstStyle>
          <a:p>
            <a:r>
              <a:rPr lang="en-US" dirty="0"/>
              <a:t>Title Slide Layout</a:t>
            </a:r>
            <a:endParaRPr lang="en-CA" dirty="0"/>
          </a:p>
        </p:txBody>
      </p:sp>
      <p:sp>
        <p:nvSpPr>
          <p:cNvPr id="4" name="Date Placeholder 3"/>
          <p:cNvSpPr>
            <a:spLocks noGrp="1"/>
          </p:cNvSpPr>
          <p:nvPr>
            <p:ph type="dt" sz="half" idx="10"/>
          </p:nvPr>
        </p:nvSpPr>
        <p:spPr>
          <a:xfrm>
            <a:off x="2558964" y="2441889"/>
            <a:ext cx="4467288" cy="254013"/>
          </a:xfrm>
        </p:spPr>
        <p:txBody>
          <a:bodyPr/>
          <a:lstStyle>
            <a:lvl1pPr algn="l">
              <a:defRPr sz="1400" b="1">
                <a:solidFill>
                  <a:schemeClr val="accent2"/>
                </a:solidFill>
              </a:defRPr>
            </a:lvl1pPr>
          </a:lstStyle>
          <a:p>
            <a:endParaRPr lang="en-CA" dirty="0"/>
          </a:p>
        </p:txBody>
      </p:sp>
      <p:sp>
        <p:nvSpPr>
          <p:cNvPr id="9" name="Freeform 5"/>
          <p:cNvSpPr>
            <a:spLocks noChangeAspect="1" noEditPoints="1"/>
          </p:cNvSpPr>
          <p:nvPr userDrawn="1"/>
        </p:nvSpPr>
        <p:spPr bwMode="auto">
          <a:xfrm>
            <a:off x="754593" y="475512"/>
            <a:ext cx="914400" cy="914400"/>
          </a:xfrm>
          <a:custGeom>
            <a:avLst/>
            <a:gdLst>
              <a:gd name="T0" fmla="*/ 3869 w 5760"/>
              <a:gd name="T1" fmla="*/ 1545 h 5760"/>
              <a:gd name="T2" fmla="*/ 2018 w 5760"/>
              <a:gd name="T3" fmla="*/ 2250 h 5760"/>
              <a:gd name="T4" fmla="*/ 2018 w 5760"/>
              <a:gd name="T5" fmla="*/ 2250 h 5760"/>
              <a:gd name="T6" fmla="*/ 1556 w 5760"/>
              <a:gd name="T7" fmla="*/ 3934 h 5760"/>
              <a:gd name="T8" fmla="*/ 1755 w 5760"/>
              <a:gd name="T9" fmla="*/ 4133 h 5760"/>
              <a:gd name="T10" fmla="*/ 3470 w 5760"/>
              <a:gd name="T11" fmla="*/ 3455 h 5760"/>
              <a:gd name="T12" fmla="*/ 3861 w 5760"/>
              <a:gd name="T13" fmla="*/ 3710 h 5760"/>
              <a:gd name="T14" fmla="*/ 3933 w 5760"/>
              <a:gd name="T15" fmla="*/ 3255 h 5760"/>
              <a:gd name="T16" fmla="*/ 3734 w 5760"/>
              <a:gd name="T17" fmla="*/ 4133 h 5760"/>
              <a:gd name="T18" fmla="*/ 3694 w 5760"/>
              <a:gd name="T19" fmla="*/ 2712 h 5760"/>
              <a:gd name="T20" fmla="*/ 3905 w 5760"/>
              <a:gd name="T21" fmla="*/ 2466 h 5760"/>
              <a:gd name="T22" fmla="*/ 3574 w 5760"/>
              <a:gd name="T23" fmla="*/ 2354 h 5760"/>
              <a:gd name="T24" fmla="*/ 3853 w 5760"/>
              <a:gd name="T25" fmla="*/ 1324 h 5760"/>
              <a:gd name="T26" fmla="*/ 3295 w 5760"/>
              <a:gd name="T27" fmla="*/ 2298 h 5760"/>
              <a:gd name="T28" fmla="*/ 2685 w 5760"/>
              <a:gd name="T29" fmla="*/ 2469 h 5760"/>
              <a:gd name="T30" fmla="*/ 2816 w 5760"/>
              <a:gd name="T31" fmla="*/ 1987 h 5760"/>
              <a:gd name="T32" fmla="*/ 2170 w 5760"/>
              <a:gd name="T33" fmla="*/ 2593 h 5760"/>
              <a:gd name="T34" fmla="*/ 2712 w 5760"/>
              <a:gd name="T35" fmla="*/ 1580 h 5760"/>
              <a:gd name="T36" fmla="*/ 1779 w 5760"/>
              <a:gd name="T37" fmla="*/ 2274 h 5760"/>
              <a:gd name="T38" fmla="*/ 1643 w 5760"/>
              <a:gd name="T39" fmla="*/ 1795 h 5760"/>
              <a:gd name="T40" fmla="*/ 1388 w 5760"/>
              <a:gd name="T41" fmla="*/ 2066 h 5760"/>
              <a:gd name="T42" fmla="*/ 2122 w 5760"/>
              <a:gd name="T43" fmla="*/ 2792 h 5760"/>
              <a:gd name="T44" fmla="*/ 2417 w 5760"/>
              <a:gd name="T45" fmla="*/ 2832 h 5760"/>
              <a:gd name="T46" fmla="*/ 1292 w 5760"/>
              <a:gd name="T47" fmla="*/ 3917 h 5760"/>
              <a:gd name="T48" fmla="*/ 2537 w 5760"/>
              <a:gd name="T49" fmla="*/ 3678 h 5760"/>
              <a:gd name="T50" fmla="*/ 3374 w 5760"/>
              <a:gd name="T51" fmla="*/ 2489 h 5760"/>
              <a:gd name="T52" fmla="*/ 2888 w 5760"/>
              <a:gd name="T53" fmla="*/ 3502 h 5760"/>
              <a:gd name="T54" fmla="*/ 4484 w 5760"/>
              <a:gd name="T55" fmla="*/ 3646 h 5760"/>
              <a:gd name="T56" fmla="*/ 5321 w 5760"/>
              <a:gd name="T57" fmla="*/ 3701 h 5760"/>
              <a:gd name="T58" fmla="*/ 5297 w 5760"/>
              <a:gd name="T59" fmla="*/ 3694 h 5760"/>
              <a:gd name="T60" fmla="*/ 5066 w 5760"/>
              <a:gd name="T61" fmla="*/ 2513 h 5760"/>
              <a:gd name="T62" fmla="*/ 5138 w 5760"/>
              <a:gd name="T63" fmla="*/ 3415 h 5760"/>
              <a:gd name="T64" fmla="*/ 2880 w 5760"/>
              <a:gd name="T65" fmla="*/ 5449 h 5760"/>
              <a:gd name="T66" fmla="*/ 2063 w 5760"/>
              <a:gd name="T67" fmla="*/ 5306 h 5760"/>
              <a:gd name="T68" fmla="*/ 2689 w 5760"/>
              <a:gd name="T69" fmla="*/ 5393 h 5760"/>
              <a:gd name="T70" fmla="*/ 3047 w 5760"/>
              <a:gd name="T71" fmla="*/ 4875 h 5760"/>
              <a:gd name="T72" fmla="*/ 1771 w 5760"/>
              <a:gd name="T73" fmla="*/ 5042 h 5760"/>
              <a:gd name="T74" fmla="*/ 440 w 5760"/>
              <a:gd name="T75" fmla="*/ 2067 h 5760"/>
              <a:gd name="T76" fmla="*/ 462 w 5760"/>
              <a:gd name="T77" fmla="*/ 2075 h 5760"/>
              <a:gd name="T78" fmla="*/ 694 w 5760"/>
              <a:gd name="T79" fmla="*/ 3247 h 5760"/>
              <a:gd name="T80" fmla="*/ 622 w 5760"/>
              <a:gd name="T81" fmla="*/ 2354 h 5760"/>
              <a:gd name="T82" fmla="*/ 2880 w 5760"/>
              <a:gd name="T83" fmla="*/ 311 h 5760"/>
              <a:gd name="T84" fmla="*/ 3696 w 5760"/>
              <a:gd name="T85" fmla="*/ 461 h 5760"/>
              <a:gd name="T86" fmla="*/ 3071 w 5760"/>
              <a:gd name="T87" fmla="*/ 367 h 5760"/>
              <a:gd name="T88" fmla="*/ 2712 w 5760"/>
              <a:gd name="T89" fmla="*/ 885 h 5760"/>
              <a:gd name="T90" fmla="*/ 3989 w 5760"/>
              <a:gd name="T91" fmla="*/ 726 h 5760"/>
              <a:gd name="T92" fmla="*/ 5321 w 5760"/>
              <a:gd name="T93" fmla="*/ 3701 h 5760"/>
              <a:gd name="T94" fmla="*/ 135 w 5760"/>
              <a:gd name="T95" fmla="*/ 2880 h 5760"/>
              <a:gd name="T96" fmla="*/ 5624 w 5760"/>
              <a:gd name="T97" fmla="*/ 2880 h 5760"/>
              <a:gd name="T98" fmla="*/ 2880 w 5760"/>
              <a:gd name="T99" fmla="*/ 5760 h 5760"/>
              <a:gd name="T100" fmla="*/ 2880 w 5760"/>
              <a:gd name="T101" fmla="*/ 0 h 5760"/>
              <a:gd name="T102" fmla="*/ 2880 w 5760"/>
              <a:gd name="T103" fmla="*/ 5760 h 5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60" h="5760">
                <a:moveTo>
                  <a:pt x="3526" y="2130"/>
                </a:moveTo>
                <a:cubicBezTo>
                  <a:pt x="3526" y="1803"/>
                  <a:pt x="3748" y="1485"/>
                  <a:pt x="3869" y="1545"/>
                </a:cubicBezTo>
                <a:cubicBezTo>
                  <a:pt x="4006" y="1614"/>
                  <a:pt x="3766" y="1923"/>
                  <a:pt x="3526" y="2130"/>
                </a:cubicBezTo>
                <a:moveTo>
                  <a:pt x="2018" y="2250"/>
                </a:moveTo>
                <a:cubicBezTo>
                  <a:pt x="2018" y="1987"/>
                  <a:pt x="2278" y="1486"/>
                  <a:pt x="2437" y="1539"/>
                </a:cubicBezTo>
                <a:cubicBezTo>
                  <a:pt x="2625" y="1601"/>
                  <a:pt x="2282" y="2106"/>
                  <a:pt x="2018" y="2250"/>
                </a:cubicBezTo>
                <a:close/>
                <a:moveTo>
                  <a:pt x="1755" y="4133"/>
                </a:moveTo>
                <a:cubicBezTo>
                  <a:pt x="1635" y="4138"/>
                  <a:pt x="1556" y="4062"/>
                  <a:pt x="1556" y="3934"/>
                </a:cubicBezTo>
                <a:cubicBezTo>
                  <a:pt x="1556" y="3591"/>
                  <a:pt x="2031" y="3264"/>
                  <a:pt x="2390" y="3088"/>
                </a:cubicBezTo>
                <a:cubicBezTo>
                  <a:pt x="2327" y="3567"/>
                  <a:pt x="2165" y="4114"/>
                  <a:pt x="1755" y="4133"/>
                </a:cubicBezTo>
                <a:close/>
                <a:moveTo>
                  <a:pt x="3949" y="3016"/>
                </a:moveTo>
                <a:cubicBezTo>
                  <a:pt x="3678" y="3016"/>
                  <a:pt x="3470" y="3215"/>
                  <a:pt x="3470" y="3455"/>
                </a:cubicBezTo>
                <a:cubicBezTo>
                  <a:pt x="3470" y="3654"/>
                  <a:pt x="3590" y="3813"/>
                  <a:pt x="3750" y="3813"/>
                </a:cubicBezTo>
                <a:cubicBezTo>
                  <a:pt x="3806" y="3813"/>
                  <a:pt x="3861" y="3782"/>
                  <a:pt x="3861" y="3710"/>
                </a:cubicBezTo>
                <a:cubicBezTo>
                  <a:pt x="3861" y="3606"/>
                  <a:pt x="3724" y="3581"/>
                  <a:pt x="3734" y="3426"/>
                </a:cubicBezTo>
                <a:cubicBezTo>
                  <a:pt x="3741" y="3323"/>
                  <a:pt x="3837" y="3255"/>
                  <a:pt x="3933" y="3255"/>
                </a:cubicBezTo>
                <a:cubicBezTo>
                  <a:pt x="4124" y="3255"/>
                  <a:pt x="4214" y="3440"/>
                  <a:pt x="4214" y="3632"/>
                </a:cubicBezTo>
                <a:cubicBezTo>
                  <a:pt x="4206" y="3927"/>
                  <a:pt x="3989" y="4133"/>
                  <a:pt x="3734" y="4133"/>
                </a:cubicBezTo>
                <a:cubicBezTo>
                  <a:pt x="3398" y="4133"/>
                  <a:pt x="3183" y="3813"/>
                  <a:pt x="3183" y="3470"/>
                </a:cubicBezTo>
                <a:cubicBezTo>
                  <a:pt x="3183" y="2960"/>
                  <a:pt x="3518" y="2760"/>
                  <a:pt x="3694" y="2712"/>
                </a:cubicBezTo>
                <a:cubicBezTo>
                  <a:pt x="3696" y="2712"/>
                  <a:pt x="4153" y="2794"/>
                  <a:pt x="4138" y="2592"/>
                </a:cubicBezTo>
                <a:cubicBezTo>
                  <a:pt x="4132" y="2504"/>
                  <a:pt x="4000" y="2470"/>
                  <a:pt x="3905" y="2466"/>
                </a:cubicBezTo>
                <a:cubicBezTo>
                  <a:pt x="3799" y="2462"/>
                  <a:pt x="3692" y="2500"/>
                  <a:pt x="3692" y="2500"/>
                </a:cubicBezTo>
                <a:cubicBezTo>
                  <a:pt x="3636" y="2472"/>
                  <a:pt x="3598" y="2417"/>
                  <a:pt x="3574" y="2354"/>
                </a:cubicBezTo>
                <a:cubicBezTo>
                  <a:pt x="3901" y="2106"/>
                  <a:pt x="4133" y="1867"/>
                  <a:pt x="4133" y="1596"/>
                </a:cubicBezTo>
                <a:cubicBezTo>
                  <a:pt x="4133" y="1452"/>
                  <a:pt x="4037" y="1324"/>
                  <a:pt x="3853" y="1324"/>
                </a:cubicBezTo>
                <a:cubicBezTo>
                  <a:pt x="3526" y="1324"/>
                  <a:pt x="3279" y="1739"/>
                  <a:pt x="3279" y="2114"/>
                </a:cubicBezTo>
                <a:cubicBezTo>
                  <a:pt x="3279" y="2178"/>
                  <a:pt x="3279" y="2242"/>
                  <a:pt x="3295" y="2298"/>
                </a:cubicBezTo>
                <a:cubicBezTo>
                  <a:pt x="3087" y="2449"/>
                  <a:pt x="2933" y="2543"/>
                  <a:pt x="2654" y="2711"/>
                </a:cubicBezTo>
                <a:cubicBezTo>
                  <a:pt x="2654" y="2676"/>
                  <a:pt x="2661" y="2586"/>
                  <a:pt x="2685" y="2469"/>
                </a:cubicBezTo>
                <a:cubicBezTo>
                  <a:pt x="2780" y="2365"/>
                  <a:pt x="2912" y="2210"/>
                  <a:pt x="2912" y="2090"/>
                </a:cubicBezTo>
                <a:cubicBezTo>
                  <a:pt x="2912" y="2034"/>
                  <a:pt x="2880" y="1987"/>
                  <a:pt x="2816" y="1987"/>
                </a:cubicBezTo>
                <a:cubicBezTo>
                  <a:pt x="2657" y="1987"/>
                  <a:pt x="2537" y="2226"/>
                  <a:pt x="2505" y="2393"/>
                </a:cubicBezTo>
                <a:cubicBezTo>
                  <a:pt x="2433" y="2481"/>
                  <a:pt x="2290" y="2593"/>
                  <a:pt x="2170" y="2593"/>
                </a:cubicBezTo>
                <a:cubicBezTo>
                  <a:pt x="2074" y="2593"/>
                  <a:pt x="2042" y="2505"/>
                  <a:pt x="2034" y="2473"/>
                </a:cubicBezTo>
                <a:cubicBezTo>
                  <a:pt x="2338" y="2369"/>
                  <a:pt x="2712" y="1955"/>
                  <a:pt x="2712" y="1580"/>
                </a:cubicBezTo>
                <a:cubicBezTo>
                  <a:pt x="2712" y="1500"/>
                  <a:pt x="2681" y="1324"/>
                  <a:pt x="2441" y="1324"/>
                </a:cubicBezTo>
                <a:cubicBezTo>
                  <a:pt x="2082" y="1324"/>
                  <a:pt x="1779" y="1859"/>
                  <a:pt x="1779" y="2274"/>
                </a:cubicBezTo>
                <a:cubicBezTo>
                  <a:pt x="1651" y="2274"/>
                  <a:pt x="1604" y="2138"/>
                  <a:pt x="1604" y="2034"/>
                </a:cubicBezTo>
                <a:cubicBezTo>
                  <a:pt x="1604" y="1931"/>
                  <a:pt x="1643" y="1827"/>
                  <a:pt x="1643" y="1795"/>
                </a:cubicBezTo>
                <a:cubicBezTo>
                  <a:pt x="1643" y="1763"/>
                  <a:pt x="1627" y="1723"/>
                  <a:pt x="1580" y="1723"/>
                </a:cubicBezTo>
                <a:cubicBezTo>
                  <a:pt x="1460" y="1723"/>
                  <a:pt x="1388" y="1883"/>
                  <a:pt x="1388" y="2066"/>
                </a:cubicBezTo>
                <a:cubicBezTo>
                  <a:pt x="1396" y="2322"/>
                  <a:pt x="1564" y="2481"/>
                  <a:pt x="1787" y="2497"/>
                </a:cubicBezTo>
                <a:cubicBezTo>
                  <a:pt x="1819" y="2649"/>
                  <a:pt x="1955" y="2792"/>
                  <a:pt x="2122" y="2792"/>
                </a:cubicBezTo>
                <a:cubicBezTo>
                  <a:pt x="2226" y="2792"/>
                  <a:pt x="2353" y="2760"/>
                  <a:pt x="2441" y="2681"/>
                </a:cubicBezTo>
                <a:cubicBezTo>
                  <a:pt x="2433" y="2737"/>
                  <a:pt x="2425" y="2784"/>
                  <a:pt x="2417" y="2832"/>
                </a:cubicBezTo>
                <a:cubicBezTo>
                  <a:pt x="2066" y="3016"/>
                  <a:pt x="1811" y="3143"/>
                  <a:pt x="1580" y="3351"/>
                </a:cubicBezTo>
                <a:cubicBezTo>
                  <a:pt x="1396" y="3518"/>
                  <a:pt x="1292" y="3742"/>
                  <a:pt x="1292" y="3917"/>
                </a:cubicBezTo>
                <a:cubicBezTo>
                  <a:pt x="1292" y="4157"/>
                  <a:pt x="1444" y="4380"/>
                  <a:pt x="1755" y="4380"/>
                </a:cubicBezTo>
                <a:cubicBezTo>
                  <a:pt x="2122" y="4380"/>
                  <a:pt x="2401" y="4085"/>
                  <a:pt x="2537" y="3678"/>
                </a:cubicBezTo>
                <a:cubicBezTo>
                  <a:pt x="2601" y="3486"/>
                  <a:pt x="2626" y="3208"/>
                  <a:pt x="2642" y="2952"/>
                </a:cubicBezTo>
                <a:cubicBezTo>
                  <a:pt x="3009" y="2745"/>
                  <a:pt x="3183" y="2625"/>
                  <a:pt x="3374" y="2489"/>
                </a:cubicBezTo>
                <a:cubicBezTo>
                  <a:pt x="3398" y="2529"/>
                  <a:pt x="3423" y="2561"/>
                  <a:pt x="3454" y="2585"/>
                </a:cubicBezTo>
                <a:cubicBezTo>
                  <a:pt x="3287" y="2673"/>
                  <a:pt x="2888" y="2920"/>
                  <a:pt x="2888" y="3502"/>
                </a:cubicBezTo>
                <a:cubicBezTo>
                  <a:pt x="2888" y="3917"/>
                  <a:pt x="3167" y="4380"/>
                  <a:pt x="3718" y="4380"/>
                </a:cubicBezTo>
                <a:cubicBezTo>
                  <a:pt x="4172" y="4380"/>
                  <a:pt x="4484" y="4005"/>
                  <a:pt x="4484" y="3646"/>
                </a:cubicBezTo>
                <a:cubicBezTo>
                  <a:pt x="4484" y="3319"/>
                  <a:pt x="4300" y="3016"/>
                  <a:pt x="3949" y="3016"/>
                </a:cubicBezTo>
                <a:close/>
                <a:moveTo>
                  <a:pt x="5321" y="3701"/>
                </a:moveTo>
                <a:cubicBezTo>
                  <a:pt x="5319" y="3703"/>
                  <a:pt x="5315" y="3707"/>
                  <a:pt x="5306" y="3704"/>
                </a:cubicBezTo>
                <a:cubicBezTo>
                  <a:pt x="5299" y="3702"/>
                  <a:pt x="5297" y="3698"/>
                  <a:pt x="5297" y="3694"/>
                </a:cubicBezTo>
                <a:cubicBezTo>
                  <a:pt x="5298" y="3689"/>
                  <a:pt x="5394" y="3405"/>
                  <a:pt x="5393" y="3080"/>
                </a:cubicBezTo>
                <a:cubicBezTo>
                  <a:pt x="5392" y="2728"/>
                  <a:pt x="5249" y="2513"/>
                  <a:pt x="5066" y="2513"/>
                </a:cubicBezTo>
                <a:cubicBezTo>
                  <a:pt x="4954" y="2513"/>
                  <a:pt x="4874" y="2593"/>
                  <a:pt x="4874" y="2712"/>
                </a:cubicBezTo>
                <a:cubicBezTo>
                  <a:pt x="4874" y="2928"/>
                  <a:pt x="5138" y="2944"/>
                  <a:pt x="5138" y="3415"/>
                </a:cubicBezTo>
                <a:cubicBezTo>
                  <a:pt x="5138" y="3606"/>
                  <a:pt x="5098" y="3789"/>
                  <a:pt x="5034" y="3989"/>
                </a:cubicBezTo>
                <a:cubicBezTo>
                  <a:pt x="4739" y="4986"/>
                  <a:pt x="3797" y="5449"/>
                  <a:pt x="2880" y="5449"/>
                </a:cubicBezTo>
                <a:cubicBezTo>
                  <a:pt x="2457" y="5449"/>
                  <a:pt x="2157" y="5362"/>
                  <a:pt x="2067" y="5322"/>
                </a:cubicBezTo>
                <a:cubicBezTo>
                  <a:pt x="2063" y="5320"/>
                  <a:pt x="2061" y="5313"/>
                  <a:pt x="2063" y="5306"/>
                </a:cubicBezTo>
                <a:cubicBezTo>
                  <a:pt x="2065" y="5300"/>
                  <a:pt x="2072" y="5296"/>
                  <a:pt x="2075" y="5298"/>
                </a:cubicBezTo>
                <a:cubicBezTo>
                  <a:pt x="2111" y="5312"/>
                  <a:pt x="2369" y="5393"/>
                  <a:pt x="2689" y="5393"/>
                </a:cubicBezTo>
                <a:cubicBezTo>
                  <a:pt x="3040" y="5393"/>
                  <a:pt x="3247" y="5250"/>
                  <a:pt x="3247" y="5074"/>
                </a:cubicBezTo>
                <a:cubicBezTo>
                  <a:pt x="3247" y="4962"/>
                  <a:pt x="3159" y="4875"/>
                  <a:pt x="3047" y="4875"/>
                </a:cubicBezTo>
                <a:cubicBezTo>
                  <a:pt x="2832" y="4875"/>
                  <a:pt x="2816" y="5146"/>
                  <a:pt x="2353" y="5146"/>
                </a:cubicBezTo>
                <a:cubicBezTo>
                  <a:pt x="2154" y="5146"/>
                  <a:pt x="1979" y="5106"/>
                  <a:pt x="1771" y="5042"/>
                </a:cubicBezTo>
                <a:cubicBezTo>
                  <a:pt x="782" y="4739"/>
                  <a:pt x="310" y="3805"/>
                  <a:pt x="311" y="2880"/>
                </a:cubicBezTo>
                <a:cubicBezTo>
                  <a:pt x="311" y="2429"/>
                  <a:pt x="438" y="2070"/>
                  <a:pt x="440" y="2067"/>
                </a:cubicBezTo>
                <a:cubicBezTo>
                  <a:pt x="441" y="2065"/>
                  <a:pt x="447" y="2062"/>
                  <a:pt x="454" y="2065"/>
                </a:cubicBezTo>
                <a:cubicBezTo>
                  <a:pt x="461" y="2067"/>
                  <a:pt x="463" y="2073"/>
                  <a:pt x="462" y="2075"/>
                </a:cubicBezTo>
                <a:cubicBezTo>
                  <a:pt x="451" y="2112"/>
                  <a:pt x="367" y="2370"/>
                  <a:pt x="367" y="2688"/>
                </a:cubicBezTo>
                <a:cubicBezTo>
                  <a:pt x="367" y="3040"/>
                  <a:pt x="511" y="3247"/>
                  <a:pt x="694" y="3247"/>
                </a:cubicBezTo>
                <a:cubicBezTo>
                  <a:pt x="798" y="3247"/>
                  <a:pt x="885" y="3167"/>
                  <a:pt x="885" y="3056"/>
                </a:cubicBezTo>
                <a:cubicBezTo>
                  <a:pt x="885" y="2840"/>
                  <a:pt x="622" y="2816"/>
                  <a:pt x="622" y="2354"/>
                </a:cubicBezTo>
                <a:cubicBezTo>
                  <a:pt x="622" y="2154"/>
                  <a:pt x="662" y="1978"/>
                  <a:pt x="726" y="1771"/>
                </a:cubicBezTo>
                <a:cubicBezTo>
                  <a:pt x="1029" y="782"/>
                  <a:pt x="1963" y="318"/>
                  <a:pt x="2880" y="311"/>
                </a:cubicBezTo>
                <a:cubicBezTo>
                  <a:pt x="3306" y="308"/>
                  <a:pt x="3680" y="435"/>
                  <a:pt x="3694" y="447"/>
                </a:cubicBezTo>
                <a:cubicBezTo>
                  <a:pt x="3696" y="449"/>
                  <a:pt x="3699" y="455"/>
                  <a:pt x="3696" y="461"/>
                </a:cubicBezTo>
                <a:cubicBezTo>
                  <a:pt x="3693" y="468"/>
                  <a:pt x="3688" y="469"/>
                  <a:pt x="3686" y="469"/>
                </a:cubicBezTo>
                <a:cubicBezTo>
                  <a:pt x="3681" y="468"/>
                  <a:pt x="3439" y="367"/>
                  <a:pt x="3071" y="367"/>
                </a:cubicBezTo>
                <a:cubicBezTo>
                  <a:pt x="2728" y="367"/>
                  <a:pt x="2513" y="510"/>
                  <a:pt x="2513" y="694"/>
                </a:cubicBezTo>
                <a:cubicBezTo>
                  <a:pt x="2513" y="798"/>
                  <a:pt x="2593" y="885"/>
                  <a:pt x="2712" y="885"/>
                </a:cubicBezTo>
                <a:cubicBezTo>
                  <a:pt x="2928" y="885"/>
                  <a:pt x="2944" y="622"/>
                  <a:pt x="3406" y="622"/>
                </a:cubicBezTo>
                <a:cubicBezTo>
                  <a:pt x="3606" y="622"/>
                  <a:pt x="3781" y="662"/>
                  <a:pt x="3989" y="726"/>
                </a:cubicBezTo>
                <a:cubicBezTo>
                  <a:pt x="4986" y="1029"/>
                  <a:pt x="5440" y="1971"/>
                  <a:pt x="5449" y="2880"/>
                </a:cubicBezTo>
                <a:cubicBezTo>
                  <a:pt x="5453" y="3346"/>
                  <a:pt x="5322" y="3699"/>
                  <a:pt x="5321" y="3701"/>
                </a:cubicBezTo>
                <a:close/>
                <a:moveTo>
                  <a:pt x="2880" y="136"/>
                </a:moveTo>
                <a:cubicBezTo>
                  <a:pt x="1364" y="136"/>
                  <a:pt x="135" y="1364"/>
                  <a:pt x="135" y="2880"/>
                </a:cubicBezTo>
                <a:cubicBezTo>
                  <a:pt x="135" y="4396"/>
                  <a:pt x="1364" y="5624"/>
                  <a:pt x="2880" y="5624"/>
                </a:cubicBezTo>
                <a:cubicBezTo>
                  <a:pt x="4396" y="5624"/>
                  <a:pt x="5624" y="4396"/>
                  <a:pt x="5624" y="2880"/>
                </a:cubicBezTo>
                <a:cubicBezTo>
                  <a:pt x="5624" y="1372"/>
                  <a:pt x="4396" y="136"/>
                  <a:pt x="2880" y="136"/>
                </a:cubicBezTo>
                <a:close/>
                <a:moveTo>
                  <a:pt x="2880" y="5760"/>
                </a:moveTo>
                <a:cubicBezTo>
                  <a:pt x="1292" y="5760"/>
                  <a:pt x="0" y="4476"/>
                  <a:pt x="0" y="2880"/>
                </a:cubicBezTo>
                <a:cubicBezTo>
                  <a:pt x="0" y="1292"/>
                  <a:pt x="1292" y="0"/>
                  <a:pt x="2880" y="0"/>
                </a:cubicBezTo>
                <a:cubicBezTo>
                  <a:pt x="4467" y="0"/>
                  <a:pt x="5760" y="1292"/>
                  <a:pt x="5760" y="2880"/>
                </a:cubicBezTo>
                <a:cubicBezTo>
                  <a:pt x="5760" y="4476"/>
                  <a:pt x="4467" y="5760"/>
                  <a:pt x="2880" y="5760"/>
                </a:cubicBezTo>
                <a:close/>
              </a:path>
            </a:pathLst>
          </a:custGeom>
          <a:solidFill>
            <a:srgbClr val="005C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TextBox 11"/>
          <p:cNvSpPr txBox="1"/>
          <p:nvPr userDrawn="1"/>
        </p:nvSpPr>
        <p:spPr>
          <a:xfrm>
            <a:off x="2559607" y="3156020"/>
            <a:ext cx="8047433" cy="138499"/>
          </a:xfrm>
          <a:prstGeom prst="rect">
            <a:avLst/>
          </a:prstGeom>
          <a:noFill/>
        </p:spPr>
        <p:txBody>
          <a:bodyPr wrap="square" lIns="0" tIns="0" rIns="0" bIns="0" rtlCol="0" anchor="b">
            <a:spAutoFit/>
          </a:bodyPr>
          <a:lstStyle/>
          <a:p>
            <a:r>
              <a:rPr lang="en-US" sz="900" dirty="0">
                <a:solidFill>
                  <a:schemeClr val="accent2"/>
                </a:solidFill>
              </a:rPr>
              <a:t>Class II – GE</a:t>
            </a:r>
            <a:r>
              <a:rPr lang="en-US" sz="900" baseline="0" dirty="0">
                <a:solidFill>
                  <a:schemeClr val="accent2"/>
                </a:solidFill>
              </a:rPr>
              <a:t> Internal</a:t>
            </a:r>
            <a:endParaRPr lang="en-US" sz="2000" dirty="0">
              <a:solidFill>
                <a:srgbClr val="63666A"/>
              </a:solidFill>
              <a:latin typeface="GE Inspira Sans" charset="0"/>
              <a:ea typeface="GE Inspira Sans" charset="0"/>
              <a:cs typeface="GE Inspira Sans" charset="0"/>
            </a:endParaRPr>
          </a:p>
        </p:txBody>
      </p:sp>
    </p:spTree>
    <p:extLst>
      <p:ext uri="{BB962C8B-B14F-4D97-AF65-F5344CB8AC3E}">
        <p14:creationId xmlns:p14="http://schemas.microsoft.com/office/powerpoint/2010/main" val="3416334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560320" y="585216"/>
            <a:ext cx="9136380" cy="1554480"/>
          </a:xfrm>
        </p:spPr>
        <p:txBody>
          <a:bodyPr vert="horz" lIns="0" tIns="0" rIns="0" bIns="0" rtlCol="0" anchor="t" anchorCtr="0">
            <a:noAutofit/>
          </a:bodyPr>
          <a:lstStyle>
            <a:lvl1pPr>
              <a:defRPr lang="en-CA" sz="4800" dirty="0"/>
            </a:lvl1pPr>
          </a:lstStyle>
          <a:p>
            <a:pPr lvl="0"/>
            <a:r>
              <a:rPr lang="en-US" dirty="0"/>
              <a:t>Title Slide 2 Layout</a:t>
            </a:r>
            <a:endParaRPr lang="en-CA" dirty="0"/>
          </a:p>
        </p:txBody>
      </p:sp>
      <p:sp>
        <p:nvSpPr>
          <p:cNvPr id="4" name="Date Placeholder 3"/>
          <p:cNvSpPr>
            <a:spLocks noGrp="1"/>
          </p:cNvSpPr>
          <p:nvPr>
            <p:ph type="dt" sz="half" idx="10"/>
          </p:nvPr>
        </p:nvSpPr>
        <p:spPr>
          <a:xfrm>
            <a:off x="2560320" y="2436879"/>
            <a:ext cx="3979927" cy="254013"/>
          </a:xfrm>
        </p:spPr>
        <p:txBody>
          <a:bodyPr vert="horz" lIns="0" tIns="0" rIns="0" bIns="0" rtlCol="0" anchor="t" anchorCtr="0">
            <a:noAutofit/>
          </a:bodyPr>
          <a:lstStyle>
            <a:lvl1pPr>
              <a:defRPr lang="en-US" sz="1400" b="1" smtClean="0"/>
            </a:lvl1pPr>
          </a:lstStyle>
          <a:p>
            <a:fld id="{D327F85D-846D-4EB3-8BA7-4B49600B0019}" type="datetime3">
              <a:rPr lang="en-US" smtClean="0"/>
              <a:t>7 March 2017</a:t>
            </a:fld>
            <a:endParaRPr lang="en-US" dirty="0"/>
          </a:p>
        </p:txBody>
      </p:sp>
      <p:sp>
        <p:nvSpPr>
          <p:cNvPr id="3" name="TextBox 2"/>
          <p:cNvSpPr txBox="1"/>
          <p:nvPr/>
        </p:nvSpPr>
        <p:spPr>
          <a:xfrm>
            <a:off x="2560320" y="3018594"/>
            <a:ext cx="3826412" cy="1754968"/>
          </a:xfrm>
          <a:prstGeom prst="rect">
            <a:avLst/>
          </a:prstGeom>
          <a:noFill/>
        </p:spPr>
        <p:txBody>
          <a:bodyPr wrap="square" lIns="0" tIns="0" rIns="0" bIns="0" rtlCol="0">
            <a:spAutoFit/>
          </a:bodyPr>
          <a:lstStyle>
            <a:defPPr>
              <a:defRPr lang="en-US"/>
            </a:defPPr>
            <a:lvl1pPr lvl="0">
              <a:lnSpc>
                <a:spcPct val="110000"/>
              </a:lnSpc>
              <a:spcBef>
                <a:spcPts val="400"/>
              </a:spcBef>
              <a:defRPr sz="800">
                <a:solidFill>
                  <a:schemeClr val="accent2"/>
                </a:solidFill>
              </a:defRPr>
            </a:lvl1pPr>
            <a:lvl2pPr marL="55563" marR="0" lvl="1" indent="-55563" fontAlgn="auto">
              <a:lnSpc>
                <a:spcPct val="110000"/>
              </a:lnSpc>
              <a:spcBef>
                <a:spcPts val="0"/>
              </a:spcBef>
              <a:spcAft>
                <a:spcPts val="0"/>
              </a:spcAft>
              <a:buClrTx/>
              <a:buSzTx/>
              <a:buFont typeface="Arial" panose="020B0604020202020204" pitchFamily="34" charset="0"/>
              <a:buChar char="•"/>
              <a:tabLst/>
              <a:defRPr sz="800" kern="600" spc="-10" baseline="0">
                <a:solidFill>
                  <a:schemeClr val="accent2"/>
                </a:solidFill>
              </a:defRPr>
            </a:lvl2pPr>
          </a:lstStyle>
          <a:p>
            <a:pPr lvl="0"/>
            <a:r>
              <a:rPr lang="en-US" dirty="0"/>
              <a:t>Placeholder confidentiality disclosure. Edit or delete from layout master if not needed. Use additional lines if additional confidentiality disclosure information is required. 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a:t>
            </a:r>
            <a:r>
              <a:rPr lang="en-US" dirty="0" err="1"/>
              <a:t>sed</a:t>
            </a:r>
            <a:r>
              <a:rPr lang="en-US" dirty="0"/>
              <a:t> </a:t>
            </a:r>
            <a:r>
              <a:rPr lang="en-US" dirty="0" err="1"/>
              <a:t>diam</a:t>
            </a:r>
            <a:r>
              <a:rPr lang="en-US" dirty="0"/>
              <a:t>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aliquyam</a:t>
            </a:r>
            <a:r>
              <a:rPr lang="en-US" dirty="0"/>
              <a:t> </a:t>
            </a:r>
            <a:r>
              <a:rPr lang="en-US" dirty="0" err="1"/>
              <a:t>erat</a:t>
            </a:r>
            <a:r>
              <a:rPr lang="en-US" dirty="0"/>
              <a:t>, </a:t>
            </a:r>
            <a:r>
              <a:rPr lang="en-US" dirty="0" err="1"/>
              <a:t>sed</a:t>
            </a:r>
            <a:r>
              <a:rPr lang="en-US" dirty="0"/>
              <a:t> </a:t>
            </a:r>
            <a:r>
              <a:rPr lang="en-US" dirty="0" err="1"/>
              <a:t>diam</a:t>
            </a:r>
            <a:r>
              <a:rPr lang="en-US" dirty="0"/>
              <a:t> </a:t>
            </a:r>
            <a:r>
              <a:rPr lang="en-US" dirty="0" err="1"/>
              <a:t>voluptua</a:t>
            </a:r>
            <a:r>
              <a:rPr lang="en-US" dirty="0"/>
              <a:t>. At </a:t>
            </a:r>
            <a:r>
              <a:rPr lang="en-US" dirty="0" err="1"/>
              <a:t>vero</a:t>
            </a:r>
            <a:r>
              <a:rPr lang="en-US" dirty="0"/>
              <a:t> </a:t>
            </a:r>
            <a:r>
              <a:rPr lang="en-US" dirty="0" err="1"/>
              <a:t>eos</a:t>
            </a:r>
            <a:r>
              <a:rPr lang="en-US" dirty="0"/>
              <a:t> et </a:t>
            </a:r>
            <a:r>
              <a:rPr lang="en-US" dirty="0" err="1"/>
              <a:t>accusam</a:t>
            </a:r>
            <a:r>
              <a:rPr lang="en-US" dirty="0"/>
              <a:t> et </a:t>
            </a:r>
            <a:r>
              <a:rPr lang="en-US" dirty="0" err="1"/>
              <a:t>justo</a:t>
            </a:r>
            <a:r>
              <a:rPr lang="en-US" dirty="0"/>
              <a:t> duo </a:t>
            </a:r>
            <a:r>
              <a:rPr lang="en-US" dirty="0" err="1"/>
              <a:t>dolores</a:t>
            </a:r>
            <a:r>
              <a:rPr lang="en-US" dirty="0"/>
              <a:t> et </a:t>
            </a:r>
            <a:r>
              <a:rPr lang="en-US" dirty="0" err="1"/>
              <a:t>ea</a:t>
            </a:r>
            <a:r>
              <a:rPr lang="en-US" dirty="0"/>
              <a:t> </a:t>
            </a:r>
            <a:r>
              <a:rPr lang="en-US" dirty="0" err="1"/>
              <a:t>rebum</a:t>
            </a:r>
            <a:r>
              <a:rPr lang="en-US" dirty="0"/>
              <a:t>. Stet </a:t>
            </a:r>
            <a:r>
              <a:rPr lang="en-US" dirty="0" err="1"/>
              <a:t>clita</a:t>
            </a:r>
            <a:r>
              <a:rPr lang="en-US" dirty="0"/>
              <a:t> </a:t>
            </a:r>
            <a:r>
              <a:rPr lang="en-US" dirty="0" err="1"/>
              <a:t>kasd</a:t>
            </a:r>
            <a:r>
              <a:rPr lang="en-US" dirty="0"/>
              <a:t> </a:t>
            </a:r>
            <a:r>
              <a:rPr lang="en-US" dirty="0" err="1"/>
              <a:t>gubergren</a:t>
            </a:r>
            <a:r>
              <a:rPr lang="en-US" dirty="0"/>
              <a:t>, no sea </a:t>
            </a:r>
            <a:r>
              <a:rPr lang="en-US" dirty="0" err="1"/>
              <a:t>takimata</a:t>
            </a:r>
            <a:r>
              <a:rPr lang="en-US" dirty="0"/>
              <a:t> </a:t>
            </a:r>
            <a:r>
              <a:rPr lang="en-US" dirty="0" err="1"/>
              <a:t>sanctus</a:t>
            </a:r>
            <a:r>
              <a:rPr lang="en-US" dirty="0"/>
              <a:t> </a:t>
            </a:r>
            <a:r>
              <a:rPr lang="en-US" dirty="0" err="1"/>
              <a:t>est</a:t>
            </a:r>
            <a:r>
              <a:rPr lang="en-US" dirty="0"/>
              <a:t> lorem ipsum dolor sit </a:t>
            </a:r>
            <a:r>
              <a:rPr lang="en-US" dirty="0" err="1"/>
              <a:t>amet</a:t>
            </a:r>
            <a:r>
              <a:rPr lang="en-US" dirty="0"/>
              <a:t>. 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a:t>
            </a:r>
            <a:r>
              <a:rPr lang="en-US" dirty="0" err="1"/>
              <a:t>sed</a:t>
            </a:r>
            <a:r>
              <a:rPr lang="en-US" dirty="0"/>
              <a:t> </a:t>
            </a:r>
            <a:r>
              <a:rPr lang="en-US" dirty="0" err="1"/>
              <a:t>diam</a:t>
            </a:r>
            <a:r>
              <a:rPr lang="en-US" dirty="0"/>
              <a:t>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aliquyam</a:t>
            </a:r>
            <a:r>
              <a:rPr lang="en-US" dirty="0"/>
              <a:t> </a:t>
            </a:r>
            <a:r>
              <a:rPr lang="en-US" dirty="0" err="1"/>
              <a:t>erat</a:t>
            </a:r>
            <a:r>
              <a:rPr lang="en-US" dirty="0"/>
              <a:t>, </a:t>
            </a:r>
            <a:r>
              <a:rPr lang="en-US" dirty="0" err="1"/>
              <a:t>sed</a:t>
            </a:r>
            <a:r>
              <a:rPr lang="en-US" dirty="0"/>
              <a:t> </a:t>
            </a:r>
            <a:r>
              <a:rPr lang="en-US" dirty="0" err="1"/>
              <a:t>diam</a:t>
            </a:r>
            <a:r>
              <a:rPr lang="en-US" dirty="0"/>
              <a:t> </a:t>
            </a:r>
            <a:r>
              <a:rPr lang="en-US" dirty="0" err="1"/>
              <a:t>voluptua</a:t>
            </a:r>
            <a:r>
              <a:rPr lang="en-US" dirty="0"/>
              <a:t>. At </a:t>
            </a:r>
            <a:r>
              <a:rPr lang="en-US" dirty="0" err="1"/>
              <a:t>vero</a:t>
            </a:r>
            <a:r>
              <a:rPr lang="en-US" dirty="0"/>
              <a:t> </a:t>
            </a:r>
            <a:r>
              <a:rPr lang="en-US" dirty="0" err="1"/>
              <a:t>eos</a:t>
            </a:r>
            <a:r>
              <a:rPr lang="en-US" dirty="0"/>
              <a:t> et </a:t>
            </a:r>
            <a:r>
              <a:rPr lang="en-US" dirty="0" err="1"/>
              <a:t>accusam</a:t>
            </a:r>
            <a:r>
              <a:rPr lang="en-US" dirty="0"/>
              <a:t> et </a:t>
            </a:r>
            <a:r>
              <a:rPr lang="en-US" dirty="0" err="1"/>
              <a:t>justo</a:t>
            </a:r>
            <a:r>
              <a:rPr lang="en-US" dirty="0"/>
              <a:t> duo </a:t>
            </a:r>
            <a:r>
              <a:rPr lang="en-US" dirty="0" err="1"/>
              <a:t>dolores</a:t>
            </a:r>
            <a:r>
              <a:rPr lang="en-US" dirty="0"/>
              <a:t> et </a:t>
            </a:r>
            <a:r>
              <a:rPr lang="en-US" dirty="0" err="1"/>
              <a:t>ea</a:t>
            </a:r>
            <a:r>
              <a:rPr lang="en-US" dirty="0"/>
              <a:t> </a:t>
            </a:r>
            <a:r>
              <a:rPr lang="en-US" dirty="0" err="1"/>
              <a:t>rebum</a:t>
            </a:r>
            <a:r>
              <a:rPr lang="en-US" dirty="0"/>
              <a:t>. Stet </a:t>
            </a:r>
            <a:r>
              <a:rPr lang="en-US" dirty="0" err="1"/>
              <a:t>clita</a:t>
            </a:r>
            <a:r>
              <a:rPr lang="en-US" dirty="0"/>
              <a:t> </a:t>
            </a:r>
            <a:r>
              <a:rPr lang="en-US" dirty="0" err="1"/>
              <a:t>kasd</a:t>
            </a:r>
            <a:r>
              <a:rPr lang="en-US" dirty="0"/>
              <a:t> </a:t>
            </a:r>
            <a:r>
              <a:rPr lang="en-US" dirty="0" err="1"/>
              <a:t>gubergren</a:t>
            </a:r>
            <a:r>
              <a:rPr lang="en-US" dirty="0"/>
              <a:t>, no sea </a:t>
            </a:r>
            <a:r>
              <a:rPr lang="en-US" dirty="0" err="1"/>
              <a:t>takimata</a:t>
            </a:r>
            <a:r>
              <a:rPr lang="en-US" dirty="0"/>
              <a:t> </a:t>
            </a:r>
            <a:r>
              <a:rPr lang="en-US" dirty="0" err="1"/>
              <a:t>sanctus</a:t>
            </a:r>
            <a:r>
              <a:rPr lang="en-US" dirty="0"/>
              <a:t> est. Lorem ipsum dolor sit </a:t>
            </a:r>
            <a:r>
              <a:rPr lang="en-US" dirty="0" err="1"/>
              <a:t>amet</a:t>
            </a:r>
            <a:r>
              <a:rPr lang="en-US" dirty="0"/>
              <a:t>. 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a:t>
            </a:r>
            <a:r>
              <a:rPr lang="en-US" dirty="0" err="1"/>
              <a:t>sed</a:t>
            </a:r>
            <a:r>
              <a:rPr lang="en-US" dirty="0"/>
              <a:t> </a:t>
            </a:r>
            <a:r>
              <a:rPr lang="en-US" dirty="0" err="1"/>
              <a:t>diam</a:t>
            </a:r>
            <a:r>
              <a:rPr lang="en-US" dirty="0"/>
              <a:t>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aliquyam</a:t>
            </a:r>
            <a:r>
              <a:rPr lang="en-US" dirty="0"/>
              <a:t> </a:t>
            </a:r>
            <a:r>
              <a:rPr lang="en-US" dirty="0" err="1"/>
              <a:t>erat</a:t>
            </a:r>
            <a:r>
              <a:rPr lang="en-US" dirty="0"/>
              <a:t>, </a:t>
            </a:r>
            <a:r>
              <a:rPr lang="en-US" dirty="0" err="1"/>
              <a:t>sed</a:t>
            </a:r>
            <a:r>
              <a:rPr lang="en-US" dirty="0"/>
              <a:t> </a:t>
            </a:r>
            <a:r>
              <a:rPr lang="en-US" dirty="0" err="1"/>
              <a:t>diam</a:t>
            </a:r>
            <a:r>
              <a:rPr lang="en-US" dirty="0"/>
              <a:t> </a:t>
            </a:r>
            <a:r>
              <a:rPr lang="en-US" dirty="0" err="1"/>
              <a:t>voluptua</a:t>
            </a:r>
            <a:r>
              <a:rPr lang="en-US" dirty="0"/>
              <a:t>. At </a:t>
            </a:r>
            <a:r>
              <a:rPr lang="en-US" dirty="0" err="1"/>
              <a:t>vero</a:t>
            </a:r>
            <a:r>
              <a:rPr lang="en-US" dirty="0"/>
              <a:t> </a:t>
            </a:r>
            <a:r>
              <a:rPr lang="en-US" dirty="0" err="1"/>
              <a:t>eos</a:t>
            </a:r>
            <a:r>
              <a:rPr lang="en-US" dirty="0"/>
              <a:t> et </a:t>
            </a:r>
            <a:r>
              <a:rPr lang="en-US" dirty="0" err="1"/>
              <a:t>accusam</a:t>
            </a:r>
            <a:r>
              <a:rPr lang="en-US" dirty="0"/>
              <a:t> et </a:t>
            </a:r>
            <a:r>
              <a:rPr lang="en-US" dirty="0" err="1"/>
              <a:t>justo</a:t>
            </a:r>
            <a:r>
              <a:rPr lang="en-US" dirty="0"/>
              <a:t> duo </a:t>
            </a:r>
            <a:r>
              <a:rPr lang="en-US" dirty="0" err="1"/>
              <a:t>dolores</a:t>
            </a:r>
            <a:r>
              <a:rPr lang="en-US" dirty="0"/>
              <a:t> et </a:t>
            </a:r>
            <a:r>
              <a:rPr lang="en-US" dirty="0" err="1"/>
              <a:t>ea</a:t>
            </a:r>
            <a:r>
              <a:rPr lang="en-US" dirty="0"/>
              <a:t> </a:t>
            </a:r>
            <a:r>
              <a:rPr lang="en-US" dirty="0" err="1"/>
              <a:t>rebum</a:t>
            </a:r>
            <a:r>
              <a:rPr lang="en-US" dirty="0"/>
              <a:t>. Stet </a:t>
            </a:r>
            <a:r>
              <a:rPr lang="en-US" dirty="0" err="1"/>
              <a:t>clita</a:t>
            </a:r>
            <a:r>
              <a:rPr lang="en-US" dirty="0"/>
              <a:t> </a:t>
            </a:r>
            <a:r>
              <a:rPr lang="en-US" dirty="0" err="1"/>
              <a:t>kasd</a:t>
            </a:r>
            <a:r>
              <a:rPr lang="en-US" dirty="0"/>
              <a:t> </a:t>
            </a:r>
            <a:r>
              <a:rPr lang="en-US" dirty="0" err="1"/>
              <a:t>gubergren</a:t>
            </a:r>
            <a:r>
              <a:rPr lang="en-US" dirty="0"/>
              <a:t>, no sea </a:t>
            </a:r>
            <a:r>
              <a:rPr lang="en-US" dirty="0" err="1"/>
              <a:t>takimata</a:t>
            </a:r>
            <a:r>
              <a:rPr lang="en-US" dirty="0"/>
              <a:t> </a:t>
            </a:r>
            <a:r>
              <a:rPr lang="en-US" dirty="0" err="1"/>
              <a:t>sanctus</a:t>
            </a:r>
            <a:r>
              <a:rPr lang="en-US" dirty="0"/>
              <a:t> </a:t>
            </a:r>
            <a:r>
              <a:rPr lang="en-US" dirty="0" err="1"/>
              <a:t>est</a:t>
            </a:r>
            <a:r>
              <a:rPr lang="en-US" dirty="0"/>
              <a:t> Lorem ipsum dolor sit </a:t>
            </a:r>
            <a:r>
              <a:rPr lang="en-US" dirty="0" err="1"/>
              <a:t>amet</a:t>
            </a:r>
            <a:r>
              <a:rPr lang="en-US" dirty="0"/>
              <a:t>. </a:t>
            </a:r>
            <a:endParaRPr lang="en-CA" dirty="0"/>
          </a:p>
        </p:txBody>
      </p:sp>
      <p:sp>
        <p:nvSpPr>
          <p:cNvPr id="7" name="TextBox 6"/>
          <p:cNvSpPr txBox="1"/>
          <p:nvPr/>
        </p:nvSpPr>
        <p:spPr>
          <a:xfrm>
            <a:off x="6739139" y="3018594"/>
            <a:ext cx="4846320" cy="2708434"/>
          </a:xfrm>
          <a:prstGeom prst="rect">
            <a:avLst/>
          </a:prstGeom>
          <a:noFill/>
        </p:spPr>
        <p:txBody>
          <a:bodyPr wrap="square" lIns="0" tIns="0" rIns="0" bIns="0" rtlCol="0">
            <a:spAutoFit/>
          </a:bodyPr>
          <a:lstStyle>
            <a:defPPr>
              <a:defRPr lang="en-US"/>
            </a:defPPr>
            <a:lvl1pPr lvl="0">
              <a:lnSpc>
                <a:spcPct val="110000"/>
              </a:lnSpc>
              <a:spcBef>
                <a:spcPts val="400"/>
              </a:spcBef>
              <a:defRPr sz="800">
                <a:solidFill>
                  <a:schemeClr val="accent2"/>
                </a:solidFill>
              </a:defRPr>
            </a:lvl1pPr>
            <a:lvl2pPr marL="55563" marR="0" lvl="1" indent="-55563" fontAlgn="auto">
              <a:lnSpc>
                <a:spcPct val="110000"/>
              </a:lnSpc>
              <a:spcBef>
                <a:spcPts val="0"/>
              </a:spcBef>
              <a:spcAft>
                <a:spcPts val="0"/>
              </a:spcAft>
              <a:buClrTx/>
              <a:buSzTx/>
              <a:buFont typeface="Arial" panose="020B0604020202020204" pitchFamily="34" charset="0"/>
              <a:buChar char="•"/>
              <a:tabLst/>
              <a:defRPr sz="800" kern="600" spc="-10" baseline="0">
                <a:solidFill>
                  <a:schemeClr val="accent2"/>
                </a:solidFill>
              </a:defRPr>
            </a:lvl2pPr>
          </a:lstStyle>
          <a:p>
            <a:pPr lvl="0"/>
            <a:r>
              <a:rPr lang="en-US" dirty="0"/>
              <a:t>Placeholder confidentiality disclosure. Edit or delete from layout master if not needed. Use additional lines if additional confidentiality disclosure information is required. </a:t>
            </a:r>
            <a:r>
              <a:rPr lang="en-CA" dirty="0"/>
              <a:t>Lorem ipsum dolor sit </a:t>
            </a:r>
            <a:r>
              <a:rPr lang="en-CA" dirty="0" err="1"/>
              <a:t>amet</a:t>
            </a:r>
            <a:r>
              <a:rPr lang="en-CA" dirty="0"/>
              <a:t>, </a:t>
            </a:r>
            <a:r>
              <a:rPr lang="en-CA" dirty="0" err="1"/>
              <a:t>consetetur</a:t>
            </a:r>
            <a:r>
              <a:rPr lang="en-CA" dirty="0"/>
              <a:t> </a:t>
            </a:r>
            <a:r>
              <a:rPr lang="en-CA" dirty="0" err="1"/>
              <a:t>sadipscing</a:t>
            </a:r>
            <a:r>
              <a:rPr lang="en-CA" dirty="0"/>
              <a:t> </a:t>
            </a:r>
            <a:r>
              <a:rPr lang="en-CA" dirty="0" err="1"/>
              <a:t>elitr</a:t>
            </a:r>
            <a:r>
              <a:rPr lang="en-CA" dirty="0"/>
              <a:t>, </a:t>
            </a:r>
            <a:r>
              <a:rPr lang="en-CA" dirty="0" err="1"/>
              <a:t>sed</a:t>
            </a:r>
            <a:r>
              <a:rPr lang="en-CA" dirty="0"/>
              <a:t> </a:t>
            </a:r>
            <a:r>
              <a:rPr lang="en-CA" dirty="0" err="1"/>
              <a:t>diam</a:t>
            </a:r>
            <a:r>
              <a:rPr lang="en-CA" dirty="0"/>
              <a:t> </a:t>
            </a:r>
            <a:r>
              <a:rPr lang="en-CA" dirty="0" err="1"/>
              <a:t>nonumy</a:t>
            </a:r>
            <a:r>
              <a:rPr lang="en-CA" dirty="0"/>
              <a:t> </a:t>
            </a:r>
            <a:r>
              <a:rPr lang="en-CA" dirty="0" err="1"/>
              <a:t>eirmod</a:t>
            </a:r>
            <a:r>
              <a:rPr lang="en-CA" dirty="0"/>
              <a:t> </a:t>
            </a:r>
            <a:r>
              <a:rPr lang="en-CA" dirty="0" err="1"/>
              <a:t>tempor</a:t>
            </a:r>
            <a:r>
              <a:rPr lang="en-CA" dirty="0"/>
              <a:t> </a:t>
            </a:r>
            <a:r>
              <a:rPr lang="en-CA" dirty="0" err="1"/>
              <a:t>invidunt</a:t>
            </a:r>
            <a:r>
              <a:rPr lang="en-CA" dirty="0"/>
              <a:t> </a:t>
            </a:r>
            <a:r>
              <a:rPr lang="en-CA" dirty="0" err="1"/>
              <a:t>ut</a:t>
            </a:r>
            <a:r>
              <a:rPr lang="en-CA" dirty="0"/>
              <a:t> </a:t>
            </a:r>
            <a:r>
              <a:rPr lang="en-CA" dirty="0" err="1"/>
              <a:t>labore</a:t>
            </a:r>
            <a:r>
              <a:rPr lang="en-CA" dirty="0"/>
              <a:t> et </a:t>
            </a:r>
            <a:r>
              <a:rPr lang="en-CA" dirty="0" err="1"/>
              <a:t>dolore</a:t>
            </a:r>
            <a:r>
              <a:rPr lang="en-CA" dirty="0"/>
              <a:t> magna </a:t>
            </a:r>
            <a:r>
              <a:rPr lang="en-CA" dirty="0" err="1"/>
              <a:t>aliquyam</a:t>
            </a:r>
            <a:r>
              <a:rPr lang="en-CA" dirty="0"/>
              <a:t> </a:t>
            </a:r>
            <a:r>
              <a:rPr lang="en-CA" dirty="0" err="1"/>
              <a:t>erat</a:t>
            </a:r>
            <a:r>
              <a:rPr lang="en-CA" dirty="0"/>
              <a:t>, </a:t>
            </a:r>
            <a:r>
              <a:rPr lang="en-CA" dirty="0" err="1"/>
              <a:t>sed</a:t>
            </a:r>
            <a:r>
              <a:rPr lang="en-CA" dirty="0"/>
              <a:t> </a:t>
            </a:r>
            <a:r>
              <a:rPr lang="en-CA" dirty="0" err="1"/>
              <a:t>diam</a:t>
            </a:r>
            <a:r>
              <a:rPr lang="en-CA" dirty="0"/>
              <a:t> </a:t>
            </a:r>
            <a:r>
              <a:rPr lang="en-CA" dirty="0" err="1"/>
              <a:t>voluptua</a:t>
            </a:r>
            <a:r>
              <a:rPr lang="en-CA" dirty="0"/>
              <a:t>. At </a:t>
            </a:r>
            <a:r>
              <a:rPr lang="en-CA" dirty="0" err="1"/>
              <a:t>vero</a:t>
            </a:r>
            <a:r>
              <a:rPr lang="en-CA" dirty="0"/>
              <a:t> </a:t>
            </a:r>
            <a:r>
              <a:rPr lang="en-CA" dirty="0" err="1"/>
              <a:t>eos</a:t>
            </a:r>
            <a:r>
              <a:rPr lang="en-CA" dirty="0"/>
              <a:t> et </a:t>
            </a:r>
            <a:r>
              <a:rPr lang="en-CA" dirty="0" err="1"/>
              <a:t>accusam</a:t>
            </a:r>
            <a:r>
              <a:rPr lang="en-CA" dirty="0"/>
              <a:t> et </a:t>
            </a:r>
            <a:r>
              <a:rPr lang="en-CA" dirty="0" err="1"/>
              <a:t>justo</a:t>
            </a:r>
            <a:r>
              <a:rPr lang="en-CA" dirty="0"/>
              <a:t> duo </a:t>
            </a:r>
            <a:r>
              <a:rPr lang="en-CA" dirty="0" err="1"/>
              <a:t>dolores</a:t>
            </a:r>
            <a:r>
              <a:rPr lang="en-CA" dirty="0"/>
              <a:t> et </a:t>
            </a:r>
            <a:r>
              <a:rPr lang="en-CA" dirty="0" err="1"/>
              <a:t>ea</a:t>
            </a:r>
            <a:r>
              <a:rPr lang="en-CA" dirty="0"/>
              <a:t> </a:t>
            </a:r>
            <a:r>
              <a:rPr lang="en-CA" dirty="0" err="1"/>
              <a:t>rebum</a:t>
            </a:r>
            <a:r>
              <a:rPr lang="en-CA" dirty="0"/>
              <a:t>. Stet </a:t>
            </a:r>
            <a:r>
              <a:rPr lang="en-CA" dirty="0" err="1"/>
              <a:t>clita</a:t>
            </a:r>
            <a:r>
              <a:rPr lang="en-CA" dirty="0"/>
              <a:t> </a:t>
            </a:r>
            <a:r>
              <a:rPr lang="en-CA" dirty="0" err="1"/>
              <a:t>kasd</a:t>
            </a:r>
            <a:r>
              <a:rPr lang="en-CA" dirty="0"/>
              <a:t> </a:t>
            </a:r>
            <a:r>
              <a:rPr lang="en-CA" dirty="0" err="1"/>
              <a:t>gubergren</a:t>
            </a:r>
            <a:r>
              <a:rPr lang="en-CA" dirty="0"/>
              <a:t>, no sea </a:t>
            </a:r>
            <a:r>
              <a:rPr lang="en-CA" dirty="0" err="1"/>
              <a:t>takimata</a:t>
            </a:r>
            <a:r>
              <a:rPr lang="en-CA" dirty="0"/>
              <a:t> </a:t>
            </a:r>
            <a:r>
              <a:rPr lang="en-CA" dirty="0" err="1"/>
              <a:t>sanctus</a:t>
            </a:r>
            <a:r>
              <a:rPr lang="en-CA" dirty="0"/>
              <a:t> </a:t>
            </a:r>
            <a:r>
              <a:rPr lang="en-CA" dirty="0" err="1"/>
              <a:t>est</a:t>
            </a:r>
            <a:r>
              <a:rPr lang="en-CA" dirty="0"/>
              <a:t> Lorem ipsum dolor sit </a:t>
            </a:r>
            <a:r>
              <a:rPr lang="en-CA" dirty="0" err="1"/>
              <a:t>amet</a:t>
            </a:r>
            <a:r>
              <a:rPr lang="en-CA" dirty="0"/>
              <a:t>. Lorem ipsum dolor sit </a:t>
            </a:r>
            <a:r>
              <a:rPr lang="en-CA" dirty="0" err="1"/>
              <a:t>amet</a:t>
            </a:r>
            <a:r>
              <a:rPr lang="en-CA" dirty="0"/>
              <a:t>, </a:t>
            </a:r>
            <a:r>
              <a:rPr lang="en-CA" dirty="0" err="1"/>
              <a:t>consetetur</a:t>
            </a:r>
            <a:r>
              <a:rPr lang="en-CA" dirty="0"/>
              <a:t> </a:t>
            </a:r>
            <a:r>
              <a:rPr lang="en-CA" dirty="0" err="1"/>
              <a:t>sadipscing</a:t>
            </a:r>
            <a:r>
              <a:rPr lang="en-CA" dirty="0"/>
              <a:t> </a:t>
            </a:r>
            <a:r>
              <a:rPr lang="en-CA" dirty="0" err="1"/>
              <a:t>elitr</a:t>
            </a:r>
            <a:r>
              <a:rPr lang="en-CA" dirty="0"/>
              <a:t>,  </a:t>
            </a:r>
            <a:r>
              <a:rPr lang="en-CA" dirty="0" err="1"/>
              <a:t>sed</a:t>
            </a:r>
            <a:r>
              <a:rPr lang="en-CA" dirty="0"/>
              <a:t> </a:t>
            </a:r>
            <a:r>
              <a:rPr lang="en-CA" dirty="0" err="1"/>
              <a:t>diam</a:t>
            </a:r>
            <a:r>
              <a:rPr lang="en-CA" dirty="0"/>
              <a:t> </a:t>
            </a:r>
            <a:r>
              <a:rPr lang="en-CA" dirty="0" err="1"/>
              <a:t>nonumy</a:t>
            </a:r>
            <a:r>
              <a:rPr lang="en-CA" dirty="0"/>
              <a:t> </a:t>
            </a:r>
            <a:r>
              <a:rPr lang="en-CA" dirty="0" err="1"/>
              <a:t>eirmod</a:t>
            </a:r>
            <a:r>
              <a:rPr lang="en-CA" dirty="0"/>
              <a:t> </a:t>
            </a:r>
            <a:r>
              <a:rPr lang="en-CA" dirty="0" err="1"/>
              <a:t>tempor</a:t>
            </a:r>
            <a:r>
              <a:rPr lang="en-CA" dirty="0"/>
              <a:t> </a:t>
            </a:r>
            <a:r>
              <a:rPr lang="en-CA" dirty="0" err="1"/>
              <a:t>invidunt</a:t>
            </a:r>
            <a:r>
              <a:rPr lang="en-CA" dirty="0"/>
              <a:t> </a:t>
            </a:r>
            <a:r>
              <a:rPr lang="en-CA" dirty="0" err="1"/>
              <a:t>ut</a:t>
            </a:r>
            <a:r>
              <a:rPr lang="en-CA" dirty="0"/>
              <a:t> </a:t>
            </a:r>
            <a:r>
              <a:rPr lang="en-CA" dirty="0" err="1"/>
              <a:t>labore</a:t>
            </a:r>
            <a:r>
              <a:rPr lang="en-CA" dirty="0"/>
              <a:t> et </a:t>
            </a:r>
            <a:r>
              <a:rPr lang="en-CA" dirty="0" err="1"/>
              <a:t>dolore</a:t>
            </a:r>
            <a:r>
              <a:rPr lang="en-CA" dirty="0"/>
              <a:t> magna </a:t>
            </a:r>
            <a:r>
              <a:rPr lang="en-CA" dirty="0" err="1"/>
              <a:t>aliquyam</a:t>
            </a:r>
            <a:r>
              <a:rPr lang="en-CA" dirty="0"/>
              <a:t> </a:t>
            </a:r>
            <a:r>
              <a:rPr lang="en-CA" dirty="0" err="1"/>
              <a:t>erat</a:t>
            </a:r>
            <a:r>
              <a:rPr lang="en-CA" dirty="0"/>
              <a:t>, </a:t>
            </a:r>
            <a:r>
              <a:rPr lang="en-CA" dirty="0" err="1"/>
              <a:t>sed</a:t>
            </a:r>
            <a:r>
              <a:rPr lang="en-CA" dirty="0"/>
              <a:t> </a:t>
            </a:r>
            <a:r>
              <a:rPr lang="en-CA" dirty="0" err="1"/>
              <a:t>diam</a:t>
            </a:r>
            <a:r>
              <a:rPr lang="en-CA" dirty="0"/>
              <a:t> </a:t>
            </a:r>
            <a:r>
              <a:rPr lang="en-CA" dirty="0" err="1"/>
              <a:t>voluptua</a:t>
            </a:r>
            <a:r>
              <a:rPr lang="en-CA" dirty="0"/>
              <a:t>. At </a:t>
            </a:r>
            <a:r>
              <a:rPr lang="en-CA" dirty="0" err="1"/>
              <a:t>vero</a:t>
            </a:r>
            <a:r>
              <a:rPr lang="en-CA" dirty="0"/>
              <a:t> </a:t>
            </a:r>
            <a:r>
              <a:rPr lang="en-CA" dirty="0" err="1"/>
              <a:t>eos</a:t>
            </a:r>
            <a:r>
              <a:rPr lang="en-CA" dirty="0"/>
              <a:t> et </a:t>
            </a:r>
            <a:r>
              <a:rPr lang="en-CA" dirty="0" err="1"/>
              <a:t>accusam</a:t>
            </a:r>
            <a:r>
              <a:rPr lang="en-CA" dirty="0"/>
              <a:t> et </a:t>
            </a:r>
            <a:r>
              <a:rPr lang="en-CA" dirty="0" err="1"/>
              <a:t>justo</a:t>
            </a:r>
            <a:r>
              <a:rPr lang="en-CA" dirty="0"/>
              <a:t> duo </a:t>
            </a:r>
            <a:r>
              <a:rPr lang="en-CA" dirty="0" err="1"/>
              <a:t>dolores</a:t>
            </a:r>
            <a:r>
              <a:rPr lang="en-CA" dirty="0"/>
              <a:t> et </a:t>
            </a:r>
            <a:r>
              <a:rPr lang="en-CA" dirty="0" err="1"/>
              <a:t>ea</a:t>
            </a:r>
            <a:r>
              <a:rPr lang="en-CA" dirty="0"/>
              <a:t> </a:t>
            </a:r>
            <a:r>
              <a:rPr lang="en-CA" dirty="0" err="1"/>
              <a:t>rebum</a:t>
            </a:r>
            <a:r>
              <a:rPr lang="en-CA" dirty="0"/>
              <a:t>. Stet </a:t>
            </a:r>
            <a:r>
              <a:rPr lang="en-CA" dirty="0" err="1"/>
              <a:t>clita</a:t>
            </a:r>
            <a:r>
              <a:rPr lang="en-CA" dirty="0"/>
              <a:t> </a:t>
            </a:r>
            <a:r>
              <a:rPr lang="en-CA" dirty="0" err="1"/>
              <a:t>kasd</a:t>
            </a:r>
            <a:r>
              <a:rPr lang="en-CA" dirty="0"/>
              <a:t> </a:t>
            </a:r>
            <a:r>
              <a:rPr lang="en-CA" dirty="0" err="1"/>
              <a:t>gubergren</a:t>
            </a:r>
            <a:r>
              <a:rPr lang="en-CA" dirty="0"/>
              <a:t>, </a:t>
            </a:r>
            <a:r>
              <a:rPr lang="en-CA" dirty="0" err="1"/>
              <a:t>sed</a:t>
            </a:r>
            <a:r>
              <a:rPr lang="en-CA" dirty="0"/>
              <a:t> </a:t>
            </a:r>
            <a:r>
              <a:rPr lang="en-CA" dirty="0" err="1"/>
              <a:t>diam</a:t>
            </a:r>
            <a:r>
              <a:rPr lang="en-CA" dirty="0"/>
              <a:t> </a:t>
            </a:r>
            <a:r>
              <a:rPr lang="en-CA" dirty="0" err="1"/>
              <a:t>nonumy</a:t>
            </a:r>
            <a:r>
              <a:rPr lang="en-CA" dirty="0"/>
              <a:t> </a:t>
            </a:r>
            <a:r>
              <a:rPr lang="en-CA" dirty="0" err="1"/>
              <a:t>eirmod</a:t>
            </a:r>
            <a:r>
              <a:rPr lang="en-CA" dirty="0"/>
              <a:t> </a:t>
            </a:r>
            <a:r>
              <a:rPr lang="en-CA" dirty="0" err="1"/>
              <a:t>tempor</a:t>
            </a:r>
            <a:r>
              <a:rPr lang="en-CA" dirty="0"/>
              <a:t> </a:t>
            </a:r>
            <a:r>
              <a:rPr lang="en-CA" dirty="0" err="1"/>
              <a:t>invidunt</a:t>
            </a:r>
            <a:r>
              <a:rPr lang="en-CA" dirty="0"/>
              <a:t> </a:t>
            </a:r>
            <a:r>
              <a:rPr lang="en-CA" dirty="0" err="1"/>
              <a:t>ut</a:t>
            </a:r>
            <a:r>
              <a:rPr lang="en-CA" dirty="0"/>
              <a:t> </a:t>
            </a:r>
            <a:r>
              <a:rPr lang="en-CA" dirty="0" err="1"/>
              <a:t>labore</a:t>
            </a:r>
            <a:r>
              <a:rPr lang="en-CA" dirty="0"/>
              <a:t> et </a:t>
            </a:r>
            <a:r>
              <a:rPr lang="en-CA" dirty="0" err="1"/>
              <a:t>dolore</a:t>
            </a:r>
            <a:r>
              <a:rPr lang="en-CA" dirty="0"/>
              <a:t> magna </a:t>
            </a:r>
            <a:r>
              <a:rPr lang="en-CA" dirty="0" err="1"/>
              <a:t>aliquyam</a:t>
            </a:r>
            <a:r>
              <a:rPr lang="en-CA" dirty="0"/>
              <a:t> </a:t>
            </a:r>
            <a:r>
              <a:rPr lang="en-CA" dirty="0" err="1"/>
              <a:t>erat</a:t>
            </a:r>
            <a:r>
              <a:rPr lang="en-CA" dirty="0"/>
              <a:t>, </a:t>
            </a:r>
            <a:r>
              <a:rPr lang="en-CA" dirty="0" err="1"/>
              <a:t>sed</a:t>
            </a:r>
            <a:r>
              <a:rPr lang="en-CA" dirty="0"/>
              <a:t> </a:t>
            </a:r>
            <a:r>
              <a:rPr lang="en-CA" dirty="0" err="1"/>
              <a:t>diam</a:t>
            </a:r>
            <a:r>
              <a:rPr lang="en-CA" dirty="0"/>
              <a:t> </a:t>
            </a:r>
            <a:r>
              <a:rPr lang="en-CA" dirty="0" err="1"/>
              <a:t>voluptua</a:t>
            </a:r>
            <a:r>
              <a:rPr lang="en-CA" dirty="0"/>
              <a:t>:</a:t>
            </a:r>
          </a:p>
          <a:p>
            <a:pPr lvl="1"/>
            <a:r>
              <a:rPr lang="en-CA" dirty="0"/>
              <a:t>At </a:t>
            </a:r>
            <a:r>
              <a:rPr lang="en-CA" dirty="0" err="1"/>
              <a:t>vero</a:t>
            </a:r>
            <a:r>
              <a:rPr lang="en-CA" dirty="0"/>
              <a:t> </a:t>
            </a:r>
            <a:r>
              <a:rPr lang="en-CA" dirty="0" err="1"/>
              <a:t>eos</a:t>
            </a:r>
            <a:r>
              <a:rPr lang="en-CA" dirty="0"/>
              <a:t> et </a:t>
            </a:r>
            <a:r>
              <a:rPr lang="en-CA" dirty="0" err="1"/>
              <a:t>accusam</a:t>
            </a:r>
            <a:r>
              <a:rPr lang="en-CA" dirty="0"/>
              <a:t> et </a:t>
            </a:r>
            <a:r>
              <a:rPr lang="en-CA" dirty="0" err="1"/>
              <a:t>justo</a:t>
            </a:r>
            <a:r>
              <a:rPr lang="en-CA" dirty="0"/>
              <a:t> Stet </a:t>
            </a:r>
            <a:r>
              <a:rPr lang="en-CA" dirty="0" err="1"/>
              <a:t>clita</a:t>
            </a:r>
            <a:r>
              <a:rPr lang="en-CA" dirty="0"/>
              <a:t> </a:t>
            </a:r>
            <a:r>
              <a:rPr lang="en-CA" dirty="0" err="1"/>
              <a:t>kasd</a:t>
            </a:r>
            <a:r>
              <a:rPr lang="en-CA" dirty="0"/>
              <a:t> </a:t>
            </a:r>
            <a:r>
              <a:rPr lang="en-CA" dirty="0" err="1"/>
              <a:t>gubergren</a:t>
            </a:r>
            <a:r>
              <a:rPr lang="en-CA" dirty="0"/>
              <a:t>, no sea </a:t>
            </a:r>
            <a:r>
              <a:rPr lang="en-CA" dirty="0" err="1"/>
              <a:t>takimata</a:t>
            </a:r>
            <a:r>
              <a:rPr lang="en-CA" dirty="0"/>
              <a:t> </a:t>
            </a:r>
            <a:r>
              <a:rPr lang="en-CA" dirty="0" err="1"/>
              <a:t>sanctus</a:t>
            </a:r>
            <a:r>
              <a:rPr lang="en-CA" dirty="0"/>
              <a:t> </a:t>
            </a:r>
            <a:r>
              <a:rPr lang="en-CA" dirty="0" err="1"/>
              <a:t>est</a:t>
            </a:r>
            <a:r>
              <a:rPr lang="en-CA" dirty="0"/>
              <a:t> lorem ipsum dolor sit </a:t>
            </a:r>
            <a:r>
              <a:rPr lang="en-CA" dirty="0" err="1"/>
              <a:t>amet</a:t>
            </a:r>
            <a:r>
              <a:rPr lang="en-CA" dirty="0"/>
              <a:t>. </a:t>
            </a:r>
          </a:p>
          <a:p>
            <a:pPr lvl="1"/>
            <a:r>
              <a:rPr lang="en-CA" dirty="0"/>
              <a:t>Duo </a:t>
            </a:r>
            <a:r>
              <a:rPr lang="en-CA" dirty="0" err="1"/>
              <a:t>dolores</a:t>
            </a:r>
            <a:r>
              <a:rPr lang="en-CA" dirty="0"/>
              <a:t> et </a:t>
            </a:r>
            <a:r>
              <a:rPr lang="en-CA" dirty="0" err="1"/>
              <a:t>ea</a:t>
            </a:r>
            <a:r>
              <a:rPr lang="en-CA" dirty="0"/>
              <a:t> </a:t>
            </a:r>
            <a:r>
              <a:rPr lang="en-CA" dirty="0" err="1"/>
              <a:t>rebum</a:t>
            </a:r>
            <a:r>
              <a:rPr lang="en-CA" dirty="0"/>
              <a:t>. Stet </a:t>
            </a:r>
            <a:r>
              <a:rPr lang="en-CA" dirty="0" err="1"/>
              <a:t>clita</a:t>
            </a:r>
            <a:r>
              <a:rPr lang="en-CA" dirty="0"/>
              <a:t> </a:t>
            </a:r>
            <a:r>
              <a:rPr lang="en-CA" dirty="0" err="1"/>
              <a:t>kasd</a:t>
            </a:r>
            <a:r>
              <a:rPr lang="en-CA" dirty="0"/>
              <a:t> </a:t>
            </a:r>
            <a:r>
              <a:rPr lang="en-CA" dirty="0" err="1"/>
              <a:t>gubergren</a:t>
            </a:r>
            <a:r>
              <a:rPr lang="en-CA" dirty="0"/>
              <a:t>, no sea </a:t>
            </a:r>
            <a:r>
              <a:rPr lang="en-CA" dirty="0" err="1"/>
              <a:t>takimata</a:t>
            </a:r>
            <a:r>
              <a:rPr lang="en-CA" dirty="0"/>
              <a:t> </a:t>
            </a:r>
            <a:r>
              <a:rPr lang="en-CA" dirty="0" err="1"/>
              <a:t>sanctus</a:t>
            </a:r>
            <a:r>
              <a:rPr lang="en-CA" dirty="0"/>
              <a:t> </a:t>
            </a:r>
            <a:r>
              <a:rPr lang="en-CA" dirty="0" err="1"/>
              <a:t>est</a:t>
            </a:r>
            <a:r>
              <a:rPr lang="en-CA" dirty="0"/>
              <a:t> lorem ipsum dolor sit </a:t>
            </a:r>
            <a:r>
              <a:rPr lang="en-CA" dirty="0" err="1"/>
              <a:t>amet</a:t>
            </a:r>
            <a:r>
              <a:rPr lang="en-CA" dirty="0"/>
              <a:t>.</a:t>
            </a:r>
          </a:p>
          <a:p>
            <a:pPr lvl="1"/>
            <a:r>
              <a:rPr lang="en-CA" dirty="0" err="1"/>
              <a:t>Ut</a:t>
            </a:r>
            <a:r>
              <a:rPr lang="en-CA" dirty="0"/>
              <a:t> </a:t>
            </a:r>
            <a:r>
              <a:rPr lang="en-CA" dirty="0" err="1"/>
              <a:t>wisi</a:t>
            </a:r>
            <a:r>
              <a:rPr lang="en-CA" dirty="0"/>
              <a:t> </a:t>
            </a:r>
            <a:r>
              <a:rPr lang="en-CA" dirty="0" err="1"/>
              <a:t>enim</a:t>
            </a:r>
            <a:r>
              <a:rPr lang="en-CA" dirty="0"/>
              <a:t> ad minim </a:t>
            </a:r>
            <a:r>
              <a:rPr lang="en-CA" dirty="0" err="1"/>
              <a:t>veniam</a:t>
            </a:r>
            <a:r>
              <a:rPr lang="en-CA" dirty="0"/>
              <a:t>, </a:t>
            </a:r>
            <a:r>
              <a:rPr lang="en-CA" dirty="0" err="1"/>
              <a:t>quis</a:t>
            </a:r>
            <a:r>
              <a:rPr lang="en-CA" dirty="0"/>
              <a:t> </a:t>
            </a:r>
            <a:r>
              <a:rPr lang="en-CA" dirty="0" err="1"/>
              <a:t>nostrud</a:t>
            </a:r>
            <a:r>
              <a:rPr lang="en-CA" dirty="0"/>
              <a:t> </a:t>
            </a:r>
            <a:r>
              <a:rPr lang="en-CA" dirty="0" err="1"/>
              <a:t>exerci</a:t>
            </a:r>
            <a:r>
              <a:rPr lang="en-CA" dirty="0"/>
              <a:t> </a:t>
            </a:r>
            <a:r>
              <a:rPr lang="en-CA" dirty="0" err="1"/>
              <a:t>tation</a:t>
            </a:r>
            <a:r>
              <a:rPr lang="en-CA" dirty="0"/>
              <a:t> </a:t>
            </a:r>
            <a:r>
              <a:rPr lang="en-CA" dirty="0" err="1"/>
              <a:t>ullamcorper</a:t>
            </a:r>
            <a:r>
              <a:rPr lang="en-CA" dirty="0"/>
              <a:t> </a:t>
            </a:r>
            <a:r>
              <a:rPr lang="en-CA" dirty="0" err="1"/>
              <a:t>suscipit</a:t>
            </a:r>
            <a:r>
              <a:rPr lang="en-CA" dirty="0"/>
              <a:t> </a:t>
            </a:r>
            <a:r>
              <a:rPr lang="en-CA" dirty="0" err="1"/>
              <a:t>lobortis</a:t>
            </a:r>
            <a:r>
              <a:rPr lang="en-CA" dirty="0"/>
              <a:t> </a:t>
            </a:r>
            <a:r>
              <a:rPr lang="en-CA" dirty="0" err="1"/>
              <a:t>nisl</a:t>
            </a:r>
            <a:r>
              <a:rPr lang="en-CA" dirty="0"/>
              <a:t> </a:t>
            </a:r>
            <a:r>
              <a:rPr lang="en-CA" dirty="0" err="1"/>
              <a:t>ut</a:t>
            </a:r>
            <a:r>
              <a:rPr lang="en-CA" dirty="0"/>
              <a:t> </a:t>
            </a:r>
            <a:r>
              <a:rPr lang="en-CA" dirty="0" err="1"/>
              <a:t>aliquip</a:t>
            </a:r>
            <a:r>
              <a:rPr lang="en-CA" dirty="0"/>
              <a:t> ex </a:t>
            </a:r>
            <a:r>
              <a:rPr lang="en-CA" dirty="0" err="1"/>
              <a:t>ea</a:t>
            </a:r>
            <a:r>
              <a:rPr lang="en-CA" dirty="0"/>
              <a:t> </a:t>
            </a:r>
            <a:r>
              <a:rPr lang="en-CA" dirty="0" err="1"/>
              <a:t>comm</a:t>
            </a:r>
            <a:br>
              <a:rPr lang="en-CA" dirty="0"/>
            </a:br>
            <a:r>
              <a:rPr lang="en-CA" dirty="0" err="1"/>
              <a:t>odo</a:t>
            </a:r>
            <a:r>
              <a:rPr lang="en-CA" dirty="0"/>
              <a:t> </a:t>
            </a:r>
            <a:r>
              <a:rPr lang="en-CA" dirty="0" err="1"/>
              <a:t>consequat</a:t>
            </a:r>
            <a:r>
              <a:rPr lang="en-CA" dirty="0"/>
              <a:t>.</a:t>
            </a:r>
          </a:p>
          <a:p>
            <a:pPr lvl="1"/>
            <a:r>
              <a:rPr lang="en-CA" dirty="0"/>
              <a:t>Lorem ipsum dolor sit </a:t>
            </a:r>
            <a:r>
              <a:rPr lang="en-CA" dirty="0" err="1"/>
              <a:t>amet</a:t>
            </a:r>
            <a:r>
              <a:rPr lang="en-CA" dirty="0"/>
              <a:t>, </a:t>
            </a:r>
            <a:r>
              <a:rPr lang="en-CA" dirty="0" err="1"/>
              <a:t>consetetur</a:t>
            </a:r>
            <a:r>
              <a:rPr lang="en-CA" dirty="0"/>
              <a:t> </a:t>
            </a:r>
            <a:r>
              <a:rPr lang="en-CA" dirty="0" err="1"/>
              <a:t>sadipscing</a:t>
            </a:r>
            <a:r>
              <a:rPr lang="en-CA" dirty="0"/>
              <a:t> </a:t>
            </a:r>
            <a:r>
              <a:rPr lang="en-CA" dirty="0" err="1"/>
              <a:t>elitr</a:t>
            </a:r>
            <a:r>
              <a:rPr lang="en-CA" dirty="0"/>
              <a:t>,  </a:t>
            </a:r>
            <a:r>
              <a:rPr lang="en-CA" dirty="0" err="1"/>
              <a:t>sed</a:t>
            </a:r>
            <a:r>
              <a:rPr lang="en-CA" dirty="0"/>
              <a:t> </a:t>
            </a:r>
            <a:r>
              <a:rPr lang="en-CA" dirty="0" err="1"/>
              <a:t>diam</a:t>
            </a:r>
            <a:r>
              <a:rPr lang="en-CA" dirty="0"/>
              <a:t> </a:t>
            </a:r>
            <a:r>
              <a:rPr lang="en-CA" dirty="0" err="1"/>
              <a:t>nonumy</a:t>
            </a:r>
            <a:r>
              <a:rPr lang="en-CA" dirty="0"/>
              <a:t> </a:t>
            </a:r>
            <a:r>
              <a:rPr lang="en-CA" dirty="0" err="1"/>
              <a:t>eirmod</a:t>
            </a:r>
            <a:r>
              <a:rPr lang="en-CA" dirty="0"/>
              <a:t> </a:t>
            </a:r>
            <a:r>
              <a:rPr lang="en-CA" dirty="0" err="1"/>
              <a:t>tempor</a:t>
            </a:r>
            <a:r>
              <a:rPr lang="en-CA" dirty="0"/>
              <a:t> </a:t>
            </a:r>
            <a:r>
              <a:rPr lang="en-CA" dirty="0" err="1"/>
              <a:t>invidunt</a:t>
            </a:r>
            <a:r>
              <a:rPr lang="en-CA" dirty="0"/>
              <a:t> </a:t>
            </a:r>
            <a:r>
              <a:rPr lang="en-CA" dirty="0" err="1"/>
              <a:t>ut</a:t>
            </a:r>
            <a:r>
              <a:rPr lang="en-CA" dirty="0"/>
              <a:t> </a:t>
            </a:r>
            <a:r>
              <a:rPr lang="en-CA" dirty="0" err="1"/>
              <a:t>labore</a:t>
            </a:r>
            <a:r>
              <a:rPr lang="en-CA" dirty="0"/>
              <a:t> et </a:t>
            </a:r>
            <a:r>
              <a:rPr lang="en-CA" dirty="0" err="1"/>
              <a:t>dolore</a:t>
            </a:r>
            <a:r>
              <a:rPr lang="en-CA" dirty="0"/>
              <a:t> magna </a:t>
            </a:r>
            <a:r>
              <a:rPr lang="en-CA" dirty="0" err="1"/>
              <a:t>aliquyam</a:t>
            </a:r>
            <a:r>
              <a:rPr lang="en-CA" dirty="0"/>
              <a:t> </a:t>
            </a:r>
            <a:r>
              <a:rPr lang="en-CA" dirty="0" err="1"/>
              <a:t>erat</a:t>
            </a:r>
            <a:r>
              <a:rPr lang="en-CA" dirty="0"/>
              <a:t>, </a:t>
            </a:r>
            <a:r>
              <a:rPr lang="en-CA" dirty="0" err="1"/>
              <a:t>sed</a:t>
            </a:r>
            <a:r>
              <a:rPr lang="en-CA" dirty="0"/>
              <a:t> </a:t>
            </a:r>
            <a:r>
              <a:rPr lang="en-CA" dirty="0" err="1"/>
              <a:t>diam</a:t>
            </a:r>
            <a:r>
              <a:rPr lang="en-CA" dirty="0"/>
              <a:t> </a:t>
            </a:r>
            <a:r>
              <a:rPr lang="en-CA" dirty="0" err="1"/>
              <a:t>voluptua</a:t>
            </a:r>
            <a:r>
              <a:rPr lang="en-CA" dirty="0"/>
              <a:t>.</a:t>
            </a:r>
          </a:p>
          <a:p>
            <a:pPr lvl="1"/>
            <a:r>
              <a:rPr lang="en-CA" dirty="0"/>
              <a:t>Duis </a:t>
            </a:r>
            <a:r>
              <a:rPr lang="en-CA" dirty="0" err="1"/>
              <a:t>autem</a:t>
            </a:r>
            <a:r>
              <a:rPr lang="en-CA" dirty="0"/>
              <a:t> </a:t>
            </a:r>
            <a:r>
              <a:rPr lang="en-CA" dirty="0" err="1"/>
              <a:t>vel</a:t>
            </a:r>
            <a:r>
              <a:rPr lang="en-CA" dirty="0"/>
              <a:t> </a:t>
            </a:r>
            <a:r>
              <a:rPr lang="en-CA" dirty="0" err="1"/>
              <a:t>eum</a:t>
            </a:r>
            <a:r>
              <a:rPr lang="en-CA" dirty="0"/>
              <a:t> </a:t>
            </a:r>
            <a:r>
              <a:rPr lang="en-CA" dirty="0" err="1"/>
              <a:t>iriure</a:t>
            </a:r>
            <a:r>
              <a:rPr lang="en-CA" dirty="0"/>
              <a:t> dolor in </a:t>
            </a:r>
            <a:r>
              <a:rPr lang="en-CA" dirty="0" err="1"/>
              <a:t>hendrerit</a:t>
            </a:r>
            <a:r>
              <a:rPr lang="en-CA" dirty="0"/>
              <a:t> in </a:t>
            </a:r>
            <a:r>
              <a:rPr lang="en-CA" dirty="0" err="1"/>
              <a:t>vulputate</a:t>
            </a:r>
            <a:r>
              <a:rPr lang="en-CA" dirty="0"/>
              <a:t> </a:t>
            </a:r>
            <a:r>
              <a:rPr lang="en-CA" dirty="0" err="1"/>
              <a:t>velit</a:t>
            </a:r>
            <a:r>
              <a:rPr lang="en-CA" dirty="0"/>
              <a:t> </a:t>
            </a:r>
            <a:r>
              <a:rPr lang="en-CA" dirty="0" err="1"/>
              <a:t>esse</a:t>
            </a:r>
            <a:r>
              <a:rPr lang="en-CA" dirty="0"/>
              <a:t> </a:t>
            </a:r>
            <a:r>
              <a:rPr lang="en-CA" dirty="0" err="1"/>
              <a:t>molestie</a:t>
            </a:r>
            <a:r>
              <a:rPr lang="en-CA" dirty="0"/>
              <a:t> </a:t>
            </a:r>
            <a:r>
              <a:rPr lang="en-CA" dirty="0" err="1"/>
              <a:t>consequat</a:t>
            </a:r>
            <a:r>
              <a:rPr lang="en-CA" dirty="0"/>
              <a:t>, </a:t>
            </a:r>
            <a:r>
              <a:rPr lang="en-CA" dirty="0" err="1"/>
              <a:t>vel</a:t>
            </a:r>
            <a:r>
              <a:rPr lang="en-CA" dirty="0"/>
              <a:t> </a:t>
            </a:r>
            <a:r>
              <a:rPr lang="en-CA" dirty="0" err="1"/>
              <a:t>illum</a:t>
            </a:r>
            <a:r>
              <a:rPr lang="en-CA" dirty="0"/>
              <a:t> </a:t>
            </a:r>
            <a:r>
              <a:rPr lang="en-CA" dirty="0" err="1"/>
              <a:t>dolore</a:t>
            </a:r>
            <a:r>
              <a:rPr lang="en-CA" dirty="0"/>
              <a:t> </a:t>
            </a:r>
            <a:r>
              <a:rPr lang="en-CA" dirty="0" err="1"/>
              <a:t>eu</a:t>
            </a:r>
            <a:r>
              <a:rPr lang="en-CA" dirty="0"/>
              <a:t> </a:t>
            </a:r>
            <a:r>
              <a:rPr lang="en-CA" dirty="0" err="1"/>
              <a:t>feugiat</a:t>
            </a:r>
            <a:r>
              <a:rPr lang="en-CA" dirty="0"/>
              <a:t> </a:t>
            </a:r>
            <a:r>
              <a:rPr lang="en-CA" dirty="0" err="1"/>
              <a:t>nulla</a:t>
            </a:r>
            <a:r>
              <a:rPr lang="en-CA" dirty="0"/>
              <a:t> </a:t>
            </a:r>
            <a:r>
              <a:rPr lang="en-CA" dirty="0" err="1"/>
              <a:t>facilisis</a:t>
            </a:r>
            <a:r>
              <a:rPr lang="en-CA" dirty="0"/>
              <a:t> at </a:t>
            </a:r>
            <a:r>
              <a:rPr lang="en-CA" dirty="0" err="1"/>
              <a:t>ver</a:t>
            </a:r>
            <a:r>
              <a:rPr lang="en-CA" dirty="0"/>
              <a:t> </a:t>
            </a:r>
            <a:r>
              <a:rPr lang="en-CA" dirty="0" err="1"/>
              <a:t>duis</a:t>
            </a:r>
            <a:r>
              <a:rPr lang="en-CA" dirty="0"/>
              <a:t> </a:t>
            </a:r>
            <a:r>
              <a:rPr lang="en-CA" dirty="0" err="1"/>
              <a:t>dolore</a:t>
            </a:r>
            <a:r>
              <a:rPr lang="en-CA" dirty="0"/>
              <a:t> </a:t>
            </a:r>
            <a:r>
              <a:rPr lang="en-CA" dirty="0" err="1"/>
              <a:t>te</a:t>
            </a:r>
            <a:r>
              <a:rPr lang="en-CA" dirty="0"/>
              <a:t> </a:t>
            </a:r>
            <a:r>
              <a:rPr lang="en-CA" dirty="0" err="1"/>
              <a:t>feugait</a:t>
            </a:r>
            <a:r>
              <a:rPr lang="en-CA" dirty="0"/>
              <a:t> </a:t>
            </a:r>
            <a:r>
              <a:rPr lang="en-CA" dirty="0" err="1"/>
              <a:t>nulla</a:t>
            </a:r>
            <a:r>
              <a:rPr lang="en-CA" dirty="0"/>
              <a:t> </a:t>
            </a:r>
            <a:r>
              <a:rPr lang="en-CA" dirty="0" err="1"/>
              <a:t>facilisi</a:t>
            </a:r>
            <a:r>
              <a:rPr lang="en-CA" dirty="0"/>
              <a:t>.</a:t>
            </a:r>
          </a:p>
          <a:p>
            <a:pPr lvl="1"/>
            <a:r>
              <a:rPr lang="en-CA" dirty="0" err="1"/>
              <a:t>Ut</a:t>
            </a:r>
            <a:r>
              <a:rPr lang="en-CA" dirty="0"/>
              <a:t> </a:t>
            </a:r>
            <a:r>
              <a:rPr lang="en-CA" dirty="0" err="1"/>
              <a:t>wisi</a:t>
            </a:r>
            <a:r>
              <a:rPr lang="en-CA" dirty="0"/>
              <a:t> </a:t>
            </a:r>
            <a:r>
              <a:rPr lang="en-CA" dirty="0" err="1"/>
              <a:t>enim</a:t>
            </a:r>
            <a:r>
              <a:rPr lang="en-CA" dirty="0"/>
              <a:t> ad minim </a:t>
            </a:r>
            <a:r>
              <a:rPr lang="en-CA" dirty="0" err="1"/>
              <a:t>veniam</a:t>
            </a:r>
            <a:r>
              <a:rPr lang="en-CA" dirty="0"/>
              <a:t>, </a:t>
            </a:r>
            <a:r>
              <a:rPr lang="en-CA" dirty="0" err="1"/>
              <a:t>quis</a:t>
            </a:r>
            <a:r>
              <a:rPr lang="en-CA" dirty="0"/>
              <a:t> </a:t>
            </a:r>
            <a:r>
              <a:rPr lang="en-CA" dirty="0" err="1"/>
              <a:t>nostrud</a:t>
            </a:r>
            <a:r>
              <a:rPr lang="en-CA" dirty="0"/>
              <a:t> </a:t>
            </a:r>
            <a:r>
              <a:rPr lang="en-CA" dirty="0" err="1"/>
              <a:t>exerci</a:t>
            </a:r>
            <a:r>
              <a:rPr lang="en-CA" dirty="0"/>
              <a:t> </a:t>
            </a:r>
            <a:r>
              <a:rPr lang="en-CA" dirty="0" err="1"/>
              <a:t>tation</a:t>
            </a:r>
            <a:r>
              <a:rPr lang="en-CA" dirty="0"/>
              <a:t> </a:t>
            </a:r>
            <a:r>
              <a:rPr lang="en-CA" dirty="0" err="1"/>
              <a:t>ullamcorper</a:t>
            </a:r>
            <a:r>
              <a:rPr lang="en-CA" dirty="0"/>
              <a:t> </a:t>
            </a:r>
            <a:r>
              <a:rPr lang="en-CA" dirty="0" err="1"/>
              <a:t>suscipit</a:t>
            </a:r>
            <a:r>
              <a:rPr lang="en-CA" dirty="0"/>
              <a:t> </a:t>
            </a:r>
            <a:r>
              <a:rPr lang="en-CA" dirty="0" err="1"/>
              <a:t>lobortis</a:t>
            </a:r>
            <a:r>
              <a:rPr lang="en-CA" dirty="0"/>
              <a:t> </a:t>
            </a:r>
            <a:r>
              <a:rPr lang="en-CA" dirty="0" err="1"/>
              <a:t>nisl</a:t>
            </a:r>
            <a:r>
              <a:rPr lang="en-CA" dirty="0"/>
              <a:t> </a:t>
            </a:r>
            <a:r>
              <a:rPr lang="en-CA" dirty="0" err="1"/>
              <a:t>ut</a:t>
            </a:r>
            <a:r>
              <a:rPr lang="en-CA" dirty="0"/>
              <a:t> </a:t>
            </a:r>
            <a:r>
              <a:rPr lang="en-CA" dirty="0" err="1"/>
              <a:t>aliquip</a:t>
            </a:r>
            <a:r>
              <a:rPr lang="en-CA" dirty="0"/>
              <a:t> ex </a:t>
            </a:r>
            <a:r>
              <a:rPr lang="en-CA" dirty="0" err="1"/>
              <a:t>ea</a:t>
            </a:r>
            <a:r>
              <a:rPr lang="en-CA" dirty="0"/>
              <a:t> </a:t>
            </a:r>
            <a:br>
              <a:rPr lang="en-CA" dirty="0"/>
            </a:br>
            <a:r>
              <a:rPr lang="en-CA" dirty="0" err="1"/>
              <a:t>commodo</a:t>
            </a:r>
            <a:r>
              <a:rPr lang="en-CA" dirty="0"/>
              <a:t> </a:t>
            </a:r>
            <a:r>
              <a:rPr lang="en-CA" dirty="0" err="1"/>
              <a:t>consequat</a:t>
            </a:r>
            <a:r>
              <a:rPr lang="en-CA" dirty="0"/>
              <a:t>.</a:t>
            </a:r>
          </a:p>
          <a:p>
            <a:pPr lvl="1"/>
            <a:r>
              <a:rPr lang="en-CA" dirty="0"/>
              <a:t>At </a:t>
            </a:r>
            <a:r>
              <a:rPr lang="en-CA" dirty="0" err="1"/>
              <a:t>vero</a:t>
            </a:r>
            <a:r>
              <a:rPr lang="en-CA" dirty="0"/>
              <a:t> </a:t>
            </a:r>
            <a:r>
              <a:rPr lang="en-CA" dirty="0" err="1"/>
              <a:t>eos</a:t>
            </a:r>
            <a:r>
              <a:rPr lang="en-CA" dirty="0"/>
              <a:t> et </a:t>
            </a:r>
            <a:r>
              <a:rPr lang="en-CA" dirty="0" err="1"/>
              <a:t>accusam</a:t>
            </a:r>
            <a:r>
              <a:rPr lang="en-CA" dirty="0"/>
              <a:t> et </a:t>
            </a:r>
            <a:r>
              <a:rPr lang="en-CA" dirty="0" err="1"/>
              <a:t>justo</a:t>
            </a:r>
            <a:r>
              <a:rPr lang="en-CA" dirty="0"/>
              <a:t> duo </a:t>
            </a:r>
            <a:r>
              <a:rPr lang="en-CA" dirty="0" err="1"/>
              <a:t>dolores</a:t>
            </a:r>
            <a:r>
              <a:rPr lang="en-CA" dirty="0"/>
              <a:t> et </a:t>
            </a:r>
            <a:r>
              <a:rPr lang="en-CA" dirty="0" err="1"/>
              <a:t>ea</a:t>
            </a:r>
            <a:r>
              <a:rPr lang="en-CA" dirty="0"/>
              <a:t> </a:t>
            </a:r>
            <a:r>
              <a:rPr lang="en-CA" dirty="0" err="1"/>
              <a:t>rebum</a:t>
            </a:r>
            <a:r>
              <a:rPr lang="en-CA" dirty="0"/>
              <a:t>. Stet </a:t>
            </a:r>
            <a:r>
              <a:rPr lang="en-CA" dirty="0" err="1"/>
              <a:t>clita</a:t>
            </a:r>
            <a:r>
              <a:rPr lang="en-CA" dirty="0"/>
              <a:t> </a:t>
            </a:r>
            <a:r>
              <a:rPr lang="en-CA" dirty="0" err="1"/>
              <a:t>kasd</a:t>
            </a:r>
            <a:r>
              <a:rPr lang="en-CA" dirty="0"/>
              <a:t> </a:t>
            </a:r>
            <a:r>
              <a:rPr lang="en-CA" dirty="0" err="1"/>
              <a:t>gubergren</a:t>
            </a:r>
            <a:r>
              <a:rPr lang="en-CA" dirty="0"/>
              <a:t>, no sea </a:t>
            </a:r>
            <a:r>
              <a:rPr lang="en-CA" dirty="0" err="1"/>
              <a:t>takimata</a:t>
            </a:r>
            <a:r>
              <a:rPr lang="en-CA" dirty="0"/>
              <a:t> </a:t>
            </a:r>
            <a:r>
              <a:rPr lang="en-CA" dirty="0" err="1"/>
              <a:t>sanctus</a:t>
            </a:r>
            <a:r>
              <a:rPr lang="en-CA" dirty="0"/>
              <a:t> </a:t>
            </a:r>
            <a:r>
              <a:rPr lang="en-CA" dirty="0" err="1"/>
              <a:t>est</a:t>
            </a:r>
            <a:r>
              <a:rPr lang="en-CA" dirty="0"/>
              <a:t> Lorem ipsum dolor sit </a:t>
            </a:r>
            <a:r>
              <a:rPr lang="en-CA" dirty="0" err="1"/>
              <a:t>amet</a:t>
            </a:r>
            <a:r>
              <a:rPr lang="en-CA" dirty="0"/>
              <a:t>.</a:t>
            </a:r>
          </a:p>
        </p:txBody>
      </p:sp>
      <p:sp>
        <p:nvSpPr>
          <p:cNvPr id="12" name="AutoShape 3"/>
          <p:cNvSpPr>
            <a:spLocks noChangeAspect="1" noChangeArrowheads="1" noTextEdit="1"/>
          </p:cNvSpPr>
          <p:nvPr userDrawn="1"/>
        </p:nvSpPr>
        <p:spPr bwMode="auto">
          <a:xfrm>
            <a:off x="365125" y="365125"/>
            <a:ext cx="901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8" name="Freeform 5"/>
          <p:cNvSpPr>
            <a:spLocks noChangeAspect="1" noEditPoints="1"/>
          </p:cNvSpPr>
          <p:nvPr userDrawn="1"/>
        </p:nvSpPr>
        <p:spPr bwMode="auto">
          <a:xfrm>
            <a:off x="754593" y="475512"/>
            <a:ext cx="914400" cy="914400"/>
          </a:xfrm>
          <a:custGeom>
            <a:avLst/>
            <a:gdLst>
              <a:gd name="T0" fmla="*/ 3869 w 5760"/>
              <a:gd name="T1" fmla="*/ 1545 h 5760"/>
              <a:gd name="T2" fmla="*/ 2018 w 5760"/>
              <a:gd name="T3" fmla="*/ 2250 h 5760"/>
              <a:gd name="T4" fmla="*/ 2018 w 5760"/>
              <a:gd name="T5" fmla="*/ 2250 h 5760"/>
              <a:gd name="T6" fmla="*/ 1556 w 5760"/>
              <a:gd name="T7" fmla="*/ 3934 h 5760"/>
              <a:gd name="T8" fmla="*/ 1755 w 5760"/>
              <a:gd name="T9" fmla="*/ 4133 h 5760"/>
              <a:gd name="T10" fmla="*/ 3470 w 5760"/>
              <a:gd name="T11" fmla="*/ 3455 h 5760"/>
              <a:gd name="T12" fmla="*/ 3861 w 5760"/>
              <a:gd name="T13" fmla="*/ 3710 h 5760"/>
              <a:gd name="T14" fmla="*/ 3933 w 5760"/>
              <a:gd name="T15" fmla="*/ 3255 h 5760"/>
              <a:gd name="T16" fmla="*/ 3734 w 5760"/>
              <a:gd name="T17" fmla="*/ 4133 h 5760"/>
              <a:gd name="T18" fmla="*/ 3694 w 5760"/>
              <a:gd name="T19" fmla="*/ 2712 h 5760"/>
              <a:gd name="T20" fmla="*/ 3905 w 5760"/>
              <a:gd name="T21" fmla="*/ 2466 h 5760"/>
              <a:gd name="T22" fmla="*/ 3574 w 5760"/>
              <a:gd name="T23" fmla="*/ 2354 h 5760"/>
              <a:gd name="T24" fmla="*/ 3853 w 5760"/>
              <a:gd name="T25" fmla="*/ 1324 h 5760"/>
              <a:gd name="T26" fmla="*/ 3295 w 5760"/>
              <a:gd name="T27" fmla="*/ 2298 h 5760"/>
              <a:gd name="T28" fmla="*/ 2685 w 5760"/>
              <a:gd name="T29" fmla="*/ 2469 h 5760"/>
              <a:gd name="T30" fmla="*/ 2816 w 5760"/>
              <a:gd name="T31" fmla="*/ 1987 h 5760"/>
              <a:gd name="T32" fmla="*/ 2170 w 5760"/>
              <a:gd name="T33" fmla="*/ 2593 h 5760"/>
              <a:gd name="T34" fmla="*/ 2712 w 5760"/>
              <a:gd name="T35" fmla="*/ 1580 h 5760"/>
              <a:gd name="T36" fmla="*/ 1779 w 5760"/>
              <a:gd name="T37" fmla="*/ 2274 h 5760"/>
              <a:gd name="T38" fmla="*/ 1643 w 5760"/>
              <a:gd name="T39" fmla="*/ 1795 h 5760"/>
              <a:gd name="T40" fmla="*/ 1388 w 5760"/>
              <a:gd name="T41" fmla="*/ 2066 h 5760"/>
              <a:gd name="T42" fmla="*/ 2122 w 5760"/>
              <a:gd name="T43" fmla="*/ 2792 h 5760"/>
              <a:gd name="T44" fmla="*/ 2417 w 5760"/>
              <a:gd name="T45" fmla="*/ 2832 h 5760"/>
              <a:gd name="T46" fmla="*/ 1292 w 5760"/>
              <a:gd name="T47" fmla="*/ 3917 h 5760"/>
              <a:gd name="T48" fmla="*/ 2537 w 5760"/>
              <a:gd name="T49" fmla="*/ 3678 h 5760"/>
              <a:gd name="T50" fmla="*/ 3374 w 5760"/>
              <a:gd name="T51" fmla="*/ 2489 h 5760"/>
              <a:gd name="T52" fmla="*/ 2888 w 5760"/>
              <a:gd name="T53" fmla="*/ 3502 h 5760"/>
              <a:gd name="T54" fmla="*/ 4484 w 5760"/>
              <a:gd name="T55" fmla="*/ 3646 h 5760"/>
              <a:gd name="T56" fmla="*/ 5321 w 5760"/>
              <a:gd name="T57" fmla="*/ 3701 h 5760"/>
              <a:gd name="T58" fmla="*/ 5297 w 5760"/>
              <a:gd name="T59" fmla="*/ 3694 h 5760"/>
              <a:gd name="T60" fmla="*/ 5066 w 5760"/>
              <a:gd name="T61" fmla="*/ 2513 h 5760"/>
              <a:gd name="T62" fmla="*/ 5138 w 5760"/>
              <a:gd name="T63" fmla="*/ 3415 h 5760"/>
              <a:gd name="T64" fmla="*/ 2880 w 5760"/>
              <a:gd name="T65" fmla="*/ 5449 h 5760"/>
              <a:gd name="T66" fmla="*/ 2063 w 5760"/>
              <a:gd name="T67" fmla="*/ 5306 h 5760"/>
              <a:gd name="T68" fmla="*/ 2689 w 5760"/>
              <a:gd name="T69" fmla="*/ 5393 h 5760"/>
              <a:gd name="T70" fmla="*/ 3047 w 5760"/>
              <a:gd name="T71" fmla="*/ 4875 h 5760"/>
              <a:gd name="T72" fmla="*/ 1771 w 5760"/>
              <a:gd name="T73" fmla="*/ 5042 h 5760"/>
              <a:gd name="T74" fmla="*/ 440 w 5760"/>
              <a:gd name="T75" fmla="*/ 2067 h 5760"/>
              <a:gd name="T76" fmla="*/ 462 w 5760"/>
              <a:gd name="T77" fmla="*/ 2075 h 5760"/>
              <a:gd name="T78" fmla="*/ 694 w 5760"/>
              <a:gd name="T79" fmla="*/ 3247 h 5760"/>
              <a:gd name="T80" fmla="*/ 622 w 5760"/>
              <a:gd name="T81" fmla="*/ 2354 h 5760"/>
              <a:gd name="T82" fmla="*/ 2880 w 5760"/>
              <a:gd name="T83" fmla="*/ 311 h 5760"/>
              <a:gd name="T84" fmla="*/ 3696 w 5760"/>
              <a:gd name="T85" fmla="*/ 461 h 5760"/>
              <a:gd name="T86" fmla="*/ 3071 w 5760"/>
              <a:gd name="T87" fmla="*/ 367 h 5760"/>
              <a:gd name="T88" fmla="*/ 2712 w 5760"/>
              <a:gd name="T89" fmla="*/ 885 h 5760"/>
              <a:gd name="T90" fmla="*/ 3989 w 5760"/>
              <a:gd name="T91" fmla="*/ 726 h 5760"/>
              <a:gd name="T92" fmla="*/ 5321 w 5760"/>
              <a:gd name="T93" fmla="*/ 3701 h 5760"/>
              <a:gd name="T94" fmla="*/ 135 w 5760"/>
              <a:gd name="T95" fmla="*/ 2880 h 5760"/>
              <a:gd name="T96" fmla="*/ 5624 w 5760"/>
              <a:gd name="T97" fmla="*/ 2880 h 5760"/>
              <a:gd name="T98" fmla="*/ 2880 w 5760"/>
              <a:gd name="T99" fmla="*/ 5760 h 5760"/>
              <a:gd name="T100" fmla="*/ 2880 w 5760"/>
              <a:gd name="T101" fmla="*/ 0 h 5760"/>
              <a:gd name="T102" fmla="*/ 2880 w 5760"/>
              <a:gd name="T103" fmla="*/ 5760 h 5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60" h="5760">
                <a:moveTo>
                  <a:pt x="3526" y="2130"/>
                </a:moveTo>
                <a:cubicBezTo>
                  <a:pt x="3526" y="1803"/>
                  <a:pt x="3748" y="1485"/>
                  <a:pt x="3869" y="1545"/>
                </a:cubicBezTo>
                <a:cubicBezTo>
                  <a:pt x="4006" y="1614"/>
                  <a:pt x="3766" y="1923"/>
                  <a:pt x="3526" y="2130"/>
                </a:cubicBezTo>
                <a:moveTo>
                  <a:pt x="2018" y="2250"/>
                </a:moveTo>
                <a:cubicBezTo>
                  <a:pt x="2018" y="1987"/>
                  <a:pt x="2278" y="1486"/>
                  <a:pt x="2437" y="1539"/>
                </a:cubicBezTo>
                <a:cubicBezTo>
                  <a:pt x="2625" y="1601"/>
                  <a:pt x="2282" y="2106"/>
                  <a:pt x="2018" y="2250"/>
                </a:cubicBezTo>
                <a:close/>
                <a:moveTo>
                  <a:pt x="1755" y="4133"/>
                </a:moveTo>
                <a:cubicBezTo>
                  <a:pt x="1635" y="4138"/>
                  <a:pt x="1556" y="4062"/>
                  <a:pt x="1556" y="3934"/>
                </a:cubicBezTo>
                <a:cubicBezTo>
                  <a:pt x="1556" y="3591"/>
                  <a:pt x="2031" y="3264"/>
                  <a:pt x="2390" y="3088"/>
                </a:cubicBezTo>
                <a:cubicBezTo>
                  <a:pt x="2327" y="3567"/>
                  <a:pt x="2165" y="4114"/>
                  <a:pt x="1755" y="4133"/>
                </a:cubicBezTo>
                <a:close/>
                <a:moveTo>
                  <a:pt x="3949" y="3016"/>
                </a:moveTo>
                <a:cubicBezTo>
                  <a:pt x="3678" y="3016"/>
                  <a:pt x="3470" y="3215"/>
                  <a:pt x="3470" y="3455"/>
                </a:cubicBezTo>
                <a:cubicBezTo>
                  <a:pt x="3470" y="3654"/>
                  <a:pt x="3590" y="3813"/>
                  <a:pt x="3750" y="3813"/>
                </a:cubicBezTo>
                <a:cubicBezTo>
                  <a:pt x="3806" y="3813"/>
                  <a:pt x="3861" y="3782"/>
                  <a:pt x="3861" y="3710"/>
                </a:cubicBezTo>
                <a:cubicBezTo>
                  <a:pt x="3861" y="3606"/>
                  <a:pt x="3724" y="3581"/>
                  <a:pt x="3734" y="3426"/>
                </a:cubicBezTo>
                <a:cubicBezTo>
                  <a:pt x="3741" y="3323"/>
                  <a:pt x="3837" y="3255"/>
                  <a:pt x="3933" y="3255"/>
                </a:cubicBezTo>
                <a:cubicBezTo>
                  <a:pt x="4124" y="3255"/>
                  <a:pt x="4214" y="3440"/>
                  <a:pt x="4214" y="3632"/>
                </a:cubicBezTo>
                <a:cubicBezTo>
                  <a:pt x="4206" y="3927"/>
                  <a:pt x="3989" y="4133"/>
                  <a:pt x="3734" y="4133"/>
                </a:cubicBezTo>
                <a:cubicBezTo>
                  <a:pt x="3398" y="4133"/>
                  <a:pt x="3183" y="3813"/>
                  <a:pt x="3183" y="3470"/>
                </a:cubicBezTo>
                <a:cubicBezTo>
                  <a:pt x="3183" y="2960"/>
                  <a:pt x="3518" y="2760"/>
                  <a:pt x="3694" y="2712"/>
                </a:cubicBezTo>
                <a:cubicBezTo>
                  <a:pt x="3696" y="2712"/>
                  <a:pt x="4153" y="2794"/>
                  <a:pt x="4138" y="2592"/>
                </a:cubicBezTo>
                <a:cubicBezTo>
                  <a:pt x="4132" y="2504"/>
                  <a:pt x="4000" y="2470"/>
                  <a:pt x="3905" y="2466"/>
                </a:cubicBezTo>
                <a:cubicBezTo>
                  <a:pt x="3799" y="2462"/>
                  <a:pt x="3692" y="2500"/>
                  <a:pt x="3692" y="2500"/>
                </a:cubicBezTo>
                <a:cubicBezTo>
                  <a:pt x="3636" y="2472"/>
                  <a:pt x="3598" y="2417"/>
                  <a:pt x="3574" y="2354"/>
                </a:cubicBezTo>
                <a:cubicBezTo>
                  <a:pt x="3901" y="2106"/>
                  <a:pt x="4133" y="1867"/>
                  <a:pt x="4133" y="1596"/>
                </a:cubicBezTo>
                <a:cubicBezTo>
                  <a:pt x="4133" y="1452"/>
                  <a:pt x="4037" y="1324"/>
                  <a:pt x="3853" y="1324"/>
                </a:cubicBezTo>
                <a:cubicBezTo>
                  <a:pt x="3526" y="1324"/>
                  <a:pt x="3279" y="1739"/>
                  <a:pt x="3279" y="2114"/>
                </a:cubicBezTo>
                <a:cubicBezTo>
                  <a:pt x="3279" y="2178"/>
                  <a:pt x="3279" y="2242"/>
                  <a:pt x="3295" y="2298"/>
                </a:cubicBezTo>
                <a:cubicBezTo>
                  <a:pt x="3087" y="2449"/>
                  <a:pt x="2933" y="2543"/>
                  <a:pt x="2654" y="2711"/>
                </a:cubicBezTo>
                <a:cubicBezTo>
                  <a:pt x="2654" y="2676"/>
                  <a:pt x="2661" y="2586"/>
                  <a:pt x="2685" y="2469"/>
                </a:cubicBezTo>
                <a:cubicBezTo>
                  <a:pt x="2780" y="2365"/>
                  <a:pt x="2912" y="2210"/>
                  <a:pt x="2912" y="2090"/>
                </a:cubicBezTo>
                <a:cubicBezTo>
                  <a:pt x="2912" y="2034"/>
                  <a:pt x="2880" y="1987"/>
                  <a:pt x="2816" y="1987"/>
                </a:cubicBezTo>
                <a:cubicBezTo>
                  <a:pt x="2657" y="1987"/>
                  <a:pt x="2537" y="2226"/>
                  <a:pt x="2505" y="2393"/>
                </a:cubicBezTo>
                <a:cubicBezTo>
                  <a:pt x="2433" y="2481"/>
                  <a:pt x="2290" y="2593"/>
                  <a:pt x="2170" y="2593"/>
                </a:cubicBezTo>
                <a:cubicBezTo>
                  <a:pt x="2074" y="2593"/>
                  <a:pt x="2042" y="2505"/>
                  <a:pt x="2034" y="2473"/>
                </a:cubicBezTo>
                <a:cubicBezTo>
                  <a:pt x="2338" y="2369"/>
                  <a:pt x="2712" y="1955"/>
                  <a:pt x="2712" y="1580"/>
                </a:cubicBezTo>
                <a:cubicBezTo>
                  <a:pt x="2712" y="1500"/>
                  <a:pt x="2681" y="1324"/>
                  <a:pt x="2441" y="1324"/>
                </a:cubicBezTo>
                <a:cubicBezTo>
                  <a:pt x="2082" y="1324"/>
                  <a:pt x="1779" y="1859"/>
                  <a:pt x="1779" y="2274"/>
                </a:cubicBezTo>
                <a:cubicBezTo>
                  <a:pt x="1651" y="2274"/>
                  <a:pt x="1604" y="2138"/>
                  <a:pt x="1604" y="2034"/>
                </a:cubicBezTo>
                <a:cubicBezTo>
                  <a:pt x="1604" y="1931"/>
                  <a:pt x="1643" y="1827"/>
                  <a:pt x="1643" y="1795"/>
                </a:cubicBezTo>
                <a:cubicBezTo>
                  <a:pt x="1643" y="1763"/>
                  <a:pt x="1627" y="1723"/>
                  <a:pt x="1580" y="1723"/>
                </a:cubicBezTo>
                <a:cubicBezTo>
                  <a:pt x="1460" y="1723"/>
                  <a:pt x="1388" y="1883"/>
                  <a:pt x="1388" y="2066"/>
                </a:cubicBezTo>
                <a:cubicBezTo>
                  <a:pt x="1396" y="2322"/>
                  <a:pt x="1564" y="2481"/>
                  <a:pt x="1787" y="2497"/>
                </a:cubicBezTo>
                <a:cubicBezTo>
                  <a:pt x="1819" y="2649"/>
                  <a:pt x="1955" y="2792"/>
                  <a:pt x="2122" y="2792"/>
                </a:cubicBezTo>
                <a:cubicBezTo>
                  <a:pt x="2226" y="2792"/>
                  <a:pt x="2353" y="2760"/>
                  <a:pt x="2441" y="2681"/>
                </a:cubicBezTo>
                <a:cubicBezTo>
                  <a:pt x="2433" y="2737"/>
                  <a:pt x="2425" y="2784"/>
                  <a:pt x="2417" y="2832"/>
                </a:cubicBezTo>
                <a:cubicBezTo>
                  <a:pt x="2066" y="3016"/>
                  <a:pt x="1811" y="3143"/>
                  <a:pt x="1580" y="3351"/>
                </a:cubicBezTo>
                <a:cubicBezTo>
                  <a:pt x="1396" y="3518"/>
                  <a:pt x="1292" y="3742"/>
                  <a:pt x="1292" y="3917"/>
                </a:cubicBezTo>
                <a:cubicBezTo>
                  <a:pt x="1292" y="4157"/>
                  <a:pt x="1444" y="4380"/>
                  <a:pt x="1755" y="4380"/>
                </a:cubicBezTo>
                <a:cubicBezTo>
                  <a:pt x="2122" y="4380"/>
                  <a:pt x="2401" y="4085"/>
                  <a:pt x="2537" y="3678"/>
                </a:cubicBezTo>
                <a:cubicBezTo>
                  <a:pt x="2601" y="3486"/>
                  <a:pt x="2626" y="3208"/>
                  <a:pt x="2642" y="2952"/>
                </a:cubicBezTo>
                <a:cubicBezTo>
                  <a:pt x="3009" y="2745"/>
                  <a:pt x="3183" y="2625"/>
                  <a:pt x="3374" y="2489"/>
                </a:cubicBezTo>
                <a:cubicBezTo>
                  <a:pt x="3398" y="2529"/>
                  <a:pt x="3423" y="2561"/>
                  <a:pt x="3454" y="2585"/>
                </a:cubicBezTo>
                <a:cubicBezTo>
                  <a:pt x="3287" y="2673"/>
                  <a:pt x="2888" y="2920"/>
                  <a:pt x="2888" y="3502"/>
                </a:cubicBezTo>
                <a:cubicBezTo>
                  <a:pt x="2888" y="3917"/>
                  <a:pt x="3167" y="4380"/>
                  <a:pt x="3718" y="4380"/>
                </a:cubicBezTo>
                <a:cubicBezTo>
                  <a:pt x="4172" y="4380"/>
                  <a:pt x="4484" y="4005"/>
                  <a:pt x="4484" y="3646"/>
                </a:cubicBezTo>
                <a:cubicBezTo>
                  <a:pt x="4484" y="3319"/>
                  <a:pt x="4300" y="3016"/>
                  <a:pt x="3949" y="3016"/>
                </a:cubicBezTo>
                <a:close/>
                <a:moveTo>
                  <a:pt x="5321" y="3701"/>
                </a:moveTo>
                <a:cubicBezTo>
                  <a:pt x="5319" y="3703"/>
                  <a:pt x="5315" y="3707"/>
                  <a:pt x="5306" y="3704"/>
                </a:cubicBezTo>
                <a:cubicBezTo>
                  <a:pt x="5299" y="3702"/>
                  <a:pt x="5297" y="3698"/>
                  <a:pt x="5297" y="3694"/>
                </a:cubicBezTo>
                <a:cubicBezTo>
                  <a:pt x="5298" y="3689"/>
                  <a:pt x="5394" y="3405"/>
                  <a:pt x="5393" y="3080"/>
                </a:cubicBezTo>
                <a:cubicBezTo>
                  <a:pt x="5392" y="2728"/>
                  <a:pt x="5249" y="2513"/>
                  <a:pt x="5066" y="2513"/>
                </a:cubicBezTo>
                <a:cubicBezTo>
                  <a:pt x="4954" y="2513"/>
                  <a:pt x="4874" y="2593"/>
                  <a:pt x="4874" y="2712"/>
                </a:cubicBezTo>
                <a:cubicBezTo>
                  <a:pt x="4874" y="2928"/>
                  <a:pt x="5138" y="2944"/>
                  <a:pt x="5138" y="3415"/>
                </a:cubicBezTo>
                <a:cubicBezTo>
                  <a:pt x="5138" y="3606"/>
                  <a:pt x="5098" y="3789"/>
                  <a:pt x="5034" y="3989"/>
                </a:cubicBezTo>
                <a:cubicBezTo>
                  <a:pt x="4739" y="4986"/>
                  <a:pt x="3797" y="5449"/>
                  <a:pt x="2880" y="5449"/>
                </a:cubicBezTo>
                <a:cubicBezTo>
                  <a:pt x="2457" y="5449"/>
                  <a:pt x="2157" y="5362"/>
                  <a:pt x="2067" y="5322"/>
                </a:cubicBezTo>
                <a:cubicBezTo>
                  <a:pt x="2063" y="5320"/>
                  <a:pt x="2061" y="5313"/>
                  <a:pt x="2063" y="5306"/>
                </a:cubicBezTo>
                <a:cubicBezTo>
                  <a:pt x="2065" y="5300"/>
                  <a:pt x="2072" y="5296"/>
                  <a:pt x="2075" y="5298"/>
                </a:cubicBezTo>
                <a:cubicBezTo>
                  <a:pt x="2111" y="5312"/>
                  <a:pt x="2369" y="5393"/>
                  <a:pt x="2689" y="5393"/>
                </a:cubicBezTo>
                <a:cubicBezTo>
                  <a:pt x="3040" y="5393"/>
                  <a:pt x="3247" y="5250"/>
                  <a:pt x="3247" y="5074"/>
                </a:cubicBezTo>
                <a:cubicBezTo>
                  <a:pt x="3247" y="4962"/>
                  <a:pt x="3159" y="4875"/>
                  <a:pt x="3047" y="4875"/>
                </a:cubicBezTo>
                <a:cubicBezTo>
                  <a:pt x="2832" y="4875"/>
                  <a:pt x="2816" y="5146"/>
                  <a:pt x="2353" y="5146"/>
                </a:cubicBezTo>
                <a:cubicBezTo>
                  <a:pt x="2154" y="5146"/>
                  <a:pt x="1979" y="5106"/>
                  <a:pt x="1771" y="5042"/>
                </a:cubicBezTo>
                <a:cubicBezTo>
                  <a:pt x="782" y="4739"/>
                  <a:pt x="310" y="3805"/>
                  <a:pt x="311" y="2880"/>
                </a:cubicBezTo>
                <a:cubicBezTo>
                  <a:pt x="311" y="2429"/>
                  <a:pt x="438" y="2070"/>
                  <a:pt x="440" y="2067"/>
                </a:cubicBezTo>
                <a:cubicBezTo>
                  <a:pt x="441" y="2065"/>
                  <a:pt x="447" y="2062"/>
                  <a:pt x="454" y="2065"/>
                </a:cubicBezTo>
                <a:cubicBezTo>
                  <a:pt x="461" y="2067"/>
                  <a:pt x="463" y="2073"/>
                  <a:pt x="462" y="2075"/>
                </a:cubicBezTo>
                <a:cubicBezTo>
                  <a:pt x="451" y="2112"/>
                  <a:pt x="367" y="2370"/>
                  <a:pt x="367" y="2688"/>
                </a:cubicBezTo>
                <a:cubicBezTo>
                  <a:pt x="367" y="3040"/>
                  <a:pt x="511" y="3247"/>
                  <a:pt x="694" y="3247"/>
                </a:cubicBezTo>
                <a:cubicBezTo>
                  <a:pt x="798" y="3247"/>
                  <a:pt x="885" y="3167"/>
                  <a:pt x="885" y="3056"/>
                </a:cubicBezTo>
                <a:cubicBezTo>
                  <a:pt x="885" y="2840"/>
                  <a:pt x="622" y="2816"/>
                  <a:pt x="622" y="2354"/>
                </a:cubicBezTo>
                <a:cubicBezTo>
                  <a:pt x="622" y="2154"/>
                  <a:pt x="662" y="1978"/>
                  <a:pt x="726" y="1771"/>
                </a:cubicBezTo>
                <a:cubicBezTo>
                  <a:pt x="1029" y="782"/>
                  <a:pt x="1963" y="318"/>
                  <a:pt x="2880" y="311"/>
                </a:cubicBezTo>
                <a:cubicBezTo>
                  <a:pt x="3306" y="308"/>
                  <a:pt x="3680" y="435"/>
                  <a:pt x="3694" y="447"/>
                </a:cubicBezTo>
                <a:cubicBezTo>
                  <a:pt x="3696" y="449"/>
                  <a:pt x="3699" y="455"/>
                  <a:pt x="3696" y="461"/>
                </a:cubicBezTo>
                <a:cubicBezTo>
                  <a:pt x="3693" y="468"/>
                  <a:pt x="3688" y="469"/>
                  <a:pt x="3686" y="469"/>
                </a:cubicBezTo>
                <a:cubicBezTo>
                  <a:pt x="3681" y="468"/>
                  <a:pt x="3439" y="367"/>
                  <a:pt x="3071" y="367"/>
                </a:cubicBezTo>
                <a:cubicBezTo>
                  <a:pt x="2728" y="367"/>
                  <a:pt x="2513" y="510"/>
                  <a:pt x="2513" y="694"/>
                </a:cubicBezTo>
                <a:cubicBezTo>
                  <a:pt x="2513" y="798"/>
                  <a:pt x="2593" y="885"/>
                  <a:pt x="2712" y="885"/>
                </a:cubicBezTo>
                <a:cubicBezTo>
                  <a:pt x="2928" y="885"/>
                  <a:pt x="2944" y="622"/>
                  <a:pt x="3406" y="622"/>
                </a:cubicBezTo>
                <a:cubicBezTo>
                  <a:pt x="3606" y="622"/>
                  <a:pt x="3781" y="662"/>
                  <a:pt x="3989" y="726"/>
                </a:cubicBezTo>
                <a:cubicBezTo>
                  <a:pt x="4986" y="1029"/>
                  <a:pt x="5440" y="1971"/>
                  <a:pt x="5449" y="2880"/>
                </a:cubicBezTo>
                <a:cubicBezTo>
                  <a:pt x="5453" y="3346"/>
                  <a:pt x="5322" y="3699"/>
                  <a:pt x="5321" y="3701"/>
                </a:cubicBezTo>
                <a:close/>
                <a:moveTo>
                  <a:pt x="2880" y="136"/>
                </a:moveTo>
                <a:cubicBezTo>
                  <a:pt x="1364" y="136"/>
                  <a:pt x="135" y="1364"/>
                  <a:pt x="135" y="2880"/>
                </a:cubicBezTo>
                <a:cubicBezTo>
                  <a:pt x="135" y="4396"/>
                  <a:pt x="1364" y="5624"/>
                  <a:pt x="2880" y="5624"/>
                </a:cubicBezTo>
                <a:cubicBezTo>
                  <a:pt x="4396" y="5624"/>
                  <a:pt x="5624" y="4396"/>
                  <a:pt x="5624" y="2880"/>
                </a:cubicBezTo>
                <a:cubicBezTo>
                  <a:pt x="5624" y="1372"/>
                  <a:pt x="4396" y="136"/>
                  <a:pt x="2880" y="136"/>
                </a:cubicBezTo>
                <a:close/>
                <a:moveTo>
                  <a:pt x="2880" y="5760"/>
                </a:moveTo>
                <a:cubicBezTo>
                  <a:pt x="1292" y="5760"/>
                  <a:pt x="0" y="4476"/>
                  <a:pt x="0" y="2880"/>
                </a:cubicBezTo>
                <a:cubicBezTo>
                  <a:pt x="0" y="1292"/>
                  <a:pt x="1292" y="0"/>
                  <a:pt x="2880" y="0"/>
                </a:cubicBezTo>
                <a:cubicBezTo>
                  <a:pt x="4467" y="0"/>
                  <a:pt x="5760" y="1292"/>
                  <a:pt x="5760" y="2880"/>
                </a:cubicBezTo>
                <a:cubicBezTo>
                  <a:pt x="5760" y="4476"/>
                  <a:pt x="4467" y="5760"/>
                  <a:pt x="2880" y="5760"/>
                </a:cubicBezTo>
                <a:close/>
              </a:path>
            </a:pathLst>
          </a:custGeom>
          <a:solidFill>
            <a:srgbClr val="005C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2394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1649413"/>
            <a:ext cx="9261449" cy="664797"/>
          </a:xfrm>
        </p:spPr>
        <p:txBody>
          <a:bodyPr wrap="square" anchor="t" anchorCtr="0">
            <a:spAutoFit/>
          </a:bodyPr>
          <a:lstStyle>
            <a:lvl1pPr>
              <a:lnSpc>
                <a:spcPct val="90000"/>
              </a:lnSpc>
              <a:defRPr sz="4800">
                <a:solidFill>
                  <a:schemeClr val="bg1"/>
                </a:solidFill>
              </a:defRPr>
            </a:lvl1pPr>
          </a:lstStyle>
          <a:p>
            <a:r>
              <a:rPr lang="en-US" dirty="0"/>
              <a:t>Section Title</a:t>
            </a:r>
            <a:endParaRPr lang="en-CA" dirty="0"/>
          </a:p>
        </p:txBody>
      </p:sp>
    </p:spTree>
    <p:extLst>
      <p:ext uri="{BB962C8B-B14F-4D97-AF65-F5344CB8AC3E}">
        <p14:creationId xmlns:p14="http://schemas.microsoft.com/office/powerpoint/2010/main" val="1485825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Divider Dark Image">
    <p:bg>
      <p:bgPr>
        <a:solidFill>
          <a:schemeClr val="bg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9144" y="-9144"/>
            <a:ext cx="12207240" cy="6876288"/>
          </a:xfrm>
        </p:spPr>
        <p:txBody>
          <a:bodyPr/>
          <a:lstStyle/>
          <a:p>
            <a:r>
              <a:rPr lang="en-US"/>
              <a:t>Click icon to add picture</a:t>
            </a:r>
            <a:endParaRPr lang="en-CA"/>
          </a:p>
        </p:txBody>
      </p:sp>
      <p:sp>
        <p:nvSpPr>
          <p:cNvPr id="2" name="Title 1"/>
          <p:cNvSpPr>
            <a:spLocks noGrp="1"/>
          </p:cNvSpPr>
          <p:nvPr>
            <p:ph type="title" hasCustomPrompt="1"/>
          </p:nvPr>
        </p:nvSpPr>
        <p:spPr>
          <a:xfrm>
            <a:off x="495300" y="1645920"/>
            <a:ext cx="9267952" cy="664797"/>
          </a:xfrm>
        </p:spPr>
        <p:txBody>
          <a:bodyPr wrap="square" anchor="ctr" anchorCtr="0">
            <a:spAutoFit/>
          </a:bodyPr>
          <a:lstStyle>
            <a:lvl1pPr>
              <a:lnSpc>
                <a:spcPct val="90000"/>
              </a:lnSpc>
              <a:defRPr sz="4800">
                <a:solidFill>
                  <a:schemeClr val="bg1"/>
                </a:solidFill>
              </a:defRPr>
            </a:lvl1pPr>
          </a:lstStyle>
          <a:p>
            <a:r>
              <a:rPr lang="en-US" dirty="0"/>
              <a:t>Section Title Dark Image Layout</a:t>
            </a:r>
            <a:endParaRPr lang="en-CA" dirty="0"/>
          </a:p>
        </p:txBody>
      </p:sp>
    </p:spTree>
    <p:extLst>
      <p:ext uri="{BB962C8B-B14F-4D97-AF65-F5344CB8AC3E}">
        <p14:creationId xmlns:p14="http://schemas.microsoft.com/office/powerpoint/2010/main" val="2187823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ection Divider Light Image">
    <p:bg>
      <p:bgPr>
        <a:solidFill>
          <a:schemeClr val="bg2"/>
        </a:solidFill>
        <a:effectLst/>
      </p:bgPr>
    </p:bg>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9144" y="-9144"/>
            <a:ext cx="12207240" cy="6876288"/>
          </a:xfrm>
        </p:spPr>
        <p:txBody>
          <a:bodyPr/>
          <a:lstStyle/>
          <a:p>
            <a:r>
              <a:rPr lang="en-US"/>
              <a:t>Click icon to add picture</a:t>
            </a:r>
            <a:endParaRPr lang="en-CA"/>
          </a:p>
        </p:txBody>
      </p:sp>
      <p:sp>
        <p:nvSpPr>
          <p:cNvPr id="2" name="Title 1"/>
          <p:cNvSpPr>
            <a:spLocks noGrp="1"/>
          </p:cNvSpPr>
          <p:nvPr>
            <p:ph type="title" hasCustomPrompt="1"/>
          </p:nvPr>
        </p:nvSpPr>
        <p:spPr>
          <a:xfrm>
            <a:off x="495300" y="1536192"/>
            <a:ext cx="9277096" cy="914400"/>
          </a:xfrm>
        </p:spPr>
        <p:txBody>
          <a:bodyPr anchor="ctr" anchorCtr="0">
            <a:noAutofit/>
          </a:bodyPr>
          <a:lstStyle>
            <a:lvl1pPr>
              <a:lnSpc>
                <a:spcPct val="90000"/>
              </a:lnSpc>
              <a:defRPr sz="4800">
                <a:solidFill>
                  <a:schemeClr val="accent2"/>
                </a:solidFill>
              </a:defRPr>
            </a:lvl1pPr>
          </a:lstStyle>
          <a:p>
            <a:r>
              <a:rPr lang="en-US" dirty="0"/>
              <a:t>Section Divider Light Image Layout</a:t>
            </a:r>
            <a:endParaRPr lang="en-CA" dirty="0"/>
          </a:p>
        </p:txBody>
      </p:sp>
    </p:spTree>
    <p:extLst>
      <p:ext uri="{BB962C8B-B14F-4D97-AF65-F5344CB8AC3E}">
        <p14:creationId xmlns:p14="http://schemas.microsoft.com/office/powerpoint/2010/main" val="601252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No Rule">
    <p:spTree>
      <p:nvGrpSpPr>
        <p:cNvPr id="1" name=""/>
        <p:cNvGrpSpPr/>
        <p:nvPr/>
      </p:nvGrpSpPr>
      <p:grpSpPr>
        <a:xfrm>
          <a:off x="0" y="0"/>
          <a:ext cx="0" cy="0"/>
          <a:chOff x="0" y="0"/>
          <a:chExt cx="0" cy="0"/>
        </a:xfrm>
      </p:grpSpPr>
      <p:sp>
        <p:nvSpPr>
          <p:cNvPr id="19" name="Content Placeholder 6"/>
          <p:cNvSpPr>
            <a:spLocks noGrp="1"/>
          </p:cNvSpPr>
          <p:nvPr>
            <p:ph sz="quarter" idx="13"/>
          </p:nvPr>
        </p:nvSpPr>
        <p:spPr>
          <a:xfrm>
            <a:off x="495300" y="1602754"/>
            <a:ext cx="11201400" cy="4324756"/>
          </a:xfrm>
        </p:spPr>
        <p:txBody>
          <a:bodyPr/>
          <a:lstStyle>
            <a:lvl1pPr>
              <a:defRPr>
                <a:solidFill>
                  <a:schemeClr val="accent3"/>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8"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9"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42760065-FD55-4358-84F3-1C0969C76A22}" type="datetime3">
              <a:rPr lang="en-US" smtClean="0"/>
              <a:t>7 March 2017</a:t>
            </a:fld>
            <a:endParaRPr lang="en-CA" dirty="0"/>
          </a:p>
        </p:txBody>
      </p:sp>
      <p:sp>
        <p:nvSpPr>
          <p:cNvPr id="10" name="Footer Placeholder 7"/>
          <p:cNvSpPr>
            <a:spLocks noGrp="1"/>
          </p:cNvSpPr>
          <p:nvPr>
            <p:ph type="ftr" sz="quarter" idx="3"/>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752874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Placeholder 1"/>
          <p:cNvSpPr>
            <a:spLocks noGrp="1"/>
          </p:cNvSpPr>
          <p:nvPr>
            <p:ph type="title" hasCustomPrompt="1"/>
          </p:nvPr>
        </p:nvSpPr>
        <p:spPr>
          <a:xfrm>
            <a:off x="495300" y="509833"/>
            <a:ext cx="11201400" cy="914400"/>
          </a:xfrm>
          <a:prstGeom prst="rect">
            <a:avLst/>
          </a:prstGeom>
        </p:spPr>
        <p:txBody>
          <a:bodyPr vert="horz" lIns="0" tIns="0" rIns="0" bIns="0" rtlCol="0" anchor="t" anchorCtr="0">
            <a:noAutofit/>
          </a:bodyPr>
          <a:lstStyle>
            <a:lvl1pPr>
              <a:defRPr/>
            </a:lvl1pPr>
          </a:lstStyle>
          <a:p>
            <a:r>
              <a:rPr lang="en-US" dirty="0"/>
              <a:t>Click to edit </a:t>
            </a:r>
            <a:r>
              <a:rPr lang="en-US"/>
              <a:t>Master </a:t>
            </a:r>
            <a:br>
              <a:rPr lang="en-US"/>
            </a:br>
            <a:r>
              <a:rPr lang="en-US"/>
              <a:t>title </a:t>
            </a:r>
            <a:r>
              <a:rPr lang="en-US" dirty="0"/>
              <a:t>style</a:t>
            </a:r>
            <a:endParaRPr lang="en-CA" dirty="0"/>
          </a:p>
        </p:txBody>
      </p:sp>
      <p:sp>
        <p:nvSpPr>
          <p:cNvPr id="7" name="Content Placeholder 6"/>
          <p:cNvSpPr>
            <a:spLocks noGrp="1"/>
          </p:cNvSpPr>
          <p:nvPr>
            <p:ph sz="quarter" idx="13"/>
          </p:nvPr>
        </p:nvSpPr>
        <p:spPr>
          <a:xfrm>
            <a:off x="495300" y="1793081"/>
            <a:ext cx="11201400" cy="4290059"/>
          </a:xfrm>
        </p:spPr>
        <p:txBody>
          <a:bodyPr/>
          <a:lstStyle>
            <a:lvl4pPr marL="682625" indent="-173038">
              <a:defRPr/>
            </a:lvl4pPr>
            <a:lvl5pPr marL="914400" indent="-173038">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p:cNvCxnSpPr/>
          <p:nvPr userDrawn="1"/>
        </p:nvCxnSpPr>
        <p:spPr>
          <a:xfrm flipV="1">
            <a:off x="495300" y="1655064"/>
            <a:ext cx="11201400" cy="974"/>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13"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DA6B31E3-731C-4F3C-992C-26B7CBECC89F}" type="datetime3">
              <a:rPr lang="en-US" smtClean="0"/>
              <a:t>7 March 2017</a:t>
            </a:fld>
            <a:endParaRPr lang="en-CA" dirty="0"/>
          </a:p>
        </p:txBody>
      </p:sp>
      <p:sp>
        <p:nvSpPr>
          <p:cNvPr id="14" name="Footer Placeholder 7"/>
          <p:cNvSpPr>
            <a:spLocks noGrp="1"/>
          </p:cNvSpPr>
          <p:nvPr>
            <p:ph type="ftr" sz="quarter" idx="3"/>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2206630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3"/>
          <p:cNvSpPr>
            <a:spLocks noGrp="1"/>
          </p:cNvSpPr>
          <p:nvPr>
            <p:ph type="title"/>
          </p:nvPr>
        </p:nvSpPr>
        <p:spPr>
          <a:xfrm>
            <a:off x="495300" y="509833"/>
            <a:ext cx="11201400" cy="914400"/>
          </a:xfrm>
        </p:spPr>
        <p:txBody>
          <a:bodyPr/>
          <a:lstStyle/>
          <a:p>
            <a:r>
              <a:rPr lang="en-US"/>
              <a:t>Click to edit Master title style</a:t>
            </a:r>
            <a:endParaRPr lang="en-US" dirty="0"/>
          </a:p>
        </p:txBody>
      </p:sp>
      <p:sp>
        <p:nvSpPr>
          <p:cNvPr id="14"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24" name="Content Placeholder 9"/>
          <p:cNvSpPr>
            <a:spLocks noGrp="1"/>
          </p:cNvSpPr>
          <p:nvPr>
            <p:ph sz="quarter" idx="13"/>
          </p:nvPr>
        </p:nvSpPr>
        <p:spPr>
          <a:xfrm>
            <a:off x="495300" y="2393244"/>
            <a:ext cx="5220880" cy="367837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5" name="Content Placeholder 11"/>
          <p:cNvSpPr>
            <a:spLocks noGrp="1"/>
          </p:cNvSpPr>
          <p:nvPr>
            <p:ph sz="quarter" idx="14"/>
          </p:nvPr>
        </p:nvSpPr>
        <p:spPr>
          <a:xfrm>
            <a:off x="6475820" y="2393244"/>
            <a:ext cx="5220880" cy="3678370"/>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26" name="Straight Connector 25"/>
          <p:cNvCxnSpPr>
            <a:cxnSpLocks/>
          </p:cNvCxnSpPr>
          <p:nvPr userDrawn="1"/>
        </p:nvCxnSpPr>
        <p:spPr>
          <a:xfrm>
            <a:off x="495300" y="1974057"/>
            <a:ext cx="522088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cxnSpLocks/>
          </p:cNvCxnSpPr>
          <p:nvPr userDrawn="1"/>
        </p:nvCxnSpPr>
        <p:spPr>
          <a:xfrm>
            <a:off x="6475820" y="1974057"/>
            <a:ext cx="522088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8" name="Text Placeholder 18"/>
          <p:cNvSpPr>
            <a:spLocks noGrp="1"/>
          </p:cNvSpPr>
          <p:nvPr>
            <p:ph type="body" sz="quarter" idx="15"/>
          </p:nvPr>
        </p:nvSpPr>
        <p:spPr>
          <a:xfrm>
            <a:off x="495300" y="1486038"/>
            <a:ext cx="5220880" cy="365760"/>
          </a:xfrm>
        </p:spPr>
        <p:txBody>
          <a:bodyPr vert="horz" lIns="0" tIns="0" rIns="0" bIns="0" rtlCol="0" anchor="b">
            <a:noAutofit/>
          </a:bodyPr>
          <a:lstStyle>
            <a:lvl1pPr algn="l">
              <a:defRPr lang="en-US" sz="1600" b="1" dirty="0"/>
            </a:lvl1pPr>
          </a:lstStyle>
          <a:p>
            <a:pPr lvl="0">
              <a:lnSpc>
                <a:spcPct val="90000"/>
              </a:lnSpc>
              <a:spcBef>
                <a:spcPts val="0"/>
              </a:spcBef>
            </a:pPr>
            <a:r>
              <a:rPr lang="en-US"/>
              <a:t>Edit Master text styles</a:t>
            </a:r>
          </a:p>
        </p:txBody>
      </p:sp>
      <p:sp>
        <p:nvSpPr>
          <p:cNvPr id="29" name="Text Placeholder 18"/>
          <p:cNvSpPr>
            <a:spLocks noGrp="1"/>
          </p:cNvSpPr>
          <p:nvPr>
            <p:ph type="body" sz="quarter" idx="16"/>
          </p:nvPr>
        </p:nvSpPr>
        <p:spPr>
          <a:xfrm>
            <a:off x="6475820" y="1486038"/>
            <a:ext cx="5220880" cy="365760"/>
          </a:xfrm>
        </p:spPr>
        <p:txBody>
          <a:bodyPr vert="horz" lIns="0" tIns="0" rIns="0" bIns="0" rtlCol="0" anchor="b">
            <a:noAutofit/>
          </a:bodyPr>
          <a:lstStyle>
            <a:lvl1pPr>
              <a:defRPr lang="en-US" sz="1600" b="1" dirty="0"/>
            </a:lvl1pPr>
          </a:lstStyle>
          <a:p>
            <a:pPr lvl="0">
              <a:lnSpc>
                <a:spcPct val="90000"/>
              </a:lnSpc>
              <a:spcBef>
                <a:spcPts val="0"/>
              </a:spcBef>
            </a:pPr>
            <a:r>
              <a:rPr lang="en-US"/>
              <a:t>Edit Master text styles</a:t>
            </a:r>
          </a:p>
        </p:txBody>
      </p:sp>
      <p:sp>
        <p:nvSpPr>
          <p:cNvPr id="12"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11F1D987-1E6D-476C-9767-F83D80207713}" type="datetime3">
              <a:rPr lang="en-US" smtClean="0"/>
              <a:t>7 March 2017</a:t>
            </a:fld>
            <a:endParaRPr lang="en-CA" dirty="0"/>
          </a:p>
        </p:txBody>
      </p:sp>
      <p:sp>
        <p:nvSpPr>
          <p:cNvPr id="16" name="Footer Placeholder 7"/>
          <p:cNvSpPr>
            <a:spLocks noGrp="1"/>
          </p:cNvSpPr>
          <p:nvPr>
            <p:ph type="ftr" sz="quarter" idx="3"/>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1400445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09833"/>
            <a:ext cx="11201400" cy="914400"/>
          </a:xfrm>
        </p:spPr>
        <p:txBody>
          <a:bodyPr/>
          <a:lstStyle>
            <a:lvl1pPr>
              <a:defRPr/>
            </a:lvl1pPr>
          </a:lstStyle>
          <a:p>
            <a:r>
              <a:rPr lang="en-US" dirty="0"/>
              <a:t>Two Content Layout</a:t>
            </a:r>
            <a:endParaRPr lang="en-CA" dirty="0"/>
          </a:p>
        </p:txBody>
      </p:sp>
      <p:sp>
        <p:nvSpPr>
          <p:cNvPr id="10" name="Content Placeholder 9"/>
          <p:cNvSpPr>
            <a:spLocks noGrp="1"/>
          </p:cNvSpPr>
          <p:nvPr>
            <p:ph sz="quarter" idx="13"/>
          </p:nvPr>
        </p:nvSpPr>
        <p:spPr>
          <a:xfrm>
            <a:off x="495300" y="2049116"/>
            <a:ext cx="5220880" cy="40468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2" name="Content Placeholder 11"/>
          <p:cNvSpPr>
            <a:spLocks noGrp="1"/>
          </p:cNvSpPr>
          <p:nvPr>
            <p:ph sz="quarter" idx="14"/>
          </p:nvPr>
        </p:nvSpPr>
        <p:spPr>
          <a:xfrm>
            <a:off x="6475820" y="2049116"/>
            <a:ext cx="5220880" cy="4046883"/>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cxnSp>
        <p:nvCxnSpPr>
          <p:cNvPr id="17" name="Straight Connector 16"/>
          <p:cNvCxnSpPr>
            <a:cxnSpLocks/>
          </p:cNvCxnSpPr>
          <p:nvPr userDrawn="1"/>
        </p:nvCxnSpPr>
        <p:spPr>
          <a:xfrm>
            <a:off x="495300" y="1918336"/>
            <a:ext cx="522088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cxnSpLocks/>
          </p:cNvCxnSpPr>
          <p:nvPr userDrawn="1"/>
        </p:nvCxnSpPr>
        <p:spPr>
          <a:xfrm>
            <a:off x="6475820" y="1918336"/>
            <a:ext cx="522088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9" name="Text Placeholder 18"/>
          <p:cNvSpPr>
            <a:spLocks noGrp="1"/>
          </p:cNvSpPr>
          <p:nvPr>
            <p:ph type="body" sz="quarter" idx="15"/>
          </p:nvPr>
        </p:nvSpPr>
        <p:spPr>
          <a:xfrm>
            <a:off x="495300" y="1486038"/>
            <a:ext cx="5220880" cy="365760"/>
          </a:xfrm>
        </p:spPr>
        <p:txBody>
          <a:bodyPr vert="horz" lIns="0" tIns="0" rIns="0" bIns="0" rtlCol="0" anchor="b">
            <a:noAutofit/>
          </a:bodyPr>
          <a:lstStyle>
            <a:lvl1pPr algn="l">
              <a:defRPr lang="en-US" sz="1600" b="1" dirty="0">
                <a:solidFill>
                  <a:schemeClr val="accent3"/>
                </a:solidFill>
              </a:defRPr>
            </a:lvl1pPr>
          </a:lstStyle>
          <a:p>
            <a:pPr lvl="0">
              <a:lnSpc>
                <a:spcPct val="90000"/>
              </a:lnSpc>
              <a:spcBef>
                <a:spcPts val="0"/>
              </a:spcBef>
            </a:pPr>
            <a:r>
              <a:rPr lang="en-US"/>
              <a:t>Edit Master text styles</a:t>
            </a:r>
          </a:p>
        </p:txBody>
      </p:sp>
      <p:sp>
        <p:nvSpPr>
          <p:cNvPr id="22" name="Text Placeholder 18"/>
          <p:cNvSpPr>
            <a:spLocks noGrp="1"/>
          </p:cNvSpPr>
          <p:nvPr>
            <p:ph type="body" sz="quarter" idx="16"/>
          </p:nvPr>
        </p:nvSpPr>
        <p:spPr>
          <a:xfrm>
            <a:off x="6475820" y="1486038"/>
            <a:ext cx="5220880" cy="365760"/>
          </a:xfrm>
        </p:spPr>
        <p:txBody>
          <a:bodyPr vert="horz" lIns="0" tIns="0" rIns="0" bIns="0" rtlCol="0" anchor="b">
            <a:noAutofit/>
          </a:bodyPr>
          <a:lstStyle>
            <a:lvl1pPr>
              <a:defRPr lang="en-US" sz="1600" b="1" dirty="0">
                <a:solidFill>
                  <a:schemeClr val="accent3"/>
                </a:solidFill>
              </a:defRPr>
            </a:lvl1pPr>
          </a:lstStyle>
          <a:p>
            <a:pPr lvl="0">
              <a:lnSpc>
                <a:spcPct val="90000"/>
              </a:lnSpc>
              <a:spcBef>
                <a:spcPts val="0"/>
              </a:spcBef>
            </a:pPr>
            <a:r>
              <a:rPr lang="en-US"/>
              <a:t>Edit Master text styles</a:t>
            </a:r>
          </a:p>
        </p:txBody>
      </p:sp>
      <p:sp>
        <p:nvSpPr>
          <p:cNvPr id="15"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14"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8DC073CE-7798-4504-9766-398A63AF0E87}" type="datetime3">
              <a:rPr lang="en-US" smtClean="0"/>
              <a:t>7 March 2017</a:t>
            </a:fld>
            <a:endParaRPr lang="en-CA" dirty="0"/>
          </a:p>
        </p:txBody>
      </p:sp>
      <p:sp>
        <p:nvSpPr>
          <p:cNvPr id="20" name="Footer Placeholder 7"/>
          <p:cNvSpPr>
            <a:spLocks noGrp="1"/>
          </p:cNvSpPr>
          <p:nvPr>
            <p:ph type="ftr" sz="quarter" idx="3"/>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1373125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95299" y="1487851"/>
            <a:ext cx="3377601" cy="365760"/>
          </a:xfrm>
        </p:spPr>
        <p:txBody>
          <a:bodyPr vert="horz" lIns="0" tIns="0" rIns="0" bIns="0" rtlCol="0" anchor="b">
            <a:noAutofit/>
          </a:bodyPr>
          <a:lstStyle>
            <a:lvl1pPr>
              <a:defRPr lang="en-US" sz="1600" b="1" dirty="0">
                <a:solidFill>
                  <a:schemeClr val="accent3"/>
                </a:solidFill>
              </a:defRPr>
            </a:lvl1pPr>
          </a:lstStyle>
          <a:p>
            <a:pPr lvl="0">
              <a:lnSpc>
                <a:spcPct val="90000"/>
              </a:lnSpc>
              <a:spcBef>
                <a:spcPts val="0"/>
              </a:spcBef>
            </a:pPr>
            <a:r>
              <a:rPr lang="en-US" dirty="0"/>
              <a:t>Subtitle</a:t>
            </a:r>
          </a:p>
        </p:txBody>
      </p:sp>
      <p:sp>
        <p:nvSpPr>
          <p:cNvPr id="5" name="Text Placeholder 4"/>
          <p:cNvSpPr>
            <a:spLocks noGrp="1"/>
          </p:cNvSpPr>
          <p:nvPr>
            <p:ph type="body" sz="quarter" idx="3" hasCustomPrompt="1"/>
          </p:nvPr>
        </p:nvSpPr>
        <p:spPr>
          <a:xfrm>
            <a:off x="4405334" y="1487851"/>
            <a:ext cx="3382004" cy="365760"/>
          </a:xfrm>
        </p:spPr>
        <p:txBody>
          <a:bodyPr vert="horz" lIns="0" tIns="0" rIns="0" bIns="0" rtlCol="0" anchor="b">
            <a:noAutofit/>
          </a:bodyPr>
          <a:lstStyle>
            <a:lvl1pPr>
              <a:defRPr lang="en-US" sz="1600" b="1" dirty="0">
                <a:solidFill>
                  <a:schemeClr val="accent3"/>
                </a:solidFill>
              </a:defRPr>
            </a:lvl1pPr>
          </a:lstStyle>
          <a:p>
            <a:pPr lvl="0">
              <a:lnSpc>
                <a:spcPct val="90000"/>
              </a:lnSpc>
              <a:spcBef>
                <a:spcPts val="0"/>
              </a:spcBef>
            </a:pPr>
            <a:r>
              <a:rPr lang="en-US" dirty="0"/>
              <a:t>Subtitle</a:t>
            </a:r>
          </a:p>
        </p:txBody>
      </p:sp>
      <p:sp>
        <p:nvSpPr>
          <p:cNvPr id="15" name="Content Placeholder 14"/>
          <p:cNvSpPr>
            <a:spLocks noGrp="1"/>
          </p:cNvSpPr>
          <p:nvPr>
            <p:ph sz="quarter" idx="13"/>
          </p:nvPr>
        </p:nvSpPr>
        <p:spPr>
          <a:xfrm>
            <a:off x="495299" y="2070820"/>
            <a:ext cx="3377601" cy="4012346"/>
          </a:xfrm>
        </p:spPr>
        <p:txBody>
          <a:bodyPr/>
          <a:lstStyle>
            <a:lvl1pPr>
              <a:defRPr sz="2400"/>
            </a:lvl1pPr>
            <a:lvl2pPr marL="210312">
              <a:defRPr sz="2000"/>
            </a:lvl2pPr>
            <a:lvl3pPr marL="429768" indent="-173736">
              <a:defRPr sz="1600"/>
            </a:lvl3pPr>
            <a:lvl4pPr marL="603504" indent="-128016">
              <a:defRPr sz="1400"/>
            </a:lvl4pPr>
            <a:lvl5pPr marL="793750" indent="-173038">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Text Placeholder 9"/>
          <p:cNvSpPr>
            <a:spLocks noGrp="1"/>
          </p:cNvSpPr>
          <p:nvPr>
            <p:ph type="body" sz="quarter" idx="15" hasCustomPrompt="1"/>
          </p:nvPr>
        </p:nvSpPr>
        <p:spPr>
          <a:xfrm>
            <a:off x="8314696" y="1487851"/>
            <a:ext cx="3382004" cy="365760"/>
          </a:xfrm>
        </p:spPr>
        <p:txBody>
          <a:bodyPr vert="horz" lIns="0" tIns="0" rIns="0" bIns="0" rtlCol="0" anchor="b">
            <a:noAutofit/>
          </a:bodyPr>
          <a:lstStyle>
            <a:lvl1pPr>
              <a:defRPr lang="en-US" sz="1600" b="1" dirty="0">
                <a:solidFill>
                  <a:schemeClr val="accent3"/>
                </a:solidFill>
              </a:defRPr>
            </a:lvl1pPr>
          </a:lstStyle>
          <a:p>
            <a:pPr lvl="0">
              <a:lnSpc>
                <a:spcPct val="90000"/>
              </a:lnSpc>
              <a:spcBef>
                <a:spcPts val="0"/>
              </a:spcBef>
            </a:pPr>
            <a:r>
              <a:rPr lang="en-US" dirty="0"/>
              <a:t>Subtitle</a:t>
            </a:r>
          </a:p>
        </p:txBody>
      </p:sp>
      <p:cxnSp>
        <p:nvCxnSpPr>
          <p:cNvPr id="23" name="Straight Connector 22"/>
          <p:cNvCxnSpPr>
            <a:cxnSpLocks/>
          </p:cNvCxnSpPr>
          <p:nvPr userDrawn="1"/>
        </p:nvCxnSpPr>
        <p:spPr>
          <a:xfrm>
            <a:off x="495300" y="1918336"/>
            <a:ext cx="338328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cxnSpLocks/>
          </p:cNvCxnSpPr>
          <p:nvPr userDrawn="1"/>
        </p:nvCxnSpPr>
        <p:spPr>
          <a:xfrm>
            <a:off x="4405334" y="1918336"/>
            <a:ext cx="338328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cxnSpLocks/>
          </p:cNvCxnSpPr>
          <p:nvPr userDrawn="1"/>
        </p:nvCxnSpPr>
        <p:spPr>
          <a:xfrm>
            <a:off x="8314696" y="1918336"/>
            <a:ext cx="338328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1" name="Title 10"/>
          <p:cNvSpPr>
            <a:spLocks noGrp="1"/>
          </p:cNvSpPr>
          <p:nvPr>
            <p:ph type="title"/>
          </p:nvPr>
        </p:nvSpPr>
        <p:spPr>
          <a:xfrm>
            <a:off x="495300" y="509833"/>
            <a:ext cx="11201400" cy="914400"/>
          </a:xfrm>
        </p:spPr>
        <p:txBody>
          <a:bodyPr/>
          <a:lstStyle/>
          <a:p>
            <a:r>
              <a:rPr lang="en-US"/>
              <a:t>Click to edit Master title style</a:t>
            </a:r>
            <a:endParaRPr lang="en-US" dirty="0"/>
          </a:p>
        </p:txBody>
      </p:sp>
      <p:sp>
        <p:nvSpPr>
          <p:cNvPr id="18"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21" name="Content Placeholder 14"/>
          <p:cNvSpPr>
            <a:spLocks noGrp="1"/>
          </p:cNvSpPr>
          <p:nvPr>
            <p:ph sz="quarter" idx="18"/>
          </p:nvPr>
        </p:nvSpPr>
        <p:spPr>
          <a:xfrm>
            <a:off x="4405334" y="2070820"/>
            <a:ext cx="3377601" cy="4012346"/>
          </a:xfrm>
        </p:spPr>
        <p:txBody>
          <a:bodyPr/>
          <a:lstStyle>
            <a:lvl1pPr>
              <a:defRPr sz="2400"/>
            </a:lvl1pPr>
            <a:lvl2pPr marL="210312">
              <a:defRPr sz="2000"/>
            </a:lvl2pPr>
            <a:lvl3pPr marL="429768" indent="-173736">
              <a:defRPr sz="1600"/>
            </a:lvl3pPr>
            <a:lvl4pPr marL="603504" indent="-128016">
              <a:defRPr sz="1400"/>
            </a:lvl4pPr>
            <a:lvl5pPr marL="793750" indent="-173038">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2" name="Content Placeholder 14"/>
          <p:cNvSpPr>
            <a:spLocks noGrp="1"/>
          </p:cNvSpPr>
          <p:nvPr>
            <p:ph sz="quarter" idx="19"/>
          </p:nvPr>
        </p:nvSpPr>
        <p:spPr>
          <a:xfrm>
            <a:off x="8314696" y="2070820"/>
            <a:ext cx="3377601" cy="4012346"/>
          </a:xfrm>
        </p:spPr>
        <p:txBody>
          <a:bodyPr/>
          <a:lstStyle>
            <a:lvl1pPr>
              <a:defRPr sz="2400"/>
            </a:lvl1pPr>
            <a:lvl2pPr marL="210312">
              <a:defRPr sz="2000"/>
            </a:lvl2pPr>
            <a:lvl3pPr marL="429768" indent="-173736">
              <a:defRPr sz="1600"/>
            </a:lvl3pPr>
            <a:lvl4pPr marL="603504" indent="-128016">
              <a:defRPr sz="1400"/>
            </a:lvl4pPr>
            <a:lvl5pPr marL="793750" indent="-173038">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6"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C199375B-B051-42D2-90D9-50B3BC396ECE}" type="datetime3">
              <a:rPr lang="en-US" smtClean="0"/>
              <a:t>7 March 2017</a:t>
            </a:fld>
            <a:endParaRPr lang="en-CA" dirty="0"/>
          </a:p>
        </p:txBody>
      </p:sp>
      <p:sp>
        <p:nvSpPr>
          <p:cNvPr id="19" name="Footer Placeholder 7"/>
          <p:cNvSpPr>
            <a:spLocks noGrp="1"/>
          </p:cNvSpPr>
          <p:nvPr>
            <p:ph type="ftr" sz="quarter" idx="20"/>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605579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95300" y="1629578"/>
            <a:ext cx="2518906" cy="204671"/>
          </a:xfrm>
        </p:spPr>
        <p:txBody>
          <a:bodyPr vert="horz" wrap="square" lIns="0" tIns="0" rIns="0" bIns="0" rtlCol="0" anchor="b" anchorCtr="0">
            <a:spAutoFit/>
          </a:bodyPr>
          <a:lstStyle>
            <a:lvl1pPr>
              <a:defRPr lang="en-US" sz="1400" b="1" dirty="0" smtClean="0">
                <a:solidFill>
                  <a:schemeClr val="accent3"/>
                </a:solidFill>
              </a:defRPr>
            </a:lvl1pPr>
          </a:lstStyle>
          <a:p>
            <a:pPr lvl="0"/>
            <a:r>
              <a:rPr lang="en-US" dirty="0"/>
              <a:t>Subtitle</a:t>
            </a:r>
          </a:p>
        </p:txBody>
      </p:sp>
      <p:sp>
        <p:nvSpPr>
          <p:cNvPr id="5" name="Text Placeholder 4"/>
          <p:cNvSpPr>
            <a:spLocks noGrp="1"/>
          </p:cNvSpPr>
          <p:nvPr>
            <p:ph type="body" sz="quarter" idx="3" hasCustomPrompt="1"/>
          </p:nvPr>
        </p:nvSpPr>
        <p:spPr>
          <a:xfrm>
            <a:off x="3396995" y="1629578"/>
            <a:ext cx="2496313" cy="204671"/>
          </a:xfrm>
        </p:spPr>
        <p:txBody>
          <a:bodyPr vert="horz" wrap="square" lIns="0" tIns="0" rIns="0" bIns="0" rtlCol="0" anchor="b" anchorCtr="0">
            <a:spAutoFit/>
          </a:bodyPr>
          <a:lstStyle>
            <a:lvl1pPr>
              <a:defRPr lang="en-US" sz="1400" b="1" dirty="0" smtClean="0">
                <a:solidFill>
                  <a:schemeClr val="accent3"/>
                </a:solidFill>
              </a:defRPr>
            </a:lvl1pPr>
          </a:lstStyle>
          <a:p>
            <a:pPr lvl="0"/>
            <a:r>
              <a:rPr lang="en-US" dirty="0"/>
              <a:t>Subtitle</a:t>
            </a:r>
          </a:p>
        </p:txBody>
      </p:sp>
      <p:sp>
        <p:nvSpPr>
          <p:cNvPr id="15" name="Content Placeholder 14"/>
          <p:cNvSpPr>
            <a:spLocks noGrp="1"/>
          </p:cNvSpPr>
          <p:nvPr>
            <p:ph sz="quarter" idx="13"/>
          </p:nvPr>
        </p:nvSpPr>
        <p:spPr>
          <a:xfrm>
            <a:off x="495300" y="2044127"/>
            <a:ext cx="2496312" cy="3959013"/>
          </a:xfrm>
        </p:spPr>
        <p:txBody>
          <a:bodyPr vert="horz" lIns="0" tIns="0" rIns="0" bIns="0" rtlCol="0">
            <a:noAutofit/>
          </a:bodyPr>
          <a:lstStyle>
            <a:lvl1pPr>
              <a:defRPr lang="en-US" sz="2000" dirty="0" smtClean="0"/>
            </a:lvl1pPr>
            <a:lvl2pPr>
              <a:defRPr lang="en-US" sz="1800" dirty="0" smtClean="0"/>
            </a:lvl2pPr>
            <a:lvl3pPr marL="429768" indent="-173736">
              <a:defRPr lang="en-US" sz="1600" dirty="0" smtClean="0"/>
            </a:lvl3pPr>
            <a:lvl4pPr marL="603504" indent="-128016">
              <a:defRPr lang="en-US" sz="1400" dirty="0" smtClean="0"/>
            </a:lvl4pPr>
            <a:lvl5pPr marL="795528" indent="-128016">
              <a:defRPr lang="en-CA"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Text Placeholder 9"/>
          <p:cNvSpPr>
            <a:spLocks noGrp="1"/>
          </p:cNvSpPr>
          <p:nvPr>
            <p:ph type="body" sz="quarter" idx="15" hasCustomPrompt="1"/>
          </p:nvPr>
        </p:nvSpPr>
        <p:spPr>
          <a:xfrm>
            <a:off x="6298692" y="1629578"/>
            <a:ext cx="2496312" cy="204671"/>
          </a:xfrm>
        </p:spPr>
        <p:txBody>
          <a:bodyPr vert="horz" wrap="square" lIns="0" tIns="0" rIns="0" bIns="0" rtlCol="0" anchor="b" anchorCtr="0">
            <a:spAutoFit/>
          </a:bodyPr>
          <a:lstStyle>
            <a:lvl1pPr>
              <a:defRPr lang="en-US" sz="1400" b="1" dirty="0" smtClean="0">
                <a:solidFill>
                  <a:schemeClr val="accent3"/>
                </a:solidFill>
              </a:defRPr>
            </a:lvl1pPr>
          </a:lstStyle>
          <a:p>
            <a:pPr lvl="0"/>
            <a:r>
              <a:rPr lang="en-US" dirty="0"/>
              <a:t>Subtitle</a:t>
            </a:r>
          </a:p>
        </p:txBody>
      </p:sp>
      <p:sp>
        <p:nvSpPr>
          <p:cNvPr id="14" name="Text Placeholder 13"/>
          <p:cNvSpPr>
            <a:spLocks noGrp="1"/>
          </p:cNvSpPr>
          <p:nvPr>
            <p:ph type="body" sz="quarter" idx="17" hasCustomPrompt="1"/>
          </p:nvPr>
        </p:nvSpPr>
        <p:spPr>
          <a:xfrm>
            <a:off x="9200388" y="1629578"/>
            <a:ext cx="2496312" cy="204671"/>
          </a:xfrm>
        </p:spPr>
        <p:txBody>
          <a:bodyPr vert="horz" wrap="square" lIns="0" tIns="0" rIns="0" bIns="0" rtlCol="0" anchor="b" anchorCtr="0">
            <a:spAutoFit/>
          </a:bodyPr>
          <a:lstStyle>
            <a:lvl1pPr>
              <a:defRPr lang="en-US" sz="1400" b="1" dirty="0" smtClean="0">
                <a:solidFill>
                  <a:schemeClr val="accent3"/>
                </a:solidFill>
              </a:defRPr>
            </a:lvl1pPr>
          </a:lstStyle>
          <a:p>
            <a:pPr lvl="0"/>
            <a:r>
              <a:rPr lang="en-US" dirty="0"/>
              <a:t>Subtitle</a:t>
            </a:r>
          </a:p>
        </p:txBody>
      </p:sp>
      <p:cxnSp>
        <p:nvCxnSpPr>
          <p:cNvPr id="26" name="Straight Connector 25"/>
          <p:cNvCxnSpPr>
            <a:cxnSpLocks/>
          </p:cNvCxnSpPr>
          <p:nvPr userDrawn="1"/>
        </p:nvCxnSpPr>
        <p:spPr>
          <a:xfrm>
            <a:off x="3390900" y="1908811"/>
            <a:ext cx="25146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p:cNvCxnSpPr>
          <p:nvPr userDrawn="1"/>
        </p:nvCxnSpPr>
        <p:spPr>
          <a:xfrm>
            <a:off x="6286500" y="1908811"/>
            <a:ext cx="25146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cxnSpLocks/>
          </p:cNvCxnSpPr>
          <p:nvPr userDrawn="1"/>
        </p:nvCxnSpPr>
        <p:spPr>
          <a:xfrm>
            <a:off x="9182100" y="1908811"/>
            <a:ext cx="25146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cxnSpLocks/>
          </p:cNvCxnSpPr>
          <p:nvPr userDrawn="1"/>
        </p:nvCxnSpPr>
        <p:spPr>
          <a:xfrm>
            <a:off x="495300" y="1908811"/>
            <a:ext cx="25146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495300" y="509833"/>
            <a:ext cx="11201400" cy="914400"/>
          </a:xfrm>
        </p:spPr>
        <p:txBody>
          <a:bodyPr/>
          <a:lstStyle/>
          <a:p>
            <a:r>
              <a:rPr lang="en-US"/>
              <a:t>Click to edit Master title style</a:t>
            </a:r>
            <a:endParaRPr lang="en-US" dirty="0"/>
          </a:p>
        </p:txBody>
      </p:sp>
      <p:sp>
        <p:nvSpPr>
          <p:cNvPr id="21"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25" name="Content Placeholder 14"/>
          <p:cNvSpPr>
            <a:spLocks noGrp="1"/>
          </p:cNvSpPr>
          <p:nvPr>
            <p:ph sz="quarter" idx="20"/>
          </p:nvPr>
        </p:nvSpPr>
        <p:spPr>
          <a:xfrm>
            <a:off x="3396995" y="2044127"/>
            <a:ext cx="2496312" cy="3959013"/>
          </a:xfrm>
        </p:spPr>
        <p:txBody>
          <a:bodyPr vert="horz" lIns="0" tIns="0" rIns="0" bIns="0" rtlCol="0">
            <a:noAutofit/>
          </a:bodyPr>
          <a:lstStyle>
            <a:lvl1pPr>
              <a:defRPr lang="en-US" sz="2000" dirty="0" smtClean="0"/>
            </a:lvl1pPr>
            <a:lvl2pPr>
              <a:defRPr lang="en-US" sz="1800" dirty="0" smtClean="0"/>
            </a:lvl2pPr>
            <a:lvl3pPr marL="429768" indent="-173736">
              <a:defRPr lang="en-US" sz="1600" dirty="0" smtClean="0"/>
            </a:lvl3pPr>
            <a:lvl4pPr marL="603504" indent="-128016">
              <a:defRPr lang="en-US" sz="1400" dirty="0" smtClean="0"/>
            </a:lvl4pPr>
            <a:lvl5pPr marL="795528" indent="-128016">
              <a:defRPr lang="en-CA"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7" name="Content Placeholder 14"/>
          <p:cNvSpPr>
            <a:spLocks noGrp="1"/>
          </p:cNvSpPr>
          <p:nvPr>
            <p:ph sz="quarter" idx="21"/>
          </p:nvPr>
        </p:nvSpPr>
        <p:spPr>
          <a:xfrm>
            <a:off x="6298692" y="2044127"/>
            <a:ext cx="2496312" cy="3959013"/>
          </a:xfrm>
        </p:spPr>
        <p:txBody>
          <a:bodyPr vert="horz" lIns="0" tIns="0" rIns="0" bIns="0" rtlCol="0">
            <a:noAutofit/>
          </a:bodyPr>
          <a:lstStyle>
            <a:lvl1pPr>
              <a:defRPr lang="en-US" sz="2000" dirty="0" smtClean="0"/>
            </a:lvl1pPr>
            <a:lvl2pPr>
              <a:defRPr lang="en-US" sz="1800" dirty="0" smtClean="0"/>
            </a:lvl2pPr>
            <a:lvl3pPr marL="429768" indent="-173736">
              <a:defRPr lang="en-US" sz="1600" dirty="0" smtClean="0"/>
            </a:lvl3pPr>
            <a:lvl4pPr marL="603504" indent="-128016">
              <a:defRPr lang="en-US" sz="1400" dirty="0" smtClean="0"/>
            </a:lvl4pPr>
            <a:lvl5pPr marL="795528" indent="-128016">
              <a:defRPr lang="en-CA"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8" name="Content Placeholder 14"/>
          <p:cNvSpPr>
            <a:spLocks noGrp="1"/>
          </p:cNvSpPr>
          <p:nvPr>
            <p:ph sz="quarter" idx="22"/>
          </p:nvPr>
        </p:nvSpPr>
        <p:spPr>
          <a:xfrm>
            <a:off x="9200388" y="2044127"/>
            <a:ext cx="2496312" cy="3959013"/>
          </a:xfrm>
        </p:spPr>
        <p:txBody>
          <a:bodyPr vert="horz" lIns="0" tIns="0" rIns="0" bIns="0" rtlCol="0">
            <a:noAutofit/>
          </a:bodyPr>
          <a:lstStyle>
            <a:lvl1pPr>
              <a:defRPr lang="en-US" sz="2000" dirty="0" smtClean="0"/>
            </a:lvl1pPr>
            <a:lvl2pPr>
              <a:defRPr lang="en-US" sz="1800" dirty="0" smtClean="0"/>
            </a:lvl2pPr>
            <a:lvl3pPr marL="429768" indent="-173736">
              <a:defRPr lang="en-US" sz="1600" dirty="0" smtClean="0"/>
            </a:lvl3pPr>
            <a:lvl4pPr marL="603504" indent="-128016">
              <a:defRPr lang="en-US" sz="1400" dirty="0" smtClean="0"/>
            </a:lvl4pPr>
            <a:lvl5pPr marL="795528" indent="-128016">
              <a:defRPr lang="en-CA"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9"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8DC3B441-9D4E-4C77-AEBA-69FC18ECDA54}" type="datetime3">
              <a:rPr lang="en-US" smtClean="0"/>
              <a:t>7 March 2017</a:t>
            </a:fld>
            <a:endParaRPr lang="en-CA" dirty="0"/>
          </a:p>
        </p:txBody>
      </p:sp>
      <p:sp>
        <p:nvSpPr>
          <p:cNvPr id="20" name="Footer Placeholder 7"/>
          <p:cNvSpPr>
            <a:spLocks noGrp="1"/>
          </p:cNvSpPr>
          <p:nvPr>
            <p:ph type="ftr" sz="quarter" idx="23"/>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3458263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95300" y="1629861"/>
            <a:ext cx="1929384" cy="204671"/>
          </a:xfrm>
        </p:spPr>
        <p:txBody>
          <a:bodyPr vert="horz" wrap="square" lIns="0" tIns="0" rIns="0" bIns="0" rtlCol="0" anchor="b" anchorCtr="0">
            <a:spAutoFit/>
          </a:bodyPr>
          <a:lstStyle>
            <a:lvl1pPr>
              <a:defRPr lang="en-US" sz="1400" b="1" dirty="0" smtClean="0">
                <a:solidFill>
                  <a:schemeClr val="accent3"/>
                </a:solidFill>
              </a:defRPr>
            </a:lvl1pPr>
          </a:lstStyle>
          <a:p>
            <a:pPr lvl="0"/>
            <a:r>
              <a:rPr lang="en-US" dirty="0"/>
              <a:t>Subtitle</a:t>
            </a:r>
          </a:p>
        </p:txBody>
      </p:sp>
      <p:sp>
        <p:nvSpPr>
          <p:cNvPr id="5" name="Text Placeholder 4"/>
          <p:cNvSpPr>
            <a:spLocks noGrp="1"/>
          </p:cNvSpPr>
          <p:nvPr>
            <p:ph type="body" sz="quarter" idx="3" hasCustomPrompt="1"/>
          </p:nvPr>
        </p:nvSpPr>
        <p:spPr>
          <a:xfrm>
            <a:off x="2813304" y="1629861"/>
            <a:ext cx="1929384" cy="204671"/>
          </a:xfrm>
        </p:spPr>
        <p:txBody>
          <a:bodyPr vert="horz" wrap="square" lIns="0" tIns="0" rIns="0" bIns="0" rtlCol="0" anchor="b" anchorCtr="0">
            <a:spAutoFit/>
          </a:bodyPr>
          <a:lstStyle>
            <a:lvl1pPr>
              <a:defRPr lang="en-US" sz="1400" b="1" dirty="0" smtClean="0">
                <a:solidFill>
                  <a:schemeClr val="accent3"/>
                </a:solidFill>
              </a:defRPr>
            </a:lvl1pPr>
          </a:lstStyle>
          <a:p>
            <a:pPr lvl="0"/>
            <a:r>
              <a:rPr lang="en-US" dirty="0"/>
              <a:t>Subtitle</a:t>
            </a:r>
          </a:p>
        </p:txBody>
      </p:sp>
      <p:sp>
        <p:nvSpPr>
          <p:cNvPr id="15" name="Content Placeholder 14"/>
          <p:cNvSpPr>
            <a:spLocks noGrp="1"/>
          </p:cNvSpPr>
          <p:nvPr>
            <p:ph sz="quarter" idx="13"/>
          </p:nvPr>
        </p:nvSpPr>
        <p:spPr>
          <a:xfrm>
            <a:off x="495300" y="2014983"/>
            <a:ext cx="1929384" cy="4102446"/>
          </a:xfrm>
        </p:spPr>
        <p:txBody>
          <a:bodyPr vert="horz" lIns="0" tIns="0" rIns="0" bIns="0" rtlCol="0">
            <a:noAutofit/>
          </a:bodyPr>
          <a:lstStyle>
            <a:lvl1pPr>
              <a:defRPr lang="en-US" sz="1600" dirty="0" smtClean="0"/>
            </a:lvl1pPr>
            <a:lvl2pPr marL="146304" indent="-118872">
              <a:defRPr lang="en-US" sz="1400" dirty="0" smtClean="0"/>
            </a:lvl2pPr>
            <a:lvl3pPr marL="338328" indent="-137160">
              <a:defRPr lang="en-US" sz="1200" dirty="0" smtClean="0"/>
            </a:lvl3pPr>
            <a:lvl4pPr marL="461963" indent="-115888">
              <a:defRPr lang="en-US" sz="1200" dirty="0" smtClean="0"/>
            </a:lvl4pPr>
            <a:lvl5pPr marL="625475" indent="-115888">
              <a:defRPr lang="en-CA" sz="1200"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0" name="Text Placeholder 9"/>
          <p:cNvSpPr>
            <a:spLocks noGrp="1"/>
          </p:cNvSpPr>
          <p:nvPr>
            <p:ph type="body" sz="quarter" idx="15" hasCustomPrompt="1"/>
          </p:nvPr>
        </p:nvSpPr>
        <p:spPr>
          <a:xfrm>
            <a:off x="5131308" y="1629861"/>
            <a:ext cx="1929384" cy="204671"/>
          </a:xfrm>
        </p:spPr>
        <p:txBody>
          <a:bodyPr vert="horz" wrap="square" lIns="0" tIns="0" rIns="0" bIns="0" rtlCol="0" anchor="b" anchorCtr="0">
            <a:spAutoFit/>
          </a:bodyPr>
          <a:lstStyle>
            <a:lvl1pPr>
              <a:defRPr lang="en-US" sz="1400" b="1" dirty="0" smtClean="0">
                <a:solidFill>
                  <a:schemeClr val="accent3"/>
                </a:solidFill>
              </a:defRPr>
            </a:lvl1pPr>
          </a:lstStyle>
          <a:p>
            <a:pPr lvl="0"/>
            <a:r>
              <a:rPr lang="en-US" dirty="0"/>
              <a:t>Subtitle</a:t>
            </a:r>
          </a:p>
        </p:txBody>
      </p:sp>
      <p:sp>
        <p:nvSpPr>
          <p:cNvPr id="14" name="Text Placeholder 13"/>
          <p:cNvSpPr>
            <a:spLocks noGrp="1"/>
          </p:cNvSpPr>
          <p:nvPr>
            <p:ph type="body" sz="quarter" idx="17" hasCustomPrompt="1"/>
          </p:nvPr>
        </p:nvSpPr>
        <p:spPr>
          <a:xfrm>
            <a:off x="7449312" y="1629861"/>
            <a:ext cx="1929384" cy="204671"/>
          </a:xfrm>
        </p:spPr>
        <p:txBody>
          <a:bodyPr vert="horz" wrap="square" lIns="0" tIns="0" rIns="0" bIns="0" rtlCol="0" anchor="b" anchorCtr="0">
            <a:spAutoFit/>
          </a:bodyPr>
          <a:lstStyle>
            <a:lvl1pPr>
              <a:defRPr lang="en-US" sz="1400" b="1" dirty="0" smtClean="0">
                <a:solidFill>
                  <a:schemeClr val="accent3"/>
                </a:solidFill>
              </a:defRPr>
            </a:lvl1pPr>
          </a:lstStyle>
          <a:p>
            <a:pPr lvl="0"/>
            <a:r>
              <a:rPr lang="en-US" dirty="0"/>
              <a:t>Subtitle</a:t>
            </a:r>
          </a:p>
        </p:txBody>
      </p:sp>
      <p:cxnSp>
        <p:nvCxnSpPr>
          <p:cNvPr id="26" name="Straight Connector 25"/>
          <p:cNvCxnSpPr>
            <a:cxnSpLocks/>
          </p:cNvCxnSpPr>
          <p:nvPr userDrawn="1"/>
        </p:nvCxnSpPr>
        <p:spPr>
          <a:xfrm>
            <a:off x="2813304" y="1908811"/>
            <a:ext cx="192024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a:cxnSpLocks/>
          </p:cNvCxnSpPr>
          <p:nvPr userDrawn="1"/>
        </p:nvCxnSpPr>
        <p:spPr>
          <a:xfrm>
            <a:off x="5131308" y="1908811"/>
            <a:ext cx="192024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cxnSpLocks/>
          </p:cNvCxnSpPr>
          <p:nvPr userDrawn="1"/>
        </p:nvCxnSpPr>
        <p:spPr>
          <a:xfrm>
            <a:off x="7449312" y="1908811"/>
            <a:ext cx="192024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cxnSpLocks/>
          </p:cNvCxnSpPr>
          <p:nvPr userDrawn="1"/>
        </p:nvCxnSpPr>
        <p:spPr>
          <a:xfrm>
            <a:off x="495300" y="1908811"/>
            <a:ext cx="192024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6" name="Text Placeholder 13"/>
          <p:cNvSpPr>
            <a:spLocks noGrp="1"/>
          </p:cNvSpPr>
          <p:nvPr>
            <p:ph type="body" sz="quarter" idx="20" hasCustomPrompt="1"/>
          </p:nvPr>
        </p:nvSpPr>
        <p:spPr>
          <a:xfrm>
            <a:off x="9767316" y="1629861"/>
            <a:ext cx="1929384" cy="204671"/>
          </a:xfrm>
        </p:spPr>
        <p:txBody>
          <a:bodyPr vert="horz" wrap="square" lIns="0" tIns="0" rIns="0" bIns="0" rtlCol="0" anchor="b" anchorCtr="0">
            <a:spAutoFit/>
          </a:bodyPr>
          <a:lstStyle>
            <a:lvl1pPr>
              <a:defRPr lang="en-US" sz="1400" b="1" dirty="0" smtClean="0">
                <a:solidFill>
                  <a:schemeClr val="accent3"/>
                </a:solidFill>
              </a:defRPr>
            </a:lvl1pPr>
          </a:lstStyle>
          <a:p>
            <a:pPr lvl="0"/>
            <a:r>
              <a:rPr lang="en-US" dirty="0"/>
              <a:t>Subtitle</a:t>
            </a:r>
          </a:p>
        </p:txBody>
      </p:sp>
      <p:cxnSp>
        <p:nvCxnSpPr>
          <p:cNvPr id="48" name="Straight Connector 47"/>
          <p:cNvCxnSpPr>
            <a:cxnSpLocks/>
          </p:cNvCxnSpPr>
          <p:nvPr userDrawn="1"/>
        </p:nvCxnSpPr>
        <p:spPr>
          <a:xfrm>
            <a:off x="9767316" y="1908811"/>
            <a:ext cx="192024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hasCustomPrompt="1"/>
          </p:nvPr>
        </p:nvSpPr>
        <p:spPr>
          <a:xfrm>
            <a:off x="495300" y="509833"/>
            <a:ext cx="11201400" cy="914400"/>
          </a:xfrm>
        </p:spPr>
        <p:txBody>
          <a:bodyPr/>
          <a:lstStyle>
            <a:lvl1pPr>
              <a:defRPr/>
            </a:lvl1pPr>
          </a:lstStyle>
          <a:p>
            <a:r>
              <a:rPr lang="en-US" dirty="0"/>
              <a:t>Five Content Layout</a:t>
            </a:r>
          </a:p>
        </p:txBody>
      </p:sp>
      <p:sp>
        <p:nvSpPr>
          <p:cNvPr id="22"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45" name="Content Placeholder 14"/>
          <p:cNvSpPr>
            <a:spLocks noGrp="1"/>
          </p:cNvSpPr>
          <p:nvPr>
            <p:ph sz="quarter" idx="23"/>
          </p:nvPr>
        </p:nvSpPr>
        <p:spPr>
          <a:xfrm>
            <a:off x="2813304" y="2014983"/>
            <a:ext cx="1929384" cy="4102446"/>
          </a:xfrm>
        </p:spPr>
        <p:txBody>
          <a:bodyPr vert="horz" lIns="0" tIns="0" rIns="0" bIns="0" rtlCol="0">
            <a:noAutofit/>
          </a:bodyPr>
          <a:lstStyle>
            <a:lvl1pPr>
              <a:defRPr lang="en-US" sz="1600" dirty="0" smtClean="0"/>
            </a:lvl1pPr>
            <a:lvl2pPr marL="146304" indent="-118872">
              <a:defRPr lang="en-US" sz="1400" dirty="0" smtClean="0"/>
            </a:lvl2pPr>
            <a:lvl3pPr marL="338328" indent="-137160">
              <a:defRPr lang="en-US" sz="1200" dirty="0" smtClean="0"/>
            </a:lvl3pPr>
            <a:lvl4pPr marL="461963" indent="-115888">
              <a:defRPr lang="en-US" sz="1200" dirty="0" smtClean="0"/>
            </a:lvl4pPr>
            <a:lvl5pPr marL="625475" indent="-115888">
              <a:defRPr lang="en-CA" sz="1200"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49" name="Content Placeholder 14"/>
          <p:cNvSpPr>
            <a:spLocks noGrp="1"/>
          </p:cNvSpPr>
          <p:nvPr>
            <p:ph sz="quarter" idx="24"/>
          </p:nvPr>
        </p:nvSpPr>
        <p:spPr>
          <a:xfrm>
            <a:off x="5131308" y="2014983"/>
            <a:ext cx="1929384" cy="4102446"/>
          </a:xfrm>
        </p:spPr>
        <p:txBody>
          <a:bodyPr vert="horz" lIns="0" tIns="0" rIns="0" bIns="0" rtlCol="0">
            <a:noAutofit/>
          </a:bodyPr>
          <a:lstStyle>
            <a:lvl1pPr>
              <a:defRPr lang="en-US" sz="1600" dirty="0" smtClean="0"/>
            </a:lvl1pPr>
            <a:lvl2pPr marL="146304" indent="-118872">
              <a:defRPr lang="en-US" sz="1400" dirty="0" smtClean="0"/>
            </a:lvl2pPr>
            <a:lvl3pPr marL="338328" indent="-137160">
              <a:defRPr lang="en-US" sz="1200" dirty="0" smtClean="0"/>
            </a:lvl3pPr>
            <a:lvl4pPr marL="461963" indent="-115888">
              <a:defRPr lang="en-US" sz="1200" dirty="0" smtClean="0"/>
            </a:lvl4pPr>
            <a:lvl5pPr marL="625475" indent="-115888">
              <a:defRPr lang="en-CA" sz="1200"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0" name="Content Placeholder 14"/>
          <p:cNvSpPr>
            <a:spLocks noGrp="1"/>
          </p:cNvSpPr>
          <p:nvPr>
            <p:ph sz="quarter" idx="25"/>
          </p:nvPr>
        </p:nvSpPr>
        <p:spPr>
          <a:xfrm>
            <a:off x="7449312" y="2014983"/>
            <a:ext cx="1929384" cy="4102446"/>
          </a:xfrm>
        </p:spPr>
        <p:txBody>
          <a:bodyPr vert="horz" lIns="0" tIns="0" rIns="0" bIns="0" rtlCol="0">
            <a:noAutofit/>
          </a:bodyPr>
          <a:lstStyle>
            <a:lvl1pPr>
              <a:defRPr lang="en-US" sz="1600" dirty="0" smtClean="0"/>
            </a:lvl1pPr>
            <a:lvl2pPr marL="146304" indent="-118872">
              <a:defRPr lang="en-US" sz="1400" dirty="0" smtClean="0"/>
            </a:lvl2pPr>
            <a:lvl3pPr marL="338328" indent="-137160">
              <a:defRPr lang="en-US" sz="1200" dirty="0" smtClean="0"/>
            </a:lvl3pPr>
            <a:lvl4pPr marL="461963" indent="-115888">
              <a:defRPr lang="en-US" sz="1200" dirty="0" smtClean="0"/>
            </a:lvl4pPr>
            <a:lvl5pPr marL="625475" indent="-115888">
              <a:defRPr lang="en-CA" sz="1200"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1" name="Content Placeholder 14"/>
          <p:cNvSpPr>
            <a:spLocks noGrp="1"/>
          </p:cNvSpPr>
          <p:nvPr>
            <p:ph sz="quarter" idx="26"/>
          </p:nvPr>
        </p:nvSpPr>
        <p:spPr>
          <a:xfrm>
            <a:off x="9767316" y="2014983"/>
            <a:ext cx="1929384" cy="4102446"/>
          </a:xfrm>
        </p:spPr>
        <p:txBody>
          <a:bodyPr vert="horz" lIns="0" tIns="0" rIns="0" bIns="0" rtlCol="0">
            <a:noAutofit/>
          </a:bodyPr>
          <a:lstStyle>
            <a:lvl1pPr>
              <a:defRPr lang="en-US" sz="1600" dirty="0" smtClean="0"/>
            </a:lvl1pPr>
            <a:lvl2pPr marL="146304" indent="-118872">
              <a:defRPr lang="en-US" sz="1400" dirty="0" smtClean="0"/>
            </a:lvl2pPr>
            <a:lvl3pPr marL="338328" indent="-137160">
              <a:defRPr lang="en-US" sz="1200" dirty="0" smtClean="0"/>
            </a:lvl3pPr>
            <a:lvl4pPr marL="461963" indent="-115888">
              <a:defRPr lang="en-US" sz="1200" dirty="0" smtClean="0"/>
            </a:lvl4pPr>
            <a:lvl5pPr marL="625475" indent="-115888">
              <a:defRPr lang="en-CA" sz="1200"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4"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547CB41A-EB95-47F9-ABC9-1A0B14ACE742}" type="datetime3">
              <a:rPr lang="en-US" smtClean="0"/>
              <a:t>7 March 2017</a:t>
            </a:fld>
            <a:endParaRPr lang="en-CA" dirty="0"/>
          </a:p>
        </p:txBody>
      </p:sp>
      <p:sp>
        <p:nvSpPr>
          <p:cNvPr id="25" name="Footer Placeholder 7"/>
          <p:cNvSpPr>
            <a:spLocks noGrp="1"/>
          </p:cNvSpPr>
          <p:nvPr>
            <p:ph type="ftr" sz="quarter" idx="27"/>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40131950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orytelling 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475D87-E621-43D4-94D7-5361B0B2EF4B}" type="datetime3">
              <a:rPr lang="en-US" smtClean="0"/>
              <a:t>7 March 2017</a:t>
            </a:fld>
            <a:endParaRPr lang="en-CA" dirty="0"/>
          </a:p>
        </p:txBody>
      </p:sp>
      <p:sp>
        <p:nvSpPr>
          <p:cNvPr id="4" name="Slide Number Placeholder 3"/>
          <p:cNvSpPr>
            <a:spLocks noGrp="1"/>
          </p:cNvSpPr>
          <p:nvPr>
            <p:ph type="sldNum" sz="quarter" idx="11"/>
          </p:nvPr>
        </p:nvSpPr>
        <p:spPr/>
        <p:txBody>
          <a:bodyPr/>
          <a:lstStyle/>
          <a:p>
            <a:fld id="{00E6A5BD-C011-4A45-AA3A-201790FB7F2B}" type="slidenum">
              <a:rPr lang="en-CA" smtClean="0"/>
              <a:pPr/>
              <a:t>‹#›</a:t>
            </a:fld>
            <a:endParaRPr lang="en-CA" dirty="0"/>
          </a:p>
        </p:txBody>
      </p:sp>
      <p:sp>
        <p:nvSpPr>
          <p:cNvPr id="5" name="Footer Placeholder 4"/>
          <p:cNvSpPr>
            <a:spLocks noGrp="1"/>
          </p:cNvSpPr>
          <p:nvPr>
            <p:ph type="ftr" sz="quarter" idx="12"/>
          </p:nvPr>
        </p:nvSpPr>
        <p:spPr>
          <a:xfrm>
            <a:off x="1269205" y="6432462"/>
            <a:ext cx="3229587" cy="182880"/>
          </a:xfrm>
          <a:prstGeom prst="rect">
            <a:avLst/>
          </a:prstGeom>
        </p:spPr>
        <p:txBody>
          <a:bodyPr/>
          <a:lstStyle/>
          <a:p>
            <a:r>
              <a:rPr lang="en-US"/>
              <a:t>Edit Presentation Title in [Insert Tab &gt; Header &amp; Footer]   |</a:t>
            </a:r>
            <a:endParaRPr lang="en-US" dirty="0"/>
          </a:p>
        </p:txBody>
      </p:sp>
      <p:sp>
        <p:nvSpPr>
          <p:cNvPr id="6" name="Content Placeholder 2"/>
          <p:cNvSpPr>
            <a:spLocks noGrp="1"/>
          </p:cNvSpPr>
          <p:nvPr>
            <p:ph idx="1"/>
          </p:nvPr>
        </p:nvSpPr>
        <p:spPr>
          <a:xfrm>
            <a:off x="495300" y="1603166"/>
            <a:ext cx="11201400" cy="4319584"/>
          </a:xfrm>
        </p:spPr>
        <p:txBody>
          <a:bodyPr/>
          <a:lstStyle>
            <a:lvl1pPr>
              <a:defRPr sz="2800">
                <a:solidFill>
                  <a:schemeClr val="accent3"/>
                </a:solidFill>
              </a:defRPr>
            </a:lvl1pPr>
            <a:lvl2pPr marL="237744" indent="-182880">
              <a:defRPr sz="2600"/>
            </a:lvl2pPr>
          </a:lstStyle>
          <a:p>
            <a:pPr lvl="0"/>
            <a:r>
              <a:rPr lang="en-US"/>
              <a:t>Edit Master text styles</a:t>
            </a:r>
          </a:p>
          <a:p>
            <a:pPr lvl="1"/>
            <a:r>
              <a:rPr lang="en-US"/>
              <a:t>Second level</a:t>
            </a:r>
          </a:p>
        </p:txBody>
      </p:sp>
    </p:spTree>
    <p:extLst>
      <p:ext uri="{BB962C8B-B14F-4D97-AF65-F5344CB8AC3E}">
        <p14:creationId xmlns:p14="http://schemas.microsoft.com/office/powerpoint/2010/main" val="3307492337"/>
      </p:ext>
    </p:extLst>
  </p:cSld>
  <p:clrMapOvr>
    <a:masterClrMapping/>
  </p:clrMapOvr>
  <p:extLst mod="1">
    <p:ext uri="{DCECCB84-F9BA-43D5-87BE-67443E8EF086}">
      <p15:sldGuideLst xmlns:p15="http://schemas.microsoft.com/office/powerpoint/2012/main">
        <p15:guide id="1" orient="horz" pos="105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Text Heavy 1-Line">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1670236"/>
            <a:ext cx="11201400" cy="4310062"/>
          </a:xfrm>
        </p:spPr>
        <p:txBody>
          <a:bodyPr vert="horz" lIns="0" tIns="0" rIns="0" bIns="0" rtlCol="0">
            <a:noAutofit/>
          </a:bodyPr>
          <a:lstStyle>
            <a:lvl1pPr>
              <a:spcAft>
                <a:spcPts val="0"/>
              </a:spcAft>
              <a:defRPr lang="en-US" sz="2200" dirty="0" smtClean="0">
                <a:solidFill>
                  <a:schemeClr val="accent3"/>
                </a:solidFill>
              </a:defRPr>
            </a:lvl1pPr>
            <a:lvl2pPr marL="219456" indent="-164592">
              <a:defRPr lang="en-US" sz="2000" dirty="0" smtClean="0"/>
            </a:lvl2pPr>
            <a:lvl3pPr marL="400050" indent="-195263">
              <a:defRPr lang="en-US" sz="1800" dirty="0" smtClean="0"/>
            </a:lvl3pPr>
          </a:lstStyle>
          <a:p>
            <a:pPr lvl="0"/>
            <a:r>
              <a:rPr lang="en-US"/>
              <a:t>Edit Master text styles</a:t>
            </a:r>
          </a:p>
          <a:p>
            <a:pPr lvl="1"/>
            <a:r>
              <a:rPr lang="en-US"/>
              <a:t>Second level</a:t>
            </a:r>
          </a:p>
          <a:p>
            <a:pPr lvl="2"/>
            <a:r>
              <a:rPr lang="en-US"/>
              <a:t>Third level</a:t>
            </a:r>
          </a:p>
        </p:txBody>
      </p:sp>
      <p:sp>
        <p:nvSpPr>
          <p:cNvPr id="7" name="Title 1"/>
          <p:cNvSpPr>
            <a:spLocks noGrp="1"/>
          </p:cNvSpPr>
          <p:nvPr>
            <p:ph type="title" hasCustomPrompt="1"/>
          </p:nvPr>
        </p:nvSpPr>
        <p:spPr>
          <a:xfrm>
            <a:off x="495300" y="510063"/>
            <a:ext cx="11201400" cy="914400"/>
          </a:xfrm>
        </p:spPr>
        <p:txBody>
          <a:bodyPr/>
          <a:lstStyle>
            <a:lvl1pPr>
              <a:defRPr/>
            </a:lvl1pPr>
          </a:lstStyle>
          <a:p>
            <a:r>
              <a:rPr lang="en-US" dirty="0">
                <a:solidFill>
                  <a:srgbClr val="63666A"/>
                </a:solidFill>
              </a:rPr>
              <a:t>Title and Content Text Heavy</a:t>
            </a:r>
          </a:p>
        </p:txBody>
      </p:sp>
      <p:sp>
        <p:nvSpPr>
          <p:cNvPr id="9"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11"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0A73909C-8673-4CA4-8855-76213B7D1677}" type="datetime3">
              <a:rPr lang="en-US" smtClean="0"/>
              <a:t>7 March 2017</a:t>
            </a:fld>
            <a:endParaRPr lang="en-CA" dirty="0"/>
          </a:p>
        </p:txBody>
      </p:sp>
      <p:sp>
        <p:nvSpPr>
          <p:cNvPr id="12" name="Footer Placeholder 7"/>
          <p:cNvSpPr>
            <a:spLocks noGrp="1"/>
          </p:cNvSpPr>
          <p:nvPr>
            <p:ph type="ftr" sz="quarter" idx="3"/>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1512055498"/>
      </p:ext>
    </p:extLst>
  </p:cSld>
  <p:clrMapOvr>
    <a:masterClrMapping/>
  </p:clrMapOvr>
  <p:extLst mod="1">
    <p:ext uri="{DCECCB84-F9BA-43D5-87BE-67443E8EF086}">
      <p15:sldGuideLst xmlns:p15="http://schemas.microsoft.com/office/powerpoint/2012/main">
        <p15:guide id="1" orient="horz" pos="10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ig Title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450166"/>
            <a:ext cx="11227308" cy="1645920"/>
          </a:xfrm>
        </p:spPr>
        <p:txBody>
          <a:bodyPr/>
          <a:lstStyle>
            <a:lvl1pPr>
              <a:lnSpc>
                <a:spcPct val="85000"/>
              </a:lnSpc>
              <a:defRPr sz="6000"/>
            </a:lvl1pPr>
          </a:lstStyle>
          <a:p>
            <a:r>
              <a:rPr lang="en-US" dirty="0"/>
              <a:t>Big Title Text</a:t>
            </a:r>
          </a:p>
        </p:txBody>
      </p:sp>
      <p:sp>
        <p:nvSpPr>
          <p:cNvPr id="3" name="Content Placeholder 2"/>
          <p:cNvSpPr>
            <a:spLocks noGrp="1"/>
          </p:cNvSpPr>
          <p:nvPr>
            <p:ph idx="1"/>
          </p:nvPr>
        </p:nvSpPr>
        <p:spPr>
          <a:xfrm>
            <a:off x="495300" y="2327510"/>
            <a:ext cx="11227308" cy="3749040"/>
          </a:xfrm>
        </p:spPr>
        <p:txBody>
          <a:bodyPr/>
          <a:lstStyle>
            <a:lvl1pPr>
              <a:defRPr sz="3000">
                <a:solidFill>
                  <a:schemeClr val="accent3"/>
                </a:solidFill>
              </a:defRPr>
            </a:lvl1pPr>
            <a:lvl2pPr>
              <a:defRPr>
                <a:solidFill>
                  <a:schemeClr val="tx1"/>
                </a:solidFill>
              </a:defRPr>
            </a:lvl2pPr>
            <a:lvl3pPr>
              <a:defRPr>
                <a:solidFill>
                  <a:schemeClr val="tx1"/>
                </a:solidFill>
              </a:defRPr>
            </a:lvl3pPr>
            <a:lvl4pPr>
              <a:defRPr sz="1600">
                <a:solidFill>
                  <a:schemeClr val="tx1"/>
                </a:solidFill>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10"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7"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699D1762-3622-4503-8C65-5AB6A7AEF410}" type="datetime3">
              <a:rPr lang="en-US" smtClean="0"/>
              <a:t>7 March 2017</a:t>
            </a:fld>
            <a:endParaRPr lang="en-CA" dirty="0"/>
          </a:p>
        </p:txBody>
      </p:sp>
      <p:sp>
        <p:nvSpPr>
          <p:cNvPr id="8" name="Footer Placeholder 7"/>
          <p:cNvSpPr>
            <a:spLocks noGrp="1"/>
          </p:cNvSpPr>
          <p:nvPr>
            <p:ph type="ftr" sz="quarter" idx="3"/>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1921566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wo Statements">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auto">
          <a:xfrm>
            <a:off x="495300" y="458076"/>
            <a:ext cx="5655243" cy="5614416"/>
          </a:xfrm>
        </p:spPr>
        <p:txBody>
          <a:bodyPr anchor="t" anchorCtr="0"/>
          <a:lstStyle>
            <a:lvl1pPr>
              <a:lnSpc>
                <a:spcPct val="90000"/>
              </a:lnSpc>
              <a:defRPr sz="4400">
                <a:solidFill>
                  <a:schemeClr val="tx1"/>
                </a:solidFill>
              </a:defRPr>
            </a:lvl1pPr>
          </a:lstStyle>
          <a:p>
            <a:r>
              <a:rPr lang="en-US" dirty="0"/>
              <a:t>Two Statements</a:t>
            </a:r>
          </a:p>
        </p:txBody>
      </p:sp>
      <p:sp>
        <p:nvSpPr>
          <p:cNvPr id="3" name="Subtitle 2"/>
          <p:cNvSpPr>
            <a:spLocks noGrp="1"/>
          </p:cNvSpPr>
          <p:nvPr>
            <p:ph type="subTitle" idx="1" hasCustomPrompt="1"/>
          </p:nvPr>
        </p:nvSpPr>
        <p:spPr bwMode="invGray">
          <a:xfrm>
            <a:off x="6478290" y="458076"/>
            <a:ext cx="5222378" cy="5614416"/>
          </a:xfrm>
        </p:spPr>
        <p:txBody>
          <a:bodyPr/>
          <a:lstStyle>
            <a:lvl1pPr marL="0" indent="0" algn="l">
              <a:lnSpc>
                <a:spcPct val="100000"/>
              </a:lnSpc>
              <a:buNone/>
              <a:defRPr sz="2000" baseline="0">
                <a:solidFill>
                  <a:schemeClr val="accent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Additional statement goes here</a:t>
            </a:r>
          </a:p>
        </p:txBody>
      </p:sp>
      <p:sp>
        <p:nvSpPr>
          <p:cNvPr id="4" name="Date Placeholder 3"/>
          <p:cNvSpPr>
            <a:spLocks noGrp="1"/>
          </p:cNvSpPr>
          <p:nvPr>
            <p:ph type="dt" sz="half" idx="10"/>
          </p:nvPr>
        </p:nvSpPr>
        <p:spPr/>
        <p:txBody>
          <a:bodyPr/>
          <a:lstStyle/>
          <a:p>
            <a:fld id="{4563F50C-5FC8-429A-B9D3-66DAEB132253}" type="datetime3">
              <a:rPr lang="en-US" smtClean="0"/>
              <a:t>7 March 2017</a:t>
            </a:fld>
            <a:endParaRPr lang="en-CA" dirty="0"/>
          </a:p>
        </p:txBody>
      </p:sp>
      <p:sp>
        <p:nvSpPr>
          <p:cNvPr id="5" name="Footer Placeholder 4"/>
          <p:cNvSpPr>
            <a:spLocks noGrp="1"/>
          </p:cNvSpPr>
          <p:nvPr>
            <p:ph type="ftr" sz="quarter" idx="11"/>
          </p:nvPr>
        </p:nvSpPr>
        <p:spPr>
          <a:xfrm>
            <a:off x="1269205" y="6432462"/>
            <a:ext cx="3229587" cy="182880"/>
          </a:xfrm>
          <a:prstGeom prst="rect">
            <a:avLst/>
          </a:prstGeom>
        </p:spPr>
        <p:txBody>
          <a:bodyPr/>
          <a:lstStyle/>
          <a:p>
            <a:r>
              <a:rPr lang="en-US"/>
              <a:t>Edit Presentation Title in [Insert Tab &gt; Header &amp; Footer]   |</a:t>
            </a:r>
            <a:endParaRPr lang="en-US" dirty="0"/>
          </a:p>
        </p:txBody>
      </p:sp>
      <p:sp>
        <p:nvSpPr>
          <p:cNvPr id="7" name="Slide Number Placeholder 6"/>
          <p:cNvSpPr>
            <a:spLocks noGrp="1"/>
          </p:cNvSpPr>
          <p:nvPr>
            <p:ph type="sldNum" sz="quarter" idx="12"/>
          </p:nvPr>
        </p:nvSpPr>
        <p:spPr/>
        <p:txBody>
          <a:bodyPr/>
          <a:lstStyle/>
          <a:p>
            <a:fld id="{00E6A5BD-C011-4A45-AA3A-201790FB7F2B}" type="slidenum">
              <a:rPr lang="en-CA" smtClean="0"/>
              <a:pPr/>
              <a:t>‹#›</a:t>
            </a:fld>
            <a:endParaRPr lang="en-CA" dirty="0"/>
          </a:p>
        </p:txBody>
      </p:sp>
    </p:spTree>
    <p:extLst>
      <p:ext uri="{BB962C8B-B14F-4D97-AF65-F5344CB8AC3E}">
        <p14:creationId xmlns:p14="http://schemas.microsoft.com/office/powerpoint/2010/main" val="23024282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alf Text - Half Imag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451415" y="1930688"/>
            <a:ext cx="5245285" cy="4165312"/>
          </a:xfrm>
        </p:spPr>
        <p:txBody>
          <a:bodyPr vert="horz" lIns="0" tIns="0" rIns="0" bIns="0" rtlCol="0">
            <a:noAutofit/>
          </a:bodyPr>
          <a:lstStyle>
            <a:lvl1pPr>
              <a:defRPr lang="en-US" sz="2800" dirty="0" smtClean="0">
                <a:solidFill>
                  <a:schemeClr val="accent3"/>
                </a:solidFill>
              </a:defRPr>
            </a:lvl1pPr>
            <a:lvl2pPr>
              <a:defRPr lang="en-US" sz="2400" dirty="0" smtClean="0"/>
            </a:lvl2pPr>
            <a:lvl3pPr>
              <a:defRPr lang="en-US" sz="2000" dirty="0" smtClean="0"/>
            </a:lvl3pPr>
            <a:lvl4pPr marL="658368" indent="-146304">
              <a:defRPr lang="en-US" sz="1600" dirty="0" smtClean="0"/>
            </a:lvl4pPr>
          </a:lstStyle>
          <a:p>
            <a:pPr lvl="0">
              <a:spcBef>
                <a:spcPts val="1000"/>
              </a:spcBef>
            </a:pPr>
            <a:r>
              <a:rPr lang="en-US"/>
              <a:t>Edit Master text styles</a:t>
            </a:r>
          </a:p>
          <a:p>
            <a:pPr lvl="1">
              <a:spcBef>
                <a:spcPts val="1000"/>
              </a:spcBef>
            </a:pPr>
            <a:r>
              <a:rPr lang="en-US"/>
              <a:t>Second level</a:t>
            </a:r>
          </a:p>
          <a:p>
            <a:pPr lvl="2">
              <a:spcBef>
                <a:spcPts val="1000"/>
              </a:spcBef>
            </a:pPr>
            <a:r>
              <a:rPr lang="en-US"/>
              <a:t>Third level</a:t>
            </a:r>
          </a:p>
          <a:p>
            <a:pPr lvl="3">
              <a:spcBef>
                <a:spcPts val="1000"/>
              </a:spcBef>
            </a:pPr>
            <a:r>
              <a:rPr lang="en-US"/>
              <a:t>Fourth level</a:t>
            </a:r>
          </a:p>
        </p:txBody>
      </p:sp>
      <p:sp>
        <p:nvSpPr>
          <p:cNvPr id="11" name="Picture Placeholder 10"/>
          <p:cNvSpPr>
            <a:spLocks noGrp="1"/>
          </p:cNvSpPr>
          <p:nvPr>
            <p:ph type="pic" sz="quarter" idx="13" hasCustomPrompt="1"/>
          </p:nvPr>
        </p:nvSpPr>
        <p:spPr>
          <a:xfrm>
            <a:off x="495300" y="1930688"/>
            <a:ext cx="5220727" cy="4149582"/>
          </a:xfrm>
          <a:solidFill>
            <a:schemeClr val="bg1">
              <a:lumMod val="95000"/>
            </a:schemeClr>
          </a:solidFill>
        </p:spPr>
        <p:txBody>
          <a:bodyPr anchor="ctr"/>
          <a:lstStyle>
            <a:lvl1pPr algn="ctr">
              <a:defRPr/>
            </a:lvl1pPr>
          </a:lstStyle>
          <a:p>
            <a:r>
              <a:rPr lang="en-US" dirty="0"/>
              <a:t>Click to add image</a:t>
            </a:r>
          </a:p>
        </p:txBody>
      </p:sp>
      <p:sp>
        <p:nvSpPr>
          <p:cNvPr id="9" name="Text Placeholder 2"/>
          <p:cNvSpPr>
            <a:spLocks noGrp="1"/>
          </p:cNvSpPr>
          <p:nvPr>
            <p:ph type="body" idx="14" hasCustomPrompt="1"/>
          </p:nvPr>
        </p:nvSpPr>
        <p:spPr>
          <a:xfrm>
            <a:off x="494170" y="1621671"/>
            <a:ext cx="5221858" cy="233910"/>
          </a:xfrm>
        </p:spPr>
        <p:txBody>
          <a:bodyPr vert="horz" wrap="square" lIns="0" tIns="0" rIns="0" bIns="0" rtlCol="0" anchor="b" anchorCtr="0">
            <a:spAutoFit/>
          </a:bodyPr>
          <a:lstStyle>
            <a:lvl1pPr>
              <a:defRPr lang="en-US" sz="1600" b="1" dirty="0" smtClean="0">
                <a:solidFill>
                  <a:schemeClr val="accent3"/>
                </a:solidFill>
              </a:defRPr>
            </a:lvl1pPr>
          </a:lstStyle>
          <a:p>
            <a:pPr lvl="0"/>
            <a:r>
              <a:rPr lang="en-US" dirty="0"/>
              <a:t>Optional Subtitle</a:t>
            </a:r>
          </a:p>
        </p:txBody>
      </p:sp>
      <p:sp>
        <p:nvSpPr>
          <p:cNvPr id="4" name="Title 3"/>
          <p:cNvSpPr>
            <a:spLocks noGrp="1"/>
          </p:cNvSpPr>
          <p:nvPr>
            <p:ph type="title" hasCustomPrompt="1"/>
          </p:nvPr>
        </p:nvSpPr>
        <p:spPr/>
        <p:txBody>
          <a:bodyPr/>
          <a:lstStyle>
            <a:lvl1pPr>
              <a:defRPr/>
            </a:lvl1pPr>
          </a:lstStyle>
          <a:p>
            <a:r>
              <a:rPr lang="en-US" dirty="0"/>
              <a:t>Half Text – Half Image</a:t>
            </a:r>
          </a:p>
        </p:txBody>
      </p:sp>
      <p:sp>
        <p:nvSpPr>
          <p:cNvPr id="15"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10"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F60A14E7-5E3F-4827-8AFA-4CC9C146A28B}" type="datetime3">
              <a:rPr lang="en-US" smtClean="0"/>
              <a:t>7 March 2017</a:t>
            </a:fld>
            <a:endParaRPr lang="en-CA" dirty="0"/>
          </a:p>
        </p:txBody>
      </p:sp>
      <p:sp>
        <p:nvSpPr>
          <p:cNvPr id="12" name="Footer Placeholder 7"/>
          <p:cNvSpPr>
            <a:spLocks noGrp="1"/>
          </p:cNvSpPr>
          <p:nvPr>
            <p:ph type="ftr" sz="quarter" idx="3"/>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38258189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w/ Title &amp; Footer">
    <p:spTree>
      <p:nvGrpSpPr>
        <p:cNvPr id="1" name=""/>
        <p:cNvGrpSpPr/>
        <p:nvPr/>
      </p:nvGrpSpPr>
      <p:grpSpPr>
        <a:xfrm>
          <a:off x="0" y="0"/>
          <a:ext cx="0" cy="0"/>
          <a:chOff x="0" y="0"/>
          <a:chExt cx="0" cy="0"/>
        </a:xfrm>
      </p:grpSpPr>
      <p:sp>
        <p:nvSpPr>
          <p:cNvPr id="11" name="Picture Placeholder 10"/>
          <p:cNvSpPr>
            <a:spLocks noGrp="1"/>
          </p:cNvSpPr>
          <p:nvPr>
            <p:ph type="pic" sz="quarter" idx="13" hasCustomPrompt="1"/>
          </p:nvPr>
        </p:nvSpPr>
        <p:spPr>
          <a:xfrm>
            <a:off x="495300" y="1929382"/>
            <a:ext cx="11201400" cy="4166617"/>
          </a:xfrm>
          <a:solidFill>
            <a:schemeClr val="bg1">
              <a:lumMod val="95000"/>
            </a:schemeClr>
          </a:solidFill>
        </p:spPr>
        <p:txBody>
          <a:bodyPr anchor="ctr"/>
          <a:lstStyle>
            <a:lvl1pPr algn="ctr">
              <a:defRPr/>
            </a:lvl1pPr>
          </a:lstStyle>
          <a:p>
            <a:r>
              <a:rPr lang="en-US" dirty="0"/>
              <a:t>Click to add image</a:t>
            </a:r>
          </a:p>
        </p:txBody>
      </p:sp>
      <p:sp>
        <p:nvSpPr>
          <p:cNvPr id="9" name="Text Placeholder 8"/>
          <p:cNvSpPr>
            <a:spLocks noGrp="1"/>
          </p:cNvSpPr>
          <p:nvPr>
            <p:ph type="body" sz="quarter" idx="14" hasCustomPrompt="1"/>
          </p:nvPr>
        </p:nvSpPr>
        <p:spPr bwMode="gray">
          <a:xfrm>
            <a:off x="712381" y="2362364"/>
            <a:ext cx="10781414" cy="1395412"/>
          </a:xfrm>
        </p:spPr>
        <p:txBody>
          <a:bodyPr/>
          <a:lstStyle>
            <a:lvl1pPr>
              <a:defRPr sz="3200" baseline="0"/>
            </a:lvl1pPr>
          </a:lstStyle>
          <a:p>
            <a:pPr lvl="0"/>
            <a:r>
              <a:rPr lang="en-US" dirty="0"/>
              <a:t>Click to add text over image. White or gray only. 32pt flexible positioning. Delete if not needed.</a:t>
            </a:r>
          </a:p>
        </p:txBody>
      </p:sp>
      <p:sp>
        <p:nvSpPr>
          <p:cNvPr id="3" name="Date Placeholder 2"/>
          <p:cNvSpPr>
            <a:spLocks noGrp="1"/>
          </p:cNvSpPr>
          <p:nvPr>
            <p:ph type="dt" sz="half" idx="15"/>
          </p:nvPr>
        </p:nvSpPr>
        <p:spPr/>
        <p:txBody>
          <a:bodyPr/>
          <a:lstStyle/>
          <a:p>
            <a:fld id="{A3210D2F-23E7-47FB-A51E-57FFCE3AD629}" type="datetime3">
              <a:rPr lang="en-US" smtClean="0"/>
              <a:t>7 March 2017</a:t>
            </a:fld>
            <a:endParaRPr lang="en-CA" dirty="0"/>
          </a:p>
        </p:txBody>
      </p:sp>
      <p:sp>
        <p:nvSpPr>
          <p:cNvPr id="4" name="Footer Placeholder 3"/>
          <p:cNvSpPr>
            <a:spLocks noGrp="1"/>
          </p:cNvSpPr>
          <p:nvPr>
            <p:ph type="ftr" sz="quarter" idx="16"/>
          </p:nvPr>
        </p:nvSpPr>
        <p:spPr>
          <a:xfrm>
            <a:off x="1269205" y="6432462"/>
            <a:ext cx="3229587" cy="182880"/>
          </a:xfrm>
          <a:prstGeom prst="rect">
            <a:avLst/>
          </a:prstGeom>
        </p:spPr>
        <p:txBody>
          <a:bodyPr/>
          <a:lstStyle/>
          <a:p>
            <a:r>
              <a:rPr lang="en-US"/>
              <a:t>Edit Presentation Title in [Insert Tab &gt; Header &amp; Footer]   |</a:t>
            </a:r>
            <a:endParaRPr lang="en-US" dirty="0"/>
          </a:p>
        </p:txBody>
      </p:sp>
      <p:sp>
        <p:nvSpPr>
          <p:cNvPr id="5" name="Slide Number Placeholder 4"/>
          <p:cNvSpPr>
            <a:spLocks noGrp="1"/>
          </p:cNvSpPr>
          <p:nvPr>
            <p:ph type="sldNum" sz="quarter" idx="17"/>
          </p:nvPr>
        </p:nvSpPr>
        <p:spPr/>
        <p:txBody>
          <a:bodyPr/>
          <a:lstStyle/>
          <a:p>
            <a:fld id="{00E6A5BD-C011-4A45-AA3A-201790FB7F2B}" type="slidenum">
              <a:rPr lang="en-CA" smtClean="0"/>
              <a:pPr/>
              <a:t>‹#›</a:t>
            </a:fld>
            <a:endParaRPr lang="en-CA" dirty="0"/>
          </a:p>
        </p:txBody>
      </p:sp>
      <p:sp>
        <p:nvSpPr>
          <p:cNvPr id="6" name="Title 5"/>
          <p:cNvSpPr>
            <a:spLocks noGrp="1"/>
          </p:cNvSpPr>
          <p:nvPr>
            <p:ph type="title" hasCustomPrompt="1"/>
          </p:nvPr>
        </p:nvSpPr>
        <p:spPr>
          <a:xfrm>
            <a:off x="495300" y="510063"/>
            <a:ext cx="11201400" cy="914400"/>
          </a:xfrm>
        </p:spPr>
        <p:txBody>
          <a:bodyPr/>
          <a:lstStyle>
            <a:lvl1pPr>
              <a:defRPr/>
            </a:lvl1pPr>
          </a:lstStyle>
          <a:p>
            <a:r>
              <a:rPr lang="en-US" dirty="0"/>
              <a:t>Image w/ Title and Footer</a:t>
            </a:r>
          </a:p>
        </p:txBody>
      </p:sp>
      <p:sp>
        <p:nvSpPr>
          <p:cNvPr id="8" name="Text Placeholder 2"/>
          <p:cNvSpPr>
            <a:spLocks noGrp="1"/>
          </p:cNvSpPr>
          <p:nvPr>
            <p:ph type="body" idx="18" hasCustomPrompt="1"/>
          </p:nvPr>
        </p:nvSpPr>
        <p:spPr>
          <a:xfrm>
            <a:off x="495300" y="1621673"/>
            <a:ext cx="4966221" cy="233910"/>
          </a:xfrm>
        </p:spPr>
        <p:txBody>
          <a:bodyPr vert="horz" wrap="square" lIns="0" tIns="0" rIns="0" bIns="0" rtlCol="0" anchor="b" anchorCtr="0">
            <a:spAutoFit/>
          </a:bodyPr>
          <a:lstStyle>
            <a:lvl1pPr>
              <a:defRPr lang="en-US" sz="1600" b="1" dirty="0" smtClean="0">
                <a:solidFill>
                  <a:schemeClr val="accent3"/>
                </a:solidFill>
              </a:defRPr>
            </a:lvl1pPr>
          </a:lstStyle>
          <a:p>
            <a:pPr lvl="0"/>
            <a:r>
              <a:rPr lang="en-US" dirty="0"/>
              <a:t>Optional Subtitle</a:t>
            </a:r>
          </a:p>
        </p:txBody>
      </p:sp>
    </p:spTree>
    <p:extLst>
      <p:ext uri="{BB962C8B-B14F-4D97-AF65-F5344CB8AC3E}">
        <p14:creationId xmlns:p14="http://schemas.microsoft.com/office/powerpoint/2010/main" val="28102318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adra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10063"/>
            <a:ext cx="11201400" cy="914400"/>
          </a:xfrm>
        </p:spPr>
        <p:txBody>
          <a:bodyPr/>
          <a:lstStyle>
            <a:lvl1pPr>
              <a:defRPr/>
            </a:lvl1pPr>
          </a:lstStyle>
          <a:p>
            <a:r>
              <a:rPr lang="en-US" dirty="0"/>
              <a:t>Quadrant</a:t>
            </a:r>
          </a:p>
        </p:txBody>
      </p:sp>
      <p:sp>
        <p:nvSpPr>
          <p:cNvPr id="12" name="Content Placeholder 2"/>
          <p:cNvSpPr>
            <a:spLocks noGrp="1"/>
          </p:cNvSpPr>
          <p:nvPr>
            <p:ph sz="half" idx="13"/>
          </p:nvPr>
        </p:nvSpPr>
        <p:spPr>
          <a:xfrm>
            <a:off x="6174068" y="1666276"/>
            <a:ext cx="5522632" cy="2084832"/>
          </a:xfrm>
          <a:solidFill>
            <a:schemeClr val="accent3"/>
          </a:solidFill>
        </p:spPr>
        <p:txBody>
          <a:bodyPr lIns="182880" tIns="137160" rIns="182880"/>
          <a:lstStyle>
            <a:lvl1pPr marL="176213" indent="-176213">
              <a:lnSpc>
                <a:spcPct val="95000"/>
              </a:lnSpc>
              <a:spcBef>
                <a:spcPts val="600"/>
              </a:spcBef>
              <a:spcAft>
                <a:spcPts val="200"/>
              </a:spcAft>
              <a:defRPr lang="en-US" sz="2000" dirty="0" smtClean="0">
                <a:solidFill>
                  <a:schemeClr val="bg1"/>
                </a:solidFill>
              </a:defRPr>
            </a:lvl1pPr>
            <a:lvl2pPr marL="176213" indent="-176213">
              <a:lnSpc>
                <a:spcPct val="95000"/>
              </a:lnSpc>
              <a:spcBef>
                <a:spcPts val="1000"/>
              </a:spcBef>
              <a:defRPr lang="en-US" sz="1600" kern="1200" dirty="0">
                <a:solidFill>
                  <a:schemeClr val="bg1"/>
                </a:solidFill>
                <a:latin typeface="+mn-lt"/>
                <a:ea typeface="+mn-ea"/>
                <a:cs typeface="+mn-cs"/>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p:txBody>
      </p:sp>
      <p:sp>
        <p:nvSpPr>
          <p:cNvPr id="13" name="Content Placeholder 2"/>
          <p:cNvSpPr>
            <a:spLocks noGrp="1"/>
          </p:cNvSpPr>
          <p:nvPr>
            <p:ph sz="half" idx="14"/>
          </p:nvPr>
        </p:nvSpPr>
        <p:spPr>
          <a:xfrm>
            <a:off x="495300" y="3932342"/>
            <a:ext cx="5495093" cy="2084832"/>
          </a:xfrm>
          <a:solidFill>
            <a:schemeClr val="accent3"/>
          </a:solidFill>
        </p:spPr>
        <p:txBody>
          <a:bodyPr lIns="182880" tIns="137160" rIns="182880"/>
          <a:lstStyle>
            <a:lvl1pPr marL="176213" indent="-176213">
              <a:lnSpc>
                <a:spcPct val="95000"/>
              </a:lnSpc>
              <a:spcBef>
                <a:spcPts val="600"/>
              </a:spcBef>
              <a:spcAft>
                <a:spcPts val="200"/>
              </a:spcAft>
              <a:defRPr lang="en-US" sz="2000" dirty="0" smtClean="0">
                <a:solidFill>
                  <a:schemeClr val="bg1"/>
                </a:solidFill>
              </a:defRPr>
            </a:lvl1pPr>
            <a:lvl2pPr marL="176213" indent="-176213">
              <a:lnSpc>
                <a:spcPct val="95000"/>
              </a:lnSpc>
              <a:spcBef>
                <a:spcPts val="1000"/>
              </a:spcBef>
              <a:defRPr lang="en-US" sz="16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p:txBody>
      </p:sp>
      <p:sp>
        <p:nvSpPr>
          <p:cNvPr id="14" name="Content Placeholder 2"/>
          <p:cNvSpPr>
            <a:spLocks noGrp="1"/>
          </p:cNvSpPr>
          <p:nvPr>
            <p:ph sz="half" idx="15"/>
          </p:nvPr>
        </p:nvSpPr>
        <p:spPr>
          <a:xfrm>
            <a:off x="6174068" y="3932342"/>
            <a:ext cx="5522632" cy="2084832"/>
          </a:xfrm>
          <a:solidFill>
            <a:schemeClr val="accent3"/>
          </a:solidFill>
        </p:spPr>
        <p:txBody>
          <a:bodyPr lIns="182880" tIns="137160" rIns="182880"/>
          <a:lstStyle>
            <a:lvl1pPr marL="176213" indent="-176213">
              <a:lnSpc>
                <a:spcPct val="95000"/>
              </a:lnSpc>
              <a:spcBef>
                <a:spcPts val="600"/>
              </a:spcBef>
              <a:spcAft>
                <a:spcPts val="200"/>
              </a:spcAft>
              <a:defRPr lang="en-US" sz="2000" dirty="0" smtClean="0">
                <a:solidFill>
                  <a:schemeClr val="bg1"/>
                </a:solidFill>
              </a:defRPr>
            </a:lvl1pPr>
            <a:lvl2pPr marL="176213" indent="-176213">
              <a:lnSpc>
                <a:spcPct val="95000"/>
              </a:lnSpc>
              <a:spcBef>
                <a:spcPts val="1000"/>
              </a:spcBef>
              <a:defRPr lang="en-US" sz="1600" kern="1200" dirty="0">
                <a:solidFill>
                  <a:schemeClr val="bg1"/>
                </a:solidFill>
                <a:latin typeface="+mn-lt"/>
                <a:ea typeface="+mn-ea"/>
                <a:cs typeface="+mn-cs"/>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p:txBody>
      </p:sp>
      <p:sp>
        <p:nvSpPr>
          <p:cNvPr id="17"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10" name="Content Placeholder 2"/>
          <p:cNvSpPr>
            <a:spLocks noGrp="1"/>
          </p:cNvSpPr>
          <p:nvPr>
            <p:ph sz="half" idx="16"/>
          </p:nvPr>
        </p:nvSpPr>
        <p:spPr>
          <a:xfrm>
            <a:off x="495300" y="1666276"/>
            <a:ext cx="5495093" cy="2084832"/>
          </a:xfrm>
          <a:solidFill>
            <a:schemeClr val="accent3"/>
          </a:solidFill>
        </p:spPr>
        <p:txBody>
          <a:bodyPr lIns="182880" tIns="137160" rIns="182880"/>
          <a:lstStyle>
            <a:lvl1pPr marL="176213" indent="-176213">
              <a:lnSpc>
                <a:spcPct val="95000"/>
              </a:lnSpc>
              <a:spcBef>
                <a:spcPts val="600"/>
              </a:spcBef>
              <a:spcAft>
                <a:spcPts val="200"/>
              </a:spcAft>
              <a:defRPr lang="en-US" sz="2000" dirty="0" smtClean="0">
                <a:solidFill>
                  <a:schemeClr val="bg1"/>
                </a:solidFill>
              </a:defRPr>
            </a:lvl1pPr>
            <a:lvl2pPr marL="176213" indent="-176213">
              <a:lnSpc>
                <a:spcPct val="95000"/>
              </a:lnSpc>
              <a:spcBef>
                <a:spcPts val="1000"/>
              </a:spcBef>
              <a:defRPr lang="en-US" sz="16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p:txBody>
      </p:sp>
      <p:sp>
        <p:nvSpPr>
          <p:cNvPr id="11"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5ED10DDD-EB12-456A-81FF-20BDB0226612}" type="datetime3">
              <a:rPr lang="en-US" smtClean="0"/>
              <a:t>7 March 2017</a:t>
            </a:fld>
            <a:endParaRPr lang="en-CA" dirty="0"/>
          </a:p>
        </p:txBody>
      </p:sp>
      <p:sp>
        <p:nvSpPr>
          <p:cNvPr id="15" name="Footer Placeholder 7"/>
          <p:cNvSpPr>
            <a:spLocks noGrp="1"/>
          </p:cNvSpPr>
          <p:nvPr>
            <p:ph type="ftr" sz="quarter" idx="3"/>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22305642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ertical Quadra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5300" y="510063"/>
            <a:ext cx="11201400" cy="914400"/>
          </a:xfrm>
        </p:spPr>
        <p:txBody>
          <a:bodyPr/>
          <a:lstStyle>
            <a:lvl1pPr>
              <a:defRPr/>
            </a:lvl1pPr>
          </a:lstStyle>
          <a:p>
            <a:r>
              <a:rPr lang="en-US" dirty="0"/>
              <a:t>Vertical Quadrant</a:t>
            </a:r>
          </a:p>
        </p:txBody>
      </p:sp>
      <p:sp>
        <p:nvSpPr>
          <p:cNvPr id="3" name="Content Placeholder 2"/>
          <p:cNvSpPr>
            <a:spLocks noGrp="1"/>
          </p:cNvSpPr>
          <p:nvPr>
            <p:ph sz="half" idx="1"/>
          </p:nvPr>
        </p:nvSpPr>
        <p:spPr>
          <a:xfrm>
            <a:off x="495300" y="1666174"/>
            <a:ext cx="2688488" cy="4429825"/>
          </a:xfrm>
          <a:solidFill>
            <a:schemeClr val="accent3"/>
          </a:solidFill>
        </p:spPr>
        <p:txBody>
          <a:bodyPr lIns="182880" tIns="137160" rIns="182880"/>
          <a:lstStyle>
            <a:lvl1pPr marL="1588" indent="0">
              <a:lnSpc>
                <a:spcPct val="95000"/>
              </a:lnSpc>
              <a:spcBef>
                <a:spcPts val="600"/>
              </a:spcBef>
              <a:spcAft>
                <a:spcPts val="200"/>
              </a:spcAft>
              <a:defRPr lang="en-US" sz="1800" dirty="0" smtClean="0">
                <a:solidFill>
                  <a:schemeClr val="bg1"/>
                </a:solidFill>
              </a:defRPr>
            </a:lvl1pPr>
            <a:lvl2pPr marL="1588" indent="0">
              <a:lnSpc>
                <a:spcPct val="95000"/>
              </a:lnSpc>
              <a:spcBef>
                <a:spcPts val="1000"/>
              </a:spcBef>
              <a:buNone/>
              <a:defRPr lang="en-US" sz="14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p:txBody>
      </p:sp>
      <p:sp>
        <p:nvSpPr>
          <p:cNvPr id="16" name="Content Placeholder 2"/>
          <p:cNvSpPr>
            <a:spLocks noGrp="1"/>
          </p:cNvSpPr>
          <p:nvPr>
            <p:ph sz="half" idx="13"/>
          </p:nvPr>
        </p:nvSpPr>
        <p:spPr>
          <a:xfrm>
            <a:off x="3332937" y="1666174"/>
            <a:ext cx="2688488" cy="4429825"/>
          </a:xfrm>
          <a:solidFill>
            <a:schemeClr val="accent3"/>
          </a:solidFill>
        </p:spPr>
        <p:txBody>
          <a:bodyPr lIns="182880" tIns="137160" rIns="182880"/>
          <a:lstStyle>
            <a:lvl1pPr marL="1588" indent="0">
              <a:lnSpc>
                <a:spcPct val="95000"/>
              </a:lnSpc>
              <a:spcBef>
                <a:spcPts val="600"/>
              </a:spcBef>
              <a:spcAft>
                <a:spcPts val="200"/>
              </a:spcAft>
              <a:defRPr lang="en-US" sz="1800" dirty="0" smtClean="0">
                <a:solidFill>
                  <a:schemeClr val="bg1"/>
                </a:solidFill>
              </a:defRPr>
            </a:lvl1pPr>
            <a:lvl2pPr marL="1588" indent="0">
              <a:lnSpc>
                <a:spcPct val="95000"/>
              </a:lnSpc>
              <a:spcBef>
                <a:spcPts val="1000"/>
              </a:spcBef>
              <a:buNone/>
              <a:defRPr lang="en-US" sz="14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p:txBody>
      </p:sp>
      <p:sp>
        <p:nvSpPr>
          <p:cNvPr id="20" name="Content Placeholder 2"/>
          <p:cNvSpPr>
            <a:spLocks noGrp="1"/>
          </p:cNvSpPr>
          <p:nvPr>
            <p:ph sz="half" idx="14"/>
          </p:nvPr>
        </p:nvSpPr>
        <p:spPr>
          <a:xfrm>
            <a:off x="6170574" y="1666174"/>
            <a:ext cx="2688488" cy="4429825"/>
          </a:xfrm>
          <a:solidFill>
            <a:schemeClr val="accent3"/>
          </a:solidFill>
        </p:spPr>
        <p:txBody>
          <a:bodyPr lIns="182880" tIns="137160" rIns="182880"/>
          <a:lstStyle>
            <a:lvl1pPr marL="1588" indent="0">
              <a:lnSpc>
                <a:spcPct val="95000"/>
              </a:lnSpc>
              <a:spcBef>
                <a:spcPts val="600"/>
              </a:spcBef>
              <a:spcAft>
                <a:spcPts val="200"/>
              </a:spcAft>
              <a:defRPr lang="en-US" sz="1800" dirty="0" smtClean="0">
                <a:solidFill>
                  <a:schemeClr val="bg1"/>
                </a:solidFill>
              </a:defRPr>
            </a:lvl1pPr>
            <a:lvl2pPr marL="1588" indent="0">
              <a:lnSpc>
                <a:spcPct val="95000"/>
              </a:lnSpc>
              <a:spcBef>
                <a:spcPts val="1000"/>
              </a:spcBef>
              <a:buNone/>
              <a:defRPr lang="en-US" sz="14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p:txBody>
      </p:sp>
      <p:sp>
        <p:nvSpPr>
          <p:cNvPr id="22" name="Content Placeholder 2"/>
          <p:cNvSpPr>
            <a:spLocks noGrp="1"/>
          </p:cNvSpPr>
          <p:nvPr>
            <p:ph sz="half" idx="15"/>
          </p:nvPr>
        </p:nvSpPr>
        <p:spPr>
          <a:xfrm>
            <a:off x="9008212" y="1666174"/>
            <a:ext cx="2688488" cy="4429825"/>
          </a:xfrm>
          <a:solidFill>
            <a:schemeClr val="accent3"/>
          </a:solidFill>
        </p:spPr>
        <p:txBody>
          <a:bodyPr lIns="182880" tIns="137160" rIns="182880"/>
          <a:lstStyle>
            <a:lvl1pPr marL="1588" indent="0">
              <a:lnSpc>
                <a:spcPct val="95000"/>
              </a:lnSpc>
              <a:spcBef>
                <a:spcPts val="600"/>
              </a:spcBef>
              <a:spcAft>
                <a:spcPts val="200"/>
              </a:spcAft>
              <a:defRPr lang="en-US" sz="1800" dirty="0" smtClean="0">
                <a:solidFill>
                  <a:schemeClr val="bg1"/>
                </a:solidFill>
              </a:defRPr>
            </a:lvl1pPr>
            <a:lvl2pPr marL="1588" indent="0">
              <a:lnSpc>
                <a:spcPct val="95000"/>
              </a:lnSpc>
              <a:spcBef>
                <a:spcPts val="1000"/>
              </a:spcBef>
              <a:buNone/>
              <a:defRPr lang="en-US" sz="1400" dirty="0" smtClean="0">
                <a:solidFill>
                  <a:schemeClr val="bg1"/>
                </a:solidFill>
              </a:defRPr>
            </a:lvl2pPr>
            <a:lvl3pPr marL="165100" indent="-165100">
              <a:defRPr lang="en-US" sz="1400" dirty="0" smtClean="0"/>
            </a:lvl3pPr>
            <a:lvl4pPr marL="311150" indent="-130175">
              <a:defRPr lang="en-US" sz="1400" dirty="0" smtClean="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p:txBody>
      </p:sp>
      <p:sp>
        <p:nvSpPr>
          <p:cNvPr id="11"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12"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E837E669-FD2A-476A-9A48-83D833BD5A19}" type="datetime3">
              <a:rPr lang="en-US" smtClean="0"/>
              <a:t>7 March 2017</a:t>
            </a:fld>
            <a:endParaRPr lang="en-CA" dirty="0"/>
          </a:p>
        </p:txBody>
      </p:sp>
      <p:sp>
        <p:nvSpPr>
          <p:cNvPr id="13" name="Footer Placeholder 7"/>
          <p:cNvSpPr>
            <a:spLocks noGrp="1"/>
          </p:cNvSpPr>
          <p:nvPr>
            <p:ph type="ftr" sz="quarter" idx="3"/>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14691044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adrant 2">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95300" y="1665293"/>
            <a:ext cx="5398744" cy="411480"/>
          </a:xfrm>
          <a:solidFill>
            <a:schemeClr val="accent3"/>
          </a:solidFill>
        </p:spPr>
        <p:txBody>
          <a:bodyPr lIns="0" rIns="0" bIns="0" anchor="ctr"/>
          <a:lstStyle>
            <a:lvl1pPr marL="173038" indent="0">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59758" y="2201006"/>
            <a:ext cx="4892646" cy="1536192"/>
          </a:xfrm>
        </p:spPr>
        <p:txBody>
          <a:bodyPr vert="horz" lIns="0" tIns="0" rIns="0" bIns="0" rtlCol="0">
            <a:noAutofit/>
          </a:bodyPr>
          <a:lstStyle>
            <a:lvl1pPr marL="0" indent="0">
              <a:defRPr lang="en-US" sz="1800" dirty="0"/>
            </a:lvl1pPr>
          </a:lstStyle>
          <a:p>
            <a:pPr lvl="0"/>
            <a:r>
              <a:rPr lang="en-US"/>
              <a:t>Edit Master text styles</a:t>
            </a:r>
          </a:p>
        </p:txBody>
      </p:sp>
      <p:sp>
        <p:nvSpPr>
          <p:cNvPr id="5" name="Text Placeholder 4"/>
          <p:cNvSpPr>
            <a:spLocks noGrp="1"/>
          </p:cNvSpPr>
          <p:nvPr>
            <p:ph type="body" sz="quarter" idx="3" hasCustomPrompt="1"/>
          </p:nvPr>
        </p:nvSpPr>
        <p:spPr>
          <a:xfrm>
            <a:off x="6312297" y="1665293"/>
            <a:ext cx="5398744" cy="411480"/>
          </a:xfrm>
          <a:solidFill>
            <a:schemeClr val="accent3"/>
          </a:solidFill>
        </p:spPr>
        <p:txBody>
          <a:bodyPr lIns="0" rIns="0" bIns="0" anchor="ctr"/>
          <a:lstStyle>
            <a:lvl1pPr marL="182563" indent="0">
              <a:spcBef>
                <a:spcPts val="0"/>
              </a:spcBef>
              <a:buNone/>
              <a:tabLst/>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89669" y="2201006"/>
            <a:ext cx="5019592" cy="1536192"/>
          </a:xfrm>
        </p:spPr>
        <p:txBody>
          <a:bodyPr vert="horz" lIns="0" tIns="0" rIns="0" bIns="0" rtlCol="0">
            <a:noAutofit/>
          </a:bodyPr>
          <a:lstStyle>
            <a:lvl1pPr>
              <a:defRPr lang="en-US" sz="1800" dirty="0"/>
            </a:lvl1pPr>
          </a:lstStyle>
          <a:p>
            <a:pPr lvl="0"/>
            <a:r>
              <a:rPr lang="en-US"/>
              <a:t>Edit Master text styles</a:t>
            </a:r>
          </a:p>
        </p:txBody>
      </p:sp>
      <p:sp>
        <p:nvSpPr>
          <p:cNvPr id="24" name="Text Placeholder 4"/>
          <p:cNvSpPr>
            <a:spLocks noGrp="1"/>
          </p:cNvSpPr>
          <p:nvPr>
            <p:ph type="body" sz="quarter" idx="14" hasCustomPrompt="1"/>
          </p:nvPr>
        </p:nvSpPr>
        <p:spPr>
          <a:xfrm>
            <a:off x="495300" y="3928921"/>
            <a:ext cx="5398744" cy="411480"/>
          </a:xfrm>
          <a:solidFill>
            <a:schemeClr val="accent3"/>
          </a:solidFill>
        </p:spPr>
        <p:txBody>
          <a:bodyPr lIns="0" rIns="0" bIns="0" anchor="ctr"/>
          <a:lstStyle>
            <a:lvl1pPr marL="173038" indent="0">
              <a:spcBef>
                <a:spcPts val="0"/>
              </a:spcBef>
              <a:buNone/>
              <a:tabLst/>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Content Placeholder 5"/>
          <p:cNvSpPr>
            <a:spLocks noGrp="1"/>
          </p:cNvSpPr>
          <p:nvPr>
            <p:ph sz="quarter" idx="15"/>
          </p:nvPr>
        </p:nvSpPr>
        <p:spPr>
          <a:xfrm>
            <a:off x="659758" y="4464634"/>
            <a:ext cx="4892644" cy="1536192"/>
          </a:xfrm>
        </p:spPr>
        <p:txBody>
          <a:bodyPr vert="horz" lIns="0" tIns="0" rIns="0" bIns="0" rtlCol="0">
            <a:noAutofit/>
          </a:bodyPr>
          <a:lstStyle>
            <a:lvl1pPr marL="0" indent="0">
              <a:defRPr lang="en-US" sz="1800" dirty="0"/>
            </a:lvl1pPr>
          </a:lstStyle>
          <a:p>
            <a:pPr lvl="0"/>
            <a:r>
              <a:rPr lang="en-US"/>
              <a:t>Edit Master text styles</a:t>
            </a:r>
          </a:p>
        </p:txBody>
      </p:sp>
      <p:sp>
        <p:nvSpPr>
          <p:cNvPr id="26" name="Text Placeholder 4"/>
          <p:cNvSpPr>
            <a:spLocks noGrp="1"/>
          </p:cNvSpPr>
          <p:nvPr>
            <p:ph type="body" sz="quarter" idx="16" hasCustomPrompt="1"/>
          </p:nvPr>
        </p:nvSpPr>
        <p:spPr>
          <a:xfrm>
            <a:off x="6312297" y="3928921"/>
            <a:ext cx="5398744" cy="411480"/>
          </a:xfrm>
          <a:solidFill>
            <a:schemeClr val="accent3"/>
          </a:solidFill>
        </p:spPr>
        <p:txBody>
          <a:bodyPr lIns="0" rIns="0" bIns="0" anchor="ctr"/>
          <a:lstStyle>
            <a:lvl1pPr marL="180975" indent="0">
              <a:spcBef>
                <a:spcPts val="0"/>
              </a:spcBef>
              <a:buNone/>
              <a:tabLst/>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7" name="Content Placeholder 5"/>
          <p:cNvSpPr>
            <a:spLocks noGrp="1"/>
          </p:cNvSpPr>
          <p:nvPr>
            <p:ph sz="quarter" idx="17"/>
          </p:nvPr>
        </p:nvSpPr>
        <p:spPr>
          <a:xfrm>
            <a:off x="6489669" y="4464634"/>
            <a:ext cx="5019594" cy="1536192"/>
          </a:xfrm>
        </p:spPr>
        <p:txBody>
          <a:bodyPr vert="horz" lIns="0" tIns="0" rIns="0" bIns="0" rtlCol="0">
            <a:noAutofit/>
          </a:bodyPr>
          <a:lstStyle>
            <a:lvl1pPr>
              <a:defRPr lang="en-US" sz="1800" dirty="0"/>
            </a:lvl1pPr>
          </a:lstStyle>
          <a:p>
            <a:pPr lvl="0"/>
            <a:r>
              <a:rPr lang="en-US"/>
              <a:t>Edit Master text styles</a:t>
            </a:r>
          </a:p>
        </p:txBody>
      </p:sp>
      <p:sp>
        <p:nvSpPr>
          <p:cNvPr id="14" name="Title 5"/>
          <p:cNvSpPr>
            <a:spLocks noGrp="1"/>
          </p:cNvSpPr>
          <p:nvPr>
            <p:ph type="title" hasCustomPrompt="1"/>
          </p:nvPr>
        </p:nvSpPr>
        <p:spPr>
          <a:xfrm>
            <a:off x="495300" y="510063"/>
            <a:ext cx="11201400" cy="914400"/>
          </a:xfrm>
        </p:spPr>
        <p:txBody>
          <a:bodyPr/>
          <a:lstStyle>
            <a:lvl1pPr>
              <a:defRPr/>
            </a:lvl1pPr>
          </a:lstStyle>
          <a:p>
            <a:r>
              <a:rPr lang="en-US" dirty="0"/>
              <a:t>Quadrant 2</a:t>
            </a:r>
          </a:p>
        </p:txBody>
      </p:sp>
      <p:sp>
        <p:nvSpPr>
          <p:cNvPr id="19" name="Slide Number Placeholder 5"/>
          <p:cNvSpPr>
            <a:spLocks noGrp="1"/>
          </p:cNvSpPr>
          <p:nvPr>
            <p:ph type="sldNum" sz="quarter" idx="19"/>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15" name="Date Placeholder 3"/>
          <p:cNvSpPr>
            <a:spLocks noGrp="1"/>
          </p:cNvSpPr>
          <p:nvPr>
            <p:ph type="dt" sz="half" idx="20"/>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B202C53B-BD55-49EA-B0E7-E3DABC11320C}" type="datetime3">
              <a:rPr lang="en-US" smtClean="0"/>
              <a:t>7 March 2017</a:t>
            </a:fld>
            <a:endParaRPr lang="en-CA" dirty="0"/>
          </a:p>
        </p:txBody>
      </p:sp>
      <p:sp>
        <p:nvSpPr>
          <p:cNvPr id="16" name="Footer Placeholder 7"/>
          <p:cNvSpPr>
            <a:spLocks noGrp="1"/>
          </p:cNvSpPr>
          <p:nvPr>
            <p:ph type="ftr" sz="quarter" idx="21"/>
          </p:nvPr>
        </p:nvSpPr>
        <p:spPr>
          <a:xfrm>
            <a:off x="1269205" y="6432462"/>
            <a:ext cx="3229587" cy="182880"/>
          </a:xfrm>
          <a:prstGeom prst="rect">
            <a:avLst/>
          </a:prstGeom>
        </p:spPr>
        <p:txBody>
          <a:bodyPr vert="horz" lIns="0" tIns="0" rIns="0" bIns="0" rtlCol="0" anchor="t" anchorCtr="0"/>
          <a:lstStyle>
            <a:lvl1pPr algn="r">
              <a:defRPr sz="1000">
                <a:solidFill>
                  <a:schemeClr val="tx1"/>
                </a:solidFill>
              </a:defRPr>
            </a:lvl1pPr>
          </a:lstStyle>
          <a:p>
            <a:r>
              <a:rPr lang="en-US"/>
              <a:t>Edit Presentation Title in [Insert Tab &gt; Header &amp; Footer]   |</a:t>
            </a:r>
            <a:endParaRPr lang="en-US" dirty="0"/>
          </a:p>
        </p:txBody>
      </p:sp>
    </p:spTree>
    <p:extLst>
      <p:ext uri="{BB962C8B-B14F-4D97-AF65-F5344CB8AC3E}">
        <p14:creationId xmlns:p14="http://schemas.microsoft.com/office/powerpoint/2010/main" val="22241555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3" name="Table Placeholder 12"/>
          <p:cNvSpPr>
            <a:spLocks noGrp="1"/>
          </p:cNvSpPr>
          <p:nvPr>
            <p:ph type="tbl" sz="quarter" idx="13"/>
          </p:nvPr>
        </p:nvSpPr>
        <p:spPr>
          <a:xfrm>
            <a:off x="495300" y="1665478"/>
            <a:ext cx="11201400" cy="4368882"/>
          </a:xfrm>
        </p:spPr>
        <p:txBody>
          <a:bodyPr/>
          <a:lstStyle/>
          <a:p>
            <a:r>
              <a:rPr lang="en-US"/>
              <a:t>Click icon to add table</a:t>
            </a:r>
            <a:endParaRPr lang="en-CA" dirty="0"/>
          </a:p>
        </p:txBody>
      </p:sp>
      <p:sp>
        <p:nvSpPr>
          <p:cNvPr id="3" name="Date Placeholder 2"/>
          <p:cNvSpPr>
            <a:spLocks noGrp="1"/>
          </p:cNvSpPr>
          <p:nvPr>
            <p:ph type="dt" sz="half" idx="14"/>
          </p:nvPr>
        </p:nvSpPr>
        <p:spPr/>
        <p:txBody>
          <a:bodyPr/>
          <a:lstStyle/>
          <a:p>
            <a:fld id="{E9B6A884-35E4-4D9E-8BFD-64C9966D3320}" type="datetime3">
              <a:rPr lang="en-US" smtClean="0"/>
              <a:t>7 March 2017</a:t>
            </a:fld>
            <a:endParaRPr lang="en-CA" dirty="0"/>
          </a:p>
        </p:txBody>
      </p:sp>
      <p:sp>
        <p:nvSpPr>
          <p:cNvPr id="4" name="Footer Placeholder 3"/>
          <p:cNvSpPr>
            <a:spLocks noGrp="1"/>
          </p:cNvSpPr>
          <p:nvPr>
            <p:ph type="ftr" sz="quarter" idx="15"/>
          </p:nvPr>
        </p:nvSpPr>
        <p:spPr>
          <a:xfrm>
            <a:off x="1269205" y="6432462"/>
            <a:ext cx="3229587" cy="182880"/>
          </a:xfrm>
          <a:prstGeom prst="rect">
            <a:avLst/>
          </a:prstGeom>
        </p:spPr>
        <p:txBody>
          <a:bodyPr/>
          <a:lstStyle/>
          <a:p>
            <a:r>
              <a:rPr lang="en-US"/>
              <a:t>Edit Presentation Title in [Insert Tab &gt; Header &amp; Footer]   |</a:t>
            </a:r>
            <a:endParaRPr lang="en-US" dirty="0"/>
          </a:p>
        </p:txBody>
      </p:sp>
      <p:sp>
        <p:nvSpPr>
          <p:cNvPr id="5" name="Slide Number Placeholder 4"/>
          <p:cNvSpPr>
            <a:spLocks noGrp="1"/>
          </p:cNvSpPr>
          <p:nvPr>
            <p:ph type="sldNum" sz="quarter" idx="16"/>
          </p:nvPr>
        </p:nvSpPr>
        <p:spPr/>
        <p:txBody>
          <a:bodyPr/>
          <a:lstStyle/>
          <a:p>
            <a:fld id="{00E6A5BD-C011-4A45-AA3A-201790FB7F2B}" type="slidenum">
              <a:rPr lang="en-CA" smtClean="0"/>
              <a:pPr/>
              <a:t>‹#›</a:t>
            </a:fld>
            <a:endParaRPr lang="en-CA" dirty="0"/>
          </a:p>
        </p:txBody>
      </p:sp>
      <p:sp>
        <p:nvSpPr>
          <p:cNvPr id="6" name="Title 5"/>
          <p:cNvSpPr>
            <a:spLocks noGrp="1"/>
          </p:cNvSpPr>
          <p:nvPr>
            <p:ph type="title" hasCustomPrompt="1"/>
          </p:nvPr>
        </p:nvSpPr>
        <p:spPr/>
        <p:txBody>
          <a:bodyPr/>
          <a:lstStyle>
            <a:lvl1pPr>
              <a:defRPr/>
            </a:lvl1pPr>
          </a:lstStyle>
          <a:p>
            <a:r>
              <a:rPr lang="en-US" dirty="0"/>
              <a:t>Table Layout</a:t>
            </a:r>
          </a:p>
        </p:txBody>
      </p:sp>
    </p:spTree>
    <p:extLst>
      <p:ext uri="{BB962C8B-B14F-4D97-AF65-F5344CB8AC3E}">
        <p14:creationId xmlns:p14="http://schemas.microsoft.com/office/powerpoint/2010/main" val="41595782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p:nvPr>
        </p:nvSpPr>
        <p:spPr>
          <a:xfrm>
            <a:off x="495300" y="510063"/>
            <a:ext cx="11201400" cy="914400"/>
          </a:xfrm>
        </p:spPr>
        <p:txBody>
          <a:bodyPr/>
          <a:lstStyle/>
          <a:p>
            <a:r>
              <a:rPr lang="en-US"/>
              <a:t>Click to edit Master title style</a:t>
            </a:r>
            <a:endParaRPr lang="en-US" dirty="0"/>
          </a:p>
        </p:txBody>
      </p:sp>
      <p:sp>
        <p:nvSpPr>
          <p:cNvPr id="7" name="Chart Placeholder 6"/>
          <p:cNvSpPr>
            <a:spLocks noGrp="1"/>
          </p:cNvSpPr>
          <p:nvPr>
            <p:ph type="chart" sz="quarter" idx="13"/>
          </p:nvPr>
        </p:nvSpPr>
        <p:spPr>
          <a:xfrm>
            <a:off x="495299" y="1983545"/>
            <a:ext cx="11360369" cy="4096512"/>
          </a:xfrm>
        </p:spPr>
        <p:txBody>
          <a:bodyPr anchor="ctr"/>
          <a:lstStyle>
            <a:lvl1pPr algn="ctr">
              <a:defRPr/>
            </a:lvl1pPr>
          </a:lstStyle>
          <a:p>
            <a:r>
              <a:rPr lang="en-US"/>
              <a:t>Click icon to add chart</a:t>
            </a:r>
          </a:p>
        </p:txBody>
      </p:sp>
      <p:sp>
        <p:nvSpPr>
          <p:cNvPr id="8" name="Text Placeholder 2"/>
          <p:cNvSpPr>
            <a:spLocks noGrp="1"/>
          </p:cNvSpPr>
          <p:nvPr>
            <p:ph type="body" idx="14" hasCustomPrompt="1"/>
          </p:nvPr>
        </p:nvSpPr>
        <p:spPr>
          <a:xfrm>
            <a:off x="495300" y="1610018"/>
            <a:ext cx="4937760" cy="246221"/>
          </a:xfrm>
        </p:spPr>
        <p:txBody>
          <a:bodyPr vert="horz" wrap="square" lIns="0" tIns="0" rIns="0" bIns="0" rtlCol="0" anchor="b" anchorCtr="0">
            <a:noAutofit/>
          </a:bodyPr>
          <a:lstStyle>
            <a:lvl1pPr>
              <a:defRPr lang="en-US" sz="1600" b="1" dirty="0">
                <a:solidFill>
                  <a:schemeClr val="accent3"/>
                </a:solidFill>
              </a:defRPr>
            </a:lvl1pPr>
          </a:lstStyle>
          <a:p>
            <a:pPr lvl="0"/>
            <a:r>
              <a:rPr lang="en-US" dirty="0"/>
              <a:t>Optional Subtitle</a:t>
            </a:r>
          </a:p>
        </p:txBody>
      </p:sp>
      <p:sp>
        <p:nvSpPr>
          <p:cNvPr id="6" name="Date Placeholder 5"/>
          <p:cNvSpPr>
            <a:spLocks noGrp="1"/>
          </p:cNvSpPr>
          <p:nvPr>
            <p:ph type="dt" sz="half" idx="15"/>
          </p:nvPr>
        </p:nvSpPr>
        <p:spPr/>
        <p:txBody>
          <a:bodyPr/>
          <a:lstStyle/>
          <a:p>
            <a:fld id="{0401FD46-EE08-4FEC-B3F1-C1547A48A60C}" type="datetime3">
              <a:rPr lang="en-US" smtClean="0"/>
              <a:t>7 March 2017</a:t>
            </a:fld>
            <a:endParaRPr lang="en-CA" dirty="0"/>
          </a:p>
        </p:txBody>
      </p:sp>
      <p:sp>
        <p:nvSpPr>
          <p:cNvPr id="14" name="Footer Placeholder 13"/>
          <p:cNvSpPr>
            <a:spLocks noGrp="1"/>
          </p:cNvSpPr>
          <p:nvPr>
            <p:ph type="ftr" sz="quarter" idx="16"/>
          </p:nvPr>
        </p:nvSpPr>
        <p:spPr>
          <a:xfrm>
            <a:off x="1269205" y="6432462"/>
            <a:ext cx="3229587" cy="182880"/>
          </a:xfrm>
          <a:prstGeom prst="rect">
            <a:avLst/>
          </a:prstGeom>
        </p:spPr>
        <p:txBody>
          <a:bodyPr/>
          <a:lstStyle/>
          <a:p>
            <a:r>
              <a:rPr lang="en-US"/>
              <a:t>Edit Presentation Title in [Insert Tab &gt; Header &amp; Footer]   |</a:t>
            </a:r>
            <a:endParaRPr lang="en-US" dirty="0"/>
          </a:p>
        </p:txBody>
      </p:sp>
      <p:sp>
        <p:nvSpPr>
          <p:cNvPr id="15" name="Slide Number Placeholder 14"/>
          <p:cNvSpPr>
            <a:spLocks noGrp="1"/>
          </p:cNvSpPr>
          <p:nvPr>
            <p:ph type="sldNum" sz="quarter" idx="17"/>
          </p:nvPr>
        </p:nvSpPr>
        <p:spPr/>
        <p:txBody>
          <a:bodyPr/>
          <a:lstStyle/>
          <a:p>
            <a:fld id="{00E6A5BD-C011-4A45-AA3A-201790FB7F2B}" type="slidenum">
              <a:rPr lang="en-CA" smtClean="0"/>
              <a:pPr/>
              <a:t>‹#›</a:t>
            </a:fld>
            <a:endParaRPr lang="en-CA" dirty="0"/>
          </a:p>
        </p:txBody>
      </p:sp>
    </p:spTree>
    <p:extLst>
      <p:ext uri="{BB962C8B-B14F-4D97-AF65-F5344CB8AC3E}">
        <p14:creationId xmlns:p14="http://schemas.microsoft.com/office/powerpoint/2010/main" val="22313069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95300" y="1728788"/>
            <a:ext cx="11201400" cy="43389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2" name="Date Placeholder 1"/>
          <p:cNvSpPr>
            <a:spLocks noGrp="1"/>
          </p:cNvSpPr>
          <p:nvPr>
            <p:ph type="dt" sz="half" idx="10"/>
          </p:nvPr>
        </p:nvSpPr>
        <p:spPr/>
        <p:txBody>
          <a:bodyPr/>
          <a:lstStyle/>
          <a:p>
            <a:fld id="{D7C85652-75D2-49E0-A5BD-DEA5489E0ABA}" type="datetime3">
              <a:rPr lang="en-US" smtClean="0"/>
              <a:t>7 March 2017</a:t>
            </a:fld>
            <a:endParaRPr lang="en-CA" dirty="0"/>
          </a:p>
        </p:txBody>
      </p:sp>
      <p:sp>
        <p:nvSpPr>
          <p:cNvPr id="4" name="Footer Placeholder 3"/>
          <p:cNvSpPr>
            <a:spLocks noGrp="1"/>
          </p:cNvSpPr>
          <p:nvPr>
            <p:ph type="ftr" sz="quarter" idx="11"/>
          </p:nvPr>
        </p:nvSpPr>
        <p:spPr>
          <a:xfrm>
            <a:off x="1269205" y="6432462"/>
            <a:ext cx="3229587" cy="182880"/>
          </a:xfrm>
          <a:prstGeom prst="rect">
            <a:avLst/>
          </a:prstGeom>
        </p:spPr>
        <p:txBody>
          <a:bodyPr/>
          <a:lstStyle/>
          <a:p>
            <a:r>
              <a:rPr lang="en-US"/>
              <a:t>Edit Presentation Title in [Insert Tab &gt; Header &amp; Footer]   |</a:t>
            </a:r>
            <a:endParaRPr lang="en-US" dirty="0"/>
          </a:p>
        </p:txBody>
      </p:sp>
      <p:sp>
        <p:nvSpPr>
          <p:cNvPr id="6" name="Slide Number Placeholder 5"/>
          <p:cNvSpPr>
            <a:spLocks noGrp="1"/>
          </p:cNvSpPr>
          <p:nvPr>
            <p:ph type="sldNum" sz="quarter" idx="12"/>
          </p:nvPr>
        </p:nvSpPr>
        <p:spPr/>
        <p:txBody>
          <a:bodyPr/>
          <a:lstStyle/>
          <a:p>
            <a:fld id="{00E6A5BD-C011-4A45-AA3A-201790FB7F2B}" type="slidenum">
              <a:rPr lang="en-CA" smtClean="0"/>
              <a:pPr/>
              <a:t>‹#›</a:t>
            </a:fld>
            <a:endParaRPr lang="en-CA" dirty="0"/>
          </a:p>
        </p:txBody>
      </p:sp>
      <p:sp>
        <p:nvSpPr>
          <p:cNvPr id="9" name="Title 1"/>
          <p:cNvSpPr>
            <a:spLocks noGrp="1"/>
          </p:cNvSpPr>
          <p:nvPr>
            <p:ph type="title" hasCustomPrompt="1"/>
          </p:nvPr>
        </p:nvSpPr>
        <p:spPr>
          <a:xfrm>
            <a:off x="495300" y="510063"/>
            <a:ext cx="11201400" cy="914400"/>
          </a:xfrm>
        </p:spPr>
        <p:txBody>
          <a:bodyPr/>
          <a:lstStyle>
            <a:lvl1pPr>
              <a:defRPr/>
            </a:lvl1pPr>
          </a:lstStyle>
          <a:p>
            <a:r>
              <a:rPr lang="en-US" dirty="0"/>
              <a:t>Picture with Caption</a:t>
            </a:r>
            <a:endParaRPr lang="en-CA" dirty="0"/>
          </a:p>
        </p:txBody>
      </p:sp>
    </p:spTree>
    <p:extLst>
      <p:ext uri="{BB962C8B-B14F-4D97-AF65-F5344CB8AC3E}">
        <p14:creationId xmlns:p14="http://schemas.microsoft.com/office/powerpoint/2010/main" val="4962483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C0D66A1-610B-4265-B864-4A40BAAC46C1}" type="datetime3">
              <a:rPr lang="en-US" smtClean="0"/>
              <a:t>7 March 2017</a:t>
            </a:fld>
            <a:endParaRPr lang="en-CA" dirty="0"/>
          </a:p>
        </p:txBody>
      </p:sp>
      <p:sp>
        <p:nvSpPr>
          <p:cNvPr id="8" name="Slide Number Placeholder 7"/>
          <p:cNvSpPr>
            <a:spLocks noGrp="1"/>
          </p:cNvSpPr>
          <p:nvPr>
            <p:ph type="sldNum" sz="quarter" idx="12"/>
          </p:nvPr>
        </p:nvSpPr>
        <p:spPr/>
        <p:txBody>
          <a:bodyPr/>
          <a:lstStyle/>
          <a:p>
            <a:fld id="{00E6A5BD-C011-4A45-AA3A-201790FB7F2B}" type="slidenum">
              <a:rPr lang="en-CA" smtClean="0"/>
              <a:pPr/>
              <a:t>‹#›</a:t>
            </a:fld>
            <a:endParaRPr lang="en-CA" dirty="0"/>
          </a:p>
        </p:txBody>
      </p:sp>
      <p:sp>
        <p:nvSpPr>
          <p:cNvPr id="9" name="Rectangle 8"/>
          <p:cNvSpPr/>
          <p:nvPr userDrawn="1"/>
        </p:nvSpPr>
        <p:spPr bwMode="white">
          <a:xfrm>
            <a:off x="694267" y="1659467"/>
            <a:ext cx="10786533" cy="118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p:cNvSpPr>
            <a:spLocks noGrp="1"/>
          </p:cNvSpPr>
          <p:nvPr>
            <p:ph type="title" hasCustomPrompt="1"/>
          </p:nvPr>
        </p:nvSpPr>
        <p:spPr>
          <a:xfrm>
            <a:off x="495300" y="510063"/>
            <a:ext cx="11201400" cy="914400"/>
          </a:xfrm>
        </p:spPr>
        <p:txBody>
          <a:bodyPr/>
          <a:lstStyle>
            <a:lvl1pPr>
              <a:defRPr/>
            </a:lvl1pPr>
          </a:lstStyle>
          <a:p>
            <a:r>
              <a:rPr lang="en-US" dirty="0"/>
              <a:t>Title Only</a:t>
            </a:r>
            <a:endParaRPr lang="en-CA" dirty="0"/>
          </a:p>
        </p:txBody>
      </p:sp>
    </p:spTree>
    <p:extLst>
      <p:ext uri="{BB962C8B-B14F-4D97-AF65-F5344CB8AC3E}">
        <p14:creationId xmlns:p14="http://schemas.microsoft.com/office/powerpoint/2010/main" val="7092966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6965CEE-1613-4601-AA5D-F7A7338063FF}" type="datetime3">
              <a:rPr lang="en-US" smtClean="0"/>
              <a:t>7 March 2017</a:t>
            </a:fld>
            <a:endParaRPr lang="en-CA" dirty="0"/>
          </a:p>
        </p:txBody>
      </p:sp>
      <p:sp>
        <p:nvSpPr>
          <p:cNvPr id="7" name="Footer Placeholder 6"/>
          <p:cNvSpPr>
            <a:spLocks noGrp="1"/>
          </p:cNvSpPr>
          <p:nvPr>
            <p:ph type="ftr" sz="quarter" idx="11"/>
          </p:nvPr>
        </p:nvSpPr>
        <p:spPr>
          <a:xfrm>
            <a:off x="1269205" y="6432462"/>
            <a:ext cx="3229587" cy="182880"/>
          </a:xfrm>
          <a:prstGeom prst="rect">
            <a:avLst/>
          </a:prstGeom>
        </p:spPr>
        <p:txBody>
          <a:bodyPr/>
          <a:lstStyle/>
          <a:p>
            <a:r>
              <a:rPr lang="en-US"/>
              <a:t>Edit Presentation Title in [Insert Tab &gt; Header &amp; Footer]   |</a:t>
            </a:r>
            <a:endParaRPr lang="en-US" dirty="0"/>
          </a:p>
        </p:txBody>
      </p:sp>
      <p:sp>
        <p:nvSpPr>
          <p:cNvPr id="8" name="Slide Number Placeholder 7"/>
          <p:cNvSpPr>
            <a:spLocks noGrp="1"/>
          </p:cNvSpPr>
          <p:nvPr>
            <p:ph type="sldNum" sz="quarter" idx="12"/>
          </p:nvPr>
        </p:nvSpPr>
        <p:spPr/>
        <p:txBody>
          <a:bodyPr/>
          <a:lstStyle/>
          <a:p>
            <a:fld id="{00E6A5BD-C011-4A45-AA3A-201790FB7F2B}" type="slidenum">
              <a:rPr lang="en-CA" smtClean="0"/>
              <a:pPr/>
              <a:t>‹#›</a:t>
            </a:fld>
            <a:endParaRPr lang="en-CA" dirty="0"/>
          </a:p>
        </p:txBody>
      </p:sp>
      <p:sp>
        <p:nvSpPr>
          <p:cNvPr id="9" name="Rectangle 8"/>
          <p:cNvSpPr/>
          <p:nvPr userDrawn="1"/>
        </p:nvSpPr>
        <p:spPr bwMode="white">
          <a:xfrm>
            <a:off x="694267" y="1659467"/>
            <a:ext cx="10786533" cy="1185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04686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agline">
    <p:bg>
      <p:bgPr>
        <a:solidFill>
          <a:schemeClr val="bg1"/>
        </a:solidFill>
        <a:effectLst/>
      </p:bgPr>
    </p:bg>
    <p:spTree>
      <p:nvGrpSpPr>
        <p:cNvPr id="1" name=""/>
        <p:cNvGrpSpPr/>
        <p:nvPr/>
      </p:nvGrpSpPr>
      <p:grpSpPr>
        <a:xfrm>
          <a:off x="0" y="0"/>
          <a:ext cx="0" cy="0"/>
          <a:chOff x="0" y="0"/>
          <a:chExt cx="0" cy="0"/>
        </a:xfrm>
      </p:grpSpPr>
      <p:sp>
        <p:nvSpPr>
          <p:cNvPr id="8" name="Content Placeholder 3"/>
          <p:cNvSpPr txBox="1">
            <a:spLocks/>
          </p:cNvSpPr>
          <p:nvPr userDrawn="1"/>
        </p:nvSpPr>
        <p:spPr>
          <a:xfrm>
            <a:off x="1166221" y="2718617"/>
            <a:ext cx="9856383" cy="1395412"/>
          </a:xfrm>
          <a:prstGeom prst="rect">
            <a:avLst/>
          </a:prstGeom>
        </p:spPr>
        <p:txBody>
          <a:bodyPr/>
          <a:lstStyle>
            <a:lvl1pPr marL="0" indent="0" algn="l" defTabSz="914400" rtl="0" eaLnBrk="1" latinLnBrk="0" hangingPunct="1">
              <a:lnSpc>
                <a:spcPct val="100000"/>
              </a:lnSpc>
              <a:spcBef>
                <a:spcPts val="1200"/>
              </a:spcBef>
              <a:buFont typeface="Arial" pitchFamily="34" charset="0"/>
              <a:buNone/>
              <a:defRPr sz="2800" kern="1200" spc="0" baseline="0">
                <a:solidFill>
                  <a:srgbClr val="63666A"/>
                </a:solidFill>
                <a:latin typeface="GE Inspira Sans" charset="0"/>
                <a:ea typeface="GE Inspira Sans" charset="0"/>
                <a:cs typeface="GE Inspira Sans" charset="0"/>
              </a:defRPr>
            </a:lvl1pPr>
            <a:lvl2pPr marL="203200" indent="-182563" algn="l" defTabSz="914400" rtl="0" eaLnBrk="1" latinLnBrk="0" hangingPunct="1">
              <a:lnSpc>
                <a:spcPct val="100000"/>
              </a:lnSpc>
              <a:spcBef>
                <a:spcPts val="1000"/>
              </a:spcBef>
              <a:buFont typeface="Arial" pitchFamily="34" charset="0"/>
              <a:buChar char="•"/>
              <a:defRPr sz="2000" kern="1200" spc="0">
                <a:solidFill>
                  <a:srgbClr val="63666A"/>
                </a:solidFill>
                <a:latin typeface="GE Inspira Sans" charset="0"/>
                <a:ea typeface="GE Inspira Sans" charset="0"/>
                <a:cs typeface="GE Inspira Sans" charset="0"/>
              </a:defRPr>
            </a:lvl2pPr>
            <a:lvl3pPr marL="400050" indent="-195263" algn="l" defTabSz="914400" rtl="0" eaLnBrk="1" latinLnBrk="0" hangingPunct="1">
              <a:lnSpc>
                <a:spcPct val="100000"/>
              </a:lnSpc>
              <a:spcBef>
                <a:spcPts val="800"/>
              </a:spcBef>
              <a:buFont typeface="GE Inspira Pitch" panose="020F0603030400020203" pitchFamily="34" charset="0"/>
              <a:buChar char="–"/>
              <a:defRPr sz="1800" kern="1200" spc="0">
                <a:solidFill>
                  <a:srgbClr val="63666A"/>
                </a:solidFill>
                <a:latin typeface="GE Inspira Sans" charset="0"/>
                <a:ea typeface="GE Inspira Sans" charset="0"/>
                <a:cs typeface="GE Inspira Sans" charset="0"/>
              </a:defRPr>
            </a:lvl3pPr>
            <a:lvl4pPr marL="555625" indent="-166688" algn="l" defTabSz="914400" rtl="0" eaLnBrk="1" latinLnBrk="0" hangingPunct="1">
              <a:lnSpc>
                <a:spcPct val="100000"/>
              </a:lnSpc>
              <a:spcBef>
                <a:spcPts val="600"/>
              </a:spcBef>
              <a:buFont typeface="Arial" pitchFamily="34" charset="0"/>
              <a:buChar char="•"/>
              <a:defRPr sz="1600" kern="1200" spc="0">
                <a:solidFill>
                  <a:srgbClr val="63666A"/>
                </a:solidFill>
                <a:latin typeface="GE Inspira Sans" charset="0"/>
                <a:ea typeface="GE Inspira Sans" charset="0"/>
                <a:cs typeface="GE Inspira Sans"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7200" dirty="0">
                <a:solidFill>
                  <a:srgbClr val="005EB8"/>
                </a:solidFill>
              </a:rPr>
              <a:t>Imagination at work</a:t>
            </a:r>
          </a:p>
        </p:txBody>
      </p:sp>
    </p:spTree>
    <p:extLst>
      <p:ext uri="{BB962C8B-B14F-4D97-AF65-F5344CB8AC3E}">
        <p14:creationId xmlns:p14="http://schemas.microsoft.com/office/powerpoint/2010/main" val="17534125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Monogram 1">
    <p:bg>
      <p:bgPr>
        <a:solidFill>
          <a:schemeClr val="bg1"/>
        </a:solidFill>
        <a:effectLst/>
      </p:bgPr>
    </p:bg>
    <p:spTree>
      <p:nvGrpSpPr>
        <p:cNvPr id="1" name=""/>
        <p:cNvGrpSpPr/>
        <p:nvPr/>
      </p:nvGrpSpPr>
      <p:grpSpPr>
        <a:xfrm>
          <a:off x="0" y="0"/>
          <a:ext cx="0" cy="0"/>
          <a:chOff x="0" y="0"/>
          <a:chExt cx="0" cy="0"/>
        </a:xfrm>
      </p:grpSpPr>
      <p:sp>
        <p:nvSpPr>
          <p:cNvPr id="4" name="Freeform 5"/>
          <p:cNvSpPr>
            <a:spLocks noChangeAspect="1" noEditPoints="1"/>
          </p:cNvSpPr>
          <p:nvPr userDrawn="1"/>
        </p:nvSpPr>
        <p:spPr bwMode="gray">
          <a:xfrm>
            <a:off x="4757541" y="2110155"/>
            <a:ext cx="2651760" cy="2651760"/>
          </a:xfrm>
          <a:custGeom>
            <a:avLst/>
            <a:gdLst>
              <a:gd name="T0" fmla="*/ 3869 w 5760"/>
              <a:gd name="T1" fmla="*/ 1545 h 5760"/>
              <a:gd name="T2" fmla="*/ 2018 w 5760"/>
              <a:gd name="T3" fmla="*/ 2250 h 5760"/>
              <a:gd name="T4" fmla="*/ 2018 w 5760"/>
              <a:gd name="T5" fmla="*/ 2250 h 5760"/>
              <a:gd name="T6" fmla="*/ 1556 w 5760"/>
              <a:gd name="T7" fmla="*/ 3934 h 5760"/>
              <a:gd name="T8" fmla="*/ 1755 w 5760"/>
              <a:gd name="T9" fmla="*/ 4133 h 5760"/>
              <a:gd name="T10" fmla="*/ 3470 w 5760"/>
              <a:gd name="T11" fmla="*/ 3455 h 5760"/>
              <a:gd name="T12" fmla="*/ 3861 w 5760"/>
              <a:gd name="T13" fmla="*/ 3710 h 5760"/>
              <a:gd name="T14" fmla="*/ 3933 w 5760"/>
              <a:gd name="T15" fmla="*/ 3255 h 5760"/>
              <a:gd name="T16" fmla="*/ 3734 w 5760"/>
              <a:gd name="T17" fmla="*/ 4133 h 5760"/>
              <a:gd name="T18" fmla="*/ 3694 w 5760"/>
              <a:gd name="T19" fmla="*/ 2712 h 5760"/>
              <a:gd name="T20" fmla="*/ 3905 w 5760"/>
              <a:gd name="T21" fmla="*/ 2466 h 5760"/>
              <a:gd name="T22" fmla="*/ 3574 w 5760"/>
              <a:gd name="T23" fmla="*/ 2354 h 5760"/>
              <a:gd name="T24" fmla="*/ 3853 w 5760"/>
              <a:gd name="T25" fmla="*/ 1324 h 5760"/>
              <a:gd name="T26" fmla="*/ 3295 w 5760"/>
              <a:gd name="T27" fmla="*/ 2298 h 5760"/>
              <a:gd name="T28" fmla="*/ 2685 w 5760"/>
              <a:gd name="T29" fmla="*/ 2469 h 5760"/>
              <a:gd name="T30" fmla="*/ 2816 w 5760"/>
              <a:gd name="T31" fmla="*/ 1987 h 5760"/>
              <a:gd name="T32" fmla="*/ 2170 w 5760"/>
              <a:gd name="T33" fmla="*/ 2593 h 5760"/>
              <a:gd name="T34" fmla="*/ 2712 w 5760"/>
              <a:gd name="T35" fmla="*/ 1580 h 5760"/>
              <a:gd name="T36" fmla="*/ 1779 w 5760"/>
              <a:gd name="T37" fmla="*/ 2274 h 5760"/>
              <a:gd name="T38" fmla="*/ 1643 w 5760"/>
              <a:gd name="T39" fmla="*/ 1795 h 5760"/>
              <a:gd name="T40" fmla="*/ 1388 w 5760"/>
              <a:gd name="T41" fmla="*/ 2066 h 5760"/>
              <a:gd name="T42" fmla="*/ 2122 w 5760"/>
              <a:gd name="T43" fmla="*/ 2792 h 5760"/>
              <a:gd name="T44" fmla="*/ 2417 w 5760"/>
              <a:gd name="T45" fmla="*/ 2832 h 5760"/>
              <a:gd name="T46" fmla="*/ 1292 w 5760"/>
              <a:gd name="T47" fmla="*/ 3917 h 5760"/>
              <a:gd name="T48" fmla="*/ 2537 w 5760"/>
              <a:gd name="T49" fmla="*/ 3678 h 5760"/>
              <a:gd name="T50" fmla="*/ 3374 w 5760"/>
              <a:gd name="T51" fmla="*/ 2489 h 5760"/>
              <a:gd name="T52" fmla="*/ 2888 w 5760"/>
              <a:gd name="T53" fmla="*/ 3502 h 5760"/>
              <a:gd name="T54" fmla="*/ 4484 w 5760"/>
              <a:gd name="T55" fmla="*/ 3646 h 5760"/>
              <a:gd name="T56" fmla="*/ 5321 w 5760"/>
              <a:gd name="T57" fmla="*/ 3701 h 5760"/>
              <a:gd name="T58" fmla="*/ 5297 w 5760"/>
              <a:gd name="T59" fmla="*/ 3694 h 5760"/>
              <a:gd name="T60" fmla="*/ 5066 w 5760"/>
              <a:gd name="T61" fmla="*/ 2513 h 5760"/>
              <a:gd name="T62" fmla="*/ 5138 w 5760"/>
              <a:gd name="T63" fmla="*/ 3415 h 5760"/>
              <a:gd name="T64" fmla="*/ 2880 w 5760"/>
              <a:gd name="T65" fmla="*/ 5449 h 5760"/>
              <a:gd name="T66" fmla="*/ 2063 w 5760"/>
              <a:gd name="T67" fmla="*/ 5306 h 5760"/>
              <a:gd name="T68" fmla="*/ 2689 w 5760"/>
              <a:gd name="T69" fmla="*/ 5393 h 5760"/>
              <a:gd name="T70" fmla="*/ 3047 w 5760"/>
              <a:gd name="T71" fmla="*/ 4875 h 5760"/>
              <a:gd name="T72" fmla="*/ 1771 w 5760"/>
              <a:gd name="T73" fmla="*/ 5042 h 5760"/>
              <a:gd name="T74" fmla="*/ 440 w 5760"/>
              <a:gd name="T75" fmla="*/ 2067 h 5760"/>
              <a:gd name="T76" fmla="*/ 462 w 5760"/>
              <a:gd name="T77" fmla="*/ 2075 h 5760"/>
              <a:gd name="T78" fmla="*/ 694 w 5760"/>
              <a:gd name="T79" fmla="*/ 3247 h 5760"/>
              <a:gd name="T80" fmla="*/ 622 w 5760"/>
              <a:gd name="T81" fmla="*/ 2354 h 5760"/>
              <a:gd name="T82" fmla="*/ 2880 w 5760"/>
              <a:gd name="T83" fmla="*/ 311 h 5760"/>
              <a:gd name="T84" fmla="*/ 3696 w 5760"/>
              <a:gd name="T85" fmla="*/ 461 h 5760"/>
              <a:gd name="T86" fmla="*/ 3071 w 5760"/>
              <a:gd name="T87" fmla="*/ 367 h 5760"/>
              <a:gd name="T88" fmla="*/ 2712 w 5760"/>
              <a:gd name="T89" fmla="*/ 885 h 5760"/>
              <a:gd name="T90" fmla="*/ 3989 w 5760"/>
              <a:gd name="T91" fmla="*/ 726 h 5760"/>
              <a:gd name="T92" fmla="*/ 5321 w 5760"/>
              <a:gd name="T93" fmla="*/ 3701 h 5760"/>
              <a:gd name="T94" fmla="*/ 135 w 5760"/>
              <a:gd name="T95" fmla="*/ 2880 h 5760"/>
              <a:gd name="T96" fmla="*/ 5624 w 5760"/>
              <a:gd name="T97" fmla="*/ 2880 h 5760"/>
              <a:gd name="T98" fmla="*/ 2880 w 5760"/>
              <a:gd name="T99" fmla="*/ 5760 h 5760"/>
              <a:gd name="T100" fmla="*/ 2880 w 5760"/>
              <a:gd name="T101" fmla="*/ 0 h 5760"/>
              <a:gd name="T102" fmla="*/ 2880 w 5760"/>
              <a:gd name="T103" fmla="*/ 5760 h 5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60" h="5760">
                <a:moveTo>
                  <a:pt x="3526" y="2130"/>
                </a:moveTo>
                <a:cubicBezTo>
                  <a:pt x="3526" y="1803"/>
                  <a:pt x="3748" y="1485"/>
                  <a:pt x="3869" y="1545"/>
                </a:cubicBezTo>
                <a:cubicBezTo>
                  <a:pt x="4006" y="1614"/>
                  <a:pt x="3766" y="1923"/>
                  <a:pt x="3526" y="2130"/>
                </a:cubicBezTo>
                <a:moveTo>
                  <a:pt x="2018" y="2250"/>
                </a:moveTo>
                <a:cubicBezTo>
                  <a:pt x="2018" y="1987"/>
                  <a:pt x="2278" y="1486"/>
                  <a:pt x="2437" y="1539"/>
                </a:cubicBezTo>
                <a:cubicBezTo>
                  <a:pt x="2625" y="1601"/>
                  <a:pt x="2282" y="2106"/>
                  <a:pt x="2018" y="2250"/>
                </a:cubicBezTo>
                <a:close/>
                <a:moveTo>
                  <a:pt x="1755" y="4133"/>
                </a:moveTo>
                <a:cubicBezTo>
                  <a:pt x="1635" y="4138"/>
                  <a:pt x="1556" y="4062"/>
                  <a:pt x="1556" y="3934"/>
                </a:cubicBezTo>
                <a:cubicBezTo>
                  <a:pt x="1556" y="3591"/>
                  <a:pt x="2031" y="3264"/>
                  <a:pt x="2390" y="3088"/>
                </a:cubicBezTo>
                <a:cubicBezTo>
                  <a:pt x="2327" y="3567"/>
                  <a:pt x="2165" y="4114"/>
                  <a:pt x="1755" y="4133"/>
                </a:cubicBezTo>
                <a:close/>
                <a:moveTo>
                  <a:pt x="3949" y="3016"/>
                </a:moveTo>
                <a:cubicBezTo>
                  <a:pt x="3678" y="3016"/>
                  <a:pt x="3470" y="3215"/>
                  <a:pt x="3470" y="3455"/>
                </a:cubicBezTo>
                <a:cubicBezTo>
                  <a:pt x="3470" y="3654"/>
                  <a:pt x="3590" y="3813"/>
                  <a:pt x="3750" y="3813"/>
                </a:cubicBezTo>
                <a:cubicBezTo>
                  <a:pt x="3806" y="3813"/>
                  <a:pt x="3861" y="3782"/>
                  <a:pt x="3861" y="3710"/>
                </a:cubicBezTo>
                <a:cubicBezTo>
                  <a:pt x="3861" y="3606"/>
                  <a:pt x="3724" y="3581"/>
                  <a:pt x="3734" y="3426"/>
                </a:cubicBezTo>
                <a:cubicBezTo>
                  <a:pt x="3741" y="3323"/>
                  <a:pt x="3837" y="3255"/>
                  <a:pt x="3933" y="3255"/>
                </a:cubicBezTo>
                <a:cubicBezTo>
                  <a:pt x="4124" y="3255"/>
                  <a:pt x="4214" y="3440"/>
                  <a:pt x="4214" y="3632"/>
                </a:cubicBezTo>
                <a:cubicBezTo>
                  <a:pt x="4206" y="3927"/>
                  <a:pt x="3989" y="4133"/>
                  <a:pt x="3734" y="4133"/>
                </a:cubicBezTo>
                <a:cubicBezTo>
                  <a:pt x="3398" y="4133"/>
                  <a:pt x="3183" y="3813"/>
                  <a:pt x="3183" y="3470"/>
                </a:cubicBezTo>
                <a:cubicBezTo>
                  <a:pt x="3183" y="2960"/>
                  <a:pt x="3518" y="2760"/>
                  <a:pt x="3694" y="2712"/>
                </a:cubicBezTo>
                <a:cubicBezTo>
                  <a:pt x="3696" y="2712"/>
                  <a:pt x="4153" y="2794"/>
                  <a:pt x="4138" y="2592"/>
                </a:cubicBezTo>
                <a:cubicBezTo>
                  <a:pt x="4132" y="2504"/>
                  <a:pt x="4000" y="2470"/>
                  <a:pt x="3905" y="2466"/>
                </a:cubicBezTo>
                <a:cubicBezTo>
                  <a:pt x="3799" y="2462"/>
                  <a:pt x="3692" y="2500"/>
                  <a:pt x="3692" y="2500"/>
                </a:cubicBezTo>
                <a:cubicBezTo>
                  <a:pt x="3636" y="2472"/>
                  <a:pt x="3598" y="2417"/>
                  <a:pt x="3574" y="2354"/>
                </a:cubicBezTo>
                <a:cubicBezTo>
                  <a:pt x="3901" y="2106"/>
                  <a:pt x="4133" y="1867"/>
                  <a:pt x="4133" y="1596"/>
                </a:cubicBezTo>
                <a:cubicBezTo>
                  <a:pt x="4133" y="1452"/>
                  <a:pt x="4037" y="1324"/>
                  <a:pt x="3853" y="1324"/>
                </a:cubicBezTo>
                <a:cubicBezTo>
                  <a:pt x="3526" y="1324"/>
                  <a:pt x="3279" y="1739"/>
                  <a:pt x="3279" y="2114"/>
                </a:cubicBezTo>
                <a:cubicBezTo>
                  <a:pt x="3279" y="2178"/>
                  <a:pt x="3279" y="2242"/>
                  <a:pt x="3295" y="2298"/>
                </a:cubicBezTo>
                <a:cubicBezTo>
                  <a:pt x="3087" y="2449"/>
                  <a:pt x="2933" y="2543"/>
                  <a:pt x="2654" y="2711"/>
                </a:cubicBezTo>
                <a:cubicBezTo>
                  <a:pt x="2654" y="2676"/>
                  <a:pt x="2661" y="2586"/>
                  <a:pt x="2685" y="2469"/>
                </a:cubicBezTo>
                <a:cubicBezTo>
                  <a:pt x="2780" y="2365"/>
                  <a:pt x="2912" y="2210"/>
                  <a:pt x="2912" y="2090"/>
                </a:cubicBezTo>
                <a:cubicBezTo>
                  <a:pt x="2912" y="2034"/>
                  <a:pt x="2880" y="1987"/>
                  <a:pt x="2816" y="1987"/>
                </a:cubicBezTo>
                <a:cubicBezTo>
                  <a:pt x="2657" y="1987"/>
                  <a:pt x="2537" y="2226"/>
                  <a:pt x="2505" y="2393"/>
                </a:cubicBezTo>
                <a:cubicBezTo>
                  <a:pt x="2433" y="2481"/>
                  <a:pt x="2290" y="2593"/>
                  <a:pt x="2170" y="2593"/>
                </a:cubicBezTo>
                <a:cubicBezTo>
                  <a:pt x="2074" y="2593"/>
                  <a:pt x="2042" y="2505"/>
                  <a:pt x="2034" y="2473"/>
                </a:cubicBezTo>
                <a:cubicBezTo>
                  <a:pt x="2338" y="2369"/>
                  <a:pt x="2712" y="1955"/>
                  <a:pt x="2712" y="1580"/>
                </a:cubicBezTo>
                <a:cubicBezTo>
                  <a:pt x="2712" y="1500"/>
                  <a:pt x="2681" y="1324"/>
                  <a:pt x="2441" y="1324"/>
                </a:cubicBezTo>
                <a:cubicBezTo>
                  <a:pt x="2082" y="1324"/>
                  <a:pt x="1779" y="1859"/>
                  <a:pt x="1779" y="2274"/>
                </a:cubicBezTo>
                <a:cubicBezTo>
                  <a:pt x="1651" y="2274"/>
                  <a:pt x="1604" y="2138"/>
                  <a:pt x="1604" y="2034"/>
                </a:cubicBezTo>
                <a:cubicBezTo>
                  <a:pt x="1604" y="1931"/>
                  <a:pt x="1643" y="1827"/>
                  <a:pt x="1643" y="1795"/>
                </a:cubicBezTo>
                <a:cubicBezTo>
                  <a:pt x="1643" y="1763"/>
                  <a:pt x="1627" y="1723"/>
                  <a:pt x="1580" y="1723"/>
                </a:cubicBezTo>
                <a:cubicBezTo>
                  <a:pt x="1460" y="1723"/>
                  <a:pt x="1388" y="1883"/>
                  <a:pt x="1388" y="2066"/>
                </a:cubicBezTo>
                <a:cubicBezTo>
                  <a:pt x="1396" y="2322"/>
                  <a:pt x="1564" y="2481"/>
                  <a:pt x="1787" y="2497"/>
                </a:cubicBezTo>
                <a:cubicBezTo>
                  <a:pt x="1819" y="2649"/>
                  <a:pt x="1955" y="2792"/>
                  <a:pt x="2122" y="2792"/>
                </a:cubicBezTo>
                <a:cubicBezTo>
                  <a:pt x="2226" y="2792"/>
                  <a:pt x="2353" y="2760"/>
                  <a:pt x="2441" y="2681"/>
                </a:cubicBezTo>
                <a:cubicBezTo>
                  <a:pt x="2433" y="2737"/>
                  <a:pt x="2425" y="2784"/>
                  <a:pt x="2417" y="2832"/>
                </a:cubicBezTo>
                <a:cubicBezTo>
                  <a:pt x="2066" y="3016"/>
                  <a:pt x="1811" y="3143"/>
                  <a:pt x="1580" y="3351"/>
                </a:cubicBezTo>
                <a:cubicBezTo>
                  <a:pt x="1396" y="3518"/>
                  <a:pt x="1292" y="3742"/>
                  <a:pt x="1292" y="3917"/>
                </a:cubicBezTo>
                <a:cubicBezTo>
                  <a:pt x="1292" y="4157"/>
                  <a:pt x="1444" y="4380"/>
                  <a:pt x="1755" y="4380"/>
                </a:cubicBezTo>
                <a:cubicBezTo>
                  <a:pt x="2122" y="4380"/>
                  <a:pt x="2401" y="4085"/>
                  <a:pt x="2537" y="3678"/>
                </a:cubicBezTo>
                <a:cubicBezTo>
                  <a:pt x="2601" y="3486"/>
                  <a:pt x="2626" y="3208"/>
                  <a:pt x="2642" y="2952"/>
                </a:cubicBezTo>
                <a:cubicBezTo>
                  <a:pt x="3009" y="2745"/>
                  <a:pt x="3183" y="2625"/>
                  <a:pt x="3374" y="2489"/>
                </a:cubicBezTo>
                <a:cubicBezTo>
                  <a:pt x="3398" y="2529"/>
                  <a:pt x="3423" y="2561"/>
                  <a:pt x="3454" y="2585"/>
                </a:cubicBezTo>
                <a:cubicBezTo>
                  <a:pt x="3287" y="2673"/>
                  <a:pt x="2888" y="2920"/>
                  <a:pt x="2888" y="3502"/>
                </a:cubicBezTo>
                <a:cubicBezTo>
                  <a:pt x="2888" y="3917"/>
                  <a:pt x="3167" y="4380"/>
                  <a:pt x="3718" y="4380"/>
                </a:cubicBezTo>
                <a:cubicBezTo>
                  <a:pt x="4172" y="4380"/>
                  <a:pt x="4484" y="4005"/>
                  <a:pt x="4484" y="3646"/>
                </a:cubicBezTo>
                <a:cubicBezTo>
                  <a:pt x="4484" y="3319"/>
                  <a:pt x="4300" y="3016"/>
                  <a:pt x="3949" y="3016"/>
                </a:cubicBezTo>
                <a:close/>
                <a:moveTo>
                  <a:pt x="5321" y="3701"/>
                </a:moveTo>
                <a:cubicBezTo>
                  <a:pt x="5319" y="3703"/>
                  <a:pt x="5315" y="3707"/>
                  <a:pt x="5306" y="3704"/>
                </a:cubicBezTo>
                <a:cubicBezTo>
                  <a:pt x="5299" y="3702"/>
                  <a:pt x="5297" y="3698"/>
                  <a:pt x="5297" y="3694"/>
                </a:cubicBezTo>
                <a:cubicBezTo>
                  <a:pt x="5298" y="3689"/>
                  <a:pt x="5394" y="3405"/>
                  <a:pt x="5393" y="3080"/>
                </a:cubicBezTo>
                <a:cubicBezTo>
                  <a:pt x="5392" y="2728"/>
                  <a:pt x="5249" y="2513"/>
                  <a:pt x="5066" y="2513"/>
                </a:cubicBezTo>
                <a:cubicBezTo>
                  <a:pt x="4954" y="2513"/>
                  <a:pt x="4874" y="2593"/>
                  <a:pt x="4874" y="2712"/>
                </a:cubicBezTo>
                <a:cubicBezTo>
                  <a:pt x="4874" y="2928"/>
                  <a:pt x="5138" y="2944"/>
                  <a:pt x="5138" y="3415"/>
                </a:cubicBezTo>
                <a:cubicBezTo>
                  <a:pt x="5138" y="3606"/>
                  <a:pt x="5098" y="3789"/>
                  <a:pt x="5034" y="3989"/>
                </a:cubicBezTo>
                <a:cubicBezTo>
                  <a:pt x="4739" y="4986"/>
                  <a:pt x="3797" y="5449"/>
                  <a:pt x="2880" y="5449"/>
                </a:cubicBezTo>
                <a:cubicBezTo>
                  <a:pt x="2457" y="5449"/>
                  <a:pt x="2157" y="5362"/>
                  <a:pt x="2067" y="5322"/>
                </a:cubicBezTo>
                <a:cubicBezTo>
                  <a:pt x="2063" y="5320"/>
                  <a:pt x="2061" y="5313"/>
                  <a:pt x="2063" y="5306"/>
                </a:cubicBezTo>
                <a:cubicBezTo>
                  <a:pt x="2065" y="5300"/>
                  <a:pt x="2072" y="5296"/>
                  <a:pt x="2075" y="5298"/>
                </a:cubicBezTo>
                <a:cubicBezTo>
                  <a:pt x="2111" y="5312"/>
                  <a:pt x="2369" y="5393"/>
                  <a:pt x="2689" y="5393"/>
                </a:cubicBezTo>
                <a:cubicBezTo>
                  <a:pt x="3040" y="5393"/>
                  <a:pt x="3247" y="5250"/>
                  <a:pt x="3247" y="5074"/>
                </a:cubicBezTo>
                <a:cubicBezTo>
                  <a:pt x="3247" y="4962"/>
                  <a:pt x="3159" y="4875"/>
                  <a:pt x="3047" y="4875"/>
                </a:cubicBezTo>
                <a:cubicBezTo>
                  <a:pt x="2832" y="4875"/>
                  <a:pt x="2816" y="5146"/>
                  <a:pt x="2353" y="5146"/>
                </a:cubicBezTo>
                <a:cubicBezTo>
                  <a:pt x="2154" y="5146"/>
                  <a:pt x="1979" y="5106"/>
                  <a:pt x="1771" y="5042"/>
                </a:cubicBezTo>
                <a:cubicBezTo>
                  <a:pt x="782" y="4739"/>
                  <a:pt x="310" y="3805"/>
                  <a:pt x="311" y="2880"/>
                </a:cubicBezTo>
                <a:cubicBezTo>
                  <a:pt x="311" y="2429"/>
                  <a:pt x="438" y="2070"/>
                  <a:pt x="440" y="2067"/>
                </a:cubicBezTo>
                <a:cubicBezTo>
                  <a:pt x="441" y="2065"/>
                  <a:pt x="447" y="2062"/>
                  <a:pt x="454" y="2065"/>
                </a:cubicBezTo>
                <a:cubicBezTo>
                  <a:pt x="461" y="2067"/>
                  <a:pt x="463" y="2073"/>
                  <a:pt x="462" y="2075"/>
                </a:cubicBezTo>
                <a:cubicBezTo>
                  <a:pt x="451" y="2112"/>
                  <a:pt x="367" y="2370"/>
                  <a:pt x="367" y="2688"/>
                </a:cubicBezTo>
                <a:cubicBezTo>
                  <a:pt x="367" y="3040"/>
                  <a:pt x="511" y="3247"/>
                  <a:pt x="694" y="3247"/>
                </a:cubicBezTo>
                <a:cubicBezTo>
                  <a:pt x="798" y="3247"/>
                  <a:pt x="885" y="3167"/>
                  <a:pt x="885" y="3056"/>
                </a:cubicBezTo>
                <a:cubicBezTo>
                  <a:pt x="885" y="2840"/>
                  <a:pt x="622" y="2816"/>
                  <a:pt x="622" y="2354"/>
                </a:cubicBezTo>
                <a:cubicBezTo>
                  <a:pt x="622" y="2154"/>
                  <a:pt x="662" y="1978"/>
                  <a:pt x="726" y="1771"/>
                </a:cubicBezTo>
                <a:cubicBezTo>
                  <a:pt x="1029" y="782"/>
                  <a:pt x="1963" y="318"/>
                  <a:pt x="2880" y="311"/>
                </a:cubicBezTo>
                <a:cubicBezTo>
                  <a:pt x="3306" y="308"/>
                  <a:pt x="3680" y="435"/>
                  <a:pt x="3694" y="447"/>
                </a:cubicBezTo>
                <a:cubicBezTo>
                  <a:pt x="3696" y="449"/>
                  <a:pt x="3699" y="455"/>
                  <a:pt x="3696" y="461"/>
                </a:cubicBezTo>
                <a:cubicBezTo>
                  <a:pt x="3693" y="468"/>
                  <a:pt x="3688" y="469"/>
                  <a:pt x="3686" y="469"/>
                </a:cubicBezTo>
                <a:cubicBezTo>
                  <a:pt x="3681" y="468"/>
                  <a:pt x="3439" y="367"/>
                  <a:pt x="3071" y="367"/>
                </a:cubicBezTo>
                <a:cubicBezTo>
                  <a:pt x="2728" y="367"/>
                  <a:pt x="2513" y="510"/>
                  <a:pt x="2513" y="694"/>
                </a:cubicBezTo>
                <a:cubicBezTo>
                  <a:pt x="2513" y="798"/>
                  <a:pt x="2593" y="885"/>
                  <a:pt x="2712" y="885"/>
                </a:cubicBezTo>
                <a:cubicBezTo>
                  <a:pt x="2928" y="885"/>
                  <a:pt x="2944" y="622"/>
                  <a:pt x="3406" y="622"/>
                </a:cubicBezTo>
                <a:cubicBezTo>
                  <a:pt x="3606" y="622"/>
                  <a:pt x="3781" y="662"/>
                  <a:pt x="3989" y="726"/>
                </a:cubicBezTo>
                <a:cubicBezTo>
                  <a:pt x="4986" y="1029"/>
                  <a:pt x="5440" y="1971"/>
                  <a:pt x="5449" y="2880"/>
                </a:cubicBezTo>
                <a:cubicBezTo>
                  <a:pt x="5453" y="3346"/>
                  <a:pt x="5322" y="3699"/>
                  <a:pt x="5321" y="3701"/>
                </a:cubicBezTo>
                <a:close/>
                <a:moveTo>
                  <a:pt x="2880" y="136"/>
                </a:moveTo>
                <a:cubicBezTo>
                  <a:pt x="1364" y="136"/>
                  <a:pt x="135" y="1364"/>
                  <a:pt x="135" y="2880"/>
                </a:cubicBezTo>
                <a:cubicBezTo>
                  <a:pt x="135" y="4396"/>
                  <a:pt x="1364" y="5624"/>
                  <a:pt x="2880" y="5624"/>
                </a:cubicBezTo>
                <a:cubicBezTo>
                  <a:pt x="4396" y="5624"/>
                  <a:pt x="5624" y="4396"/>
                  <a:pt x="5624" y="2880"/>
                </a:cubicBezTo>
                <a:cubicBezTo>
                  <a:pt x="5624" y="1372"/>
                  <a:pt x="4396" y="136"/>
                  <a:pt x="2880" y="136"/>
                </a:cubicBezTo>
                <a:close/>
                <a:moveTo>
                  <a:pt x="2880" y="5760"/>
                </a:moveTo>
                <a:cubicBezTo>
                  <a:pt x="1292" y="5760"/>
                  <a:pt x="0" y="4476"/>
                  <a:pt x="0" y="2880"/>
                </a:cubicBezTo>
                <a:cubicBezTo>
                  <a:pt x="0" y="1292"/>
                  <a:pt x="1292" y="0"/>
                  <a:pt x="2880" y="0"/>
                </a:cubicBezTo>
                <a:cubicBezTo>
                  <a:pt x="4467" y="0"/>
                  <a:pt x="5760" y="1292"/>
                  <a:pt x="5760" y="2880"/>
                </a:cubicBezTo>
                <a:cubicBezTo>
                  <a:pt x="5760" y="4476"/>
                  <a:pt x="4467" y="5760"/>
                  <a:pt x="2880" y="5760"/>
                </a:cubicBezTo>
                <a:close/>
              </a:path>
            </a:pathLst>
          </a:custGeom>
          <a:solidFill>
            <a:srgbClr val="005CB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351951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Monogram 2">
    <p:bg>
      <p:bgPr>
        <a:solidFill>
          <a:schemeClr val="accent1"/>
        </a:solidFill>
        <a:effectLst/>
      </p:bgPr>
    </p:bg>
    <p:spTree>
      <p:nvGrpSpPr>
        <p:cNvPr id="1" name=""/>
        <p:cNvGrpSpPr/>
        <p:nvPr/>
      </p:nvGrpSpPr>
      <p:grpSpPr>
        <a:xfrm>
          <a:off x="0" y="0"/>
          <a:ext cx="0" cy="0"/>
          <a:chOff x="0" y="0"/>
          <a:chExt cx="0" cy="0"/>
        </a:xfrm>
      </p:grpSpPr>
      <p:sp>
        <p:nvSpPr>
          <p:cNvPr id="5" name="Freeform 5"/>
          <p:cNvSpPr>
            <a:spLocks noChangeAspect="1" noEditPoints="1"/>
          </p:cNvSpPr>
          <p:nvPr userDrawn="1"/>
        </p:nvSpPr>
        <p:spPr bwMode="black">
          <a:xfrm>
            <a:off x="4757541" y="2110155"/>
            <a:ext cx="2651760" cy="2651760"/>
          </a:xfrm>
          <a:custGeom>
            <a:avLst/>
            <a:gdLst>
              <a:gd name="T0" fmla="*/ 3869 w 5760"/>
              <a:gd name="T1" fmla="*/ 1545 h 5760"/>
              <a:gd name="T2" fmla="*/ 2018 w 5760"/>
              <a:gd name="T3" fmla="*/ 2250 h 5760"/>
              <a:gd name="T4" fmla="*/ 2018 w 5760"/>
              <a:gd name="T5" fmla="*/ 2250 h 5760"/>
              <a:gd name="T6" fmla="*/ 1556 w 5760"/>
              <a:gd name="T7" fmla="*/ 3934 h 5760"/>
              <a:gd name="T8" fmla="*/ 1755 w 5760"/>
              <a:gd name="T9" fmla="*/ 4133 h 5760"/>
              <a:gd name="T10" fmla="*/ 3470 w 5760"/>
              <a:gd name="T11" fmla="*/ 3455 h 5760"/>
              <a:gd name="T12" fmla="*/ 3861 w 5760"/>
              <a:gd name="T13" fmla="*/ 3710 h 5760"/>
              <a:gd name="T14" fmla="*/ 3933 w 5760"/>
              <a:gd name="T15" fmla="*/ 3255 h 5760"/>
              <a:gd name="T16" fmla="*/ 3734 w 5760"/>
              <a:gd name="T17" fmla="*/ 4133 h 5760"/>
              <a:gd name="T18" fmla="*/ 3694 w 5760"/>
              <a:gd name="T19" fmla="*/ 2712 h 5760"/>
              <a:gd name="T20" fmla="*/ 3905 w 5760"/>
              <a:gd name="T21" fmla="*/ 2466 h 5760"/>
              <a:gd name="T22" fmla="*/ 3574 w 5760"/>
              <a:gd name="T23" fmla="*/ 2354 h 5760"/>
              <a:gd name="T24" fmla="*/ 3853 w 5760"/>
              <a:gd name="T25" fmla="*/ 1324 h 5760"/>
              <a:gd name="T26" fmla="*/ 3295 w 5760"/>
              <a:gd name="T27" fmla="*/ 2298 h 5760"/>
              <a:gd name="T28" fmla="*/ 2685 w 5760"/>
              <a:gd name="T29" fmla="*/ 2469 h 5760"/>
              <a:gd name="T30" fmla="*/ 2816 w 5760"/>
              <a:gd name="T31" fmla="*/ 1987 h 5760"/>
              <a:gd name="T32" fmla="*/ 2170 w 5760"/>
              <a:gd name="T33" fmla="*/ 2593 h 5760"/>
              <a:gd name="T34" fmla="*/ 2712 w 5760"/>
              <a:gd name="T35" fmla="*/ 1580 h 5760"/>
              <a:gd name="T36" fmla="*/ 1779 w 5760"/>
              <a:gd name="T37" fmla="*/ 2274 h 5760"/>
              <a:gd name="T38" fmla="*/ 1643 w 5760"/>
              <a:gd name="T39" fmla="*/ 1795 h 5760"/>
              <a:gd name="T40" fmla="*/ 1388 w 5760"/>
              <a:gd name="T41" fmla="*/ 2066 h 5760"/>
              <a:gd name="T42" fmla="*/ 2122 w 5760"/>
              <a:gd name="T43" fmla="*/ 2792 h 5760"/>
              <a:gd name="T44" fmla="*/ 2417 w 5760"/>
              <a:gd name="T45" fmla="*/ 2832 h 5760"/>
              <a:gd name="T46" fmla="*/ 1292 w 5760"/>
              <a:gd name="T47" fmla="*/ 3917 h 5760"/>
              <a:gd name="T48" fmla="*/ 2537 w 5760"/>
              <a:gd name="T49" fmla="*/ 3678 h 5760"/>
              <a:gd name="T50" fmla="*/ 3374 w 5760"/>
              <a:gd name="T51" fmla="*/ 2489 h 5760"/>
              <a:gd name="T52" fmla="*/ 2888 w 5760"/>
              <a:gd name="T53" fmla="*/ 3502 h 5760"/>
              <a:gd name="T54" fmla="*/ 4484 w 5760"/>
              <a:gd name="T55" fmla="*/ 3646 h 5760"/>
              <a:gd name="T56" fmla="*/ 5321 w 5760"/>
              <a:gd name="T57" fmla="*/ 3701 h 5760"/>
              <a:gd name="T58" fmla="*/ 5297 w 5760"/>
              <a:gd name="T59" fmla="*/ 3694 h 5760"/>
              <a:gd name="T60" fmla="*/ 5066 w 5760"/>
              <a:gd name="T61" fmla="*/ 2513 h 5760"/>
              <a:gd name="T62" fmla="*/ 5138 w 5760"/>
              <a:gd name="T63" fmla="*/ 3415 h 5760"/>
              <a:gd name="T64" fmla="*/ 2880 w 5760"/>
              <a:gd name="T65" fmla="*/ 5449 h 5760"/>
              <a:gd name="T66" fmla="*/ 2063 w 5760"/>
              <a:gd name="T67" fmla="*/ 5306 h 5760"/>
              <a:gd name="T68" fmla="*/ 2689 w 5760"/>
              <a:gd name="T69" fmla="*/ 5393 h 5760"/>
              <a:gd name="T70" fmla="*/ 3047 w 5760"/>
              <a:gd name="T71" fmla="*/ 4875 h 5760"/>
              <a:gd name="T72" fmla="*/ 1771 w 5760"/>
              <a:gd name="T73" fmla="*/ 5042 h 5760"/>
              <a:gd name="T74" fmla="*/ 440 w 5760"/>
              <a:gd name="T75" fmla="*/ 2067 h 5760"/>
              <a:gd name="T76" fmla="*/ 462 w 5760"/>
              <a:gd name="T77" fmla="*/ 2075 h 5760"/>
              <a:gd name="T78" fmla="*/ 694 w 5760"/>
              <a:gd name="T79" fmla="*/ 3247 h 5760"/>
              <a:gd name="T80" fmla="*/ 622 w 5760"/>
              <a:gd name="T81" fmla="*/ 2354 h 5760"/>
              <a:gd name="T82" fmla="*/ 2880 w 5760"/>
              <a:gd name="T83" fmla="*/ 311 h 5760"/>
              <a:gd name="T84" fmla="*/ 3696 w 5760"/>
              <a:gd name="T85" fmla="*/ 461 h 5760"/>
              <a:gd name="T86" fmla="*/ 3071 w 5760"/>
              <a:gd name="T87" fmla="*/ 367 h 5760"/>
              <a:gd name="T88" fmla="*/ 2712 w 5760"/>
              <a:gd name="T89" fmla="*/ 885 h 5760"/>
              <a:gd name="T90" fmla="*/ 3989 w 5760"/>
              <a:gd name="T91" fmla="*/ 726 h 5760"/>
              <a:gd name="T92" fmla="*/ 5321 w 5760"/>
              <a:gd name="T93" fmla="*/ 3701 h 5760"/>
              <a:gd name="T94" fmla="*/ 135 w 5760"/>
              <a:gd name="T95" fmla="*/ 2880 h 5760"/>
              <a:gd name="T96" fmla="*/ 5624 w 5760"/>
              <a:gd name="T97" fmla="*/ 2880 h 5760"/>
              <a:gd name="T98" fmla="*/ 2880 w 5760"/>
              <a:gd name="T99" fmla="*/ 5760 h 5760"/>
              <a:gd name="T100" fmla="*/ 2880 w 5760"/>
              <a:gd name="T101" fmla="*/ 0 h 5760"/>
              <a:gd name="T102" fmla="*/ 2880 w 5760"/>
              <a:gd name="T103" fmla="*/ 5760 h 5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60" h="5760">
                <a:moveTo>
                  <a:pt x="3526" y="2130"/>
                </a:moveTo>
                <a:cubicBezTo>
                  <a:pt x="3526" y="1803"/>
                  <a:pt x="3748" y="1485"/>
                  <a:pt x="3869" y="1545"/>
                </a:cubicBezTo>
                <a:cubicBezTo>
                  <a:pt x="4006" y="1614"/>
                  <a:pt x="3766" y="1923"/>
                  <a:pt x="3526" y="2130"/>
                </a:cubicBezTo>
                <a:moveTo>
                  <a:pt x="2018" y="2250"/>
                </a:moveTo>
                <a:cubicBezTo>
                  <a:pt x="2018" y="1987"/>
                  <a:pt x="2278" y="1486"/>
                  <a:pt x="2437" y="1539"/>
                </a:cubicBezTo>
                <a:cubicBezTo>
                  <a:pt x="2625" y="1601"/>
                  <a:pt x="2282" y="2106"/>
                  <a:pt x="2018" y="2250"/>
                </a:cubicBezTo>
                <a:close/>
                <a:moveTo>
                  <a:pt x="1755" y="4133"/>
                </a:moveTo>
                <a:cubicBezTo>
                  <a:pt x="1635" y="4138"/>
                  <a:pt x="1556" y="4062"/>
                  <a:pt x="1556" y="3934"/>
                </a:cubicBezTo>
                <a:cubicBezTo>
                  <a:pt x="1556" y="3591"/>
                  <a:pt x="2031" y="3264"/>
                  <a:pt x="2390" y="3088"/>
                </a:cubicBezTo>
                <a:cubicBezTo>
                  <a:pt x="2327" y="3567"/>
                  <a:pt x="2165" y="4114"/>
                  <a:pt x="1755" y="4133"/>
                </a:cubicBezTo>
                <a:close/>
                <a:moveTo>
                  <a:pt x="3949" y="3016"/>
                </a:moveTo>
                <a:cubicBezTo>
                  <a:pt x="3678" y="3016"/>
                  <a:pt x="3470" y="3215"/>
                  <a:pt x="3470" y="3455"/>
                </a:cubicBezTo>
                <a:cubicBezTo>
                  <a:pt x="3470" y="3654"/>
                  <a:pt x="3590" y="3813"/>
                  <a:pt x="3750" y="3813"/>
                </a:cubicBezTo>
                <a:cubicBezTo>
                  <a:pt x="3806" y="3813"/>
                  <a:pt x="3861" y="3782"/>
                  <a:pt x="3861" y="3710"/>
                </a:cubicBezTo>
                <a:cubicBezTo>
                  <a:pt x="3861" y="3606"/>
                  <a:pt x="3724" y="3581"/>
                  <a:pt x="3734" y="3426"/>
                </a:cubicBezTo>
                <a:cubicBezTo>
                  <a:pt x="3741" y="3323"/>
                  <a:pt x="3837" y="3255"/>
                  <a:pt x="3933" y="3255"/>
                </a:cubicBezTo>
                <a:cubicBezTo>
                  <a:pt x="4124" y="3255"/>
                  <a:pt x="4214" y="3440"/>
                  <a:pt x="4214" y="3632"/>
                </a:cubicBezTo>
                <a:cubicBezTo>
                  <a:pt x="4206" y="3927"/>
                  <a:pt x="3989" y="4133"/>
                  <a:pt x="3734" y="4133"/>
                </a:cubicBezTo>
                <a:cubicBezTo>
                  <a:pt x="3398" y="4133"/>
                  <a:pt x="3183" y="3813"/>
                  <a:pt x="3183" y="3470"/>
                </a:cubicBezTo>
                <a:cubicBezTo>
                  <a:pt x="3183" y="2960"/>
                  <a:pt x="3518" y="2760"/>
                  <a:pt x="3694" y="2712"/>
                </a:cubicBezTo>
                <a:cubicBezTo>
                  <a:pt x="3696" y="2712"/>
                  <a:pt x="4153" y="2794"/>
                  <a:pt x="4138" y="2592"/>
                </a:cubicBezTo>
                <a:cubicBezTo>
                  <a:pt x="4132" y="2504"/>
                  <a:pt x="4000" y="2470"/>
                  <a:pt x="3905" y="2466"/>
                </a:cubicBezTo>
                <a:cubicBezTo>
                  <a:pt x="3799" y="2462"/>
                  <a:pt x="3692" y="2500"/>
                  <a:pt x="3692" y="2500"/>
                </a:cubicBezTo>
                <a:cubicBezTo>
                  <a:pt x="3636" y="2472"/>
                  <a:pt x="3598" y="2417"/>
                  <a:pt x="3574" y="2354"/>
                </a:cubicBezTo>
                <a:cubicBezTo>
                  <a:pt x="3901" y="2106"/>
                  <a:pt x="4133" y="1867"/>
                  <a:pt x="4133" y="1596"/>
                </a:cubicBezTo>
                <a:cubicBezTo>
                  <a:pt x="4133" y="1452"/>
                  <a:pt x="4037" y="1324"/>
                  <a:pt x="3853" y="1324"/>
                </a:cubicBezTo>
                <a:cubicBezTo>
                  <a:pt x="3526" y="1324"/>
                  <a:pt x="3279" y="1739"/>
                  <a:pt x="3279" y="2114"/>
                </a:cubicBezTo>
                <a:cubicBezTo>
                  <a:pt x="3279" y="2178"/>
                  <a:pt x="3279" y="2242"/>
                  <a:pt x="3295" y="2298"/>
                </a:cubicBezTo>
                <a:cubicBezTo>
                  <a:pt x="3087" y="2449"/>
                  <a:pt x="2933" y="2543"/>
                  <a:pt x="2654" y="2711"/>
                </a:cubicBezTo>
                <a:cubicBezTo>
                  <a:pt x="2654" y="2676"/>
                  <a:pt x="2661" y="2586"/>
                  <a:pt x="2685" y="2469"/>
                </a:cubicBezTo>
                <a:cubicBezTo>
                  <a:pt x="2780" y="2365"/>
                  <a:pt x="2912" y="2210"/>
                  <a:pt x="2912" y="2090"/>
                </a:cubicBezTo>
                <a:cubicBezTo>
                  <a:pt x="2912" y="2034"/>
                  <a:pt x="2880" y="1987"/>
                  <a:pt x="2816" y="1987"/>
                </a:cubicBezTo>
                <a:cubicBezTo>
                  <a:pt x="2657" y="1987"/>
                  <a:pt x="2537" y="2226"/>
                  <a:pt x="2505" y="2393"/>
                </a:cubicBezTo>
                <a:cubicBezTo>
                  <a:pt x="2433" y="2481"/>
                  <a:pt x="2290" y="2593"/>
                  <a:pt x="2170" y="2593"/>
                </a:cubicBezTo>
                <a:cubicBezTo>
                  <a:pt x="2074" y="2593"/>
                  <a:pt x="2042" y="2505"/>
                  <a:pt x="2034" y="2473"/>
                </a:cubicBezTo>
                <a:cubicBezTo>
                  <a:pt x="2338" y="2369"/>
                  <a:pt x="2712" y="1955"/>
                  <a:pt x="2712" y="1580"/>
                </a:cubicBezTo>
                <a:cubicBezTo>
                  <a:pt x="2712" y="1500"/>
                  <a:pt x="2681" y="1324"/>
                  <a:pt x="2441" y="1324"/>
                </a:cubicBezTo>
                <a:cubicBezTo>
                  <a:pt x="2082" y="1324"/>
                  <a:pt x="1779" y="1859"/>
                  <a:pt x="1779" y="2274"/>
                </a:cubicBezTo>
                <a:cubicBezTo>
                  <a:pt x="1651" y="2274"/>
                  <a:pt x="1604" y="2138"/>
                  <a:pt x="1604" y="2034"/>
                </a:cubicBezTo>
                <a:cubicBezTo>
                  <a:pt x="1604" y="1931"/>
                  <a:pt x="1643" y="1827"/>
                  <a:pt x="1643" y="1795"/>
                </a:cubicBezTo>
                <a:cubicBezTo>
                  <a:pt x="1643" y="1763"/>
                  <a:pt x="1627" y="1723"/>
                  <a:pt x="1580" y="1723"/>
                </a:cubicBezTo>
                <a:cubicBezTo>
                  <a:pt x="1460" y="1723"/>
                  <a:pt x="1388" y="1883"/>
                  <a:pt x="1388" y="2066"/>
                </a:cubicBezTo>
                <a:cubicBezTo>
                  <a:pt x="1396" y="2322"/>
                  <a:pt x="1564" y="2481"/>
                  <a:pt x="1787" y="2497"/>
                </a:cubicBezTo>
                <a:cubicBezTo>
                  <a:pt x="1819" y="2649"/>
                  <a:pt x="1955" y="2792"/>
                  <a:pt x="2122" y="2792"/>
                </a:cubicBezTo>
                <a:cubicBezTo>
                  <a:pt x="2226" y="2792"/>
                  <a:pt x="2353" y="2760"/>
                  <a:pt x="2441" y="2681"/>
                </a:cubicBezTo>
                <a:cubicBezTo>
                  <a:pt x="2433" y="2737"/>
                  <a:pt x="2425" y="2784"/>
                  <a:pt x="2417" y="2832"/>
                </a:cubicBezTo>
                <a:cubicBezTo>
                  <a:pt x="2066" y="3016"/>
                  <a:pt x="1811" y="3143"/>
                  <a:pt x="1580" y="3351"/>
                </a:cubicBezTo>
                <a:cubicBezTo>
                  <a:pt x="1396" y="3518"/>
                  <a:pt x="1292" y="3742"/>
                  <a:pt x="1292" y="3917"/>
                </a:cubicBezTo>
                <a:cubicBezTo>
                  <a:pt x="1292" y="4157"/>
                  <a:pt x="1444" y="4380"/>
                  <a:pt x="1755" y="4380"/>
                </a:cubicBezTo>
                <a:cubicBezTo>
                  <a:pt x="2122" y="4380"/>
                  <a:pt x="2401" y="4085"/>
                  <a:pt x="2537" y="3678"/>
                </a:cubicBezTo>
                <a:cubicBezTo>
                  <a:pt x="2601" y="3486"/>
                  <a:pt x="2626" y="3208"/>
                  <a:pt x="2642" y="2952"/>
                </a:cubicBezTo>
                <a:cubicBezTo>
                  <a:pt x="3009" y="2745"/>
                  <a:pt x="3183" y="2625"/>
                  <a:pt x="3374" y="2489"/>
                </a:cubicBezTo>
                <a:cubicBezTo>
                  <a:pt x="3398" y="2529"/>
                  <a:pt x="3423" y="2561"/>
                  <a:pt x="3454" y="2585"/>
                </a:cubicBezTo>
                <a:cubicBezTo>
                  <a:pt x="3287" y="2673"/>
                  <a:pt x="2888" y="2920"/>
                  <a:pt x="2888" y="3502"/>
                </a:cubicBezTo>
                <a:cubicBezTo>
                  <a:pt x="2888" y="3917"/>
                  <a:pt x="3167" y="4380"/>
                  <a:pt x="3718" y="4380"/>
                </a:cubicBezTo>
                <a:cubicBezTo>
                  <a:pt x="4172" y="4380"/>
                  <a:pt x="4484" y="4005"/>
                  <a:pt x="4484" y="3646"/>
                </a:cubicBezTo>
                <a:cubicBezTo>
                  <a:pt x="4484" y="3319"/>
                  <a:pt x="4300" y="3016"/>
                  <a:pt x="3949" y="3016"/>
                </a:cubicBezTo>
                <a:close/>
                <a:moveTo>
                  <a:pt x="5321" y="3701"/>
                </a:moveTo>
                <a:cubicBezTo>
                  <a:pt x="5319" y="3703"/>
                  <a:pt x="5315" y="3707"/>
                  <a:pt x="5306" y="3704"/>
                </a:cubicBezTo>
                <a:cubicBezTo>
                  <a:pt x="5299" y="3702"/>
                  <a:pt x="5297" y="3698"/>
                  <a:pt x="5297" y="3694"/>
                </a:cubicBezTo>
                <a:cubicBezTo>
                  <a:pt x="5298" y="3689"/>
                  <a:pt x="5394" y="3405"/>
                  <a:pt x="5393" y="3080"/>
                </a:cubicBezTo>
                <a:cubicBezTo>
                  <a:pt x="5392" y="2728"/>
                  <a:pt x="5249" y="2513"/>
                  <a:pt x="5066" y="2513"/>
                </a:cubicBezTo>
                <a:cubicBezTo>
                  <a:pt x="4954" y="2513"/>
                  <a:pt x="4874" y="2593"/>
                  <a:pt x="4874" y="2712"/>
                </a:cubicBezTo>
                <a:cubicBezTo>
                  <a:pt x="4874" y="2928"/>
                  <a:pt x="5138" y="2944"/>
                  <a:pt x="5138" y="3415"/>
                </a:cubicBezTo>
                <a:cubicBezTo>
                  <a:pt x="5138" y="3606"/>
                  <a:pt x="5098" y="3789"/>
                  <a:pt x="5034" y="3989"/>
                </a:cubicBezTo>
                <a:cubicBezTo>
                  <a:pt x="4739" y="4986"/>
                  <a:pt x="3797" y="5449"/>
                  <a:pt x="2880" y="5449"/>
                </a:cubicBezTo>
                <a:cubicBezTo>
                  <a:pt x="2457" y="5449"/>
                  <a:pt x="2157" y="5362"/>
                  <a:pt x="2067" y="5322"/>
                </a:cubicBezTo>
                <a:cubicBezTo>
                  <a:pt x="2063" y="5320"/>
                  <a:pt x="2061" y="5313"/>
                  <a:pt x="2063" y="5306"/>
                </a:cubicBezTo>
                <a:cubicBezTo>
                  <a:pt x="2065" y="5300"/>
                  <a:pt x="2072" y="5296"/>
                  <a:pt x="2075" y="5298"/>
                </a:cubicBezTo>
                <a:cubicBezTo>
                  <a:pt x="2111" y="5312"/>
                  <a:pt x="2369" y="5393"/>
                  <a:pt x="2689" y="5393"/>
                </a:cubicBezTo>
                <a:cubicBezTo>
                  <a:pt x="3040" y="5393"/>
                  <a:pt x="3247" y="5250"/>
                  <a:pt x="3247" y="5074"/>
                </a:cubicBezTo>
                <a:cubicBezTo>
                  <a:pt x="3247" y="4962"/>
                  <a:pt x="3159" y="4875"/>
                  <a:pt x="3047" y="4875"/>
                </a:cubicBezTo>
                <a:cubicBezTo>
                  <a:pt x="2832" y="4875"/>
                  <a:pt x="2816" y="5146"/>
                  <a:pt x="2353" y="5146"/>
                </a:cubicBezTo>
                <a:cubicBezTo>
                  <a:pt x="2154" y="5146"/>
                  <a:pt x="1979" y="5106"/>
                  <a:pt x="1771" y="5042"/>
                </a:cubicBezTo>
                <a:cubicBezTo>
                  <a:pt x="782" y="4739"/>
                  <a:pt x="310" y="3805"/>
                  <a:pt x="311" y="2880"/>
                </a:cubicBezTo>
                <a:cubicBezTo>
                  <a:pt x="311" y="2429"/>
                  <a:pt x="438" y="2070"/>
                  <a:pt x="440" y="2067"/>
                </a:cubicBezTo>
                <a:cubicBezTo>
                  <a:pt x="441" y="2065"/>
                  <a:pt x="447" y="2062"/>
                  <a:pt x="454" y="2065"/>
                </a:cubicBezTo>
                <a:cubicBezTo>
                  <a:pt x="461" y="2067"/>
                  <a:pt x="463" y="2073"/>
                  <a:pt x="462" y="2075"/>
                </a:cubicBezTo>
                <a:cubicBezTo>
                  <a:pt x="451" y="2112"/>
                  <a:pt x="367" y="2370"/>
                  <a:pt x="367" y="2688"/>
                </a:cubicBezTo>
                <a:cubicBezTo>
                  <a:pt x="367" y="3040"/>
                  <a:pt x="511" y="3247"/>
                  <a:pt x="694" y="3247"/>
                </a:cubicBezTo>
                <a:cubicBezTo>
                  <a:pt x="798" y="3247"/>
                  <a:pt x="885" y="3167"/>
                  <a:pt x="885" y="3056"/>
                </a:cubicBezTo>
                <a:cubicBezTo>
                  <a:pt x="885" y="2840"/>
                  <a:pt x="622" y="2816"/>
                  <a:pt x="622" y="2354"/>
                </a:cubicBezTo>
                <a:cubicBezTo>
                  <a:pt x="622" y="2154"/>
                  <a:pt x="662" y="1978"/>
                  <a:pt x="726" y="1771"/>
                </a:cubicBezTo>
                <a:cubicBezTo>
                  <a:pt x="1029" y="782"/>
                  <a:pt x="1963" y="318"/>
                  <a:pt x="2880" y="311"/>
                </a:cubicBezTo>
                <a:cubicBezTo>
                  <a:pt x="3306" y="308"/>
                  <a:pt x="3680" y="435"/>
                  <a:pt x="3694" y="447"/>
                </a:cubicBezTo>
                <a:cubicBezTo>
                  <a:pt x="3696" y="449"/>
                  <a:pt x="3699" y="455"/>
                  <a:pt x="3696" y="461"/>
                </a:cubicBezTo>
                <a:cubicBezTo>
                  <a:pt x="3693" y="468"/>
                  <a:pt x="3688" y="469"/>
                  <a:pt x="3686" y="469"/>
                </a:cubicBezTo>
                <a:cubicBezTo>
                  <a:pt x="3681" y="468"/>
                  <a:pt x="3439" y="367"/>
                  <a:pt x="3071" y="367"/>
                </a:cubicBezTo>
                <a:cubicBezTo>
                  <a:pt x="2728" y="367"/>
                  <a:pt x="2513" y="510"/>
                  <a:pt x="2513" y="694"/>
                </a:cubicBezTo>
                <a:cubicBezTo>
                  <a:pt x="2513" y="798"/>
                  <a:pt x="2593" y="885"/>
                  <a:pt x="2712" y="885"/>
                </a:cubicBezTo>
                <a:cubicBezTo>
                  <a:pt x="2928" y="885"/>
                  <a:pt x="2944" y="622"/>
                  <a:pt x="3406" y="622"/>
                </a:cubicBezTo>
                <a:cubicBezTo>
                  <a:pt x="3606" y="622"/>
                  <a:pt x="3781" y="662"/>
                  <a:pt x="3989" y="726"/>
                </a:cubicBezTo>
                <a:cubicBezTo>
                  <a:pt x="4986" y="1029"/>
                  <a:pt x="5440" y="1971"/>
                  <a:pt x="5449" y="2880"/>
                </a:cubicBezTo>
                <a:cubicBezTo>
                  <a:pt x="5453" y="3346"/>
                  <a:pt x="5322" y="3699"/>
                  <a:pt x="5321" y="3701"/>
                </a:cubicBezTo>
                <a:close/>
                <a:moveTo>
                  <a:pt x="2880" y="136"/>
                </a:moveTo>
                <a:cubicBezTo>
                  <a:pt x="1364" y="136"/>
                  <a:pt x="135" y="1364"/>
                  <a:pt x="135" y="2880"/>
                </a:cubicBezTo>
                <a:cubicBezTo>
                  <a:pt x="135" y="4396"/>
                  <a:pt x="1364" y="5624"/>
                  <a:pt x="2880" y="5624"/>
                </a:cubicBezTo>
                <a:cubicBezTo>
                  <a:pt x="4396" y="5624"/>
                  <a:pt x="5624" y="4396"/>
                  <a:pt x="5624" y="2880"/>
                </a:cubicBezTo>
                <a:cubicBezTo>
                  <a:pt x="5624" y="1372"/>
                  <a:pt x="4396" y="136"/>
                  <a:pt x="2880" y="136"/>
                </a:cubicBezTo>
                <a:close/>
                <a:moveTo>
                  <a:pt x="2880" y="5760"/>
                </a:moveTo>
                <a:cubicBezTo>
                  <a:pt x="1292" y="5760"/>
                  <a:pt x="0" y="4476"/>
                  <a:pt x="0" y="2880"/>
                </a:cubicBezTo>
                <a:cubicBezTo>
                  <a:pt x="0" y="1292"/>
                  <a:pt x="1292" y="0"/>
                  <a:pt x="2880" y="0"/>
                </a:cubicBezTo>
                <a:cubicBezTo>
                  <a:pt x="4467" y="0"/>
                  <a:pt x="5760" y="1292"/>
                  <a:pt x="5760" y="2880"/>
                </a:cubicBezTo>
                <a:cubicBezTo>
                  <a:pt x="5760" y="4476"/>
                  <a:pt x="4467" y="5760"/>
                  <a:pt x="2880" y="576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659981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067" y="5803900"/>
            <a:ext cx="33147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0615" name="Rectangle 7"/>
          <p:cNvSpPr>
            <a:spLocks noGrp="1" noChangeArrowheads="1"/>
          </p:cNvSpPr>
          <p:nvPr>
            <p:ph type="ctrTitle" sz="quarter"/>
          </p:nvPr>
        </p:nvSpPr>
        <p:spPr>
          <a:xfrm>
            <a:off x="459317" y="263526"/>
            <a:ext cx="11201400" cy="1395413"/>
          </a:xfrm>
        </p:spPr>
        <p:txBody>
          <a:bodyPr/>
          <a:lstStyle>
            <a:lvl1pPr>
              <a:spcBef>
                <a:spcPct val="25000"/>
              </a:spcBef>
              <a:defRPr sz="5000"/>
            </a:lvl1pPr>
          </a:lstStyle>
          <a:p>
            <a:pPr lvl="0"/>
            <a:r>
              <a:rPr lang="en-US" noProof="0"/>
              <a:t>Click to edit Master title style</a:t>
            </a:r>
          </a:p>
        </p:txBody>
      </p:sp>
      <p:sp>
        <p:nvSpPr>
          <p:cNvPr id="580616" name="Rectangle 8"/>
          <p:cNvSpPr>
            <a:spLocks noGrp="1" noChangeArrowheads="1"/>
          </p:cNvSpPr>
          <p:nvPr>
            <p:ph type="subTitle" sz="quarter" idx="1"/>
          </p:nvPr>
        </p:nvSpPr>
        <p:spPr>
          <a:xfrm>
            <a:off x="459318" y="1677988"/>
            <a:ext cx="11195049" cy="1752600"/>
          </a:xfrm>
        </p:spPr>
        <p:txBody>
          <a:bodyPr/>
          <a:lstStyle>
            <a:lvl1pPr>
              <a:spcBef>
                <a:spcPct val="0"/>
              </a:spcBef>
              <a:defRPr sz="5000">
                <a:solidFill>
                  <a:schemeClr val="accent2"/>
                </a:solidFill>
              </a:defRPr>
            </a:lvl1pPr>
          </a:lstStyle>
          <a:p>
            <a:pPr lvl="0"/>
            <a:r>
              <a:rPr lang="en-US" noProof="0"/>
              <a:t>Click to edit Master subtitle style</a:t>
            </a:r>
          </a:p>
        </p:txBody>
      </p:sp>
    </p:spTree>
    <p:extLst>
      <p:ext uri="{BB962C8B-B14F-4D97-AF65-F5344CB8AC3E}">
        <p14:creationId xmlns:p14="http://schemas.microsoft.com/office/powerpoint/2010/main" val="27525565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1" y="6083300"/>
            <a:ext cx="21336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8"/>
          <p:cNvSpPr txBox="1">
            <a:spLocks noChangeArrowheads="1"/>
          </p:cNvSpPr>
          <p:nvPr userDrawn="1"/>
        </p:nvSpPr>
        <p:spPr bwMode="auto">
          <a:xfrm>
            <a:off x="8589434" y="6229351"/>
            <a:ext cx="3274484"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r">
              <a:lnSpc>
                <a:spcPct val="90000"/>
              </a:lnSpc>
            </a:pPr>
            <a:fld id="{750C950D-4017-4BD0-A847-040DFA4A61CC}" type="slidenum">
              <a:rPr lang="en-US" altLang="en-US" sz="900" b="0">
                <a:solidFill>
                  <a:srgbClr val="1E4191"/>
                </a:solidFill>
                <a:latin typeface="GE Inspira Pitch" panose="020F0603030400020203" pitchFamily="34" charset="0"/>
              </a:rPr>
              <a:pPr algn="r">
                <a:lnSpc>
                  <a:spcPct val="90000"/>
                </a:lnSpc>
              </a:pPr>
              <a:t>‹#›</a:t>
            </a:fld>
            <a:r>
              <a:rPr lang="en-US" altLang="en-US" sz="900" b="0">
                <a:solidFill>
                  <a:srgbClr val="1E4191"/>
                </a:solidFill>
                <a:latin typeface="GE Inspira Pitch" panose="020F0603030400020203" pitchFamily="34" charset="0"/>
              </a:rPr>
              <a:t> </a:t>
            </a:r>
          </a:p>
          <a:p>
            <a:pPr algn="r">
              <a:lnSpc>
                <a:spcPct val="90000"/>
              </a:lnSpc>
            </a:pPr>
            <a:r>
              <a:rPr lang="en-US" altLang="en-US" sz="900" b="0">
                <a:solidFill>
                  <a:srgbClr val="1E4191"/>
                </a:solidFill>
                <a:latin typeface="GE Inspira Pitch" panose="020F0603030400020203" pitchFamily="34" charset="0"/>
              </a:rPr>
              <a:t>GE Title or job number</a:t>
            </a:r>
          </a:p>
          <a:p>
            <a:pPr algn="r">
              <a:lnSpc>
                <a:spcPct val="90000"/>
              </a:lnSpc>
            </a:pPr>
            <a:fld id="{1F067A19-3164-4E77-B68E-6FBF0975B4A8}" type="datetime1">
              <a:rPr lang="en-US" altLang="en-US" sz="900" b="0">
                <a:solidFill>
                  <a:srgbClr val="1E4191"/>
                </a:solidFill>
                <a:latin typeface="GE Inspira Pitch" panose="020F0603030400020203" pitchFamily="34" charset="0"/>
              </a:rPr>
              <a:pPr algn="r">
                <a:lnSpc>
                  <a:spcPct val="90000"/>
                </a:lnSpc>
              </a:pPr>
              <a:t>3/7/2017</a:t>
            </a:fld>
            <a:endParaRPr lang="en-US" altLang="en-US" sz="3200" b="0">
              <a:solidFill>
                <a:srgbClr val="1E4191"/>
              </a:solidFill>
              <a:latin typeface="GE Inspira Pitch" panose="020F0603030400020203" pitchFamily="34" charset="0"/>
            </a:endParaRPr>
          </a:p>
        </p:txBody>
      </p:sp>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9769043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Text Heavy">
    <p:spTree>
      <p:nvGrpSpPr>
        <p:cNvPr id="1" name=""/>
        <p:cNvGrpSpPr/>
        <p:nvPr/>
      </p:nvGrpSpPr>
      <p:grpSpPr>
        <a:xfrm>
          <a:off x="0" y="0"/>
          <a:ext cx="0" cy="0"/>
          <a:chOff x="0" y="0"/>
          <a:chExt cx="0" cy="0"/>
        </a:xfrm>
      </p:grpSpPr>
      <p:pic>
        <p:nvPicPr>
          <p:cNvPr id="4"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1" y="6083300"/>
            <a:ext cx="21336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8"/>
          <p:cNvSpPr txBox="1">
            <a:spLocks noChangeArrowheads="1"/>
          </p:cNvSpPr>
          <p:nvPr userDrawn="1"/>
        </p:nvSpPr>
        <p:spPr bwMode="auto">
          <a:xfrm>
            <a:off x="8589434" y="6229351"/>
            <a:ext cx="3274484"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r">
              <a:lnSpc>
                <a:spcPct val="90000"/>
              </a:lnSpc>
            </a:pPr>
            <a:fld id="{B31FFBAD-BE29-413C-8459-FCB2313D2884}" type="slidenum">
              <a:rPr lang="en-US" altLang="en-US" sz="900" b="0">
                <a:solidFill>
                  <a:srgbClr val="1E4191"/>
                </a:solidFill>
                <a:latin typeface="GE Inspira Pitch" panose="020F0603030400020203" pitchFamily="34" charset="0"/>
              </a:rPr>
              <a:pPr algn="r">
                <a:lnSpc>
                  <a:spcPct val="90000"/>
                </a:lnSpc>
              </a:pPr>
              <a:t>‹#›</a:t>
            </a:fld>
            <a:r>
              <a:rPr lang="en-US" altLang="en-US" sz="900" b="0">
                <a:solidFill>
                  <a:srgbClr val="1E4191"/>
                </a:solidFill>
                <a:latin typeface="GE Inspira Pitch" panose="020F0603030400020203" pitchFamily="34" charset="0"/>
              </a:rPr>
              <a:t> </a:t>
            </a:r>
          </a:p>
          <a:p>
            <a:pPr algn="r">
              <a:lnSpc>
                <a:spcPct val="90000"/>
              </a:lnSpc>
            </a:pPr>
            <a:r>
              <a:rPr lang="en-US" altLang="en-US" sz="900" b="0">
                <a:solidFill>
                  <a:srgbClr val="1E4191"/>
                </a:solidFill>
                <a:latin typeface="GE Inspira Pitch" panose="020F0603030400020203" pitchFamily="34" charset="0"/>
              </a:rPr>
              <a:t>GE Title or job number </a:t>
            </a:r>
          </a:p>
          <a:p>
            <a:pPr algn="r">
              <a:lnSpc>
                <a:spcPct val="90000"/>
              </a:lnSpc>
            </a:pPr>
            <a:fld id="{FD3E8691-AC38-4885-B882-161760678043}" type="datetime1">
              <a:rPr lang="en-US" altLang="en-US" sz="900" b="0">
                <a:solidFill>
                  <a:srgbClr val="1E4191"/>
                </a:solidFill>
                <a:latin typeface="GE Inspira Pitch" panose="020F0603030400020203" pitchFamily="34" charset="0"/>
              </a:rPr>
              <a:pPr algn="r">
                <a:lnSpc>
                  <a:spcPct val="90000"/>
                </a:lnSpc>
              </a:pPr>
              <a:t>3/7/2017</a:t>
            </a:fld>
            <a:endParaRPr lang="en-US" altLang="en-US" sz="3200" b="0">
              <a:solidFill>
                <a:srgbClr val="1E4191"/>
              </a:solidFill>
              <a:latin typeface="GE Inspira Pitch" panose="020F0603030400020203" pitchFamily="34" charset="0"/>
            </a:endParaRPr>
          </a:p>
        </p:txBody>
      </p:sp>
      <p:sp>
        <p:nvSpPr>
          <p:cNvPr id="2" name="Title 1"/>
          <p:cNvSpPr>
            <a:spLocks noGrp="1"/>
          </p:cNvSpPr>
          <p:nvPr>
            <p:ph type="title"/>
          </p:nvPr>
        </p:nvSpPr>
        <p:spPr>
          <a:xfrm>
            <a:off x="457200" y="280989"/>
            <a:ext cx="11279717" cy="608245"/>
          </a:xfrm>
        </p:spPr>
        <p:txBody>
          <a:bodyPr/>
          <a:lstStyle>
            <a:lvl1pPr>
              <a:defRPr/>
            </a:lvl1pPr>
          </a:lstStyle>
          <a:p>
            <a:r>
              <a:rPr lang="en-US"/>
              <a:t>Click to edit Master title style</a:t>
            </a:r>
            <a:endParaRPr lang="en-GB" dirty="0"/>
          </a:p>
        </p:txBody>
      </p:sp>
      <p:sp>
        <p:nvSpPr>
          <p:cNvPr id="3" name="Content Placeholder 2"/>
          <p:cNvSpPr>
            <a:spLocks noGrp="1"/>
          </p:cNvSpPr>
          <p:nvPr>
            <p:ph idx="1"/>
          </p:nvPr>
        </p:nvSpPr>
        <p:spPr>
          <a:xfrm>
            <a:off x="457200" y="1115737"/>
            <a:ext cx="11279717" cy="4848503"/>
          </a:xfrm>
        </p:spPr>
        <p:txBody>
          <a:bodyPr/>
          <a:lstStyle>
            <a:lvl1pPr>
              <a:spcBef>
                <a:spcPts val="0"/>
              </a:spcBef>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3112919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1" y="6083300"/>
            <a:ext cx="21336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8"/>
          <p:cNvSpPr txBox="1">
            <a:spLocks noChangeArrowheads="1"/>
          </p:cNvSpPr>
          <p:nvPr userDrawn="1"/>
        </p:nvSpPr>
        <p:spPr bwMode="auto">
          <a:xfrm>
            <a:off x="8589434" y="6229351"/>
            <a:ext cx="3274484"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r">
              <a:lnSpc>
                <a:spcPct val="90000"/>
              </a:lnSpc>
            </a:pPr>
            <a:fld id="{88F9973E-833A-43D6-A860-2FE47E2D9698}" type="slidenum">
              <a:rPr lang="en-US" altLang="en-US" sz="900" b="0">
                <a:solidFill>
                  <a:srgbClr val="1E4191"/>
                </a:solidFill>
                <a:latin typeface="GE Inspira Pitch" panose="020F0603030400020203" pitchFamily="34" charset="0"/>
              </a:rPr>
              <a:pPr algn="r">
                <a:lnSpc>
                  <a:spcPct val="90000"/>
                </a:lnSpc>
              </a:pPr>
              <a:t>‹#›</a:t>
            </a:fld>
            <a:r>
              <a:rPr lang="en-US" altLang="en-US" sz="900" b="0">
                <a:solidFill>
                  <a:srgbClr val="1E4191"/>
                </a:solidFill>
                <a:latin typeface="GE Inspira Pitch" panose="020F0603030400020203" pitchFamily="34" charset="0"/>
              </a:rPr>
              <a:t> </a:t>
            </a:r>
          </a:p>
          <a:p>
            <a:pPr algn="r">
              <a:lnSpc>
                <a:spcPct val="90000"/>
              </a:lnSpc>
            </a:pPr>
            <a:r>
              <a:rPr lang="en-US" altLang="en-US" sz="900" b="0">
                <a:solidFill>
                  <a:srgbClr val="1E4191"/>
                </a:solidFill>
                <a:latin typeface="GE Inspira Pitch" panose="020F0603030400020203" pitchFamily="34" charset="0"/>
              </a:rPr>
              <a:t>GE Title or job number </a:t>
            </a:r>
          </a:p>
          <a:p>
            <a:pPr algn="r">
              <a:lnSpc>
                <a:spcPct val="90000"/>
              </a:lnSpc>
            </a:pPr>
            <a:fld id="{148A7F34-E42F-41A0-9C2E-93C3015972D1}" type="datetime1">
              <a:rPr lang="en-US" altLang="en-US" sz="900" b="0">
                <a:solidFill>
                  <a:srgbClr val="1E4191"/>
                </a:solidFill>
                <a:latin typeface="GE Inspira Pitch" panose="020F0603030400020203" pitchFamily="34" charset="0"/>
              </a:rPr>
              <a:pPr algn="r">
                <a:lnSpc>
                  <a:spcPct val="90000"/>
                </a:lnSpc>
              </a:pPr>
              <a:t>3/7/2017</a:t>
            </a:fld>
            <a:endParaRPr lang="en-US" altLang="en-US" sz="3200" b="0">
              <a:solidFill>
                <a:srgbClr val="1E4191"/>
              </a:solidFill>
              <a:latin typeface="GE Inspira Pitch" panose="020F0603030400020203" pitchFamily="34" charset="0"/>
            </a:endParaRPr>
          </a:p>
        </p:txBody>
      </p:sp>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457200" y="1727200"/>
            <a:ext cx="5537200" cy="4237038"/>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97600" y="1727200"/>
            <a:ext cx="5539317" cy="4237038"/>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22836404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pic>
        <p:nvPicPr>
          <p:cNvPr id="6"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1" y="6083300"/>
            <a:ext cx="21336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18"/>
          <p:cNvSpPr txBox="1">
            <a:spLocks noChangeArrowheads="1"/>
          </p:cNvSpPr>
          <p:nvPr userDrawn="1"/>
        </p:nvSpPr>
        <p:spPr bwMode="auto">
          <a:xfrm>
            <a:off x="8589434" y="6229351"/>
            <a:ext cx="3274484"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r">
              <a:lnSpc>
                <a:spcPct val="90000"/>
              </a:lnSpc>
            </a:pPr>
            <a:fld id="{0E89B4B3-8DD4-4EBD-9228-8EF3BCE0C479}" type="slidenum">
              <a:rPr lang="en-US" altLang="en-US" sz="900" b="0">
                <a:solidFill>
                  <a:srgbClr val="1E4191"/>
                </a:solidFill>
                <a:latin typeface="GE Inspira Pitch" panose="020F0603030400020203" pitchFamily="34" charset="0"/>
              </a:rPr>
              <a:pPr algn="r">
                <a:lnSpc>
                  <a:spcPct val="90000"/>
                </a:lnSpc>
              </a:pPr>
              <a:t>‹#›</a:t>
            </a:fld>
            <a:r>
              <a:rPr lang="en-US" altLang="en-US" sz="900" b="0">
                <a:solidFill>
                  <a:srgbClr val="1E4191"/>
                </a:solidFill>
                <a:latin typeface="GE Inspira Pitch" panose="020F0603030400020203" pitchFamily="34" charset="0"/>
              </a:rPr>
              <a:t> </a:t>
            </a:r>
          </a:p>
          <a:p>
            <a:pPr algn="r">
              <a:lnSpc>
                <a:spcPct val="90000"/>
              </a:lnSpc>
            </a:pPr>
            <a:r>
              <a:rPr lang="en-US" altLang="en-US" sz="900" b="0">
                <a:solidFill>
                  <a:srgbClr val="1E4191"/>
                </a:solidFill>
                <a:latin typeface="GE Inspira Pitch" panose="020F0603030400020203" pitchFamily="34" charset="0"/>
              </a:rPr>
              <a:t>GE Title or job number </a:t>
            </a:r>
          </a:p>
          <a:p>
            <a:pPr algn="r">
              <a:lnSpc>
                <a:spcPct val="90000"/>
              </a:lnSpc>
            </a:pPr>
            <a:fld id="{4BE8B80C-44B3-4005-8245-78B46BCA1CF6}" type="datetime1">
              <a:rPr lang="en-US" altLang="en-US" sz="900" b="0">
                <a:solidFill>
                  <a:srgbClr val="1E4191"/>
                </a:solidFill>
                <a:latin typeface="GE Inspira Pitch" panose="020F0603030400020203" pitchFamily="34" charset="0"/>
              </a:rPr>
              <a:pPr algn="r">
                <a:lnSpc>
                  <a:spcPct val="90000"/>
                </a:lnSpc>
              </a:pPr>
              <a:t>3/7/2017</a:t>
            </a:fld>
            <a:endParaRPr lang="en-US" altLang="en-US" sz="3200" b="0">
              <a:solidFill>
                <a:srgbClr val="1E4191"/>
              </a:solidFill>
              <a:latin typeface="GE Inspira Pitch" panose="020F0603030400020203" pitchFamily="34" charset="0"/>
            </a:endParaRPr>
          </a:p>
        </p:txBody>
      </p:sp>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457201" y="1727200"/>
            <a:ext cx="3658999" cy="4237038"/>
          </a:xfrm>
        </p:spPr>
        <p:txBody>
          <a:bodyPr/>
          <a:lstStyle>
            <a:lvl1pPr>
              <a:defRPr sz="1800"/>
            </a:lvl1pPr>
            <a:lvl2pPr marL="180975" indent="-179388">
              <a:defRPr sz="1800"/>
            </a:lvl2pPr>
            <a:lvl3pPr marL="361950" indent="-180975">
              <a:defRPr sz="1800"/>
            </a:lvl3pPr>
            <a:lvl4pPr marL="542925" indent="-180975">
              <a:defRPr sz="1800"/>
            </a:lvl4pPr>
            <a:lvl5pPr marL="715963" indent="-173038">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ontent Placeholder 2"/>
          <p:cNvSpPr>
            <a:spLocks noGrp="1"/>
          </p:cNvSpPr>
          <p:nvPr>
            <p:ph sz="half" idx="10"/>
          </p:nvPr>
        </p:nvSpPr>
        <p:spPr>
          <a:xfrm>
            <a:off x="4275827" y="1727200"/>
            <a:ext cx="3658999" cy="4237038"/>
          </a:xfrm>
        </p:spPr>
        <p:txBody>
          <a:bodyPr/>
          <a:lstStyle>
            <a:lvl1pPr>
              <a:defRPr sz="1800"/>
            </a:lvl1pPr>
            <a:lvl2pPr marL="180975" indent="-179388">
              <a:defRPr sz="1800"/>
            </a:lvl2pPr>
            <a:lvl3pPr marL="361950" indent="-180975">
              <a:defRPr sz="1800"/>
            </a:lvl3pPr>
            <a:lvl4pPr marL="542925" indent="-180975">
              <a:defRPr sz="1800"/>
            </a:lvl4pPr>
            <a:lvl5pPr marL="715963" indent="-173038">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Content Placeholder 2"/>
          <p:cNvSpPr>
            <a:spLocks noGrp="1"/>
          </p:cNvSpPr>
          <p:nvPr>
            <p:ph sz="half" idx="11"/>
          </p:nvPr>
        </p:nvSpPr>
        <p:spPr>
          <a:xfrm>
            <a:off x="8084269" y="1727200"/>
            <a:ext cx="3658999" cy="4237038"/>
          </a:xfrm>
        </p:spPr>
        <p:txBody>
          <a:bodyPr/>
          <a:lstStyle>
            <a:lvl1pPr>
              <a:defRPr sz="1800"/>
            </a:lvl1pPr>
            <a:lvl2pPr marL="180975" indent="-179388">
              <a:defRPr sz="1800"/>
            </a:lvl2pPr>
            <a:lvl3pPr marL="361950" indent="-180975">
              <a:defRPr sz="1800"/>
            </a:lvl3pPr>
            <a:lvl4pPr marL="542925" indent="-180975">
              <a:defRPr sz="1800"/>
            </a:lvl4pPr>
            <a:lvl5pPr marL="715963" indent="-173038">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0318803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pic>
        <p:nvPicPr>
          <p:cNvPr id="7"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1" y="6083300"/>
            <a:ext cx="21336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8"/>
          <p:cNvSpPr txBox="1">
            <a:spLocks noChangeArrowheads="1"/>
          </p:cNvSpPr>
          <p:nvPr userDrawn="1"/>
        </p:nvSpPr>
        <p:spPr bwMode="auto">
          <a:xfrm>
            <a:off x="8589434" y="6229351"/>
            <a:ext cx="3274484"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r">
              <a:lnSpc>
                <a:spcPct val="90000"/>
              </a:lnSpc>
            </a:pPr>
            <a:fld id="{44FFB10D-5385-441C-BBF3-EB8F4891FA0E}" type="slidenum">
              <a:rPr lang="en-US" altLang="en-US" sz="900" b="0">
                <a:solidFill>
                  <a:srgbClr val="1E4191"/>
                </a:solidFill>
                <a:latin typeface="GE Inspira Pitch" panose="020F0603030400020203" pitchFamily="34" charset="0"/>
              </a:rPr>
              <a:pPr algn="r">
                <a:lnSpc>
                  <a:spcPct val="90000"/>
                </a:lnSpc>
              </a:pPr>
              <a:t>‹#›</a:t>
            </a:fld>
            <a:r>
              <a:rPr lang="en-US" altLang="en-US" sz="900" b="0">
                <a:solidFill>
                  <a:srgbClr val="1E4191"/>
                </a:solidFill>
                <a:latin typeface="GE Inspira Pitch" panose="020F0603030400020203" pitchFamily="34" charset="0"/>
              </a:rPr>
              <a:t> </a:t>
            </a:r>
          </a:p>
          <a:p>
            <a:pPr algn="r">
              <a:lnSpc>
                <a:spcPct val="90000"/>
              </a:lnSpc>
            </a:pPr>
            <a:r>
              <a:rPr lang="en-US" altLang="en-US" sz="900" b="0">
                <a:solidFill>
                  <a:srgbClr val="1E4191"/>
                </a:solidFill>
                <a:latin typeface="GE Inspira Pitch" panose="020F0603030400020203" pitchFamily="34" charset="0"/>
              </a:rPr>
              <a:t>GE Title or job number </a:t>
            </a:r>
          </a:p>
          <a:p>
            <a:pPr algn="r">
              <a:lnSpc>
                <a:spcPct val="90000"/>
              </a:lnSpc>
            </a:pPr>
            <a:fld id="{C8752937-53CE-4050-9ED3-0D6D4A887653}" type="datetime1">
              <a:rPr lang="en-US" altLang="en-US" sz="900" b="0">
                <a:solidFill>
                  <a:srgbClr val="1E4191"/>
                </a:solidFill>
                <a:latin typeface="GE Inspira Pitch" panose="020F0603030400020203" pitchFamily="34" charset="0"/>
              </a:rPr>
              <a:pPr algn="r">
                <a:lnSpc>
                  <a:spcPct val="90000"/>
                </a:lnSpc>
              </a:pPr>
              <a:t>3/7/2017</a:t>
            </a:fld>
            <a:endParaRPr lang="en-US" altLang="en-US" sz="3200" b="0">
              <a:solidFill>
                <a:srgbClr val="1E4191"/>
              </a:solidFill>
              <a:latin typeface="GE Inspira Pitch" panose="020F0603030400020203" pitchFamily="34" charset="0"/>
            </a:endParaRPr>
          </a:p>
        </p:txBody>
      </p:sp>
      <p:sp>
        <p:nvSpPr>
          <p:cNvPr id="3" name="Text Placeholder 2"/>
          <p:cNvSpPr>
            <a:spLocks noGrp="1"/>
          </p:cNvSpPr>
          <p:nvPr>
            <p:ph type="body" idx="1"/>
          </p:nvPr>
        </p:nvSpPr>
        <p:spPr>
          <a:xfrm>
            <a:off x="464190" y="1736450"/>
            <a:ext cx="5536540" cy="394355"/>
          </a:xfrm>
        </p:spPr>
        <p:txBody>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64190" y="2189528"/>
            <a:ext cx="5536540" cy="3766655"/>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204552" y="1736450"/>
            <a:ext cx="5538715" cy="394355"/>
          </a:xfrm>
        </p:spPr>
        <p:txBody>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4552" y="2189528"/>
            <a:ext cx="5538715" cy="3766655"/>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Title 1"/>
          <p:cNvSpPr>
            <a:spLocks noGrp="1"/>
          </p:cNvSpPr>
          <p:nvPr>
            <p:ph type="title"/>
          </p:nvPr>
        </p:nvSpPr>
        <p:spPr>
          <a:xfrm>
            <a:off x="457200" y="280989"/>
            <a:ext cx="11279717" cy="998537"/>
          </a:xfrm>
        </p:spPr>
        <p:txBody>
          <a:bodyPr/>
          <a:lstStyle/>
          <a:p>
            <a:r>
              <a:rPr lang="en-US"/>
              <a:t>Click to edit Master title style</a:t>
            </a:r>
            <a:endParaRPr lang="en-GB" dirty="0"/>
          </a:p>
        </p:txBody>
      </p:sp>
    </p:spTree>
    <p:extLst>
      <p:ext uri="{BB962C8B-B14F-4D97-AF65-F5344CB8AC3E}">
        <p14:creationId xmlns:p14="http://schemas.microsoft.com/office/powerpoint/2010/main" val="29133565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1" y="6083300"/>
            <a:ext cx="21336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18"/>
          <p:cNvSpPr txBox="1">
            <a:spLocks noChangeArrowheads="1"/>
          </p:cNvSpPr>
          <p:nvPr userDrawn="1"/>
        </p:nvSpPr>
        <p:spPr bwMode="auto">
          <a:xfrm>
            <a:off x="8589434" y="6229351"/>
            <a:ext cx="3274484"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r">
              <a:lnSpc>
                <a:spcPct val="90000"/>
              </a:lnSpc>
            </a:pPr>
            <a:fld id="{E9092E9A-2C6B-4B3F-8684-1CB4F40DA578}" type="slidenum">
              <a:rPr lang="en-US" altLang="en-US" sz="900" b="0">
                <a:solidFill>
                  <a:srgbClr val="1E4191"/>
                </a:solidFill>
                <a:latin typeface="GE Inspira Pitch" panose="020F0603030400020203" pitchFamily="34" charset="0"/>
              </a:rPr>
              <a:pPr algn="r">
                <a:lnSpc>
                  <a:spcPct val="90000"/>
                </a:lnSpc>
              </a:pPr>
              <a:t>‹#›</a:t>
            </a:fld>
            <a:r>
              <a:rPr lang="en-US" altLang="en-US" sz="900" b="0">
                <a:solidFill>
                  <a:srgbClr val="1E4191"/>
                </a:solidFill>
                <a:latin typeface="GE Inspira Pitch" panose="020F0603030400020203" pitchFamily="34" charset="0"/>
              </a:rPr>
              <a:t> </a:t>
            </a:r>
          </a:p>
          <a:p>
            <a:pPr algn="r">
              <a:lnSpc>
                <a:spcPct val="90000"/>
              </a:lnSpc>
            </a:pPr>
            <a:r>
              <a:rPr lang="en-US" altLang="en-US" sz="900" b="0">
                <a:solidFill>
                  <a:srgbClr val="1E4191"/>
                </a:solidFill>
                <a:latin typeface="GE Inspira Pitch" panose="020F0603030400020203" pitchFamily="34" charset="0"/>
              </a:rPr>
              <a:t>GE Title or job number </a:t>
            </a:r>
          </a:p>
          <a:p>
            <a:pPr algn="r">
              <a:lnSpc>
                <a:spcPct val="90000"/>
              </a:lnSpc>
            </a:pPr>
            <a:fld id="{F5004C77-BB07-4E4D-AEC5-B7A3F6664283}" type="datetime1">
              <a:rPr lang="en-US" altLang="en-US" sz="900" b="0">
                <a:solidFill>
                  <a:srgbClr val="1E4191"/>
                </a:solidFill>
                <a:latin typeface="GE Inspira Pitch" panose="020F0603030400020203" pitchFamily="34" charset="0"/>
              </a:rPr>
              <a:pPr algn="r">
                <a:lnSpc>
                  <a:spcPct val="90000"/>
                </a:lnSpc>
              </a:pPr>
              <a:t>3/7/2017</a:t>
            </a:fld>
            <a:endParaRPr lang="en-US" altLang="en-US" sz="3200" b="0">
              <a:solidFill>
                <a:srgbClr val="1E4191"/>
              </a:solidFill>
              <a:latin typeface="GE Inspira Pitch" panose="020F0603030400020203" pitchFamily="34" charset="0"/>
            </a:endParaRPr>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101285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3" name="Picture 3" descr="GEMeatball&amp;Ta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425451" y="6088064"/>
            <a:ext cx="214418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0400" y="280800"/>
            <a:ext cx="11280000" cy="997200"/>
          </a:xfrm>
        </p:spPr>
        <p:txBody>
          <a:bodyPr/>
          <a:lstStyle>
            <a:lvl1pPr algn="l">
              <a:defRPr sz="4000" b="0" cap="none" baseline="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8176805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ection Header Green">
    <p:bg>
      <p:bgPr>
        <a:solidFill>
          <a:srgbClr val="00AA50"/>
        </a:solidFill>
        <a:effectLst/>
      </p:bgPr>
    </p:bg>
    <p:spTree>
      <p:nvGrpSpPr>
        <p:cNvPr id="1" name=""/>
        <p:cNvGrpSpPr/>
        <p:nvPr/>
      </p:nvGrpSpPr>
      <p:grpSpPr>
        <a:xfrm>
          <a:off x="0" y="0"/>
          <a:ext cx="0" cy="0"/>
          <a:chOff x="0" y="0"/>
          <a:chExt cx="0" cy="0"/>
        </a:xfrm>
      </p:grpSpPr>
      <p:pic>
        <p:nvPicPr>
          <p:cNvPr id="3" name="Picture 3" descr="GEMeatball&amp;Ta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425451" y="6088064"/>
            <a:ext cx="214418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0400" y="280800"/>
            <a:ext cx="11280000" cy="997200"/>
          </a:xfrm>
        </p:spPr>
        <p:txBody>
          <a:bodyPr/>
          <a:lstStyle>
            <a:lvl1pPr algn="l">
              <a:defRPr sz="4000" b="0" cap="none" baseline="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9300935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Header Orange">
    <p:bg>
      <p:bgPr>
        <a:solidFill>
          <a:schemeClr val="tx2"/>
        </a:solidFill>
        <a:effectLst/>
      </p:bgPr>
    </p:bg>
    <p:spTree>
      <p:nvGrpSpPr>
        <p:cNvPr id="1" name=""/>
        <p:cNvGrpSpPr/>
        <p:nvPr/>
      </p:nvGrpSpPr>
      <p:grpSpPr>
        <a:xfrm>
          <a:off x="0" y="0"/>
          <a:ext cx="0" cy="0"/>
          <a:chOff x="0" y="0"/>
          <a:chExt cx="0" cy="0"/>
        </a:xfrm>
      </p:grpSpPr>
      <p:pic>
        <p:nvPicPr>
          <p:cNvPr id="3" name="Picture 3" descr="GEMeatball&amp;Ta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425451" y="6088064"/>
            <a:ext cx="214418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0400" y="280800"/>
            <a:ext cx="11280000" cy="997200"/>
          </a:xfrm>
        </p:spPr>
        <p:txBody>
          <a:bodyPr/>
          <a:lstStyle>
            <a:lvl1pPr algn="l">
              <a:defRPr sz="4000" b="0" cap="none" baseline="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15587601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 Purple">
    <p:bg>
      <p:bgPr>
        <a:solidFill>
          <a:schemeClr val="accent1"/>
        </a:solidFill>
        <a:effectLst/>
      </p:bgPr>
    </p:bg>
    <p:spTree>
      <p:nvGrpSpPr>
        <p:cNvPr id="1" name=""/>
        <p:cNvGrpSpPr/>
        <p:nvPr/>
      </p:nvGrpSpPr>
      <p:grpSpPr>
        <a:xfrm>
          <a:off x="0" y="0"/>
          <a:ext cx="0" cy="0"/>
          <a:chOff x="0" y="0"/>
          <a:chExt cx="0" cy="0"/>
        </a:xfrm>
      </p:grpSpPr>
      <p:pic>
        <p:nvPicPr>
          <p:cNvPr id="3" name="Picture 3" descr="GEMeatball&amp;Ta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425451" y="6088064"/>
            <a:ext cx="214418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0400" y="280800"/>
            <a:ext cx="11280000" cy="997200"/>
          </a:xfrm>
        </p:spPr>
        <p:txBody>
          <a:bodyPr/>
          <a:lstStyle>
            <a:lvl1pPr algn="l">
              <a:defRPr sz="4000" b="0" cap="none" baseline="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8750003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Cyan">
    <p:bg>
      <p:bgPr>
        <a:solidFill>
          <a:schemeClr val="accent2"/>
        </a:solidFill>
        <a:effectLst/>
      </p:bgPr>
    </p:bg>
    <p:spTree>
      <p:nvGrpSpPr>
        <p:cNvPr id="1" name=""/>
        <p:cNvGrpSpPr/>
        <p:nvPr/>
      </p:nvGrpSpPr>
      <p:grpSpPr>
        <a:xfrm>
          <a:off x="0" y="0"/>
          <a:ext cx="0" cy="0"/>
          <a:chOff x="0" y="0"/>
          <a:chExt cx="0" cy="0"/>
        </a:xfrm>
      </p:grpSpPr>
      <p:pic>
        <p:nvPicPr>
          <p:cNvPr id="3" name="Picture 3" descr="GEMeatball&amp;Ta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425451" y="6088064"/>
            <a:ext cx="214418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0400" y="280800"/>
            <a:ext cx="11280000" cy="997200"/>
          </a:xfrm>
        </p:spPr>
        <p:txBody>
          <a:bodyPr/>
          <a:lstStyle>
            <a:lvl1pPr algn="l">
              <a:defRPr sz="4000" b="0" cap="none" baseline="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455810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Violet">
    <p:bg>
      <p:bgPr>
        <a:solidFill>
          <a:srgbClr val="CD0078"/>
        </a:solidFill>
        <a:effectLst/>
      </p:bgPr>
    </p:bg>
    <p:spTree>
      <p:nvGrpSpPr>
        <p:cNvPr id="1" name=""/>
        <p:cNvGrpSpPr/>
        <p:nvPr/>
      </p:nvGrpSpPr>
      <p:grpSpPr>
        <a:xfrm>
          <a:off x="0" y="0"/>
          <a:ext cx="0" cy="0"/>
          <a:chOff x="0" y="0"/>
          <a:chExt cx="0" cy="0"/>
        </a:xfrm>
      </p:grpSpPr>
      <p:pic>
        <p:nvPicPr>
          <p:cNvPr id="3" name="Picture 3" descr="GEMeatball&amp;Ta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425451" y="6088064"/>
            <a:ext cx="214418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0400" y="280800"/>
            <a:ext cx="11280000" cy="997200"/>
          </a:xfrm>
        </p:spPr>
        <p:txBody>
          <a:bodyPr/>
          <a:lstStyle>
            <a:lvl1pPr algn="l">
              <a:defRPr sz="4000" b="0" cap="none" baseline="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42131658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Header Light Green">
    <p:bg>
      <p:bgPr>
        <a:solidFill>
          <a:srgbClr val="76B900"/>
        </a:solidFill>
        <a:effectLst/>
      </p:bgPr>
    </p:bg>
    <p:spTree>
      <p:nvGrpSpPr>
        <p:cNvPr id="1" name=""/>
        <p:cNvGrpSpPr/>
        <p:nvPr/>
      </p:nvGrpSpPr>
      <p:grpSpPr>
        <a:xfrm>
          <a:off x="0" y="0"/>
          <a:ext cx="0" cy="0"/>
          <a:chOff x="0" y="0"/>
          <a:chExt cx="0" cy="0"/>
        </a:xfrm>
      </p:grpSpPr>
      <p:pic>
        <p:nvPicPr>
          <p:cNvPr id="3" name="Picture 3" descr="GEMeatball&amp;Ta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black">
          <a:xfrm>
            <a:off x="425451" y="6088064"/>
            <a:ext cx="214418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70400" y="280800"/>
            <a:ext cx="11280000" cy="997200"/>
          </a:xfrm>
        </p:spPr>
        <p:txBody>
          <a:bodyPr/>
          <a:lstStyle>
            <a:lvl1pPr algn="l">
              <a:defRPr sz="4000" b="0" cap="none" baseline="0">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31400583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2" name="Picture 5" descr="D:\Documents and Settings\200015691\Desktop\Ivan Files\Downloads\IAW Tagline\IAW Tagline PPT use\One Line-Horizontal\GE_lockup_PMS7455_IaW_pp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3301" y="2733676"/>
            <a:ext cx="4917017" cy="135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2950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6" Type="http://schemas.openxmlformats.org/officeDocument/2006/relationships/theme" Target="../theme/theme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509833"/>
            <a:ext cx="11201400" cy="914400"/>
          </a:xfrm>
          <a:prstGeom prst="rect">
            <a:avLst/>
          </a:prstGeom>
        </p:spPr>
        <p:txBody>
          <a:bodyPr vert="horz" lIns="0" tIns="0" rIns="0" bIns="0" rtlCol="0" anchor="t" anchorCtr="0">
            <a:noAutofit/>
          </a:bodyPr>
          <a:lstStyle/>
          <a:p>
            <a:r>
              <a:rPr lang="en-US"/>
              <a:t>Click to edit Master title style</a:t>
            </a:r>
            <a:endParaRPr lang="en-CA" dirty="0"/>
          </a:p>
        </p:txBody>
      </p:sp>
      <p:sp>
        <p:nvSpPr>
          <p:cNvPr id="3" name="Text Placeholder 2"/>
          <p:cNvSpPr>
            <a:spLocks noGrp="1"/>
          </p:cNvSpPr>
          <p:nvPr>
            <p:ph type="body" idx="1"/>
          </p:nvPr>
        </p:nvSpPr>
        <p:spPr>
          <a:xfrm>
            <a:off x="495300" y="1793081"/>
            <a:ext cx="11201400" cy="4305300"/>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p:cNvSpPr>
            <a:spLocks noGrp="1"/>
          </p:cNvSpPr>
          <p:nvPr>
            <p:ph type="dt" sz="half" idx="2"/>
          </p:nvPr>
        </p:nvSpPr>
        <p:spPr>
          <a:xfrm>
            <a:off x="4598624" y="6432462"/>
            <a:ext cx="1671207" cy="182880"/>
          </a:xfrm>
          <a:prstGeom prst="rect">
            <a:avLst/>
          </a:prstGeom>
        </p:spPr>
        <p:txBody>
          <a:bodyPr vert="horz" lIns="0" tIns="0" rIns="0" bIns="0" rtlCol="0" anchor="t" anchorCtr="0">
            <a:noAutofit/>
          </a:bodyPr>
          <a:lstStyle>
            <a:lvl1pPr algn="l">
              <a:defRPr sz="1000">
                <a:solidFill>
                  <a:schemeClr val="accent2"/>
                </a:solidFill>
              </a:defRPr>
            </a:lvl1pPr>
          </a:lstStyle>
          <a:p>
            <a:fld id="{33F05179-5B71-463C-A44B-FABD6424993B}" type="datetime3">
              <a:rPr lang="en-US" smtClean="0"/>
              <a:t>7 March 2017</a:t>
            </a:fld>
            <a:endParaRPr lang="en-CA" dirty="0"/>
          </a:p>
        </p:txBody>
      </p:sp>
      <p:sp>
        <p:nvSpPr>
          <p:cNvPr id="6" name="Slide Number Placeholder 5"/>
          <p:cNvSpPr>
            <a:spLocks noGrp="1"/>
          </p:cNvSpPr>
          <p:nvPr>
            <p:ph type="sldNum" sz="quarter" idx="4"/>
          </p:nvPr>
        </p:nvSpPr>
        <p:spPr>
          <a:xfrm>
            <a:off x="11371032" y="6432462"/>
            <a:ext cx="329636" cy="182880"/>
          </a:xfrm>
          <a:prstGeom prst="rect">
            <a:avLst/>
          </a:prstGeom>
        </p:spPr>
        <p:txBody>
          <a:bodyPr vert="horz" lIns="0" tIns="0" rIns="0" bIns="0" rtlCol="0" anchor="t" anchorCtr="0">
            <a:noAutofit/>
          </a:bodyPr>
          <a:lstStyle>
            <a:lvl1pPr algn="r">
              <a:defRPr sz="1000">
                <a:solidFill>
                  <a:schemeClr val="accent2"/>
                </a:solidFill>
              </a:defRPr>
            </a:lvl1pPr>
          </a:lstStyle>
          <a:p>
            <a:fld id="{00E6A5BD-C011-4A45-AA3A-201790FB7F2B}" type="slidenum">
              <a:rPr lang="en-CA" smtClean="0"/>
              <a:pPr/>
              <a:t>‹#›</a:t>
            </a:fld>
            <a:endParaRPr lang="en-CA" dirty="0"/>
          </a:p>
        </p:txBody>
      </p:sp>
      <p:sp>
        <p:nvSpPr>
          <p:cNvPr id="12" name="TextBox 11"/>
          <p:cNvSpPr txBox="1"/>
          <p:nvPr/>
        </p:nvSpPr>
        <p:spPr>
          <a:xfrm>
            <a:off x="6475011" y="6432462"/>
            <a:ext cx="4540651" cy="182880"/>
          </a:xfrm>
          <a:prstGeom prst="rect">
            <a:avLst/>
          </a:prstGeom>
          <a:noFill/>
        </p:spPr>
        <p:txBody>
          <a:bodyPr wrap="square" lIns="0" tIns="0" rIns="0" bIns="0" rtlCol="0">
            <a:noAutofit/>
          </a:bodyPr>
          <a:lstStyle/>
          <a:p>
            <a:r>
              <a:rPr lang="en-US" sz="1000" dirty="0">
                <a:solidFill>
                  <a:schemeClr val="accent2"/>
                </a:solidFill>
              </a:rPr>
              <a:t>Class</a:t>
            </a:r>
            <a:r>
              <a:rPr lang="en-US" sz="1000" baseline="0" dirty="0">
                <a:solidFill>
                  <a:schemeClr val="accent2"/>
                </a:solidFill>
              </a:rPr>
              <a:t> II – GE Internal</a:t>
            </a:r>
            <a:endParaRPr lang="en-CA" sz="1000" dirty="0">
              <a:solidFill>
                <a:schemeClr val="accent2"/>
              </a:solidFill>
            </a:endParaRPr>
          </a:p>
        </p:txBody>
      </p:sp>
      <p:sp>
        <p:nvSpPr>
          <p:cNvPr id="10" name="Freeform 5"/>
          <p:cNvSpPr>
            <a:spLocks noChangeAspect="1" noEditPoints="1"/>
          </p:cNvSpPr>
          <p:nvPr userDrawn="1"/>
        </p:nvSpPr>
        <p:spPr bwMode="auto">
          <a:xfrm>
            <a:off x="515012" y="6312756"/>
            <a:ext cx="384048" cy="384048"/>
          </a:xfrm>
          <a:custGeom>
            <a:avLst/>
            <a:gdLst>
              <a:gd name="T0" fmla="*/ 3869 w 5760"/>
              <a:gd name="T1" fmla="*/ 1545 h 5760"/>
              <a:gd name="T2" fmla="*/ 2018 w 5760"/>
              <a:gd name="T3" fmla="*/ 2250 h 5760"/>
              <a:gd name="T4" fmla="*/ 2018 w 5760"/>
              <a:gd name="T5" fmla="*/ 2250 h 5760"/>
              <a:gd name="T6" fmla="*/ 1556 w 5760"/>
              <a:gd name="T7" fmla="*/ 3934 h 5760"/>
              <a:gd name="T8" fmla="*/ 1755 w 5760"/>
              <a:gd name="T9" fmla="*/ 4133 h 5760"/>
              <a:gd name="T10" fmla="*/ 3470 w 5760"/>
              <a:gd name="T11" fmla="*/ 3455 h 5760"/>
              <a:gd name="T12" fmla="*/ 3861 w 5760"/>
              <a:gd name="T13" fmla="*/ 3710 h 5760"/>
              <a:gd name="T14" fmla="*/ 3933 w 5760"/>
              <a:gd name="T15" fmla="*/ 3255 h 5760"/>
              <a:gd name="T16" fmla="*/ 3734 w 5760"/>
              <a:gd name="T17" fmla="*/ 4133 h 5760"/>
              <a:gd name="T18" fmla="*/ 3694 w 5760"/>
              <a:gd name="T19" fmla="*/ 2712 h 5760"/>
              <a:gd name="T20" fmla="*/ 3905 w 5760"/>
              <a:gd name="T21" fmla="*/ 2466 h 5760"/>
              <a:gd name="T22" fmla="*/ 3574 w 5760"/>
              <a:gd name="T23" fmla="*/ 2354 h 5760"/>
              <a:gd name="T24" fmla="*/ 3853 w 5760"/>
              <a:gd name="T25" fmla="*/ 1324 h 5760"/>
              <a:gd name="T26" fmla="*/ 3295 w 5760"/>
              <a:gd name="T27" fmla="*/ 2298 h 5760"/>
              <a:gd name="T28" fmla="*/ 2685 w 5760"/>
              <a:gd name="T29" fmla="*/ 2469 h 5760"/>
              <a:gd name="T30" fmla="*/ 2816 w 5760"/>
              <a:gd name="T31" fmla="*/ 1987 h 5760"/>
              <a:gd name="T32" fmla="*/ 2170 w 5760"/>
              <a:gd name="T33" fmla="*/ 2593 h 5760"/>
              <a:gd name="T34" fmla="*/ 2712 w 5760"/>
              <a:gd name="T35" fmla="*/ 1580 h 5760"/>
              <a:gd name="T36" fmla="*/ 1779 w 5760"/>
              <a:gd name="T37" fmla="*/ 2274 h 5760"/>
              <a:gd name="T38" fmla="*/ 1643 w 5760"/>
              <a:gd name="T39" fmla="*/ 1795 h 5760"/>
              <a:gd name="T40" fmla="*/ 1388 w 5760"/>
              <a:gd name="T41" fmla="*/ 2066 h 5760"/>
              <a:gd name="T42" fmla="*/ 2122 w 5760"/>
              <a:gd name="T43" fmla="*/ 2792 h 5760"/>
              <a:gd name="T44" fmla="*/ 2417 w 5760"/>
              <a:gd name="T45" fmla="*/ 2832 h 5760"/>
              <a:gd name="T46" fmla="*/ 1292 w 5760"/>
              <a:gd name="T47" fmla="*/ 3917 h 5760"/>
              <a:gd name="T48" fmla="*/ 2537 w 5760"/>
              <a:gd name="T49" fmla="*/ 3678 h 5760"/>
              <a:gd name="T50" fmla="*/ 3374 w 5760"/>
              <a:gd name="T51" fmla="*/ 2489 h 5760"/>
              <a:gd name="T52" fmla="*/ 2888 w 5760"/>
              <a:gd name="T53" fmla="*/ 3502 h 5760"/>
              <a:gd name="T54" fmla="*/ 4484 w 5760"/>
              <a:gd name="T55" fmla="*/ 3646 h 5760"/>
              <a:gd name="T56" fmla="*/ 5321 w 5760"/>
              <a:gd name="T57" fmla="*/ 3701 h 5760"/>
              <a:gd name="T58" fmla="*/ 5297 w 5760"/>
              <a:gd name="T59" fmla="*/ 3694 h 5760"/>
              <a:gd name="T60" fmla="*/ 5066 w 5760"/>
              <a:gd name="T61" fmla="*/ 2513 h 5760"/>
              <a:gd name="T62" fmla="*/ 5138 w 5760"/>
              <a:gd name="T63" fmla="*/ 3415 h 5760"/>
              <a:gd name="T64" fmla="*/ 2880 w 5760"/>
              <a:gd name="T65" fmla="*/ 5449 h 5760"/>
              <a:gd name="T66" fmla="*/ 2063 w 5760"/>
              <a:gd name="T67" fmla="*/ 5306 h 5760"/>
              <a:gd name="T68" fmla="*/ 2689 w 5760"/>
              <a:gd name="T69" fmla="*/ 5393 h 5760"/>
              <a:gd name="T70" fmla="*/ 3047 w 5760"/>
              <a:gd name="T71" fmla="*/ 4875 h 5760"/>
              <a:gd name="T72" fmla="*/ 1771 w 5760"/>
              <a:gd name="T73" fmla="*/ 5042 h 5760"/>
              <a:gd name="T74" fmla="*/ 440 w 5760"/>
              <a:gd name="T75" fmla="*/ 2067 h 5760"/>
              <a:gd name="T76" fmla="*/ 462 w 5760"/>
              <a:gd name="T77" fmla="*/ 2075 h 5760"/>
              <a:gd name="T78" fmla="*/ 694 w 5760"/>
              <a:gd name="T79" fmla="*/ 3247 h 5760"/>
              <a:gd name="T80" fmla="*/ 622 w 5760"/>
              <a:gd name="T81" fmla="*/ 2354 h 5760"/>
              <a:gd name="T82" fmla="*/ 2880 w 5760"/>
              <a:gd name="T83" fmla="*/ 311 h 5760"/>
              <a:gd name="T84" fmla="*/ 3696 w 5760"/>
              <a:gd name="T85" fmla="*/ 461 h 5760"/>
              <a:gd name="T86" fmla="*/ 3071 w 5760"/>
              <a:gd name="T87" fmla="*/ 367 h 5760"/>
              <a:gd name="T88" fmla="*/ 2712 w 5760"/>
              <a:gd name="T89" fmla="*/ 885 h 5760"/>
              <a:gd name="T90" fmla="*/ 3989 w 5760"/>
              <a:gd name="T91" fmla="*/ 726 h 5760"/>
              <a:gd name="T92" fmla="*/ 5321 w 5760"/>
              <a:gd name="T93" fmla="*/ 3701 h 5760"/>
              <a:gd name="T94" fmla="*/ 135 w 5760"/>
              <a:gd name="T95" fmla="*/ 2880 h 5760"/>
              <a:gd name="T96" fmla="*/ 5624 w 5760"/>
              <a:gd name="T97" fmla="*/ 2880 h 5760"/>
              <a:gd name="T98" fmla="*/ 2880 w 5760"/>
              <a:gd name="T99" fmla="*/ 5760 h 5760"/>
              <a:gd name="T100" fmla="*/ 2880 w 5760"/>
              <a:gd name="T101" fmla="*/ 0 h 5760"/>
              <a:gd name="T102" fmla="*/ 2880 w 5760"/>
              <a:gd name="T103" fmla="*/ 5760 h 5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60" h="5760">
                <a:moveTo>
                  <a:pt x="3526" y="2130"/>
                </a:moveTo>
                <a:cubicBezTo>
                  <a:pt x="3526" y="1803"/>
                  <a:pt x="3748" y="1485"/>
                  <a:pt x="3869" y="1545"/>
                </a:cubicBezTo>
                <a:cubicBezTo>
                  <a:pt x="4006" y="1614"/>
                  <a:pt x="3766" y="1923"/>
                  <a:pt x="3526" y="2130"/>
                </a:cubicBezTo>
                <a:moveTo>
                  <a:pt x="2018" y="2250"/>
                </a:moveTo>
                <a:cubicBezTo>
                  <a:pt x="2018" y="1987"/>
                  <a:pt x="2278" y="1486"/>
                  <a:pt x="2437" y="1539"/>
                </a:cubicBezTo>
                <a:cubicBezTo>
                  <a:pt x="2625" y="1601"/>
                  <a:pt x="2282" y="2106"/>
                  <a:pt x="2018" y="2250"/>
                </a:cubicBezTo>
                <a:close/>
                <a:moveTo>
                  <a:pt x="1755" y="4133"/>
                </a:moveTo>
                <a:cubicBezTo>
                  <a:pt x="1635" y="4138"/>
                  <a:pt x="1556" y="4062"/>
                  <a:pt x="1556" y="3934"/>
                </a:cubicBezTo>
                <a:cubicBezTo>
                  <a:pt x="1556" y="3591"/>
                  <a:pt x="2031" y="3264"/>
                  <a:pt x="2390" y="3088"/>
                </a:cubicBezTo>
                <a:cubicBezTo>
                  <a:pt x="2327" y="3567"/>
                  <a:pt x="2165" y="4114"/>
                  <a:pt x="1755" y="4133"/>
                </a:cubicBezTo>
                <a:close/>
                <a:moveTo>
                  <a:pt x="3949" y="3016"/>
                </a:moveTo>
                <a:cubicBezTo>
                  <a:pt x="3678" y="3016"/>
                  <a:pt x="3470" y="3215"/>
                  <a:pt x="3470" y="3455"/>
                </a:cubicBezTo>
                <a:cubicBezTo>
                  <a:pt x="3470" y="3654"/>
                  <a:pt x="3590" y="3813"/>
                  <a:pt x="3750" y="3813"/>
                </a:cubicBezTo>
                <a:cubicBezTo>
                  <a:pt x="3806" y="3813"/>
                  <a:pt x="3861" y="3782"/>
                  <a:pt x="3861" y="3710"/>
                </a:cubicBezTo>
                <a:cubicBezTo>
                  <a:pt x="3861" y="3606"/>
                  <a:pt x="3724" y="3581"/>
                  <a:pt x="3734" y="3426"/>
                </a:cubicBezTo>
                <a:cubicBezTo>
                  <a:pt x="3741" y="3323"/>
                  <a:pt x="3837" y="3255"/>
                  <a:pt x="3933" y="3255"/>
                </a:cubicBezTo>
                <a:cubicBezTo>
                  <a:pt x="4124" y="3255"/>
                  <a:pt x="4214" y="3440"/>
                  <a:pt x="4214" y="3632"/>
                </a:cubicBezTo>
                <a:cubicBezTo>
                  <a:pt x="4206" y="3927"/>
                  <a:pt x="3989" y="4133"/>
                  <a:pt x="3734" y="4133"/>
                </a:cubicBezTo>
                <a:cubicBezTo>
                  <a:pt x="3398" y="4133"/>
                  <a:pt x="3183" y="3813"/>
                  <a:pt x="3183" y="3470"/>
                </a:cubicBezTo>
                <a:cubicBezTo>
                  <a:pt x="3183" y="2960"/>
                  <a:pt x="3518" y="2760"/>
                  <a:pt x="3694" y="2712"/>
                </a:cubicBezTo>
                <a:cubicBezTo>
                  <a:pt x="3696" y="2712"/>
                  <a:pt x="4153" y="2794"/>
                  <a:pt x="4138" y="2592"/>
                </a:cubicBezTo>
                <a:cubicBezTo>
                  <a:pt x="4132" y="2504"/>
                  <a:pt x="4000" y="2470"/>
                  <a:pt x="3905" y="2466"/>
                </a:cubicBezTo>
                <a:cubicBezTo>
                  <a:pt x="3799" y="2462"/>
                  <a:pt x="3692" y="2500"/>
                  <a:pt x="3692" y="2500"/>
                </a:cubicBezTo>
                <a:cubicBezTo>
                  <a:pt x="3636" y="2472"/>
                  <a:pt x="3598" y="2417"/>
                  <a:pt x="3574" y="2354"/>
                </a:cubicBezTo>
                <a:cubicBezTo>
                  <a:pt x="3901" y="2106"/>
                  <a:pt x="4133" y="1867"/>
                  <a:pt x="4133" y="1596"/>
                </a:cubicBezTo>
                <a:cubicBezTo>
                  <a:pt x="4133" y="1452"/>
                  <a:pt x="4037" y="1324"/>
                  <a:pt x="3853" y="1324"/>
                </a:cubicBezTo>
                <a:cubicBezTo>
                  <a:pt x="3526" y="1324"/>
                  <a:pt x="3279" y="1739"/>
                  <a:pt x="3279" y="2114"/>
                </a:cubicBezTo>
                <a:cubicBezTo>
                  <a:pt x="3279" y="2178"/>
                  <a:pt x="3279" y="2242"/>
                  <a:pt x="3295" y="2298"/>
                </a:cubicBezTo>
                <a:cubicBezTo>
                  <a:pt x="3087" y="2449"/>
                  <a:pt x="2933" y="2543"/>
                  <a:pt x="2654" y="2711"/>
                </a:cubicBezTo>
                <a:cubicBezTo>
                  <a:pt x="2654" y="2676"/>
                  <a:pt x="2661" y="2586"/>
                  <a:pt x="2685" y="2469"/>
                </a:cubicBezTo>
                <a:cubicBezTo>
                  <a:pt x="2780" y="2365"/>
                  <a:pt x="2912" y="2210"/>
                  <a:pt x="2912" y="2090"/>
                </a:cubicBezTo>
                <a:cubicBezTo>
                  <a:pt x="2912" y="2034"/>
                  <a:pt x="2880" y="1987"/>
                  <a:pt x="2816" y="1987"/>
                </a:cubicBezTo>
                <a:cubicBezTo>
                  <a:pt x="2657" y="1987"/>
                  <a:pt x="2537" y="2226"/>
                  <a:pt x="2505" y="2393"/>
                </a:cubicBezTo>
                <a:cubicBezTo>
                  <a:pt x="2433" y="2481"/>
                  <a:pt x="2290" y="2593"/>
                  <a:pt x="2170" y="2593"/>
                </a:cubicBezTo>
                <a:cubicBezTo>
                  <a:pt x="2074" y="2593"/>
                  <a:pt x="2042" y="2505"/>
                  <a:pt x="2034" y="2473"/>
                </a:cubicBezTo>
                <a:cubicBezTo>
                  <a:pt x="2338" y="2369"/>
                  <a:pt x="2712" y="1955"/>
                  <a:pt x="2712" y="1580"/>
                </a:cubicBezTo>
                <a:cubicBezTo>
                  <a:pt x="2712" y="1500"/>
                  <a:pt x="2681" y="1324"/>
                  <a:pt x="2441" y="1324"/>
                </a:cubicBezTo>
                <a:cubicBezTo>
                  <a:pt x="2082" y="1324"/>
                  <a:pt x="1779" y="1859"/>
                  <a:pt x="1779" y="2274"/>
                </a:cubicBezTo>
                <a:cubicBezTo>
                  <a:pt x="1651" y="2274"/>
                  <a:pt x="1604" y="2138"/>
                  <a:pt x="1604" y="2034"/>
                </a:cubicBezTo>
                <a:cubicBezTo>
                  <a:pt x="1604" y="1931"/>
                  <a:pt x="1643" y="1827"/>
                  <a:pt x="1643" y="1795"/>
                </a:cubicBezTo>
                <a:cubicBezTo>
                  <a:pt x="1643" y="1763"/>
                  <a:pt x="1627" y="1723"/>
                  <a:pt x="1580" y="1723"/>
                </a:cubicBezTo>
                <a:cubicBezTo>
                  <a:pt x="1460" y="1723"/>
                  <a:pt x="1388" y="1883"/>
                  <a:pt x="1388" y="2066"/>
                </a:cubicBezTo>
                <a:cubicBezTo>
                  <a:pt x="1396" y="2322"/>
                  <a:pt x="1564" y="2481"/>
                  <a:pt x="1787" y="2497"/>
                </a:cubicBezTo>
                <a:cubicBezTo>
                  <a:pt x="1819" y="2649"/>
                  <a:pt x="1955" y="2792"/>
                  <a:pt x="2122" y="2792"/>
                </a:cubicBezTo>
                <a:cubicBezTo>
                  <a:pt x="2226" y="2792"/>
                  <a:pt x="2353" y="2760"/>
                  <a:pt x="2441" y="2681"/>
                </a:cubicBezTo>
                <a:cubicBezTo>
                  <a:pt x="2433" y="2737"/>
                  <a:pt x="2425" y="2784"/>
                  <a:pt x="2417" y="2832"/>
                </a:cubicBezTo>
                <a:cubicBezTo>
                  <a:pt x="2066" y="3016"/>
                  <a:pt x="1811" y="3143"/>
                  <a:pt x="1580" y="3351"/>
                </a:cubicBezTo>
                <a:cubicBezTo>
                  <a:pt x="1396" y="3518"/>
                  <a:pt x="1292" y="3742"/>
                  <a:pt x="1292" y="3917"/>
                </a:cubicBezTo>
                <a:cubicBezTo>
                  <a:pt x="1292" y="4157"/>
                  <a:pt x="1444" y="4380"/>
                  <a:pt x="1755" y="4380"/>
                </a:cubicBezTo>
                <a:cubicBezTo>
                  <a:pt x="2122" y="4380"/>
                  <a:pt x="2401" y="4085"/>
                  <a:pt x="2537" y="3678"/>
                </a:cubicBezTo>
                <a:cubicBezTo>
                  <a:pt x="2601" y="3486"/>
                  <a:pt x="2626" y="3208"/>
                  <a:pt x="2642" y="2952"/>
                </a:cubicBezTo>
                <a:cubicBezTo>
                  <a:pt x="3009" y="2745"/>
                  <a:pt x="3183" y="2625"/>
                  <a:pt x="3374" y="2489"/>
                </a:cubicBezTo>
                <a:cubicBezTo>
                  <a:pt x="3398" y="2529"/>
                  <a:pt x="3423" y="2561"/>
                  <a:pt x="3454" y="2585"/>
                </a:cubicBezTo>
                <a:cubicBezTo>
                  <a:pt x="3287" y="2673"/>
                  <a:pt x="2888" y="2920"/>
                  <a:pt x="2888" y="3502"/>
                </a:cubicBezTo>
                <a:cubicBezTo>
                  <a:pt x="2888" y="3917"/>
                  <a:pt x="3167" y="4380"/>
                  <a:pt x="3718" y="4380"/>
                </a:cubicBezTo>
                <a:cubicBezTo>
                  <a:pt x="4172" y="4380"/>
                  <a:pt x="4484" y="4005"/>
                  <a:pt x="4484" y="3646"/>
                </a:cubicBezTo>
                <a:cubicBezTo>
                  <a:pt x="4484" y="3319"/>
                  <a:pt x="4300" y="3016"/>
                  <a:pt x="3949" y="3016"/>
                </a:cubicBezTo>
                <a:close/>
                <a:moveTo>
                  <a:pt x="5321" y="3701"/>
                </a:moveTo>
                <a:cubicBezTo>
                  <a:pt x="5319" y="3703"/>
                  <a:pt x="5315" y="3707"/>
                  <a:pt x="5306" y="3704"/>
                </a:cubicBezTo>
                <a:cubicBezTo>
                  <a:pt x="5299" y="3702"/>
                  <a:pt x="5297" y="3698"/>
                  <a:pt x="5297" y="3694"/>
                </a:cubicBezTo>
                <a:cubicBezTo>
                  <a:pt x="5298" y="3689"/>
                  <a:pt x="5394" y="3405"/>
                  <a:pt x="5393" y="3080"/>
                </a:cubicBezTo>
                <a:cubicBezTo>
                  <a:pt x="5392" y="2728"/>
                  <a:pt x="5249" y="2513"/>
                  <a:pt x="5066" y="2513"/>
                </a:cubicBezTo>
                <a:cubicBezTo>
                  <a:pt x="4954" y="2513"/>
                  <a:pt x="4874" y="2593"/>
                  <a:pt x="4874" y="2712"/>
                </a:cubicBezTo>
                <a:cubicBezTo>
                  <a:pt x="4874" y="2928"/>
                  <a:pt x="5138" y="2944"/>
                  <a:pt x="5138" y="3415"/>
                </a:cubicBezTo>
                <a:cubicBezTo>
                  <a:pt x="5138" y="3606"/>
                  <a:pt x="5098" y="3789"/>
                  <a:pt x="5034" y="3989"/>
                </a:cubicBezTo>
                <a:cubicBezTo>
                  <a:pt x="4739" y="4986"/>
                  <a:pt x="3797" y="5449"/>
                  <a:pt x="2880" y="5449"/>
                </a:cubicBezTo>
                <a:cubicBezTo>
                  <a:pt x="2457" y="5449"/>
                  <a:pt x="2157" y="5362"/>
                  <a:pt x="2067" y="5322"/>
                </a:cubicBezTo>
                <a:cubicBezTo>
                  <a:pt x="2063" y="5320"/>
                  <a:pt x="2061" y="5313"/>
                  <a:pt x="2063" y="5306"/>
                </a:cubicBezTo>
                <a:cubicBezTo>
                  <a:pt x="2065" y="5300"/>
                  <a:pt x="2072" y="5296"/>
                  <a:pt x="2075" y="5298"/>
                </a:cubicBezTo>
                <a:cubicBezTo>
                  <a:pt x="2111" y="5312"/>
                  <a:pt x="2369" y="5393"/>
                  <a:pt x="2689" y="5393"/>
                </a:cubicBezTo>
                <a:cubicBezTo>
                  <a:pt x="3040" y="5393"/>
                  <a:pt x="3247" y="5250"/>
                  <a:pt x="3247" y="5074"/>
                </a:cubicBezTo>
                <a:cubicBezTo>
                  <a:pt x="3247" y="4962"/>
                  <a:pt x="3159" y="4875"/>
                  <a:pt x="3047" y="4875"/>
                </a:cubicBezTo>
                <a:cubicBezTo>
                  <a:pt x="2832" y="4875"/>
                  <a:pt x="2816" y="5146"/>
                  <a:pt x="2353" y="5146"/>
                </a:cubicBezTo>
                <a:cubicBezTo>
                  <a:pt x="2154" y="5146"/>
                  <a:pt x="1979" y="5106"/>
                  <a:pt x="1771" y="5042"/>
                </a:cubicBezTo>
                <a:cubicBezTo>
                  <a:pt x="782" y="4739"/>
                  <a:pt x="310" y="3805"/>
                  <a:pt x="311" y="2880"/>
                </a:cubicBezTo>
                <a:cubicBezTo>
                  <a:pt x="311" y="2429"/>
                  <a:pt x="438" y="2070"/>
                  <a:pt x="440" y="2067"/>
                </a:cubicBezTo>
                <a:cubicBezTo>
                  <a:pt x="441" y="2065"/>
                  <a:pt x="447" y="2062"/>
                  <a:pt x="454" y="2065"/>
                </a:cubicBezTo>
                <a:cubicBezTo>
                  <a:pt x="461" y="2067"/>
                  <a:pt x="463" y="2073"/>
                  <a:pt x="462" y="2075"/>
                </a:cubicBezTo>
                <a:cubicBezTo>
                  <a:pt x="451" y="2112"/>
                  <a:pt x="367" y="2370"/>
                  <a:pt x="367" y="2688"/>
                </a:cubicBezTo>
                <a:cubicBezTo>
                  <a:pt x="367" y="3040"/>
                  <a:pt x="511" y="3247"/>
                  <a:pt x="694" y="3247"/>
                </a:cubicBezTo>
                <a:cubicBezTo>
                  <a:pt x="798" y="3247"/>
                  <a:pt x="885" y="3167"/>
                  <a:pt x="885" y="3056"/>
                </a:cubicBezTo>
                <a:cubicBezTo>
                  <a:pt x="885" y="2840"/>
                  <a:pt x="622" y="2816"/>
                  <a:pt x="622" y="2354"/>
                </a:cubicBezTo>
                <a:cubicBezTo>
                  <a:pt x="622" y="2154"/>
                  <a:pt x="662" y="1978"/>
                  <a:pt x="726" y="1771"/>
                </a:cubicBezTo>
                <a:cubicBezTo>
                  <a:pt x="1029" y="782"/>
                  <a:pt x="1963" y="318"/>
                  <a:pt x="2880" y="311"/>
                </a:cubicBezTo>
                <a:cubicBezTo>
                  <a:pt x="3306" y="308"/>
                  <a:pt x="3680" y="435"/>
                  <a:pt x="3694" y="447"/>
                </a:cubicBezTo>
                <a:cubicBezTo>
                  <a:pt x="3696" y="449"/>
                  <a:pt x="3699" y="455"/>
                  <a:pt x="3696" y="461"/>
                </a:cubicBezTo>
                <a:cubicBezTo>
                  <a:pt x="3693" y="468"/>
                  <a:pt x="3688" y="469"/>
                  <a:pt x="3686" y="469"/>
                </a:cubicBezTo>
                <a:cubicBezTo>
                  <a:pt x="3681" y="468"/>
                  <a:pt x="3439" y="367"/>
                  <a:pt x="3071" y="367"/>
                </a:cubicBezTo>
                <a:cubicBezTo>
                  <a:pt x="2728" y="367"/>
                  <a:pt x="2513" y="510"/>
                  <a:pt x="2513" y="694"/>
                </a:cubicBezTo>
                <a:cubicBezTo>
                  <a:pt x="2513" y="798"/>
                  <a:pt x="2593" y="885"/>
                  <a:pt x="2712" y="885"/>
                </a:cubicBezTo>
                <a:cubicBezTo>
                  <a:pt x="2928" y="885"/>
                  <a:pt x="2944" y="622"/>
                  <a:pt x="3406" y="622"/>
                </a:cubicBezTo>
                <a:cubicBezTo>
                  <a:pt x="3606" y="622"/>
                  <a:pt x="3781" y="662"/>
                  <a:pt x="3989" y="726"/>
                </a:cubicBezTo>
                <a:cubicBezTo>
                  <a:pt x="4986" y="1029"/>
                  <a:pt x="5440" y="1971"/>
                  <a:pt x="5449" y="2880"/>
                </a:cubicBezTo>
                <a:cubicBezTo>
                  <a:pt x="5453" y="3346"/>
                  <a:pt x="5322" y="3699"/>
                  <a:pt x="5321" y="3701"/>
                </a:cubicBezTo>
                <a:close/>
                <a:moveTo>
                  <a:pt x="2880" y="136"/>
                </a:moveTo>
                <a:cubicBezTo>
                  <a:pt x="1364" y="136"/>
                  <a:pt x="135" y="1364"/>
                  <a:pt x="135" y="2880"/>
                </a:cubicBezTo>
                <a:cubicBezTo>
                  <a:pt x="135" y="4396"/>
                  <a:pt x="1364" y="5624"/>
                  <a:pt x="2880" y="5624"/>
                </a:cubicBezTo>
                <a:cubicBezTo>
                  <a:pt x="4396" y="5624"/>
                  <a:pt x="5624" y="4396"/>
                  <a:pt x="5624" y="2880"/>
                </a:cubicBezTo>
                <a:cubicBezTo>
                  <a:pt x="5624" y="1372"/>
                  <a:pt x="4396" y="136"/>
                  <a:pt x="2880" y="136"/>
                </a:cubicBezTo>
                <a:close/>
                <a:moveTo>
                  <a:pt x="2880" y="5760"/>
                </a:moveTo>
                <a:cubicBezTo>
                  <a:pt x="1292" y="5760"/>
                  <a:pt x="0" y="4476"/>
                  <a:pt x="0" y="2880"/>
                </a:cubicBezTo>
                <a:cubicBezTo>
                  <a:pt x="0" y="1292"/>
                  <a:pt x="1292" y="0"/>
                  <a:pt x="2880" y="0"/>
                </a:cubicBezTo>
                <a:cubicBezTo>
                  <a:pt x="4467" y="0"/>
                  <a:pt x="5760" y="1292"/>
                  <a:pt x="5760" y="2880"/>
                </a:cubicBezTo>
                <a:cubicBezTo>
                  <a:pt x="5760" y="4476"/>
                  <a:pt x="4467" y="5760"/>
                  <a:pt x="2880" y="5760"/>
                </a:cubicBezTo>
                <a:close/>
              </a:path>
            </a:pathLst>
          </a:custGeom>
          <a:solidFill>
            <a:srgbClr val="575757"/>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72380521"/>
      </p:ext>
    </p:extLst>
  </p:cSld>
  <p:clrMap bg1="lt1" tx1="dk1" bg2="lt2" tx2="dk2" accent1="accent1" accent2="accent2" accent3="accent3" accent4="accent4" accent5="accent5" accent6="accent6" hlink="hlink" folHlink="folHlink"/>
  <p:sldLayoutIdLst>
    <p:sldLayoutId id="2147483679" r:id="rId1"/>
    <p:sldLayoutId id="2147483713"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690" r:id="rId23"/>
    <p:sldLayoutId id="2147483712" r:id="rId24"/>
    <p:sldLayoutId id="2147483694" r:id="rId25"/>
    <p:sldLayoutId id="2147483695" r:id="rId26"/>
    <p:sldLayoutId id="2147483696" r:id="rId27"/>
    <p:sldLayoutId id="2147483697" r:id="rId28"/>
    <p:sldLayoutId id="2147483698" r:id="rId29"/>
    <p:sldLayoutId id="2147483699" r:id="rId30"/>
  </p:sldLayoutIdLst>
  <p:hf hdr="0"/>
  <p:txStyles>
    <p:titleStyle>
      <a:lvl1pPr algn="l" defTabSz="914400" rtl="0" eaLnBrk="1" latinLnBrk="0" hangingPunct="1">
        <a:lnSpc>
          <a:spcPct val="90000"/>
        </a:lnSpc>
        <a:spcBef>
          <a:spcPct val="0"/>
        </a:spcBef>
        <a:buNone/>
        <a:defRPr sz="3200" kern="1200">
          <a:solidFill>
            <a:schemeClr val="accent2"/>
          </a:solidFill>
          <a:latin typeface="+mj-lt"/>
          <a:ea typeface="+mj-ea"/>
          <a:cs typeface="+mj-cs"/>
        </a:defRPr>
      </a:lvl1pPr>
    </p:titleStyle>
    <p:bodyStyle>
      <a:lvl1pPr marL="0" indent="0" algn="l" defTabSz="914400" rtl="0" eaLnBrk="1" latinLnBrk="0" hangingPunct="1">
        <a:lnSpc>
          <a:spcPct val="95000"/>
        </a:lnSpc>
        <a:spcBef>
          <a:spcPts val="1200"/>
        </a:spcBef>
        <a:spcAft>
          <a:spcPts val="0"/>
        </a:spcAft>
        <a:buFont typeface="Arial" panose="020B0604020202020204" pitchFamily="34" charset="0"/>
        <a:buNone/>
        <a:defRPr sz="2800" kern="1200">
          <a:solidFill>
            <a:schemeClr val="accent2"/>
          </a:solidFill>
          <a:latin typeface="+mn-lt"/>
          <a:ea typeface="+mn-ea"/>
          <a:cs typeface="+mn-cs"/>
        </a:defRPr>
      </a:lvl1pPr>
      <a:lvl2pPr marL="219456" indent="-168275" algn="l" defTabSz="914400" rtl="0" eaLnBrk="1" latinLnBrk="0" hangingPunct="1">
        <a:lnSpc>
          <a:spcPct val="95000"/>
        </a:lnSpc>
        <a:spcBef>
          <a:spcPts val="700"/>
        </a:spcBef>
        <a:spcAft>
          <a:spcPts val="0"/>
        </a:spcAft>
        <a:buFont typeface="Arial" panose="020B0604020202020204" pitchFamily="34" charset="0"/>
        <a:buChar char="•"/>
        <a:defRPr sz="2400" kern="1200">
          <a:solidFill>
            <a:schemeClr val="accent2"/>
          </a:solidFill>
          <a:latin typeface="+mn-lt"/>
          <a:ea typeface="+mn-ea"/>
          <a:cs typeface="+mn-cs"/>
        </a:defRPr>
      </a:lvl2pPr>
      <a:lvl3pPr marL="461963" indent="-192024" algn="l" defTabSz="914400" rtl="0" eaLnBrk="1" latinLnBrk="0" hangingPunct="1">
        <a:lnSpc>
          <a:spcPct val="95000"/>
        </a:lnSpc>
        <a:spcBef>
          <a:spcPts val="600"/>
        </a:spcBef>
        <a:spcAft>
          <a:spcPts val="0"/>
        </a:spcAft>
        <a:buSzPct val="100000"/>
        <a:buFontTx/>
        <a:buChar char="–"/>
        <a:defRPr sz="2000" kern="1200">
          <a:solidFill>
            <a:schemeClr val="accent2"/>
          </a:solidFill>
          <a:latin typeface="+mn-lt"/>
          <a:ea typeface="+mn-ea"/>
          <a:cs typeface="+mn-cs"/>
        </a:defRPr>
      </a:lvl3pPr>
      <a:lvl4pPr marL="682625" indent="-173038" algn="l" defTabSz="914400" rtl="0" eaLnBrk="1" latinLnBrk="0" hangingPunct="1">
        <a:lnSpc>
          <a:spcPct val="95000"/>
        </a:lnSpc>
        <a:spcBef>
          <a:spcPts val="600"/>
        </a:spcBef>
        <a:spcAft>
          <a:spcPts val="0"/>
        </a:spcAft>
        <a:buFont typeface="Arial" panose="020B0604020202020204" pitchFamily="34" charset="0"/>
        <a:buChar char="•"/>
        <a:defRPr sz="1600" kern="1200">
          <a:solidFill>
            <a:schemeClr val="accent2"/>
          </a:solidFill>
          <a:latin typeface="+mn-lt"/>
          <a:ea typeface="+mn-ea"/>
          <a:cs typeface="+mn-cs"/>
        </a:defRPr>
      </a:lvl4pPr>
      <a:lvl5pPr marL="914400" indent="-173038" algn="l" defTabSz="914400" rtl="0" eaLnBrk="1" latinLnBrk="0" hangingPunct="1">
        <a:lnSpc>
          <a:spcPct val="95000"/>
        </a:lnSpc>
        <a:spcBef>
          <a:spcPts val="600"/>
        </a:spcBef>
        <a:spcAft>
          <a:spcPts val="0"/>
        </a:spcAft>
        <a:buClr>
          <a:schemeClr val="tx1"/>
        </a:buClr>
        <a:buSzPct val="100000"/>
        <a:buFontTx/>
        <a:buChar char="–"/>
        <a:defRPr sz="14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p:bodyStyle>
    <p:otherStyle>
      <a:defPPr>
        <a:defRPr lang="en-US"/>
      </a:defPPr>
      <a:lvl1pPr marL="0" algn="l" defTabSz="914400" rtl="0" eaLnBrk="1" latinLnBrk="0" hangingPunct="1">
        <a:lnSpc>
          <a:spcPct val="99000"/>
        </a:lnSpc>
        <a:defRPr sz="1400" kern="1200">
          <a:solidFill>
            <a:schemeClr val="accent2"/>
          </a:solidFill>
          <a:latin typeface="+mn-lt"/>
          <a:ea typeface="+mn-ea"/>
          <a:cs typeface="+mn-cs"/>
        </a:defRPr>
      </a:lvl1pPr>
      <a:lvl2pPr marL="0" algn="l" defTabSz="914400" rtl="0" eaLnBrk="1" latinLnBrk="0" hangingPunct="1">
        <a:lnSpc>
          <a:spcPct val="99000"/>
        </a:lnSpc>
        <a:spcBef>
          <a:spcPts val="900"/>
        </a:spcBef>
        <a:defRPr sz="1400" b="1" kern="1200">
          <a:solidFill>
            <a:schemeClr val="accent2"/>
          </a:solidFill>
          <a:latin typeface="+mn-lt"/>
          <a:ea typeface="+mn-ea"/>
          <a:cs typeface="+mn-cs"/>
        </a:defRPr>
      </a:lvl2pPr>
      <a:lvl3pPr marL="155448" indent="-155448" algn="l" defTabSz="914400" rtl="0" eaLnBrk="1" latinLnBrk="0" hangingPunct="1">
        <a:lnSpc>
          <a:spcPct val="99000"/>
        </a:lnSpc>
        <a:buSzPct val="91000"/>
        <a:buFont typeface="Arial" panose="020B0604020202020204" pitchFamily="34" charset="0"/>
        <a:buChar char="•"/>
        <a:defRPr sz="1400" kern="1200">
          <a:solidFill>
            <a:schemeClr val="accent2"/>
          </a:solidFill>
          <a:latin typeface="+mn-lt"/>
          <a:ea typeface="+mn-ea"/>
          <a:cs typeface="+mn-cs"/>
        </a:defRPr>
      </a:lvl3pPr>
      <a:lvl4pPr marL="155448" indent="-155448" algn="l" defTabSz="914400" rtl="0" eaLnBrk="1" latinLnBrk="0" hangingPunct="1">
        <a:lnSpc>
          <a:spcPct val="99000"/>
        </a:lnSpc>
        <a:spcBef>
          <a:spcPts val="900"/>
        </a:spcBef>
        <a:buSzPct val="91000"/>
        <a:buFont typeface="Arial" panose="020B0604020202020204" pitchFamily="34" charset="0"/>
        <a:buChar char="•"/>
        <a:defRPr sz="1400" b="1" kern="1200">
          <a:solidFill>
            <a:schemeClr val="accent2"/>
          </a:solidFill>
          <a:latin typeface="+mn-lt"/>
          <a:ea typeface="+mn-ea"/>
          <a:cs typeface="+mn-cs"/>
        </a:defRPr>
      </a:lvl4pPr>
      <a:lvl5pPr marL="155448" algn="l" defTabSz="914400" rtl="0" eaLnBrk="1" latinLnBrk="0" hangingPunct="1">
        <a:lnSpc>
          <a:spcPct val="99000"/>
        </a:lnSpc>
        <a:defRPr sz="1400" kern="1200">
          <a:solidFill>
            <a:schemeClr val="accent2"/>
          </a:solidFill>
          <a:latin typeface="+mn-lt"/>
          <a:ea typeface="+mn-ea"/>
          <a:cs typeface="+mn-cs"/>
        </a:defRPr>
      </a:lvl5pPr>
      <a:lvl6pPr marL="0" algn="l" defTabSz="914400" rtl="0" eaLnBrk="1" latinLnBrk="0" hangingPunct="1">
        <a:lnSpc>
          <a:spcPct val="99000"/>
        </a:lnSpc>
        <a:defRPr sz="1400" kern="1200">
          <a:solidFill>
            <a:schemeClr val="accent2"/>
          </a:solidFill>
          <a:latin typeface="+mn-lt"/>
          <a:ea typeface="+mn-ea"/>
          <a:cs typeface="+mn-cs"/>
        </a:defRPr>
      </a:lvl6pPr>
      <a:lvl7pPr marL="0" algn="l" defTabSz="914400" rtl="0" eaLnBrk="1" latinLnBrk="0" hangingPunct="1">
        <a:lnSpc>
          <a:spcPct val="99000"/>
        </a:lnSpc>
        <a:defRPr sz="1400" kern="1200">
          <a:solidFill>
            <a:schemeClr val="accent2"/>
          </a:solidFill>
          <a:latin typeface="+mn-lt"/>
          <a:ea typeface="+mn-ea"/>
          <a:cs typeface="+mn-cs"/>
        </a:defRPr>
      </a:lvl7pPr>
      <a:lvl8pPr marL="0" algn="l" defTabSz="914400" rtl="0" eaLnBrk="1" latinLnBrk="0" hangingPunct="1">
        <a:lnSpc>
          <a:spcPct val="99000"/>
        </a:lnSpc>
        <a:defRPr sz="1400" kern="1200">
          <a:solidFill>
            <a:schemeClr val="accent2"/>
          </a:solidFill>
          <a:latin typeface="+mn-lt"/>
          <a:ea typeface="+mn-ea"/>
          <a:cs typeface="+mn-cs"/>
        </a:defRPr>
      </a:lvl8pPr>
      <a:lvl9pPr marL="0" algn="l" defTabSz="914400" rtl="0" eaLnBrk="1" latinLnBrk="0" hangingPunct="1">
        <a:lnSpc>
          <a:spcPct val="99000"/>
        </a:lnSpc>
        <a:defRPr sz="1400" kern="1200">
          <a:solidFill>
            <a:schemeClr val="accent2"/>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12" userDrawn="1">
          <p15:clr>
            <a:srgbClr val="F26B43"/>
          </p15:clr>
        </p15:guide>
        <p15:guide id="3" pos="7368" userDrawn="1">
          <p15:clr>
            <a:srgbClr val="F26B43"/>
          </p15:clr>
        </p15:guide>
        <p15:guide id="4" orient="horz" pos="3840" userDrawn="1">
          <p15:clr>
            <a:srgbClr val="F26B43"/>
          </p15:clr>
        </p15:guide>
        <p15:guide id="5" orient="horz" pos="1128" userDrawn="1">
          <p15:clr>
            <a:srgbClr val="F26B43"/>
          </p15:clr>
        </p15:guide>
        <p15:guide id="6" orient="horz" pos="11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80989"/>
            <a:ext cx="11279717" cy="998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457200" y="1727200"/>
            <a:ext cx="11279717" cy="423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44146561"/>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Lst>
  <p:hf sldNum="0" hdr="0" dt="0"/>
  <p:txStyles>
    <p:titleStyle>
      <a:lvl1pPr algn="l" rtl="0" fontAlgn="base">
        <a:lnSpc>
          <a:spcPct val="90000"/>
        </a:lnSpc>
        <a:spcBef>
          <a:spcPct val="0"/>
        </a:spcBef>
        <a:spcAft>
          <a:spcPct val="0"/>
        </a:spcAft>
        <a:defRPr sz="4000">
          <a:solidFill>
            <a:srgbClr val="1E4191"/>
          </a:solidFill>
          <a:latin typeface="+mj-lt"/>
          <a:ea typeface="+mj-ea"/>
          <a:cs typeface="+mj-cs"/>
        </a:defRPr>
      </a:lvl1pPr>
      <a:lvl2pPr algn="l" rtl="0" fontAlgn="base">
        <a:lnSpc>
          <a:spcPct val="90000"/>
        </a:lnSpc>
        <a:spcBef>
          <a:spcPct val="0"/>
        </a:spcBef>
        <a:spcAft>
          <a:spcPct val="0"/>
        </a:spcAft>
        <a:defRPr sz="4000">
          <a:solidFill>
            <a:srgbClr val="1E4191"/>
          </a:solidFill>
          <a:latin typeface="GE Inspira Pitch" pitchFamily="34" charset="0"/>
        </a:defRPr>
      </a:lvl2pPr>
      <a:lvl3pPr algn="l" rtl="0" fontAlgn="base">
        <a:lnSpc>
          <a:spcPct val="90000"/>
        </a:lnSpc>
        <a:spcBef>
          <a:spcPct val="0"/>
        </a:spcBef>
        <a:spcAft>
          <a:spcPct val="0"/>
        </a:spcAft>
        <a:defRPr sz="4000">
          <a:solidFill>
            <a:srgbClr val="1E4191"/>
          </a:solidFill>
          <a:latin typeface="GE Inspira Pitch" pitchFamily="34" charset="0"/>
        </a:defRPr>
      </a:lvl3pPr>
      <a:lvl4pPr algn="l" rtl="0" fontAlgn="base">
        <a:lnSpc>
          <a:spcPct val="90000"/>
        </a:lnSpc>
        <a:spcBef>
          <a:spcPct val="0"/>
        </a:spcBef>
        <a:spcAft>
          <a:spcPct val="0"/>
        </a:spcAft>
        <a:defRPr sz="4000">
          <a:solidFill>
            <a:srgbClr val="1E4191"/>
          </a:solidFill>
          <a:latin typeface="GE Inspira Pitch" pitchFamily="34" charset="0"/>
        </a:defRPr>
      </a:lvl4pPr>
      <a:lvl5pPr algn="l" rtl="0" fontAlgn="base">
        <a:lnSpc>
          <a:spcPct val="90000"/>
        </a:lnSpc>
        <a:spcBef>
          <a:spcPct val="0"/>
        </a:spcBef>
        <a:spcAft>
          <a:spcPct val="0"/>
        </a:spcAft>
        <a:defRPr sz="4000">
          <a:solidFill>
            <a:srgbClr val="1E4191"/>
          </a:solidFill>
          <a:latin typeface="GE Inspira Pitch" pitchFamily="34" charset="0"/>
        </a:defRPr>
      </a:lvl5pPr>
      <a:lvl6pPr marL="457200" algn="l" rtl="0" eaLnBrk="1" fontAlgn="base" hangingPunct="1">
        <a:lnSpc>
          <a:spcPct val="90000"/>
        </a:lnSpc>
        <a:spcBef>
          <a:spcPct val="0"/>
        </a:spcBef>
        <a:spcAft>
          <a:spcPct val="0"/>
        </a:spcAft>
        <a:defRPr sz="4000">
          <a:solidFill>
            <a:srgbClr val="1E4191"/>
          </a:solidFill>
          <a:latin typeface="GE Inspira Pitch" pitchFamily="34" charset="0"/>
        </a:defRPr>
      </a:lvl6pPr>
      <a:lvl7pPr marL="914400" algn="l" rtl="0" eaLnBrk="1" fontAlgn="base" hangingPunct="1">
        <a:lnSpc>
          <a:spcPct val="90000"/>
        </a:lnSpc>
        <a:spcBef>
          <a:spcPct val="0"/>
        </a:spcBef>
        <a:spcAft>
          <a:spcPct val="0"/>
        </a:spcAft>
        <a:defRPr sz="4000">
          <a:solidFill>
            <a:srgbClr val="1E4191"/>
          </a:solidFill>
          <a:latin typeface="GE Inspira Pitch" pitchFamily="34" charset="0"/>
        </a:defRPr>
      </a:lvl7pPr>
      <a:lvl8pPr marL="1371600" algn="l" rtl="0" eaLnBrk="1" fontAlgn="base" hangingPunct="1">
        <a:lnSpc>
          <a:spcPct val="90000"/>
        </a:lnSpc>
        <a:spcBef>
          <a:spcPct val="0"/>
        </a:spcBef>
        <a:spcAft>
          <a:spcPct val="0"/>
        </a:spcAft>
        <a:defRPr sz="4000">
          <a:solidFill>
            <a:srgbClr val="1E4191"/>
          </a:solidFill>
          <a:latin typeface="GE Inspira Pitch" pitchFamily="34" charset="0"/>
        </a:defRPr>
      </a:lvl8pPr>
      <a:lvl9pPr marL="1828800" algn="l" rtl="0" eaLnBrk="1" fontAlgn="base" hangingPunct="1">
        <a:lnSpc>
          <a:spcPct val="90000"/>
        </a:lnSpc>
        <a:spcBef>
          <a:spcPct val="0"/>
        </a:spcBef>
        <a:spcAft>
          <a:spcPct val="0"/>
        </a:spcAft>
        <a:defRPr sz="4000">
          <a:solidFill>
            <a:srgbClr val="1E4191"/>
          </a:solidFill>
          <a:latin typeface="GE Inspira Pitch" pitchFamily="34" charset="0"/>
        </a:defRPr>
      </a:lvl9pPr>
    </p:titleStyle>
    <p:bodyStyle>
      <a:lvl1pPr marL="342900" indent="-342900" algn="l" rtl="0" fontAlgn="base">
        <a:lnSpc>
          <a:spcPct val="90000"/>
        </a:lnSpc>
        <a:spcBef>
          <a:spcPct val="50000"/>
        </a:spcBef>
        <a:spcAft>
          <a:spcPct val="0"/>
        </a:spcAft>
        <a:buClr>
          <a:srgbClr val="004880"/>
        </a:buClr>
        <a:defRPr sz="3200">
          <a:solidFill>
            <a:srgbClr val="1E4191"/>
          </a:solidFill>
          <a:latin typeface="+mn-lt"/>
          <a:ea typeface="+mn-ea"/>
          <a:cs typeface="+mn-cs"/>
        </a:defRPr>
      </a:lvl1pPr>
      <a:lvl2pPr marL="341313" indent="-339725" algn="l" rtl="0" fontAlgn="base">
        <a:lnSpc>
          <a:spcPct val="90000"/>
        </a:lnSpc>
        <a:spcBef>
          <a:spcPct val="30000"/>
        </a:spcBef>
        <a:spcAft>
          <a:spcPct val="0"/>
        </a:spcAft>
        <a:buClr>
          <a:srgbClr val="004880"/>
        </a:buClr>
        <a:buFont typeface="GE Inspira Pitch" panose="020F0603030400020203" pitchFamily="34" charset="0"/>
        <a:buChar char="•"/>
        <a:defRPr sz="3200">
          <a:solidFill>
            <a:srgbClr val="1E4191"/>
          </a:solidFill>
          <a:latin typeface="+mn-lt"/>
        </a:defRPr>
      </a:lvl2pPr>
      <a:lvl3pPr marL="744538" indent="-288925" algn="l" rtl="0" fontAlgn="base">
        <a:lnSpc>
          <a:spcPct val="90000"/>
        </a:lnSpc>
        <a:spcBef>
          <a:spcPct val="20000"/>
        </a:spcBef>
        <a:spcAft>
          <a:spcPct val="0"/>
        </a:spcAft>
        <a:buClr>
          <a:srgbClr val="004880"/>
        </a:buClr>
        <a:buChar char="–"/>
        <a:defRPr sz="3200">
          <a:solidFill>
            <a:srgbClr val="1E4191"/>
          </a:solidFill>
          <a:latin typeface="+mn-lt"/>
        </a:defRPr>
      </a:lvl3pPr>
      <a:lvl4pPr marL="1146175" indent="-287338" algn="l" rtl="0" fontAlgn="base">
        <a:lnSpc>
          <a:spcPct val="90000"/>
        </a:lnSpc>
        <a:spcBef>
          <a:spcPct val="10000"/>
        </a:spcBef>
        <a:spcAft>
          <a:spcPct val="0"/>
        </a:spcAft>
        <a:buClr>
          <a:srgbClr val="004880"/>
        </a:buClr>
        <a:buChar char="–"/>
        <a:defRPr sz="3200">
          <a:solidFill>
            <a:srgbClr val="1E4191"/>
          </a:solidFill>
          <a:latin typeface="+mn-lt"/>
        </a:defRPr>
      </a:lvl4pPr>
      <a:lvl5pPr marL="1546225" indent="-285750" algn="l" rtl="0" fontAlgn="base">
        <a:lnSpc>
          <a:spcPct val="90000"/>
        </a:lnSpc>
        <a:spcBef>
          <a:spcPts val="238"/>
        </a:spcBef>
        <a:spcAft>
          <a:spcPct val="0"/>
        </a:spcAft>
        <a:buClr>
          <a:srgbClr val="004880"/>
        </a:buClr>
        <a:buChar char="–"/>
        <a:defRPr sz="3200">
          <a:solidFill>
            <a:srgbClr val="1E4191"/>
          </a:solidFill>
          <a:latin typeface="+mn-lt"/>
        </a:defRPr>
      </a:lvl5pPr>
      <a:lvl6pPr marL="2003425" indent="-285750" algn="l" rtl="0" eaLnBrk="1" fontAlgn="base" hangingPunct="1">
        <a:lnSpc>
          <a:spcPct val="90000"/>
        </a:lnSpc>
        <a:spcBef>
          <a:spcPct val="0"/>
        </a:spcBef>
        <a:spcAft>
          <a:spcPct val="0"/>
        </a:spcAft>
        <a:buClr>
          <a:srgbClr val="004880"/>
        </a:buClr>
        <a:buChar char="–"/>
        <a:defRPr sz="3200">
          <a:solidFill>
            <a:srgbClr val="1E4191"/>
          </a:solidFill>
          <a:latin typeface="+mn-lt"/>
        </a:defRPr>
      </a:lvl6pPr>
      <a:lvl7pPr marL="2460625" indent="-285750" algn="l" rtl="0" eaLnBrk="1" fontAlgn="base" hangingPunct="1">
        <a:lnSpc>
          <a:spcPct val="90000"/>
        </a:lnSpc>
        <a:spcBef>
          <a:spcPct val="0"/>
        </a:spcBef>
        <a:spcAft>
          <a:spcPct val="0"/>
        </a:spcAft>
        <a:buClr>
          <a:srgbClr val="004880"/>
        </a:buClr>
        <a:buChar char="–"/>
        <a:defRPr sz="3200">
          <a:solidFill>
            <a:srgbClr val="1E4191"/>
          </a:solidFill>
          <a:latin typeface="+mn-lt"/>
        </a:defRPr>
      </a:lvl7pPr>
      <a:lvl8pPr marL="2917825" indent="-285750" algn="l" rtl="0" eaLnBrk="1" fontAlgn="base" hangingPunct="1">
        <a:lnSpc>
          <a:spcPct val="90000"/>
        </a:lnSpc>
        <a:spcBef>
          <a:spcPct val="0"/>
        </a:spcBef>
        <a:spcAft>
          <a:spcPct val="0"/>
        </a:spcAft>
        <a:buClr>
          <a:srgbClr val="004880"/>
        </a:buClr>
        <a:buChar char="–"/>
        <a:defRPr sz="3200">
          <a:solidFill>
            <a:srgbClr val="1E4191"/>
          </a:solidFill>
          <a:latin typeface="+mn-lt"/>
        </a:defRPr>
      </a:lvl8pPr>
      <a:lvl9pPr marL="3375025" indent="-285750" algn="l" rtl="0" eaLnBrk="1" fontAlgn="base" hangingPunct="1">
        <a:lnSpc>
          <a:spcPct val="90000"/>
        </a:lnSpc>
        <a:spcBef>
          <a:spcPct val="0"/>
        </a:spcBef>
        <a:spcAft>
          <a:spcPct val="0"/>
        </a:spcAft>
        <a:buClr>
          <a:srgbClr val="004880"/>
        </a:buClr>
        <a:buChar char="–"/>
        <a:defRPr sz="3200">
          <a:solidFill>
            <a:srgbClr val="1E419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8.xml"/><Relationship Id="rId1" Type="http://schemas.openxmlformats.org/officeDocument/2006/relationships/slideLayout" Target="../slideLayouts/slideLayout26.xml"/><Relationship Id="rId6" Type="http://schemas.openxmlformats.org/officeDocument/2006/relationships/image" Target="../media/image18.emf"/><Relationship Id="rId5" Type="http://schemas.openxmlformats.org/officeDocument/2006/relationships/image" Target="../media/image17.png"/><Relationship Id="rId4" Type="http://schemas.openxmlformats.org/officeDocument/2006/relationships/image" Target="../media/image16.e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6.xml"/><Relationship Id="rId1" Type="http://schemas.openxmlformats.org/officeDocument/2006/relationships/vmlDrawing" Target="../drawings/vmlDrawing1.vml"/><Relationship Id="rId5" Type="http://schemas.openxmlformats.org/officeDocument/2006/relationships/image" Target="../media/image19.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notesSlide" Target="../notesSlides/notesSlide10.xml"/><Relationship Id="rId7" Type="http://schemas.openxmlformats.org/officeDocument/2006/relationships/oleObject" Target="../embeddings/oleObject3.bin"/><Relationship Id="rId2" Type="http://schemas.openxmlformats.org/officeDocument/2006/relationships/slideLayout" Target="../slideLayouts/slideLayout26.xml"/><Relationship Id="rId1" Type="http://schemas.openxmlformats.org/officeDocument/2006/relationships/vmlDrawing" Target="../drawings/vmlDrawing2.vml"/><Relationship Id="rId6" Type="http://schemas.openxmlformats.org/officeDocument/2006/relationships/image" Target="../media/image20.wmf"/><Relationship Id="rId5" Type="http://schemas.openxmlformats.org/officeDocument/2006/relationships/oleObject" Target="../embeddings/oleObject2.bin"/><Relationship Id="rId4" Type="http://schemas.openxmlformats.org/officeDocument/2006/relationships/image" Target="../media/image22.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1.xml"/><Relationship Id="rId1" Type="http://schemas.openxmlformats.org/officeDocument/2006/relationships/slideLayout" Target="../slideLayouts/slideLayout27.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6.xml"/><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ctrTitle"/>
          </p:nvPr>
        </p:nvSpPr>
        <p:spPr>
          <a:xfrm>
            <a:off x="1994675" y="839271"/>
            <a:ext cx="9137736" cy="973420"/>
          </a:xfrm>
        </p:spPr>
        <p:txBody>
          <a:bodyPr/>
          <a:lstStyle/>
          <a:p>
            <a:r>
              <a:rPr lang="en-US" sz="4400" dirty="0"/>
              <a:t>Gas Turbine Model Based Controls</a:t>
            </a:r>
          </a:p>
        </p:txBody>
      </p:sp>
      <p:sp>
        <p:nvSpPr>
          <p:cNvPr id="3" name="Date Placeholder 2"/>
          <p:cNvSpPr>
            <a:spLocks noGrp="1"/>
          </p:cNvSpPr>
          <p:nvPr>
            <p:ph type="dt" sz="half" idx="10"/>
          </p:nvPr>
        </p:nvSpPr>
        <p:spPr>
          <a:xfrm>
            <a:off x="1373269" y="2539172"/>
            <a:ext cx="4467288" cy="254013"/>
          </a:xfrm>
        </p:spPr>
        <p:txBody>
          <a:bodyPr/>
          <a:lstStyle/>
          <a:p>
            <a:r>
              <a:rPr lang="en-CA" dirty="0"/>
              <a:t>7 March 2017</a:t>
            </a:r>
          </a:p>
        </p:txBody>
      </p:sp>
      <p:sp>
        <p:nvSpPr>
          <p:cNvPr id="2" name="TextBox 1"/>
          <p:cNvSpPr txBox="1"/>
          <p:nvPr/>
        </p:nvSpPr>
        <p:spPr>
          <a:xfrm>
            <a:off x="1373269" y="2323728"/>
            <a:ext cx="1601400" cy="215444"/>
          </a:xfrm>
          <a:prstGeom prst="rect">
            <a:avLst/>
          </a:prstGeom>
          <a:noFill/>
        </p:spPr>
        <p:txBody>
          <a:bodyPr wrap="none" lIns="0" tIns="0" rIns="0" bIns="0" rtlCol="0">
            <a:spAutoFit/>
          </a:bodyPr>
          <a:lstStyle/>
          <a:p>
            <a:r>
              <a:rPr lang="en-US" sz="1400" b="1" dirty="0">
                <a:solidFill>
                  <a:schemeClr val="accent2"/>
                </a:solidFill>
              </a:rPr>
              <a:t>Prabhanjana Kalya</a:t>
            </a:r>
          </a:p>
        </p:txBody>
      </p:sp>
      <p:pic>
        <p:nvPicPr>
          <p:cNvPr id="4" name="Picture 3"/>
          <p:cNvPicPr>
            <a:picLocks noChangeAspect="1"/>
          </p:cNvPicPr>
          <p:nvPr/>
        </p:nvPicPr>
        <p:blipFill>
          <a:blip r:embed="rId3"/>
          <a:stretch>
            <a:fillRect/>
          </a:stretch>
        </p:blipFill>
        <p:spPr>
          <a:xfrm>
            <a:off x="5840557" y="1517098"/>
            <a:ext cx="6163490" cy="3503902"/>
          </a:xfrm>
          <a:prstGeom prst="rect">
            <a:avLst/>
          </a:prstGeom>
          <a:solidFill>
            <a:schemeClr val="accent1">
              <a:alpha val="0"/>
            </a:schemeClr>
          </a:solidFill>
          <a:ln>
            <a:noFill/>
          </a:ln>
        </p:spPr>
      </p:pic>
    </p:spTree>
    <p:extLst>
      <p:ext uri="{BB962C8B-B14F-4D97-AF65-F5344CB8AC3E}">
        <p14:creationId xmlns:p14="http://schemas.microsoft.com/office/powerpoint/2010/main" val="2145743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a:xfrm>
            <a:off x="334450" y="123940"/>
            <a:ext cx="11201400" cy="914400"/>
          </a:xfrm>
        </p:spPr>
        <p:txBody>
          <a:bodyPr/>
          <a:lstStyle/>
          <a:p>
            <a:r>
              <a:rPr lang="en-US" dirty="0"/>
              <a:t>Objectives</a:t>
            </a:r>
          </a:p>
        </p:txBody>
      </p:sp>
      <p:sp>
        <p:nvSpPr>
          <p:cNvPr id="4" name="Date Placeholder 3"/>
          <p:cNvSpPr>
            <a:spLocks noGrp="1"/>
          </p:cNvSpPr>
          <p:nvPr>
            <p:ph type="dt" sz="half" idx="10"/>
          </p:nvPr>
        </p:nvSpPr>
        <p:spPr/>
        <p:txBody>
          <a:bodyPr/>
          <a:lstStyle/>
          <a:p>
            <a:fld id="{4B8415E8-AE17-4038-B6D8-7717F22F884E}" type="datetime3">
              <a:rPr lang="en-US" smtClean="0"/>
              <a:t>7 March 2017</a:t>
            </a:fld>
            <a:endParaRPr lang="en-CA" dirty="0"/>
          </a:p>
        </p:txBody>
      </p:sp>
      <p:sp>
        <p:nvSpPr>
          <p:cNvPr id="7" name="Slide Number Placeholder 6"/>
          <p:cNvSpPr>
            <a:spLocks noGrp="1"/>
          </p:cNvSpPr>
          <p:nvPr>
            <p:ph type="sldNum" sz="quarter" idx="11"/>
          </p:nvPr>
        </p:nvSpPr>
        <p:spPr/>
        <p:txBody>
          <a:bodyPr/>
          <a:lstStyle/>
          <a:p>
            <a:fld id="{00E6A5BD-C011-4A45-AA3A-201790FB7F2B}" type="slidenum">
              <a:rPr lang="en-CA" smtClean="0"/>
              <a:pPr/>
              <a:t>2</a:t>
            </a:fld>
            <a:endParaRPr lang="en-CA" dirty="0"/>
          </a:p>
        </p:txBody>
      </p:sp>
      <p:sp>
        <p:nvSpPr>
          <p:cNvPr id="6" name="Footer Placeholder 5"/>
          <p:cNvSpPr>
            <a:spLocks noGrp="1"/>
          </p:cNvSpPr>
          <p:nvPr>
            <p:ph type="ftr" sz="quarter" idx="12"/>
          </p:nvPr>
        </p:nvSpPr>
        <p:spPr/>
        <p:txBody>
          <a:bodyPr/>
          <a:lstStyle/>
          <a:p>
            <a:r>
              <a:rPr lang="en-US"/>
              <a:t>Edit Presentation Title in [Insert Tab &gt; Header &amp; Footer]   |</a:t>
            </a:r>
            <a:endParaRPr lang="en-US" dirty="0"/>
          </a:p>
        </p:txBody>
      </p:sp>
      <p:sp>
        <p:nvSpPr>
          <p:cNvPr id="17" name="Content Placeholder 16"/>
          <p:cNvSpPr>
            <a:spLocks noGrp="1"/>
          </p:cNvSpPr>
          <p:nvPr>
            <p:ph idx="1"/>
          </p:nvPr>
        </p:nvSpPr>
        <p:spPr>
          <a:xfrm>
            <a:off x="604357" y="1681336"/>
            <a:ext cx="11201400" cy="2362157"/>
          </a:xfrm>
        </p:spPr>
        <p:txBody>
          <a:bodyPr/>
          <a:lstStyle/>
          <a:p>
            <a:pPr lvl="1"/>
            <a:r>
              <a:rPr lang="en-US" dirty="0"/>
              <a:t>Where MBC fits in GT controls</a:t>
            </a:r>
          </a:p>
          <a:p>
            <a:pPr lvl="1"/>
            <a:r>
              <a:rPr lang="en-US" dirty="0"/>
              <a:t>Fundamentals of MBC</a:t>
            </a:r>
          </a:p>
          <a:p>
            <a:pPr lvl="1"/>
            <a:r>
              <a:rPr lang="en-US" dirty="0"/>
              <a:t>Advantages of MBC</a:t>
            </a:r>
          </a:p>
          <a:p>
            <a:pPr lvl="1"/>
            <a:r>
              <a:rPr lang="en-US" dirty="0"/>
              <a:t>Cycle versus Combustion Controls</a:t>
            </a:r>
          </a:p>
          <a:p>
            <a:pPr lvl="1"/>
            <a:r>
              <a:rPr lang="en-US" dirty="0"/>
              <a:t>Concept of Load Path and its advancements</a:t>
            </a:r>
          </a:p>
          <a:p>
            <a:pPr lvl="1"/>
            <a:r>
              <a:rPr lang="en-US" dirty="0"/>
              <a:t>Design of some of components of MBC software suite</a:t>
            </a:r>
          </a:p>
          <a:p>
            <a:pPr marL="54864" lvl="1" indent="0">
              <a:buNone/>
            </a:pPr>
            <a:endParaRPr lang="en-US" dirty="0"/>
          </a:p>
        </p:txBody>
      </p:sp>
      <p:sp>
        <p:nvSpPr>
          <p:cNvPr id="2" name="TextBox 1"/>
          <p:cNvSpPr txBox="1"/>
          <p:nvPr/>
        </p:nvSpPr>
        <p:spPr>
          <a:xfrm>
            <a:off x="746970" y="1038340"/>
            <a:ext cx="7075655" cy="409343"/>
          </a:xfrm>
          <a:prstGeom prst="rect">
            <a:avLst/>
          </a:prstGeom>
        </p:spPr>
        <p:txBody>
          <a:bodyPr vert="horz" lIns="0" tIns="0" rIns="0" bIns="0" rtlCol="0">
            <a:noAutofit/>
          </a:bodyPr>
          <a:lstStyle>
            <a:lvl1pPr indent="0">
              <a:lnSpc>
                <a:spcPct val="95000"/>
              </a:lnSpc>
              <a:spcBef>
                <a:spcPts val="1200"/>
              </a:spcBef>
              <a:spcAft>
                <a:spcPts val="0"/>
              </a:spcAft>
              <a:buFont typeface="Arial" panose="020B0604020202020204" pitchFamily="34" charset="0"/>
              <a:buNone/>
              <a:defRPr sz="2800">
                <a:solidFill>
                  <a:schemeClr val="accent3"/>
                </a:solidFill>
              </a:defRPr>
            </a:lvl1pPr>
            <a:lvl2pPr marL="237744" lvl="1" indent="-182880">
              <a:lnSpc>
                <a:spcPct val="95000"/>
              </a:lnSpc>
              <a:spcBef>
                <a:spcPts val="700"/>
              </a:spcBef>
              <a:spcAft>
                <a:spcPts val="0"/>
              </a:spcAft>
              <a:buFont typeface="Arial" panose="020B0604020202020204" pitchFamily="34" charset="0"/>
              <a:buChar char="•"/>
              <a:defRPr sz="2600">
                <a:solidFill>
                  <a:schemeClr val="accent2"/>
                </a:solidFill>
              </a:defRPr>
            </a:lvl2pPr>
            <a:lvl3pPr marL="461963" indent="-192024">
              <a:lnSpc>
                <a:spcPct val="95000"/>
              </a:lnSpc>
              <a:spcBef>
                <a:spcPts val="600"/>
              </a:spcBef>
              <a:spcAft>
                <a:spcPts val="0"/>
              </a:spcAft>
              <a:buSzPct val="100000"/>
              <a:buFontTx/>
              <a:buChar char="–"/>
              <a:defRPr sz="2000">
                <a:solidFill>
                  <a:schemeClr val="accent2"/>
                </a:solidFill>
              </a:defRPr>
            </a:lvl3pPr>
            <a:lvl4pPr marL="682625" indent="-173038">
              <a:lnSpc>
                <a:spcPct val="95000"/>
              </a:lnSpc>
              <a:spcBef>
                <a:spcPts val="600"/>
              </a:spcBef>
              <a:spcAft>
                <a:spcPts val="0"/>
              </a:spcAft>
              <a:buFont typeface="Arial" panose="020B0604020202020204" pitchFamily="34" charset="0"/>
              <a:buChar char="•"/>
              <a:defRPr sz="1600">
                <a:solidFill>
                  <a:schemeClr val="accent2"/>
                </a:solidFill>
              </a:defRPr>
            </a:lvl4pPr>
            <a:lvl5pPr marL="914400" indent="-173038">
              <a:lnSpc>
                <a:spcPct val="95000"/>
              </a:lnSpc>
              <a:spcBef>
                <a:spcPts val="600"/>
              </a:spcBef>
              <a:spcAft>
                <a:spcPts val="0"/>
              </a:spcAft>
              <a:buClr>
                <a:schemeClr val="tx1"/>
              </a:buClr>
              <a:buSzPct val="100000"/>
              <a:buFontTx/>
              <a:buChar char="–"/>
              <a:defRPr sz="1400">
                <a:solidFill>
                  <a:schemeClr val="accent2"/>
                </a:solidFill>
              </a:defRPr>
            </a:lvl5pPr>
            <a:lvl6pPr marL="192024" indent="0">
              <a:lnSpc>
                <a:spcPct val="99000"/>
              </a:lnSpc>
              <a:spcBef>
                <a:spcPts val="0"/>
              </a:spcBef>
              <a:buSzPct val="91000"/>
              <a:buFontTx/>
              <a:buNone/>
              <a:defRPr>
                <a:solidFill>
                  <a:schemeClr val="accent2"/>
                </a:solidFill>
              </a:defRPr>
            </a:lvl6pPr>
            <a:lvl7pPr marL="0" indent="0">
              <a:lnSpc>
                <a:spcPct val="99000"/>
              </a:lnSpc>
              <a:spcBef>
                <a:spcPts val="900"/>
              </a:spcBef>
              <a:buSzPct val="91000"/>
              <a:buFontTx/>
              <a:buNone/>
              <a:defRPr b="1">
                <a:solidFill>
                  <a:schemeClr val="accent2"/>
                </a:solidFill>
              </a:defRPr>
            </a:lvl7pPr>
            <a:lvl8pPr marL="0" indent="0">
              <a:lnSpc>
                <a:spcPct val="99000"/>
              </a:lnSpc>
              <a:spcBef>
                <a:spcPts val="0"/>
              </a:spcBef>
              <a:buSzPct val="91000"/>
              <a:buFontTx/>
              <a:buNone/>
              <a:defRPr>
                <a:solidFill>
                  <a:schemeClr val="accent2"/>
                </a:solidFill>
              </a:defRPr>
            </a:lvl8pPr>
            <a:lvl9pPr marL="0" indent="0">
              <a:lnSpc>
                <a:spcPct val="99000"/>
              </a:lnSpc>
              <a:spcBef>
                <a:spcPts val="900"/>
              </a:spcBef>
              <a:buSzPct val="91000"/>
              <a:buFontTx/>
              <a:buNone/>
              <a:defRPr i="1">
                <a:solidFill>
                  <a:schemeClr val="accent2"/>
                </a:solidFill>
              </a:defRPr>
            </a:lvl9pPr>
          </a:lstStyle>
          <a:p>
            <a:r>
              <a:rPr lang="en-US" dirty="0"/>
              <a:t>The objective of this class is to explain</a:t>
            </a:r>
          </a:p>
        </p:txBody>
      </p:sp>
    </p:spTree>
    <p:extLst>
      <p:ext uri="{BB962C8B-B14F-4D97-AF65-F5344CB8AC3E}">
        <p14:creationId xmlns:p14="http://schemas.microsoft.com/office/powerpoint/2010/main" val="340385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1027"/>
          <p:cNvSpPr txBox="1">
            <a:spLocks noChangeArrowheads="1"/>
          </p:cNvSpPr>
          <p:nvPr/>
        </p:nvSpPr>
        <p:spPr bwMode="auto">
          <a:xfrm>
            <a:off x="1083904" y="877985"/>
            <a:ext cx="675678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1200">
                <a:solidFill>
                  <a:schemeClr val="tx1"/>
                </a:solidFill>
                <a:latin typeface="GE Inspira" panose="020F0603030400020203" pitchFamily="34" charset="0"/>
              </a:defRPr>
            </a:lvl1pPr>
            <a:lvl2pPr marL="914400" indent="-457200">
              <a:defRPr sz="1200">
                <a:solidFill>
                  <a:schemeClr val="tx1"/>
                </a:solidFill>
                <a:latin typeface="GE Inspira" panose="020F0603030400020203" pitchFamily="34" charset="0"/>
              </a:defRPr>
            </a:lvl2pPr>
            <a:lvl3pPr marL="1371600" indent="-457200">
              <a:defRPr sz="1200">
                <a:solidFill>
                  <a:schemeClr val="tx1"/>
                </a:solidFill>
                <a:latin typeface="GE Inspira" panose="020F0603030400020203" pitchFamily="34" charset="0"/>
              </a:defRPr>
            </a:lvl3pPr>
            <a:lvl4pPr marL="1828800" indent="-457200">
              <a:defRPr sz="1200">
                <a:solidFill>
                  <a:schemeClr val="tx1"/>
                </a:solidFill>
                <a:latin typeface="GE Inspira" panose="020F0603030400020203" pitchFamily="34" charset="0"/>
              </a:defRPr>
            </a:lvl4pPr>
            <a:lvl5pPr marL="2286000" indent="-457200">
              <a:defRPr sz="1200">
                <a:solidFill>
                  <a:schemeClr val="tx1"/>
                </a:solidFill>
                <a:latin typeface="GE Inspira" panose="020F0603030400020203" pitchFamily="34" charset="0"/>
              </a:defRPr>
            </a:lvl5pPr>
            <a:lvl6pPr marL="2743200" indent="-457200" eaLnBrk="0" fontAlgn="base" hangingPunct="0">
              <a:spcBef>
                <a:spcPct val="0"/>
              </a:spcBef>
              <a:spcAft>
                <a:spcPct val="0"/>
              </a:spcAft>
              <a:defRPr sz="1200">
                <a:solidFill>
                  <a:schemeClr val="tx1"/>
                </a:solidFill>
                <a:latin typeface="GE Inspira" panose="020F0603030400020203" pitchFamily="34" charset="0"/>
              </a:defRPr>
            </a:lvl6pPr>
            <a:lvl7pPr marL="3200400" indent="-457200" eaLnBrk="0" fontAlgn="base" hangingPunct="0">
              <a:spcBef>
                <a:spcPct val="0"/>
              </a:spcBef>
              <a:spcAft>
                <a:spcPct val="0"/>
              </a:spcAft>
              <a:defRPr sz="1200">
                <a:solidFill>
                  <a:schemeClr val="tx1"/>
                </a:solidFill>
                <a:latin typeface="GE Inspira" panose="020F0603030400020203" pitchFamily="34" charset="0"/>
              </a:defRPr>
            </a:lvl7pPr>
            <a:lvl8pPr marL="3657600" indent="-457200" eaLnBrk="0" fontAlgn="base" hangingPunct="0">
              <a:spcBef>
                <a:spcPct val="0"/>
              </a:spcBef>
              <a:spcAft>
                <a:spcPct val="0"/>
              </a:spcAft>
              <a:defRPr sz="1200">
                <a:solidFill>
                  <a:schemeClr val="tx1"/>
                </a:solidFill>
                <a:latin typeface="GE Inspira" panose="020F0603030400020203" pitchFamily="34" charset="0"/>
              </a:defRPr>
            </a:lvl8pPr>
            <a:lvl9pPr marL="4114800" indent="-4572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2000" dirty="0">
                <a:solidFill>
                  <a:srgbClr val="C00000"/>
                </a:solidFill>
              </a:rPr>
              <a:t>Critical Controls Questions:</a:t>
            </a:r>
          </a:p>
          <a:p>
            <a:pPr lvl="1">
              <a:buFontTx/>
              <a:buChar char="•"/>
            </a:pPr>
            <a:r>
              <a:rPr lang="en-US" altLang="en-US" sz="2000" dirty="0"/>
              <a:t>What are my operational missions?</a:t>
            </a:r>
          </a:p>
          <a:p>
            <a:pPr lvl="1">
              <a:buFontTx/>
              <a:buChar char="•"/>
            </a:pPr>
            <a:r>
              <a:rPr lang="en-US" altLang="en-US" sz="2000" dirty="0"/>
              <a:t>What are my operating limits?</a:t>
            </a:r>
          </a:p>
          <a:p>
            <a:pPr lvl="1">
              <a:buFontTx/>
              <a:buChar char="•"/>
            </a:pPr>
            <a:r>
              <a:rPr lang="en-US" altLang="en-US" sz="2000" dirty="0"/>
              <a:t>What are my effectors / sensors?</a:t>
            </a:r>
          </a:p>
          <a:p>
            <a:pPr lvl="1">
              <a:buFontTx/>
              <a:buChar char="•"/>
            </a:pPr>
            <a:r>
              <a:rPr lang="en-US" altLang="en-US" sz="2000" dirty="0"/>
              <a:t>What are my control objectives?</a:t>
            </a:r>
          </a:p>
          <a:p>
            <a:pPr lvl="1">
              <a:buFontTx/>
              <a:buChar char="•"/>
            </a:pPr>
            <a:r>
              <a:rPr lang="en-US" altLang="en-US" sz="2000" dirty="0"/>
              <a:t>What are my noise/disturbance parameters/events?</a:t>
            </a:r>
          </a:p>
          <a:p>
            <a:endParaRPr lang="en-US" altLang="en-US" sz="2000" dirty="0"/>
          </a:p>
          <a:p>
            <a:r>
              <a:rPr lang="en-US" altLang="en-US" sz="2000" dirty="0">
                <a:solidFill>
                  <a:srgbClr val="C00000"/>
                </a:solidFill>
              </a:rPr>
              <a:t>GT Controls Design:</a:t>
            </a:r>
          </a:p>
          <a:p>
            <a:pPr lvl="1">
              <a:buFontTx/>
              <a:buChar char="•"/>
            </a:pPr>
            <a:r>
              <a:rPr lang="en-US" altLang="en-US" sz="2000" dirty="0"/>
              <a:t>MBC Overview</a:t>
            </a:r>
          </a:p>
          <a:p>
            <a:pPr lvl="1">
              <a:buFontTx/>
              <a:buChar char="•"/>
            </a:pPr>
            <a:r>
              <a:rPr lang="en-US" altLang="en-US" sz="2000" dirty="0"/>
              <a:t>MBC control design examples</a:t>
            </a:r>
          </a:p>
          <a:p>
            <a:endParaRPr lang="en-US" altLang="en-US" sz="2000" dirty="0"/>
          </a:p>
        </p:txBody>
      </p:sp>
      <p:sp>
        <p:nvSpPr>
          <p:cNvPr id="11267" name="Rectangle 1029"/>
          <p:cNvSpPr>
            <a:spLocks noChangeArrowheads="1"/>
          </p:cNvSpPr>
          <p:nvPr/>
        </p:nvSpPr>
        <p:spPr bwMode="auto">
          <a:xfrm>
            <a:off x="517526" y="174680"/>
            <a:ext cx="8818562" cy="522288"/>
          </a:xfrm>
          <a:prstGeom prst="rect">
            <a:avLst/>
          </a:prstGeom>
        </p:spPr>
        <p:txBody>
          <a:bodyPr vert="horz" lIns="0" tIns="0" rIns="0" bIns="0" rtlCol="0" anchor="t" anchorCtr="0">
            <a:noAutofit/>
          </a:bodyPr>
          <a:lstStyle/>
          <a:p>
            <a:pPr>
              <a:lnSpc>
                <a:spcPct val="90000"/>
              </a:lnSpc>
              <a:spcBef>
                <a:spcPct val="0"/>
              </a:spcBef>
            </a:pPr>
            <a:r>
              <a:rPr lang="en-US" altLang="en-US" sz="3200" dirty="0">
                <a:solidFill>
                  <a:schemeClr val="accent2"/>
                </a:solidFill>
                <a:latin typeface="+mj-lt"/>
                <a:ea typeface="+mj-ea"/>
                <a:cs typeface="+mj-cs"/>
              </a:rPr>
              <a:t>Introduction</a:t>
            </a:r>
          </a:p>
        </p:txBody>
      </p:sp>
    </p:spTree>
    <p:extLst>
      <p:ext uri="{BB962C8B-B14F-4D97-AF65-F5344CB8AC3E}">
        <p14:creationId xmlns:p14="http://schemas.microsoft.com/office/powerpoint/2010/main" val="1096572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6789" y="2816225"/>
            <a:ext cx="4275137" cy="3206750"/>
          </a:xfrm>
          <a:prstGeom prst="rect">
            <a:avLst/>
          </a:prstGeom>
          <a:noFill/>
          <a:ln>
            <a:noFill/>
          </a:ln>
          <a:effectLst>
            <a:outerShdw dist="107763" dir="18900000" algn="ctr" rotWithShape="0">
              <a:srgbClr val="80808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ext Box 4"/>
          <p:cNvSpPr txBox="1">
            <a:spLocks noChangeArrowheads="1"/>
          </p:cNvSpPr>
          <p:nvPr/>
        </p:nvSpPr>
        <p:spPr bwMode="auto">
          <a:xfrm>
            <a:off x="1820863" y="583407"/>
            <a:ext cx="3211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dirty="0">
                <a:solidFill>
                  <a:schemeClr val="tx2"/>
                </a:solidFill>
              </a:rPr>
              <a:t>What are my operational missions?</a:t>
            </a:r>
          </a:p>
        </p:txBody>
      </p:sp>
      <p:sp>
        <p:nvSpPr>
          <p:cNvPr id="15364" name="Text Box 5"/>
          <p:cNvSpPr txBox="1">
            <a:spLocks noChangeArrowheads="1"/>
          </p:cNvSpPr>
          <p:nvPr/>
        </p:nvSpPr>
        <p:spPr bwMode="auto">
          <a:xfrm>
            <a:off x="2209800" y="838201"/>
            <a:ext cx="2141538" cy="547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u="sng"/>
              <a:t>Normal Operation</a:t>
            </a:r>
          </a:p>
          <a:p>
            <a:pPr>
              <a:buFontTx/>
              <a:buChar char="•"/>
            </a:pPr>
            <a:r>
              <a:rPr lang="en-US" altLang="en-US" sz="1600"/>
              <a:t> Off</a:t>
            </a:r>
          </a:p>
          <a:p>
            <a:pPr>
              <a:buFontTx/>
              <a:buChar char="•"/>
            </a:pPr>
            <a:r>
              <a:rPr lang="en-US" altLang="en-US" sz="1600"/>
              <a:t> Turning Gear</a:t>
            </a:r>
          </a:p>
          <a:p>
            <a:pPr>
              <a:buFontTx/>
              <a:buChar char="•"/>
            </a:pPr>
            <a:r>
              <a:rPr lang="en-US" altLang="en-US" sz="1600"/>
              <a:t> Crank </a:t>
            </a:r>
          </a:p>
          <a:p>
            <a:pPr>
              <a:buFontTx/>
              <a:buChar char="•"/>
            </a:pPr>
            <a:r>
              <a:rPr lang="en-US" altLang="en-US" sz="1600"/>
              <a:t> Purge </a:t>
            </a:r>
          </a:p>
          <a:p>
            <a:pPr>
              <a:buFontTx/>
              <a:buChar char="•"/>
            </a:pPr>
            <a:r>
              <a:rPr lang="en-US" altLang="en-US" sz="1600"/>
              <a:t> Decel. to Ignition </a:t>
            </a:r>
          </a:p>
          <a:p>
            <a:pPr>
              <a:buFontTx/>
              <a:buChar char="•"/>
            </a:pPr>
            <a:r>
              <a:rPr lang="en-US" altLang="en-US" sz="1600"/>
              <a:t> Fire</a:t>
            </a:r>
          </a:p>
          <a:p>
            <a:pPr>
              <a:buFontTx/>
              <a:buChar char="•"/>
            </a:pPr>
            <a:r>
              <a:rPr lang="en-US" altLang="en-US" sz="1600"/>
              <a:t> Accelerate</a:t>
            </a:r>
          </a:p>
          <a:p>
            <a:pPr>
              <a:buFontTx/>
              <a:buChar char="•"/>
            </a:pPr>
            <a:r>
              <a:rPr lang="en-US" altLang="en-US" sz="1600"/>
              <a:t> Full Speed No Load</a:t>
            </a:r>
          </a:p>
          <a:p>
            <a:pPr>
              <a:buFontTx/>
              <a:buChar char="•"/>
            </a:pPr>
            <a:r>
              <a:rPr lang="en-US" altLang="en-US" sz="1600"/>
              <a:t> Synchronize</a:t>
            </a:r>
          </a:p>
          <a:p>
            <a:pPr>
              <a:buFontTx/>
              <a:buChar char="•"/>
            </a:pPr>
            <a:r>
              <a:rPr lang="en-US" altLang="en-US" sz="1600"/>
              <a:t> Spinning Reserve</a:t>
            </a:r>
          </a:p>
          <a:p>
            <a:pPr>
              <a:buFontTx/>
              <a:buChar char="•"/>
            </a:pPr>
            <a:r>
              <a:rPr lang="en-US" altLang="en-US" sz="1600"/>
              <a:t> Emissions Compliant</a:t>
            </a:r>
            <a:br>
              <a:rPr lang="en-US" altLang="en-US" sz="1600"/>
            </a:br>
            <a:r>
              <a:rPr lang="en-US" altLang="en-US" sz="1600"/>
              <a:t>          Turndown</a:t>
            </a:r>
          </a:p>
          <a:p>
            <a:pPr>
              <a:buFontTx/>
              <a:buChar char="•"/>
            </a:pPr>
            <a:r>
              <a:rPr lang="en-US" altLang="en-US" sz="1600"/>
              <a:t> Preselect Load</a:t>
            </a:r>
          </a:p>
          <a:p>
            <a:pPr>
              <a:buFontTx/>
              <a:buChar char="•"/>
            </a:pPr>
            <a:r>
              <a:rPr lang="en-US" altLang="en-US" sz="1600"/>
              <a:t> Base Load</a:t>
            </a:r>
          </a:p>
          <a:p>
            <a:pPr>
              <a:buFontTx/>
              <a:buChar char="•"/>
            </a:pPr>
            <a:r>
              <a:rPr lang="en-US" altLang="en-US" sz="1600"/>
              <a:t> Peak Load</a:t>
            </a:r>
          </a:p>
          <a:p>
            <a:pPr>
              <a:buFontTx/>
              <a:buChar char="•"/>
            </a:pPr>
            <a:r>
              <a:rPr lang="en-US" altLang="en-US" sz="1600"/>
              <a:t> Power Augmentation</a:t>
            </a:r>
          </a:p>
          <a:p>
            <a:pPr>
              <a:buFontTx/>
              <a:buChar char="•"/>
            </a:pPr>
            <a:r>
              <a:rPr lang="en-US" altLang="en-US" sz="1600"/>
              <a:t> Reserve Margin</a:t>
            </a:r>
          </a:p>
          <a:p>
            <a:pPr>
              <a:buFontTx/>
              <a:buChar char="•"/>
            </a:pPr>
            <a:r>
              <a:rPr lang="en-US" altLang="en-US" sz="1600"/>
              <a:t> Unload</a:t>
            </a:r>
          </a:p>
          <a:p>
            <a:pPr>
              <a:buFontTx/>
              <a:buChar char="•"/>
            </a:pPr>
            <a:r>
              <a:rPr lang="en-US" altLang="en-US" sz="1600"/>
              <a:t> Deceleration</a:t>
            </a:r>
          </a:p>
          <a:p>
            <a:pPr>
              <a:buFontTx/>
              <a:buChar char="•"/>
            </a:pPr>
            <a:r>
              <a:rPr lang="en-US" altLang="en-US" sz="1600"/>
              <a:t> Coast Down</a:t>
            </a:r>
          </a:p>
          <a:p>
            <a:pPr>
              <a:buFontTx/>
              <a:buChar char="•"/>
            </a:pPr>
            <a:r>
              <a:rPr lang="en-US" altLang="en-US" sz="1600"/>
              <a:t> Cooldown</a:t>
            </a:r>
          </a:p>
        </p:txBody>
      </p:sp>
      <p:sp>
        <p:nvSpPr>
          <p:cNvPr id="15365" name="Text Box 6"/>
          <p:cNvSpPr txBox="1">
            <a:spLocks noChangeArrowheads="1"/>
          </p:cNvSpPr>
          <p:nvPr/>
        </p:nvSpPr>
        <p:spPr bwMode="auto">
          <a:xfrm>
            <a:off x="4525963" y="838201"/>
            <a:ext cx="2449512"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u="sng"/>
              <a:t>Protective Missions</a:t>
            </a:r>
          </a:p>
          <a:p>
            <a:pPr>
              <a:buFontTx/>
              <a:buChar char="•"/>
            </a:pPr>
            <a:r>
              <a:rPr lang="en-US" altLang="en-US" sz="1600"/>
              <a:t> Trip</a:t>
            </a:r>
          </a:p>
          <a:p>
            <a:pPr>
              <a:buFontTx/>
              <a:buChar char="•"/>
            </a:pPr>
            <a:r>
              <a:rPr lang="en-US" altLang="en-US" sz="1600"/>
              <a:t> Shutdown</a:t>
            </a:r>
          </a:p>
          <a:p>
            <a:pPr>
              <a:buFontTx/>
              <a:buChar char="•"/>
            </a:pPr>
            <a:r>
              <a:rPr lang="en-US" altLang="en-US" sz="1600"/>
              <a:t> Runback (normal, fast)</a:t>
            </a:r>
          </a:p>
          <a:p>
            <a:pPr>
              <a:buFontTx/>
              <a:buChar char="•"/>
            </a:pPr>
            <a:r>
              <a:rPr lang="en-US" altLang="en-US" sz="1600"/>
              <a:t> Load Rejection</a:t>
            </a:r>
          </a:p>
          <a:p>
            <a:pPr>
              <a:buFontTx/>
              <a:buChar char="•"/>
            </a:pPr>
            <a:r>
              <a:rPr lang="en-US" altLang="en-US" sz="1600"/>
              <a:t> Step to Spinning Reserve</a:t>
            </a:r>
          </a:p>
        </p:txBody>
      </p:sp>
      <p:sp>
        <p:nvSpPr>
          <p:cNvPr id="15366" name="Text Box 7"/>
          <p:cNvSpPr txBox="1">
            <a:spLocks noChangeArrowheads="1"/>
          </p:cNvSpPr>
          <p:nvPr/>
        </p:nvSpPr>
        <p:spPr bwMode="auto">
          <a:xfrm>
            <a:off x="7015163" y="838200"/>
            <a:ext cx="14732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u="sng"/>
              <a:t>Fuel Transfers</a:t>
            </a:r>
          </a:p>
          <a:p>
            <a:pPr>
              <a:buFontTx/>
              <a:buChar char="•"/>
            </a:pPr>
            <a:r>
              <a:rPr lang="en-US" altLang="en-US" sz="1600"/>
              <a:t> Gas-to-liquid</a:t>
            </a:r>
          </a:p>
          <a:p>
            <a:pPr>
              <a:buFontTx/>
              <a:buChar char="•"/>
            </a:pPr>
            <a:r>
              <a:rPr lang="en-US" altLang="en-US" sz="1600"/>
              <a:t> Liquid-to-gas</a:t>
            </a:r>
          </a:p>
        </p:txBody>
      </p:sp>
      <p:sp>
        <p:nvSpPr>
          <p:cNvPr id="15367" name="Text Box 8"/>
          <p:cNvSpPr txBox="1">
            <a:spLocks noChangeArrowheads="1"/>
          </p:cNvSpPr>
          <p:nvPr/>
        </p:nvSpPr>
        <p:spPr bwMode="auto">
          <a:xfrm>
            <a:off x="7015164" y="1830389"/>
            <a:ext cx="19192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u="sng"/>
              <a:t>DLN Mode Transfers</a:t>
            </a:r>
          </a:p>
          <a:p>
            <a:pPr>
              <a:buFontTx/>
              <a:buChar char="•"/>
            </a:pPr>
            <a:r>
              <a:rPr lang="en-US" altLang="en-US" sz="1600"/>
              <a:t> Many</a:t>
            </a:r>
          </a:p>
        </p:txBody>
      </p:sp>
      <p:sp>
        <p:nvSpPr>
          <p:cNvPr id="15368" name="Rectangle 10"/>
          <p:cNvSpPr>
            <a:spLocks noChangeArrowheads="1"/>
          </p:cNvSpPr>
          <p:nvPr/>
        </p:nvSpPr>
        <p:spPr bwMode="auto">
          <a:xfrm>
            <a:off x="906463" y="157957"/>
            <a:ext cx="8818562" cy="522288"/>
          </a:xfrm>
          <a:prstGeom prst="rect">
            <a:avLst/>
          </a:prstGeom>
        </p:spPr>
        <p:txBody>
          <a:bodyPr vert="horz" lIns="0" tIns="0" rIns="0" bIns="0" rtlCol="0" anchor="t" anchorCtr="0">
            <a:noAutofit/>
          </a:bodyPr>
          <a:lstStyle/>
          <a:p>
            <a:pPr>
              <a:lnSpc>
                <a:spcPct val="90000"/>
              </a:lnSpc>
              <a:spcBef>
                <a:spcPct val="0"/>
              </a:spcBef>
            </a:pPr>
            <a:r>
              <a:rPr lang="en-US" altLang="en-US" sz="3200" dirty="0">
                <a:solidFill>
                  <a:schemeClr val="accent2"/>
                </a:solidFill>
                <a:latin typeface="+mj-lt"/>
                <a:ea typeface="+mj-ea"/>
                <a:cs typeface="+mj-cs"/>
              </a:rPr>
              <a:t>Gas Turbine Missions</a:t>
            </a:r>
          </a:p>
        </p:txBody>
      </p:sp>
      <p:sp>
        <p:nvSpPr>
          <p:cNvPr id="2" name="Rectangle 1"/>
          <p:cNvSpPr/>
          <p:nvPr/>
        </p:nvSpPr>
        <p:spPr>
          <a:xfrm>
            <a:off x="2209800" y="3337420"/>
            <a:ext cx="2044366" cy="2164360"/>
          </a:xfrm>
          <a:prstGeom prst="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552078" y="1324767"/>
            <a:ext cx="2217838" cy="505621"/>
          </a:xfrm>
          <a:prstGeom prst="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4574332" y="2072482"/>
            <a:ext cx="2321418" cy="324644"/>
          </a:xfrm>
          <a:prstGeom prst="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015163" y="2101423"/>
            <a:ext cx="2321418" cy="324644"/>
          </a:xfrm>
          <a:prstGeom prst="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001589" y="1105914"/>
            <a:ext cx="2334991" cy="557785"/>
          </a:xfrm>
          <a:prstGeom prst="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9217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3"/>
          <p:cNvSpPr txBox="1">
            <a:spLocks noChangeArrowheads="1"/>
          </p:cNvSpPr>
          <p:nvPr/>
        </p:nvSpPr>
        <p:spPr bwMode="auto">
          <a:xfrm>
            <a:off x="2117725" y="546100"/>
            <a:ext cx="2768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a:solidFill>
                  <a:schemeClr val="tx2"/>
                </a:solidFill>
              </a:rPr>
              <a:t>What are my operating limits?</a:t>
            </a:r>
          </a:p>
        </p:txBody>
      </p:sp>
      <p:pic>
        <p:nvPicPr>
          <p:cNvPr id="17411" name="Picture 4"/>
          <p:cNvPicPr>
            <a:picLocks noChangeAspect="1" noChangeArrowheads="1"/>
          </p:cNvPicPr>
          <p:nvPr/>
        </p:nvPicPr>
        <p:blipFill>
          <a:blip r:embed="rId3">
            <a:extLst>
              <a:ext uri="{28A0092B-C50C-407E-A947-70E740481C1C}">
                <a14:useLocalDpi xmlns:a14="http://schemas.microsoft.com/office/drawing/2010/main" val="0"/>
              </a:ext>
            </a:extLst>
          </a:blip>
          <a:srcRect b="35265"/>
          <a:stretch>
            <a:fillRect/>
          </a:stretch>
        </p:blipFill>
        <p:spPr bwMode="auto">
          <a:xfrm>
            <a:off x="1820863" y="1084264"/>
            <a:ext cx="8382000" cy="463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2" name="Text Box 5"/>
          <p:cNvSpPr txBox="1">
            <a:spLocks noChangeArrowheads="1"/>
          </p:cNvSpPr>
          <p:nvPr/>
        </p:nvSpPr>
        <p:spPr bwMode="auto">
          <a:xfrm>
            <a:off x="5541169" y="714375"/>
            <a:ext cx="1377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dirty="0"/>
              <a:t>(9FB Example)</a:t>
            </a:r>
          </a:p>
        </p:txBody>
      </p:sp>
      <p:sp>
        <p:nvSpPr>
          <p:cNvPr id="17413" name="Rectangle 7"/>
          <p:cNvSpPr>
            <a:spLocks noChangeArrowheads="1"/>
          </p:cNvSpPr>
          <p:nvPr/>
        </p:nvSpPr>
        <p:spPr bwMode="auto">
          <a:xfrm>
            <a:off x="1820863" y="142875"/>
            <a:ext cx="8818562"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50000"/>
              </a:spcBef>
              <a:buClr>
                <a:srgbClr val="004880"/>
              </a:buClr>
              <a:defRPr sz="3200">
                <a:solidFill>
                  <a:srgbClr val="1E4191"/>
                </a:solidFill>
                <a:latin typeface="GE Inspira" panose="020F0603030400020203" pitchFamily="34" charset="0"/>
              </a:defRPr>
            </a:lvl1pPr>
            <a:lvl2pPr marL="341313" indent="-339725">
              <a:lnSpc>
                <a:spcPct val="90000"/>
              </a:lnSpc>
              <a:spcBef>
                <a:spcPct val="30000"/>
              </a:spcBef>
              <a:buClr>
                <a:srgbClr val="004880"/>
              </a:buClr>
              <a:buFont typeface="GE Inspira" panose="020F0603030400020203" pitchFamily="34" charset="0"/>
              <a:buChar char="•"/>
              <a:defRPr sz="3200">
                <a:solidFill>
                  <a:srgbClr val="1E4191"/>
                </a:solidFill>
                <a:latin typeface="GE Inspira" panose="020F0603030400020203" pitchFamily="34" charset="0"/>
              </a:defRPr>
            </a:lvl2pPr>
            <a:lvl3pPr marL="744538" indent="-288925">
              <a:lnSpc>
                <a:spcPct val="90000"/>
              </a:lnSpc>
              <a:spcBef>
                <a:spcPct val="20000"/>
              </a:spcBef>
              <a:buClr>
                <a:srgbClr val="004880"/>
              </a:buClr>
              <a:buChar char="–"/>
              <a:defRPr sz="3200">
                <a:solidFill>
                  <a:srgbClr val="1E4191"/>
                </a:solidFill>
                <a:latin typeface="GE Inspira" panose="020F0603030400020203" pitchFamily="34" charset="0"/>
              </a:defRPr>
            </a:lvl3pPr>
            <a:lvl4pPr marL="1146175" indent="-287338">
              <a:lnSpc>
                <a:spcPct val="90000"/>
              </a:lnSpc>
              <a:spcBef>
                <a:spcPct val="10000"/>
              </a:spcBef>
              <a:buClr>
                <a:srgbClr val="004880"/>
              </a:buClr>
              <a:buChar char="–"/>
              <a:defRPr sz="3200">
                <a:solidFill>
                  <a:srgbClr val="1E4191"/>
                </a:solidFill>
                <a:latin typeface="GE Inspira" panose="020F0603030400020203" pitchFamily="34" charset="0"/>
              </a:defRPr>
            </a:lvl4pPr>
            <a:lvl5pPr marL="1546225" indent="-285750">
              <a:lnSpc>
                <a:spcPct val="90000"/>
              </a:lnSpc>
              <a:buClr>
                <a:srgbClr val="004880"/>
              </a:buClr>
              <a:buChar char="–"/>
              <a:defRPr sz="3200">
                <a:solidFill>
                  <a:srgbClr val="1E4191"/>
                </a:solidFill>
                <a:latin typeface="GE Inspira" panose="020F0603030400020203" pitchFamily="34" charset="0"/>
              </a:defRPr>
            </a:lvl5pPr>
            <a:lvl6pPr marL="2003425" indent="-285750" eaLnBrk="0" fontAlgn="base" hangingPunct="0">
              <a:lnSpc>
                <a:spcPct val="90000"/>
              </a:lnSpc>
              <a:spcBef>
                <a:spcPct val="0"/>
              </a:spcBef>
              <a:spcAft>
                <a:spcPct val="0"/>
              </a:spcAft>
              <a:buClr>
                <a:srgbClr val="004880"/>
              </a:buClr>
              <a:buChar char="–"/>
              <a:defRPr sz="3200">
                <a:solidFill>
                  <a:srgbClr val="1E4191"/>
                </a:solidFill>
                <a:latin typeface="GE Inspira" panose="020F0603030400020203" pitchFamily="34" charset="0"/>
              </a:defRPr>
            </a:lvl6pPr>
            <a:lvl7pPr marL="2460625" indent="-285750" eaLnBrk="0" fontAlgn="base" hangingPunct="0">
              <a:lnSpc>
                <a:spcPct val="90000"/>
              </a:lnSpc>
              <a:spcBef>
                <a:spcPct val="0"/>
              </a:spcBef>
              <a:spcAft>
                <a:spcPct val="0"/>
              </a:spcAft>
              <a:buClr>
                <a:srgbClr val="004880"/>
              </a:buClr>
              <a:buChar char="–"/>
              <a:defRPr sz="3200">
                <a:solidFill>
                  <a:srgbClr val="1E4191"/>
                </a:solidFill>
                <a:latin typeface="GE Inspira" panose="020F0603030400020203" pitchFamily="34" charset="0"/>
              </a:defRPr>
            </a:lvl7pPr>
            <a:lvl8pPr marL="2917825" indent="-285750" eaLnBrk="0" fontAlgn="base" hangingPunct="0">
              <a:lnSpc>
                <a:spcPct val="90000"/>
              </a:lnSpc>
              <a:spcBef>
                <a:spcPct val="0"/>
              </a:spcBef>
              <a:spcAft>
                <a:spcPct val="0"/>
              </a:spcAft>
              <a:buClr>
                <a:srgbClr val="004880"/>
              </a:buClr>
              <a:buChar char="–"/>
              <a:defRPr sz="3200">
                <a:solidFill>
                  <a:srgbClr val="1E4191"/>
                </a:solidFill>
                <a:latin typeface="GE Inspira" panose="020F0603030400020203" pitchFamily="34" charset="0"/>
              </a:defRPr>
            </a:lvl8pPr>
            <a:lvl9pPr marL="3375025" indent="-285750" eaLnBrk="0" fontAlgn="base" hangingPunct="0">
              <a:lnSpc>
                <a:spcPct val="90000"/>
              </a:lnSpc>
              <a:spcBef>
                <a:spcPct val="0"/>
              </a:spcBef>
              <a:spcAft>
                <a:spcPct val="0"/>
              </a:spcAft>
              <a:buClr>
                <a:srgbClr val="004880"/>
              </a:buClr>
              <a:buChar char="–"/>
              <a:defRPr sz="3200">
                <a:solidFill>
                  <a:srgbClr val="1E4191"/>
                </a:solidFill>
                <a:latin typeface="GE Inspira" panose="020F0603030400020203" pitchFamily="34" charset="0"/>
              </a:defRPr>
            </a:lvl9pPr>
          </a:lstStyle>
          <a:p>
            <a:pPr eaLnBrk="1" hangingPunct="1">
              <a:spcBef>
                <a:spcPct val="0"/>
              </a:spcBef>
              <a:buClrTx/>
            </a:pPr>
            <a:r>
              <a:rPr lang="en-US" altLang="en-US" sz="2600" b="1"/>
              <a:t>Gas Turbine Limits</a:t>
            </a:r>
          </a:p>
        </p:txBody>
      </p:sp>
    </p:spTree>
    <p:extLst>
      <p:ext uri="{BB962C8B-B14F-4D97-AF65-F5344CB8AC3E}">
        <p14:creationId xmlns:p14="http://schemas.microsoft.com/office/powerpoint/2010/main" val="1009893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1026"/>
          <p:cNvSpPr txBox="1">
            <a:spLocks noChangeArrowheads="1"/>
          </p:cNvSpPr>
          <p:nvPr/>
        </p:nvSpPr>
        <p:spPr bwMode="auto">
          <a:xfrm>
            <a:off x="1639553" y="841033"/>
            <a:ext cx="2768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dirty="0">
                <a:solidFill>
                  <a:schemeClr val="tx2"/>
                </a:solidFill>
              </a:rPr>
              <a:t>What are my operating limits?</a:t>
            </a:r>
          </a:p>
        </p:txBody>
      </p:sp>
      <p:sp>
        <p:nvSpPr>
          <p:cNvPr id="19459" name="Text Box 1028"/>
          <p:cNvSpPr txBox="1">
            <a:spLocks noChangeArrowheads="1"/>
          </p:cNvSpPr>
          <p:nvPr/>
        </p:nvSpPr>
        <p:spPr bwMode="auto">
          <a:xfrm>
            <a:off x="5541169" y="1150938"/>
            <a:ext cx="1377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dirty="0"/>
              <a:t>(9FB Example)</a:t>
            </a:r>
          </a:p>
        </p:txBody>
      </p:sp>
      <p:sp>
        <p:nvSpPr>
          <p:cNvPr id="19460" name="Rectangle 1029"/>
          <p:cNvSpPr>
            <a:spLocks noChangeArrowheads="1"/>
          </p:cNvSpPr>
          <p:nvPr/>
        </p:nvSpPr>
        <p:spPr bwMode="auto">
          <a:xfrm>
            <a:off x="1820863" y="142875"/>
            <a:ext cx="8818562"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lnSpc>
                <a:spcPct val="90000"/>
              </a:lnSpc>
              <a:spcBef>
                <a:spcPct val="50000"/>
              </a:spcBef>
              <a:buClr>
                <a:srgbClr val="004880"/>
              </a:buClr>
              <a:defRPr sz="3200">
                <a:solidFill>
                  <a:srgbClr val="1E4191"/>
                </a:solidFill>
                <a:latin typeface="GE Inspira" panose="020F0603030400020203" pitchFamily="34" charset="0"/>
              </a:defRPr>
            </a:lvl1pPr>
            <a:lvl2pPr marL="341313" indent="-339725">
              <a:lnSpc>
                <a:spcPct val="90000"/>
              </a:lnSpc>
              <a:spcBef>
                <a:spcPct val="30000"/>
              </a:spcBef>
              <a:buClr>
                <a:srgbClr val="004880"/>
              </a:buClr>
              <a:buFont typeface="GE Inspira" panose="020F0603030400020203" pitchFamily="34" charset="0"/>
              <a:buChar char="•"/>
              <a:defRPr sz="3200">
                <a:solidFill>
                  <a:srgbClr val="1E4191"/>
                </a:solidFill>
                <a:latin typeface="GE Inspira" panose="020F0603030400020203" pitchFamily="34" charset="0"/>
              </a:defRPr>
            </a:lvl2pPr>
            <a:lvl3pPr marL="744538" indent="-288925">
              <a:lnSpc>
                <a:spcPct val="90000"/>
              </a:lnSpc>
              <a:spcBef>
                <a:spcPct val="20000"/>
              </a:spcBef>
              <a:buClr>
                <a:srgbClr val="004880"/>
              </a:buClr>
              <a:buChar char="–"/>
              <a:defRPr sz="3200">
                <a:solidFill>
                  <a:srgbClr val="1E4191"/>
                </a:solidFill>
                <a:latin typeface="GE Inspira" panose="020F0603030400020203" pitchFamily="34" charset="0"/>
              </a:defRPr>
            </a:lvl3pPr>
            <a:lvl4pPr marL="1146175" indent="-287338">
              <a:lnSpc>
                <a:spcPct val="90000"/>
              </a:lnSpc>
              <a:spcBef>
                <a:spcPct val="10000"/>
              </a:spcBef>
              <a:buClr>
                <a:srgbClr val="004880"/>
              </a:buClr>
              <a:buChar char="–"/>
              <a:defRPr sz="3200">
                <a:solidFill>
                  <a:srgbClr val="1E4191"/>
                </a:solidFill>
                <a:latin typeface="GE Inspira" panose="020F0603030400020203" pitchFamily="34" charset="0"/>
              </a:defRPr>
            </a:lvl4pPr>
            <a:lvl5pPr marL="1546225" indent="-285750">
              <a:lnSpc>
                <a:spcPct val="90000"/>
              </a:lnSpc>
              <a:buClr>
                <a:srgbClr val="004880"/>
              </a:buClr>
              <a:buChar char="–"/>
              <a:defRPr sz="3200">
                <a:solidFill>
                  <a:srgbClr val="1E4191"/>
                </a:solidFill>
                <a:latin typeface="GE Inspira" panose="020F0603030400020203" pitchFamily="34" charset="0"/>
              </a:defRPr>
            </a:lvl5pPr>
            <a:lvl6pPr marL="2003425" indent="-285750" eaLnBrk="0" fontAlgn="base" hangingPunct="0">
              <a:lnSpc>
                <a:spcPct val="90000"/>
              </a:lnSpc>
              <a:spcBef>
                <a:spcPct val="0"/>
              </a:spcBef>
              <a:spcAft>
                <a:spcPct val="0"/>
              </a:spcAft>
              <a:buClr>
                <a:srgbClr val="004880"/>
              </a:buClr>
              <a:buChar char="–"/>
              <a:defRPr sz="3200">
                <a:solidFill>
                  <a:srgbClr val="1E4191"/>
                </a:solidFill>
                <a:latin typeface="GE Inspira" panose="020F0603030400020203" pitchFamily="34" charset="0"/>
              </a:defRPr>
            </a:lvl6pPr>
            <a:lvl7pPr marL="2460625" indent="-285750" eaLnBrk="0" fontAlgn="base" hangingPunct="0">
              <a:lnSpc>
                <a:spcPct val="90000"/>
              </a:lnSpc>
              <a:spcBef>
                <a:spcPct val="0"/>
              </a:spcBef>
              <a:spcAft>
                <a:spcPct val="0"/>
              </a:spcAft>
              <a:buClr>
                <a:srgbClr val="004880"/>
              </a:buClr>
              <a:buChar char="–"/>
              <a:defRPr sz="3200">
                <a:solidFill>
                  <a:srgbClr val="1E4191"/>
                </a:solidFill>
                <a:latin typeface="GE Inspira" panose="020F0603030400020203" pitchFamily="34" charset="0"/>
              </a:defRPr>
            </a:lvl7pPr>
            <a:lvl8pPr marL="2917825" indent="-285750" eaLnBrk="0" fontAlgn="base" hangingPunct="0">
              <a:lnSpc>
                <a:spcPct val="90000"/>
              </a:lnSpc>
              <a:spcBef>
                <a:spcPct val="0"/>
              </a:spcBef>
              <a:spcAft>
                <a:spcPct val="0"/>
              </a:spcAft>
              <a:buClr>
                <a:srgbClr val="004880"/>
              </a:buClr>
              <a:buChar char="–"/>
              <a:defRPr sz="3200">
                <a:solidFill>
                  <a:srgbClr val="1E4191"/>
                </a:solidFill>
                <a:latin typeface="GE Inspira" panose="020F0603030400020203" pitchFamily="34" charset="0"/>
              </a:defRPr>
            </a:lvl8pPr>
            <a:lvl9pPr marL="3375025" indent="-285750" eaLnBrk="0" fontAlgn="base" hangingPunct="0">
              <a:lnSpc>
                <a:spcPct val="90000"/>
              </a:lnSpc>
              <a:spcBef>
                <a:spcPct val="0"/>
              </a:spcBef>
              <a:spcAft>
                <a:spcPct val="0"/>
              </a:spcAft>
              <a:buClr>
                <a:srgbClr val="004880"/>
              </a:buClr>
              <a:buChar char="–"/>
              <a:defRPr sz="3200">
                <a:solidFill>
                  <a:srgbClr val="1E4191"/>
                </a:solidFill>
                <a:latin typeface="GE Inspira" panose="020F0603030400020203" pitchFamily="34" charset="0"/>
              </a:defRPr>
            </a:lvl9pPr>
          </a:lstStyle>
          <a:p>
            <a:pPr eaLnBrk="1" hangingPunct="1">
              <a:spcBef>
                <a:spcPct val="0"/>
              </a:spcBef>
              <a:buClrTx/>
            </a:pPr>
            <a:r>
              <a:rPr lang="en-US" altLang="en-US" sz="2600" b="1"/>
              <a:t>Gas Turbine Limits</a:t>
            </a:r>
          </a:p>
        </p:txBody>
      </p:sp>
      <p:grpSp>
        <p:nvGrpSpPr>
          <p:cNvPr id="19461" name="Group 1031"/>
          <p:cNvGrpSpPr>
            <a:grpSpLocks/>
          </p:cNvGrpSpPr>
          <p:nvPr/>
        </p:nvGrpSpPr>
        <p:grpSpPr bwMode="auto">
          <a:xfrm>
            <a:off x="1995488" y="1536700"/>
            <a:ext cx="8291512" cy="3644900"/>
            <a:chOff x="382" y="912"/>
            <a:chExt cx="5223" cy="2296"/>
          </a:xfrm>
        </p:grpSpPr>
        <p:pic>
          <p:nvPicPr>
            <p:cNvPr id="19462" name="Picture 1027"/>
            <p:cNvPicPr>
              <a:picLocks noChangeAspect="1" noChangeArrowheads="1"/>
            </p:cNvPicPr>
            <p:nvPr/>
          </p:nvPicPr>
          <p:blipFill>
            <a:blip r:embed="rId3">
              <a:extLst>
                <a:ext uri="{28A0092B-C50C-407E-A947-70E740481C1C}">
                  <a14:useLocalDpi xmlns:a14="http://schemas.microsoft.com/office/drawing/2010/main" val="0"/>
                </a:ext>
              </a:extLst>
            </a:blip>
            <a:srcRect t="64668"/>
            <a:stretch>
              <a:fillRect/>
            </a:stretch>
          </p:blipFill>
          <p:spPr bwMode="auto">
            <a:xfrm>
              <a:off x="382" y="1632"/>
              <a:ext cx="5223" cy="1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3" name="Picture 1030"/>
            <p:cNvPicPr>
              <a:picLocks noChangeAspect="1" noChangeArrowheads="1"/>
            </p:cNvPicPr>
            <p:nvPr/>
          </p:nvPicPr>
          <p:blipFill>
            <a:blip r:embed="rId3">
              <a:extLst>
                <a:ext uri="{28A0092B-C50C-407E-A947-70E740481C1C}">
                  <a14:useLocalDpi xmlns:a14="http://schemas.microsoft.com/office/drawing/2010/main" val="0"/>
                </a:ext>
              </a:extLst>
            </a:blip>
            <a:srcRect b="83688"/>
            <a:stretch>
              <a:fillRect/>
            </a:stretch>
          </p:blipFill>
          <p:spPr bwMode="auto">
            <a:xfrm>
              <a:off x="384" y="912"/>
              <a:ext cx="5211" cy="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781259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a:xfrm>
            <a:off x="132530" y="20726"/>
            <a:ext cx="11201400" cy="914400"/>
          </a:xfrm>
        </p:spPr>
        <p:txBody>
          <a:bodyPr/>
          <a:lstStyle/>
          <a:p>
            <a:r>
              <a:rPr lang="en-US" dirty="0"/>
              <a:t>MBC in GT Controls</a:t>
            </a:r>
          </a:p>
        </p:txBody>
      </p:sp>
      <p:sp>
        <p:nvSpPr>
          <p:cNvPr id="4" name="Date Placeholder 3"/>
          <p:cNvSpPr>
            <a:spLocks noGrp="1"/>
          </p:cNvSpPr>
          <p:nvPr>
            <p:ph type="dt" sz="half" idx="10"/>
          </p:nvPr>
        </p:nvSpPr>
        <p:spPr/>
        <p:txBody>
          <a:bodyPr/>
          <a:lstStyle/>
          <a:p>
            <a:fld id="{4B8415E8-AE17-4038-B6D8-7717F22F884E}" type="datetime3">
              <a:rPr lang="en-US" smtClean="0"/>
              <a:t>7 March 2017</a:t>
            </a:fld>
            <a:endParaRPr lang="en-CA" dirty="0"/>
          </a:p>
        </p:txBody>
      </p:sp>
      <p:sp>
        <p:nvSpPr>
          <p:cNvPr id="7" name="Slide Number Placeholder 6"/>
          <p:cNvSpPr>
            <a:spLocks noGrp="1"/>
          </p:cNvSpPr>
          <p:nvPr>
            <p:ph type="sldNum" sz="quarter" idx="11"/>
          </p:nvPr>
        </p:nvSpPr>
        <p:spPr/>
        <p:txBody>
          <a:bodyPr/>
          <a:lstStyle/>
          <a:p>
            <a:fld id="{00E6A5BD-C011-4A45-AA3A-201790FB7F2B}" type="slidenum">
              <a:rPr lang="en-CA" smtClean="0"/>
              <a:pPr/>
              <a:t>7</a:t>
            </a:fld>
            <a:endParaRPr lang="en-CA" dirty="0"/>
          </a:p>
        </p:txBody>
      </p:sp>
      <p:sp>
        <p:nvSpPr>
          <p:cNvPr id="6" name="Footer Placeholder 5"/>
          <p:cNvSpPr>
            <a:spLocks noGrp="1"/>
          </p:cNvSpPr>
          <p:nvPr>
            <p:ph type="ftr" sz="quarter" idx="12"/>
          </p:nvPr>
        </p:nvSpPr>
        <p:spPr/>
        <p:txBody>
          <a:bodyPr/>
          <a:lstStyle/>
          <a:p>
            <a:r>
              <a:rPr lang="en-US"/>
              <a:t>Edit Presentation Title in [Insert Tab &gt; Header &amp; Footer]   |</a:t>
            </a:r>
            <a:endParaRPr lang="en-US" dirty="0"/>
          </a:p>
        </p:txBody>
      </p:sp>
      <p:grpSp>
        <p:nvGrpSpPr>
          <p:cNvPr id="31" name="Group 30"/>
          <p:cNvGrpSpPr/>
          <p:nvPr/>
        </p:nvGrpSpPr>
        <p:grpSpPr>
          <a:xfrm>
            <a:off x="1873424" y="675067"/>
            <a:ext cx="7962900" cy="5231884"/>
            <a:chOff x="145292" y="935126"/>
            <a:chExt cx="7962900" cy="5231884"/>
          </a:xfrm>
        </p:grpSpPr>
        <p:pic>
          <p:nvPicPr>
            <p:cNvPr id="8" name="Picture 1027"/>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1762"/>
            <a:stretch/>
          </p:blipFill>
          <p:spPr bwMode="auto">
            <a:xfrm>
              <a:off x="639005" y="1057363"/>
              <a:ext cx="7469187" cy="450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AutoShape 1028"/>
            <p:cNvSpPr>
              <a:spLocks/>
            </p:cNvSpPr>
            <p:nvPr/>
          </p:nvSpPr>
          <p:spPr bwMode="auto">
            <a:xfrm rot="16200000">
              <a:off x="2239999" y="4831556"/>
              <a:ext cx="69850" cy="1300163"/>
            </a:xfrm>
            <a:prstGeom prst="leftBracket">
              <a:avLst>
                <a:gd name="adj" fmla="val 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10" name="AutoShape 1029"/>
            <p:cNvSpPr>
              <a:spLocks/>
            </p:cNvSpPr>
            <p:nvPr/>
          </p:nvSpPr>
          <p:spPr bwMode="auto">
            <a:xfrm>
              <a:off x="145292" y="5680075"/>
              <a:ext cx="752475" cy="304800"/>
            </a:xfrm>
            <a:prstGeom prst="borderCallout2">
              <a:avLst>
                <a:gd name="adj1" fmla="val 37500"/>
                <a:gd name="adj2" fmla="val 110125"/>
                <a:gd name="adj3" fmla="val 37500"/>
                <a:gd name="adj4" fmla="val 119833"/>
                <a:gd name="adj5" fmla="val -52083"/>
                <a:gd name="adj6" fmla="val 152532"/>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a:t>Prestart</a:t>
              </a:r>
            </a:p>
          </p:txBody>
        </p:sp>
        <p:sp>
          <p:nvSpPr>
            <p:cNvPr id="11" name="AutoShape 1030"/>
            <p:cNvSpPr>
              <a:spLocks/>
            </p:cNvSpPr>
            <p:nvPr/>
          </p:nvSpPr>
          <p:spPr bwMode="auto">
            <a:xfrm>
              <a:off x="1212092" y="5691188"/>
              <a:ext cx="581025" cy="304800"/>
            </a:xfrm>
            <a:prstGeom prst="borderCallout2">
              <a:avLst>
                <a:gd name="adj1" fmla="val 37500"/>
                <a:gd name="adj2" fmla="val 113116"/>
                <a:gd name="adj3" fmla="val 37500"/>
                <a:gd name="adj4" fmla="val 126231"/>
                <a:gd name="adj5" fmla="val -57815"/>
                <a:gd name="adj6" fmla="val 139343"/>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a:t>Purge</a:t>
              </a:r>
            </a:p>
          </p:txBody>
        </p:sp>
        <p:sp>
          <p:nvSpPr>
            <p:cNvPr id="12" name="AutoShape 1031"/>
            <p:cNvSpPr>
              <a:spLocks/>
            </p:cNvSpPr>
            <p:nvPr/>
          </p:nvSpPr>
          <p:spPr bwMode="auto">
            <a:xfrm>
              <a:off x="2031242" y="5638800"/>
              <a:ext cx="809625" cy="457200"/>
            </a:xfrm>
            <a:prstGeom prst="borderCallout2">
              <a:avLst>
                <a:gd name="adj1" fmla="val 25000"/>
                <a:gd name="adj2" fmla="val 109412"/>
                <a:gd name="adj3" fmla="val 25000"/>
                <a:gd name="adj4" fmla="val 118630"/>
                <a:gd name="adj5" fmla="val -19444"/>
                <a:gd name="adj6" fmla="val 128037"/>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a:t>Fire &amp; Warmup</a:t>
              </a:r>
            </a:p>
          </p:txBody>
        </p:sp>
        <p:sp>
          <p:nvSpPr>
            <p:cNvPr id="13" name="AutoShape 1032"/>
            <p:cNvSpPr>
              <a:spLocks/>
            </p:cNvSpPr>
            <p:nvPr/>
          </p:nvSpPr>
          <p:spPr bwMode="auto">
            <a:xfrm rot="16200000">
              <a:off x="3013904" y="5318126"/>
              <a:ext cx="106363" cy="290512"/>
            </a:xfrm>
            <a:prstGeom prst="leftBracket">
              <a:avLst>
                <a:gd name="adj" fmla="val 10559"/>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14" name="AutoShape 1033"/>
            <p:cNvSpPr>
              <a:spLocks/>
            </p:cNvSpPr>
            <p:nvPr/>
          </p:nvSpPr>
          <p:spPr bwMode="auto">
            <a:xfrm rot="16200000">
              <a:off x="3737804" y="4883151"/>
              <a:ext cx="106363" cy="1160462"/>
            </a:xfrm>
            <a:prstGeom prst="leftBracket">
              <a:avLst>
                <a:gd name="adj" fmla="val 26922"/>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15" name="AutoShape 1034"/>
            <p:cNvSpPr>
              <a:spLocks/>
            </p:cNvSpPr>
            <p:nvPr/>
          </p:nvSpPr>
          <p:spPr bwMode="auto">
            <a:xfrm>
              <a:off x="3088517" y="5691188"/>
              <a:ext cx="1022350" cy="304800"/>
            </a:xfrm>
            <a:prstGeom prst="borderCallout2">
              <a:avLst>
                <a:gd name="adj1" fmla="val 37500"/>
                <a:gd name="adj2" fmla="val 107454"/>
                <a:gd name="adj3" fmla="val 37500"/>
                <a:gd name="adj4" fmla="val 113199"/>
                <a:gd name="adj5" fmla="val -57815"/>
                <a:gd name="adj6" fmla="val 118944"/>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a:t>Acceleration</a:t>
              </a:r>
            </a:p>
          </p:txBody>
        </p:sp>
        <p:sp>
          <p:nvSpPr>
            <p:cNvPr id="18" name="AutoShape 1035"/>
            <p:cNvSpPr>
              <a:spLocks/>
            </p:cNvSpPr>
            <p:nvPr/>
          </p:nvSpPr>
          <p:spPr bwMode="auto">
            <a:xfrm rot="16200000">
              <a:off x="4370423" y="5407819"/>
              <a:ext cx="112713" cy="104775"/>
            </a:xfrm>
            <a:prstGeom prst="leftBracket">
              <a:avLst>
                <a:gd name="adj" fmla="val 5653"/>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19" name="AutoShape 1036"/>
            <p:cNvSpPr>
              <a:spLocks/>
            </p:cNvSpPr>
            <p:nvPr/>
          </p:nvSpPr>
          <p:spPr bwMode="auto">
            <a:xfrm>
              <a:off x="4718881" y="5720923"/>
              <a:ext cx="1204912" cy="446087"/>
            </a:xfrm>
            <a:prstGeom prst="borderCallout2">
              <a:avLst>
                <a:gd name="adj1" fmla="val 25625"/>
                <a:gd name="adj2" fmla="val -6324"/>
                <a:gd name="adj3" fmla="val 25625"/>
                <a:gd name="adj4" fmla="val -13306"/>
                <a:gd name="adj5" fmla="val -47685"/>
                <a:gd name="adj6" fmla="val -18444"/>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a:t>Sync &amp; Temp Match</a:t>
              </a:r>
            </a:p>
          </p:txBody>
        </p:sp>
        <p:sp>
          <p:nvSpPr>
            <p:cNvPr id="20" name="AutoShape 1037"/>
            <p:cNvSpPr>
              <a:spLocks/>
            </p:cNvSpPr>
            <p:nvPr/>
          </p:nvSpPr>
          <p:spPr bwMode="auto">
            <a:xfrm rot="16200000">
              <a:off x="1385923" y="5282407"/>
              <a:ext cx="106363" cy="361950"/>
            </a:xfrm>
            <a:prstGeom prst="leftBracket">
              <a:avLst>
                <a:gd name="adj" fmla="val 13155"/>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21" name="AutoShape 1038"/>
            <p:cNvSpPr>
              <a:spLocks/>
            </p:cNvSpPr>
            <p:nvPr/>
          </p:nvSpPr>
          <p:spPr bwMode="auto">
            <a:xfrm rot="16200000">
              <a:off x="5866643" y="4029075"/>
              <a:ext cx="114300" cy="2860675"/>
            </a:xfrm>
            <a:prstGeom prst="leftBracket">
              <a:avLst>
                <a:gd name="adj" fmla="val 30474"/>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22" name="AutoShape 1039"/>
            <p:cNvSpPr>
              <a:spLocks/>
            </p:cNvSpPr>
            <p:nvPr/>
          </p:nvSpPr>
          <p:spPr bwMode="auto">
            <a:xfrm>
              <a:off x="6468305" y="5727700"/>
              <a:ext cx="885825" cy="304800"/>
            </a:xfrm>
            <a:prstGeom prst="borderCallout2">
              <a:avLst>
                <a:gd name="adj1" fmla="val 37500"/>
                <a:gd name="adj2" fmla="val -8602"/>
                <a:gd name="adj3" fmla="val 37500"/>
                <a:gd name="adj4" fmla="val -18102"/>
                <a:gd name="adj5" fmla="val -69792"/>
                <a:gd name="adj6" fmla="val -25088"/>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a:t>Loading</a:t>
              </a:r>
            </a:p>
          </p:txBody>
        </p:sp>
        <p:sp>
          <p:nvSpPr>
            <p:cNvPr id="23" name="Line 1040"/>
            <p:cNvSpPr>
              <a:spLocks noChangeShapeType="1"/>
            </p:cNvSpPr>
            <p:nvPr/>
          </p:nvSpPr>
          <p:spPr bwMode="auto">
            <a:xfrm flipV="1">
              <a:off x="1637542" y="3186113"/>
              <a:ext cx="0" cy="2187575"/>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Line 1041"/>
            <p:cNvSpPr>
              <a:spLocks noChangeShapeType="1"/>
            </p:cNvSpPr>
            <p:nvPr/>
          </p:nvSpPr>
          <p:spPr bwMode="auto">
            <a:xfrm flipV="1">
              <a:off x="2917067" y="3187700"/>
              <a:ext cx="0" cy="2187575"/>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1042"/>
            <p:cNvSpPr>
              <a:spLocks noChangeShapeType="1"/>
            </p:cNvSpPr>
            <p:nvPr/>
          </p:nvSpPr>
          <p:spPr bwMode="auto">
            <a:xfrm flipV="1">
              <a:off x="3204405" y="3190875"/>
              <a:ext cx="0" cy="2193925"/>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1043"/>
            <p:cNvSpPr>
              <a:spLocks noChangeShapeType="1"/>
            </p:cNvSpPr>
            <p:nvPr/>
          </p:nvSpPr>
          <p:spPr bwMode="auto">
            <a:xfrm flipV="1">
              <a:off x="4372805" y="1382713"/>
              <a:ext cx="0" cy="398780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1044"/>
            <p:cNvSpPr>
              <a:spLocks noChangeShapeType="1"/>
            </p:cNvSpPr>
            <p:nvPr/>
          </p:nvSpPr>
          <p:spPr bwMode="auto">
            <a:xfrm flipV="1">
              <a:off x="4477580" y="1376363"/>
              <a:ext cx="0" cy="3987800"/>
            </a:xfrm>
            <a:prstGeom prst="line">
              <a:avLst/>
            </a:prstGeom>
            <a:noFill/>
            <a:ln w="127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1045"/>
            <p:cNvSpPr>
              <a:spLocks/>
            </p:cNvSpPr>
            <p:nvPr/>
          </p:nvSpPr>
          <p:spPr bwMode="auto">
            <a:xfrm>
              <a:off x="1253367" y="2008188"/>
              <a:ext cx="5816600" cy="2949575"/>
            </a:xfrm>
            <a:custGeom>
              <a:avLst/>
              <a:gdLst>
                <a:gd name="T0" fmla="*/ 0 w 3664"/>
                <a:gd name="T1" fmla="*/ 2949575 h 1858"/>
                <a:gd name="T2" fmla="*/ 344488 w 3664"/>
                <a:gd name="T3" fmla="*/ 2282825 h 1858"/>
                <a:gd name="T4" fmla="*/ 1258888 w 3664"/>
                <a:gd name="T5" fmla="*/ 2268538 h 1858"/>
                <a:gd name="T6" fmla="*/ 1455738 w 3664"/>
                <a:gd name="T7" fmla="*/ 2465388 h 1858"/>
                <a:gd name="T8" fmla="*/ 1639888 w 3664"/>
                <a:gd name="T9" fmla="*/ 2574925 h 1858"/>
                <a:gd name="T10" fmla="*/ 1792288 w 3664"/>
                <a:gd name="T11" fmla="*/ 2554288 h 1858"/>
                <a:gd name="T12" fmla="*/ 1946275 w 3664"/>
                <a:gd name="T13" fmla="*/ 2546350 h 1858"/>
                <a:gd name="T14" fmla="*/ 2444750 w 3664"/>
                <a:gd name="T15" fmla="*/ 1508125 h 1858"/>
                <a:gd name="T16" fmla="*/ 2817813 w 3664"/>
                <a:gd name="T17" fmla="*/ 1009650 h 1858"/>
                <a:gd name="T18" fmla="*/ 2984500 w 3664"/>
                <a:gd name="T19" fmla="*/ 534988 h 1858"/>
                <a:gd name="T20" fmla="*/ 3000375 w 3664"/>
                <a:gd name="T21" fmla="*/ 403225 h 1858"/>
                <a:gd name="T22" fmla="*/ 3101975 w 3664"/>
                <a:gd name="T23" fmla="*/ 147638 h 1858"/>
                <a:gd name="T24" fmla="*/ 3116263 w 3664"/>
                <a:gd name="T25" fmla="*/ 0 h 1858"/>
                <a:gd name="T26" fmla="*/ 5816600 w 3664"/>
                <a:gd name="T27" fmla="*/ 0 h 185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3664" h="1858">
                  <a:moveTo>
                    <a:pt x="0" y="1858"/>
                  </a:moveTo>
                  <a:lnTo>
                    <a:pt x="217" y="1438"/>
                  </a:lnTo>
                  <a:lnTo>
                    <a:pt x="793" y="1429"/>
                  </a:lnTo>
                  <a:lnTo>
                    <a:pt x="917" y="1553"/>
                  </a:lnTo>
                  <a:lnTo>
                    <a:pt x="1033" y="1622"/>
                  </a:lnTo>
                  <a:lnTo>
                    <a:pt x="1129" y="1609"/>
                  </a:lnTo>
                  <a:lnTo>
                    <a:pt x="1226" y="1604"/>
                  </a:lnTo>
                  <a:lnTo>
                    <a:pt x="1540" y="950"/>
                  </a:lnTo>
                  <a:lnTo>
                    <a:pt x="1775" y="636"/>
                  </a:lnTo>
                  <a:lnTo>
                    <a:pt x="1880" y="337"/>
                  </a:lnTo>
                  <a:lnTo>
                    <a:pt x="1890" y="254"/>
                  </a:lnTo>
                  <a:lnTo>
                    <a:pt x="1954" y="93"/>
                  </a:lnTo>
                  <a:lnTo>
                    <a:pt x="1963" y="0"/>
                  </a:lnTo>
                  <a:lnTo>
                    <a:pt x="3664" y="0"/>
                  </a:lnTo>
                </a:path>
              </a:pathLst>
            </a:cu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Text Box 1046"/>
            <p:cNvSpPr txBox="1">
              <a:spLocks noChangeArrowheads="1"/>
            </p:cNvSpPr>
            <p:nvPr/>
          </p:nvSpPr>
          <p:spPr bwMode="auto">
            <a:xfrm>
              <a:off x="5284030" y="1749425"/>
              <a:ext cx="547687" cy="2444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eaLnBrk="1" hangingPunct="1">
                <a:spcBef>
                  <a:spcPct val="50000"/>
                </a:spcBef>
              </a:pPr>
              <a:r>
                <a:rPr lang="en-US" altLang="en-US" sz="1000" b="1">
                  <a:solidFill>
                    <a:srgbClr val="EC1802"/>
                  </a:solidFill>
                  <a:cs typeface="Arial" panose="020B0604020202020204" pitchFamily="34" charset="0"/>
                </a:rPr>
                <a:t>%TNH</a:t>
              </a:r>
            </a:p>
          </p:txBody>
        </p:sp>
        <p:sp>
          <p:nvSpPr>
            <p:cNvPr id="30" name="Text Box 1047"/>
            <p:cNvSpPr txBox="1">
              <a:spLocks noChangeArrowheads="1"/>
            </p:cNvSpPr>
            <p:nvPr/>
          </p:nvSpPr>
          <p:spPr bwMode="auto">
            <a:xfrm>
              <a:off x="5506280" y="3829050"/>
              <a:ext cx="614362" cy="2444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eaLnBrk="1" hangingPunct="1">
                <a:spcBef>
                  <a:spcPct val="50000"/>
                </a:spcBef>
              </a:pPr>
              <a:r>
                <a:rPr lang="en-US" altLang="en-US" sz="1000" b="1">
                  <a:cs typeface="Arial" panose="020B0604020202020204" pitchFamily="34" charset="0"/>
                </a:rPr>
                <a:t>%Load</a:t>
              </a:r>
            </a:p>
          </p:txBody>
        </p:sp>
        <p:sp>
          <p:nvSpPr>
            <p:cNvPr id="3" name="Rectangle 2"/>
            <p:cNvSpPr/>
            <p:nvPr/>
          </p:nvSpPr>
          <p:spPr>
            <a:xfrm>
              <a:off x="4371217" y="935126"/>
              <a:ext cx="3071495" cy="4272978"/>
            </a:xfrm>
            <a:prstGeom prst="rect">
              <a:avLst/>
            </a:prstGeom>
            <a:solidFill>
              <a:srgbClr val="FF0000">
                <a:alpha val="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p:cNvSpPr/>
          <p:nvPr/>
        </p:nvSpPr>
        <p:spPr>
          <a:xfrm rot="18828550">
            <a:off x="6183417" y="1767304"/>
            <a:ext cx="2903359" cy="1754326"/>
          </a:xfrm>
          <a:prstGeom prst="rect">
            <a:avLst/>
          </a:prstGeom>
          <a:noFill/>
          <a:ln>
            <a:solidFill>
              <a:srgbClr val="E9E9E9"/>
            </a:solidFill>
          </a:ln>
        </p:spPr>
        <p:txBody>
          <a:bodyPr wrap="none" lIns="91440" tIns="45720" rIns="91440" bIns="45720">
            <a:spAutoFit/>
          </a:bodyPr>
          <a:lstStyle/>
          <a:p>
            <a:pPr algn="ctr"/>
            <a:r>
              <a:rPr lang="en-US" sz="5400" b="0" cap="none" spc="0" dirty="0">
                <a:ln w="0"/>
                <a:solidFill>
                  <a:srgbClr val="DDDDDD"/>
                </a:solidFill>
                <a:effectLst>
                  <a:outerShdw blurRad="38100" dist="19050" dir="2700000" algn="tl" rotWithShape="0">
                    <a:schemeClr val="dk1">
                      <a:alpha val="40000"/>
                    </a:schemeClr>
                  </a:outerShdw>
                </a:effectLst>
              </a:rPr>
              <a:t>MBC</a:t>
            </a:r>
          </a:p>
          <a:p>
            <a:pPr algn="ctr"/>
            <a:r>
              <a:rPr lang="en-US" sz="5400" dirty="0">
                <a:ln w="0"/>
                <a:solidFill>
                  <a:srgbClr val="DDDDDD"/>
                </a:solidFill>
                <a:effectLst>
                  <a:outerShdw blurRad="38100" dist="19050" dir="2700000" algn="tl" rotWithShape="0">
                    <a:schemeClr val="dk1">
                      <a:alpha val="40000"/>
                    </a:schemeClr>
                  </a:outerShdw>
                </a:effectLst>
              </a:rPr>
              <a:t>ENABLED</a:t>
            </a:r>
            <a:endParaRPr lang="en-US" sz="5400" b="0" cap="none" spc="0" dirty="0">
              <a:ln w="0"/>
              <a:solidFill>
                <a:srgbClr val="DDDDDD"/>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28651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p:cNvSpPr>
            <a:spLocks noGrp="1"/>
          </p:cNvSpPr>
          <p:nvPr>
            <p:ph type="title"/>
          </p:nvPr>
        </p:nvSpPr>
        <p:spPr>
          <a:xfrm>
            <a:off x="119297" y="196883"/>
            <a:ext cx="11201400" cy="491002"/>
          </a:xfrm>
        </p:spPr>
        <p:txBody>
          <a:bodyPr/>
          <a:lstStyle/>
          <a:p>
            <a:r>
              <a:rPr lang="en-US" dirty="0"/>
              <a:t>Commonly used GT control loop structure</a:t>
            </a:r>
          </a:p>
        </p:txBody>
      </p:sp>
      <p:sp>
        <p:nvSpPr>
          <p:cNvPr id="4" name="Date Placeholder 3"/>
          <p:cNvSpPr>
            <a:spLocks noGrp="1"/>
          </p:cNvSpPr>
          <p:nvPr>
            <p:ph type="dt" sz="half" idx="10"/>
          </p:nvPr>
        </p:nvSpPr>
        <p:spPr/>
        <p:txBody>
          <a:bodyPr/>
          <a:lstStyle/>
          <a:p>
            <a:fld id="{4B8415E8-AE17-4038-B6D8-7717F22F884E}" type="datetime3">
              <a:rPr lang="en-US" smtClean="0"/>
              <a:t>7 March 2017</a:t>
            </a:fld>
            <a:endParaRPr lang="en-CA" dirty="0"/>
          </a:p>
        </p:txBody>
      </p:sp>
      <p:sp>
        <p:nvSpPr>
          <p:cNvPr id="7" name="Slide Number Placeholder 6"/>
          <p:cNvSpPr>
            <a:spLocks noGrp="1"/>
          </p:cNvSpPr>
          <p:nvPr>
            <p:ph type="sldNum" sz="quarter" idx="11"/>
          </p:nvPr>
        </p:nvSpPr>
        <p:spPr/>
        <p:txBody>
          <a:bodyPr/>
          <a:lstStyle/>
          <a:p>
            <a:fld id="{00E6A5BD-C011-4A45-AA3A-201790FB7F2B}" type="slidenum">
              <a:rPr lang="en-CA" smtClean="0"/>
              <a:pPr/>
              <a:t>8</a:t>
            </a:fld>
            <a:endParaRPr lang="en-CA" dirty="0"/>
          </a:p>
        </p:txBody>
      </p:sp>
      <p:sp>
        <p:nvSpPr>
          <p:cNvPr id="34" name="Line 6"/>
          <p:cNvSpPr>
            <a:spLocks noChangeShapeType="1"/>
          </p:cNvSpPr>
          <p:nvPr/>
        </p:nvSpPr>
        <p:spPr bwMode="auto">
          <a:xfrm>
            <a:off x="8547799" y="2929074"/>
            <a:ext cx="800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 name="Line 10"/>
          <p:cNvSpPr>
            <a:spLocks noChangeShapeType="1"/>
          </p:cNvSpPr>
          <p:nvPr/>
        </p:nvSpPr>
        <p:spPr bwMode="auto">
          <a:xfrm>
            <a:off x="2667699" y="2916374"/>
            <a:ext cx="800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 name="Line 11"/>
          <p:cNvSpPr>
            <a:spLocks noChangeShapeType="1"/>
          </p:cNvSpPr>
          <p:nvPr/>
        </p:nvSpPr>
        <p:spPr bwMode="auto">
          <a:xfrm flipV="1">
            <a:off x="6604699" y="2929074"/>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12"/>
          <p:cNvSpPr>
            <a:spLocks noChangeShapeType="1"/>
          </p:cNvSpPr>
          <p:nvPr/>
        </p:nvSpPr>
        <p:spPr bwMode="auto">
          <a:xfrm>
            <a:off x="4750499" y="2916374"/>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13"/>
          <p:cNvSpPr>
            <a:spLocks noChangeShapeType="1"/>
          </p:cNvSpPr>
          <p:nvPr/>
        </p:nvSpPr>
        <p:spPr bwMode="auto">
          <a:xfrm>
            <a:off x="5690299" y="2916374"/>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14"/>
          <p:cNvSpPr>
            <a:spLocks noChangeShapeType="1"/>
          </p:cNvSpPr>
          <p:nvPr/>
        </p:nvSpPr>
        <p:spPr bwMode="auto">
          <a:xfrm>
            <a:off x="3747199" y="2916374"/>
            <a:ext cx="482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15"/>
          <p:cNvSpPr>
            <a:spLocks noChangeShapeType="1"/>
          </p:cNvSpPr>
          <p:nvPr/>
        </p:nvSpPr>
        <p:spPr bwMode="auto">
          <a:xfrm>
            <a:off x="7417499" y="2929074"/>
            <a:ext cx="6223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AutoShape 16"/>
          <p:cNvSpPr>
            <a:spLocks noChangeArrowheads="1"/>
          </p:cNvSpPr>
          <p:nvPr/>
        </p:nvSpPr>
        <p:spPr bwMode="auto">
          <a:xfrm>
            <a:off x="6909499" y="2675074"/>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42" name="AutoShape 17"/>
          <p:cNvSpPr>
            <a:spLocks noChangeArrowheads="1"/>
          </p:cNvSpPr>
          <p:nvPr/>
        </p:nvSpPr>
        <p:spPr bwMode="auto">
          <a:xfrm>
            <a:off x="4242499" y="2662374"/>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43" name="AutoShape 18"/>
          <p:cNvSpPr>
            <a:spLocks noChangeArrowheads="1"/>
          </p:cNvSpPr>
          <p:nvPr/>
        </p:nvSpPr>
        <p:spPr bwMode="auto">
          <a:xfrm>
            <a:off x="6083999" y="2675074"/>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44" name="AutoShape 19"/>
          <p:cNvSpPr>
            <a:spLocks noChangeArrowheads="1"/>
          </p:cNvSpPr>
          <p:nvPr/>
        </p:nvSpPr>
        <p:spPr bwMode="auto">
          <a:xfrm>
            <a:off x="8027099" y="2687774"/>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45" name="Line 20"/>
          <p:cNvSpPr>
            <a:spLocks noChangeShapeType="1"/>
          </p:cNvSpPr>
          <p:nvPr/>
        </p:nvSpPr>
        <p:spPr bwMode="auto">
          <a:xfrm flipV="1">
            <a:off x="5537899" y="3043374"/>
            <a:ext cx="0" cy="469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21"/>
          <p:cNvSpPr>
            <a:spLocks noChangeShapeType="1"/>
          </p:cNvSpPr>
          <p:nvPr/>
        </p:nvSpPr>
        <p:spPr bwMode="auto">
          <a:xfrm>
            <a:off x="5537899" y="3522799"/>
            <a:ext cx="2235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 name="Line 22"/>
          <p:cNvSpPr>
            <a:spLocks noChangeShapeType="1"/>
          </p:cNvSpPr>
          <p:nvPr/>
        </p:nvSpPr>
        <p:spPr bwMode="auto">
          <a:xfrm>
            <a:off x="7773099" y="2929074"/>
            <a:ext cx="0" cy="571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23"/>
          <p:cNvSpPr>
            <a:spLocks noChangeShapeType="1"/>
          </p:cNvSpPr>
          <p:nvPr/>
        </p:nvSpPr>
        <p:spPr bwMode="auto">
          <a:xfrm>
            <a:off x="8865299" y="2941774"/>
            <a:ext cx="0" cy="733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24"/>
          <p:cNvSpPr>
            <a:spLocks noChangeShapeType="1"/>
          </p:cNvSpPr>
          <p:nvPr/>
        </p:nvSpPr>
        <p:spPr bwMode="auto">
          <a:xfrm>
            <a:off x="3594799" y="3678374"/>
            <a:ext cx="52705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25"/>
          <p:cNvSpPr>
            <a:spLocks noChangeShapeType="1"/>
          </p:cNvSpPr>
          <p:nvPr/>
        </p:nvSpPr>
        <p:spPr bwMode="auto">
          <a:xfrm flipV="1">
            <a:off x="3594799" y="3043374"/>
            <a:ext cx="0" cy="641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Text Box 26"/>
          <p:cNvSpPr txBox="1">
            <a:spLocks noChangeArrowheads="1"/>
          </p:cNvSpPr>
          <p:nvPr/>
        </p:nvSpPr>
        <p:spPr bwMode="auto">
          <a:xfrm>
            <a:off x="4267899" y="2751274"/>
            <a:ext cx="495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a:t>C</a:t>
            </a:r>
            <a:r>
              <a:rPr lang="en-US" altLang="en-US" u="none" baseline="-25000"/>
              <a:t>o</a:t>
            </a:r>
          </a:p>
        </p:txBody>
      </p:sp>
      <p:sp>
        <p:nvSpPr>
          <p:cNvPr id="52" name="Text Box 27"/>
          <p:cNvSpPr txBox="1">
            <a:spLocks noChangeArrowheads="1"/>
          </p:cNvSpPr>
          <p:nvPr/>
        </p:nvSpPr>
        <p:spPr bwMode="auto">
          <a:xfrm>
            <a:off x="3823399" y="3157674"/>
            <a:ext cx="1384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lgn="ctr">
              <a:spcBef>
                <a:spcPct val="50000"/>
              </a:spcBef>
            </a:pPr>
            <a:r>
              <a:rPr lang="en-US" altLang="en-US" u="none"/>
              <a:t>Outer Loop</a:t>
            </a:r>
          </a:p>
        </p:txBody>
      </p:sp>
      <p:sp>
        <p:nvSpPr>
          <p:cNvPr id="53" name="Text Box 28"/>
          <p:cNvSpPr txBox="1">
            <a:spLocks noChangeArrowheads="1"/>
          </p:cNvSpPr>
          <p:nvPr/>
        </p:nvSpPr>
        <p:spPr bwMode="auto">
          <a:xfrm>
            <a:off x="6160199" y="2763974"/>
            <a:ext cx="495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dirty="0"/>
              <a:t>C</a:t>
            </a:r>
            <a:r>
              <a:rPr lang="en-US" altLang="en-US" u="none" baseline="-25000" dirty="0"/>
              <a:t>i</a:t>
            </a:r>
            <a:endParaRPr lang="en-US" altLang="en-US" u="none" dirty="0"/>
          </a:p>
        </p:txBody>
      </p:sp>
      <p:sp>
        <p:nvSpPr>
          <p:cNvPr id="54" name="Text Box 29"/>
          <p:cNvSpPr txBox="1">
            <a:spLocks noChangeArrowheads="1"/>
          </p:cNvSpPr>
          <p:nvPr/>
        </p:nvSpPr>
        <p:spPr bwMode="auto">
          <a:xfrm>
            <a:off x="6896799" y="2751274"/>
            <a:ext cx="635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a:t> G</a:t>
            </a:r>
            <a:r>
              <a:rPr lang="en-US" altLang="en-US" u="none" baseline="-25000"/>
              <a:t>i</a:t>
            </a:r>
          </a:p>
        </p:txBody>
      </p:sp>
      <p:sp>
        <p:nvSpPr>
          <p:cNvPr id="55" name="Text Box 30"/>
          <p:cNvSpPr txBox="1">
            <a:spLocks noChangeArrowheads="1"/>
          </p:cNvSpPr>
          <p:nvPr/>
        </p:nvSpPr>
        <p:spPr bwMode="auto">
          <a:xfrm>
            <a:off x="8014399" y="2763974"/>
            <a:ext cx="596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a:t> G</a:t>
            </a:r>
            <a:r>
              <a:rPr lang="en-US" altLang="en-US" u="none" baseline="-25000"/>
              <a:t>o</a:t>
            </a:r>
          </a:p>
        </p:txBody>
      </p:sp>
      <p:sp>
        <p:nvSpPr>
          <p:cNvPr id="56" name="Text Box 31"/>
          <p:cNvSpPr txBox="1">
            <a:spLocks noChangeArrowheads="1"/>
          </p:cNvSpPr>
          <p:nvPr/>
        </p:nvSpPr>
        <p:spPr bwMode="auto">
          <a:xfrm>
            <a:off x="5652199" y="3144974"/>
            <a:ext cx="1384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lgn="ctr">
              <a:spcBef>
                <a:spcPct val="50000"/>
              </a:spcBef>
            </a:pPr>
            <a:r>
              <a:rPr lang="en-US" altLang="en-US" u="none"/>
              <a:t>Inner Loop</a:t>
            </a:r>
          </a:p>
        </p:txBody>
      </p:sp>
      <p:sp>
        <p:nvSpPr>
          <p:cNvPr id="57" name="Oval 35"/>
          <p:cNvSpPr>
            <a:spLocks noChangeArrowheads="1"/>
          </p:cNvSpPr>
          <p:nvPr/>
        </p:nvSpPr>
        <p:spPr bwMode="auto">
          <a:xfrm>
            <a:off x="3455099" y="2786199"/>
            <a:ext cx="285750" cy="2667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58" name="Oval 36"/>
          <p:cNvSpPr>
            <a:spLocks noChangeArrowheads="1"/>
          </p:cNvSpPr>
          <p:nvPr/>
        </p:nvSpPr>
        <p:spPr bwMode="auto">
          <a:xfrm>
            <a:off x="5398199" y="2795724"/>
            <a:ext cx="285750" cy="2667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59" name="Rectangle 37"/>
          <p:cNvSpPr>
            <a:spLocks noChangeArrowheads="1"/>
          </p:cNvSpPr>
          <p:nvPr/>
        </p:nvSpPr>
        <p:spPr bwMode="auto">
          <a:xfrm>
            <a:off x="3280474" y="2627449"/>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a:solidFill>
                  <a:srgbClr val="1E4191"/>
                </a:solidFill>
              </a:rPr>
              <a:t>+</a:t>
            </a:r>
          </a:p>
        </p:txBody>
      </p:sp>
      <p:sp>
        <p:nvSpPr>
          <p:cNvPr id="60" name="Rectangle 38"/>
          <p:cNvSpPr>
            <a:spLocks noChangeArrowheads="1"/>
          </p:cNvSpPr>
          <p:nvPr/>
        </p:nvSpPr>
        <p:spPr bwMode="auto">
          <a:xfrm>
            <a:off x="3318574" y="2932249"/>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a:solidFill>
                  <a:srgbClr val="1E4191"/>
                </a:solidFill>
              </a:rPr>
              <a:t>-</a:t>
            </a:r>
          </a:p>
        </p:txBody>
      </p:sp>
      <p:sp>
        <p:nvSpPr>
          <p:cNvPr id="61" name="Rectangle 39"/>
          <p:cNvSpPr>
            <a:spLocks noChangeArrowheads="1"/>
          </p:cNvSpPr>
          <p:nvPr/>
        </p:nvSpPr>
        <p:spPr bwMode="auto">
          <a:xfrm>
            <a:off x="5204524" y="2589349"/>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a:solidFill>
                  <a:srgbClr val="1E4191"/>
                </a:solidFill>
              </a:rPr>
              <a:t>+</a:t>
            </a:r>
          </a:p>
        </p:txBody>
      </p:sp>
      <p:sp>
        <p:nvSpPr>
          <p:cNvPr id="62" name="Rectangle 40"/>
          <p:cNvSpPr>
            <a:spLocks noChangeArrowheads="1"/>
          </p:cNvSpPr>
          <p:nvPr/>
        </p:nvSpPr>
        <p:spPr bwMode="auto">
          <a:xfrm>
            <a:off x="5242624" y="2894149"/>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a:solidFill>
                  <a:srgbClr val="1E4191"/>
                </a:solidFill>
              </a:rPr>
              <a:t>-</a:t>
            </a:r>
          </a:p>
        </p:txBody>
      </p:sp>
      <p:sp>
        <p:nvSpPr>
          <p:cNvPr id="63" name="Line 6"/>
          <p:cNvSpPr>
            <a:spLocks noChangeShapeType="1"/>
          </p:cNvSpPr>
          <p:nvPr/>
        </p:nvSpPr>
        <p:spPr bwMode="auto">
          <a:xfrm>
            <a:off x="7049197" y="1172814"/>
            <a:ext cx="800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4" name="Line 10"/>
          <p:cNvSpPr>
            <a:spLocks noChangeShapeType="1"/>
          </p:cNvSpPr>
          <p:nvPr/>
        </p:nvSpPr>
        <p:spPr bwMode="auto">
          <a:xfrm>
            <a:off x="3810698" y="1172814"/>
            <a:ext cx="800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 name="Line 12"/>
          <p:cNvSpPr>
            <a:spLocks noChangeShapeType="1"/>
          </p:cNvSpPr>
          <p:nvPr/>
        </p:nvSpPr>
        <p:spPr bwMode="auto">
          <a:xfrm>
            <a:off x="5893498" y="1172814"/>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8" name="Line 14"/>
          <p:cNvSpPr>
            <a:spLocks noChangeShapeType="1"/>
          </p:cNvSpPr>
          <p:nvPr/>
        </p:nvSpPr>
        <p:spPr bwMode="auto">
          <a:xfrm>
            <a:off x="4890198" y="1172814"/>
            <a:ext cx="482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1" name="AutoShape 17"/>
          <p:cNvSpPr>
            <a:spLocks noChangeArrowheads="1"/>
          </p:cNvSpPr>
          <p:nvPr/>
        </p:nvSpPr>
        <p:spPr bwMode="auto">
          <a:xfrm>
            <a:off x="5385498" y="918814"/>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73" name="AutoShape 19"/>
          <p:cNvSpPr>
            <a:spLocks noChangeArrowheads="1"/>
          </p:cNvSpPr>
          <p:nvPr/>
        </p:nvSpPr>
        <p:spPr bwMode="auto">
          <a:xfrm>
            <a:off x="6541197" y="927959"/>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77" name="Line 23"/>
          <p:cNvSpPr>
            <a:spLocks noChangeShapeType="1"/>
          </p:cNvSpPr>
          <p:nvPr/>
        </p:nvSpPr>
        <p:spPr bwMode="auto">
          <a:xfrm>
            <a:off x="7303198" y="1172814"/>
            <a:ext cx="0" cy="733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 name="Line 24"/>
          <p:cNvSpPr>
            <a:spLocks noChangeShapeType="1"/>
          </p:cNvSpPr>
          <p:nvPr/>
        </p:nvSpPr>
        <p:spPr bwMode="auto">
          <a:xfrm flipV="1">
            <a:off x="4737798" y="1916727"/>
            <a:ext cx="2565400" cy="180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 name="Line 25"/>
          <p:cNvSpPr>
            <a:spLocks noChangeShapeType="1"/>
          </p:cNvSpPr>
          <p:nvPr/>
        </p:nvSpPr>
        <p:spPr bwMode="auto">
          <a:xfrm flipV="1">
            <a:off x="4737798" y="1299814"/>
            <a:ext cx="0" cy="641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 name="Text Box 26"/>
          <p:cNvSpPr txBox="1">
            <a:spLocks noChangeArrowheads="1"/>
          </p:cNvSpPr>
          <p:nvPr/>
        </p:nvSpPr>
        <p:spPr bwMode="auto">
          <a:xfrm>
            <a:off x="5410898" y="1007714"/>
            <a:ext cx="495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dirty="0"/>
              <a:t>C</a:t>
            </a:r>
            <a:endParaRPr lang="en-US" altLang="en-US" u="none" baseline="-25000" dirty="0"/>
          </a:p>
        </p:txBody>
      </p:sp>
      <p:sp>
        <p:nvSpPr>
          <p:cNvPr id="84" name="Text Box 30"/>
          <p:cNvSpPr txBox="1">
            <a:spLocks noChangeArrowheads="1"/>
          </p:cNvSpPr>
          <p:nvPr/>
        </p:nvSpPr>
        <p:spPr bwMode="auto">
          <a:xfrm>
            <a:off x="6528497" y="1004159"/>
            <a:ext cx="596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dirty="0"/>
              <a:t> G</a:t>
            </a:r>
            <a:endParaRPr lang="en-US" altLang="en-US" u="none" baseline="-25000" dirty="0"/>
          </a:p>
        </p:txBody>
      </p:sp>
      <p:sp>
        <p:nvSpPr>
          <p:cNvPr id="86" name="Oval 35"/>
          <p:cNvSpPr>
            <a:spLocks noChangeArrowheads="1"/>
          </p:cNvSpPr>
          <p:nvPr/>
        </p:nvSpPr>
        <p:spPr bwMode="auto">
          <a:xfrm>
            <a:off x="4598098" y="1042639"/>
            <a:ext cx="285750" cy="2667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88" name="Rectangle 37"/>
          <p:cNvSpPr>
            <a:spLocks noChangeArrowheads="1"/>
          </p:cNvSpPr>
          <p:nvPr/>
        </p:nvSpPr>
        <p:spPr bwMode="auto">
          <a:xfrm>
            <a:off x="4423473" y="883889"/>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dirty="0">
                <a:solidFill>
                  <a:srgbClr val="1E4191"/>
                </a:solidFill>
              </a:rPr>
              <a:t>+</a:t>
            </a:r>
          </a:p>
        </p:txBody>
      </p:sp>
      <p:sp>
        <p:nvSpPr>
          <p:cNvPr id="89" name="Rectangle 38"/>
          <p:cNvSpPr>
            <a:spLocks noChangeArrowheads="1"/>
          </p:cNvSpPr>
          <p:nvPr/>
        </p:nvSpPr>
        <p:spPr bwMode="auto">
          <a:xfrm>
            <a:off x="4461573" y="1188689"/>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a:solidFill>
                  <a:srgbClr val="1E4191"/>
                </a:solidFill>
              </a:rPr>
              <a:t>-</a:t>
            </a:r>
          </a:p>
        </p:txBody>
      </p:sp>
      <p:sp>
        <p:nvSpPr>
          <p:cNvPr id="92" name="Line 6"/>
          <p:cNvSpPr>
            <a:spLocks noChangeShapeType="1"/>
          </p:cNvSpPr>
          <p:nvPr/>
        </p:nvSpPr>
        <p:spPr bwMode="auto">
          <a:xfrm>
            <a:off x="7376427" y="5040932"/>
            <a:ext cx="800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3" name="Line 10"/>
          <p:cNvSpPr>
            <a:spLocks noChangeShapeType="1"/>
          </p:cNvSpPr>
          <p:nvPr/>
        </p:nvSpPr>
        <p:spPr bwMode="auto">
          <a:xfrm>
            <a:off x="4137928" y="5040932"/>
            <a:ext cx="800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 name="Line 12"/>
          <p:cNvSpPr>
            <a:spLocks noChangeShapeType="1"/>
          </p:cNvSpPr>
          <p:nvPr/>
        </p:nvSpPr>
        <p:spPr bwMode="auto">
          <a:xfrm flipV="1">
            <a:off x="6677926" y="5040931"/>
            <a:ext cx="190502" cy="15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 name="Line 14"/>
          <p:cNvSpPr>
            <a:spLocks noChangeShapeType="1"/>
          </p:cNvSpPr>
          <p:nvPr/>
        </p:nvSpPr>
        <p:spPr bwMode="auto">
          <a:xfrm>
            <a:off x="5217428" y="5040932"/>
            <a:ext cx="482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 name="AutoShape 17"/>
          <p:cNvSpPr>
            <a:spLocks noChangeArrowheads="1"/>
          </p:cNvSpPr>
          <p:nvPr/>
        </p:nvSpPr>
        <p:spPr bwMode="auto">
          <a:xfrm>
            <a:off x="5712728" y="4786932"/>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97" name="AutoShape 19"/>
          <p:cNvSpPr>
            <a:spLocks noChangeArrowheads="1"/>
          </p:cNvSpPr>
          <p:nvPr/>
        </p:nvSpPr>
        <p:spPr bwMode="auto">
          <a:xfrm>
            <a:off x="6868427" y="4796077"/>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98" name="Line 23"/>
          <p:cNvSpPr>
            <a:spLocks noChangeShapeType="1"/>
          </p:cNvSpPr>
          <p:nvPr/>
        </p:nvSpPr>
        <p:spPr bwMode="auto">
          <a:xfrm>
            <a:off x="7630428" y="5040932"/>
            <a:ext cx="0" cy="733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9" name="Line 24"/>
          <p:cNvSpPr>
            <a:spLocks noChangeShapeType="1"/>
          </p:cNvSpPr>
          <p:nvPr/>
        </p:nvSpPr>
        <p:spPr bwMode="auto">
          <a:xfrm flipV="1">
            <a:off x="5065028" y="5784845"/>
            <a:ext cx="2565400" cy="180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0" name="Line 25"/>
          <p:cNvSpPr>
            <a:spLocks noChangeShapeType="1"/>
          </p:cNvSpPr>
          <p:nvPr/>
        </p:nvSpPr>
        <p:spPr bwMode="auto">
          <a:xfrm flipV="1">
            <a:off x="5065028" y="5167932"/>
            <a:ext cx="0" cy="641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1" name="Text Box 26"/>
          <p:cNvSpPr txBox="1">
            <a:spLocks noChangeArrowheads="1"/>
          </p:cNvSpPr>
          <p:nvPr/>
        </p:nvSpPr>
        <p:spPr bwMode="auto">
          <a:xfrm>
            <a:off x="5738128" y="4875832"/>
            <a:ext cx="495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dirty="0"/>
              <a:t>C</a:t>
            </a:r>
            <a:endParaRPr lang="en-US" altLang="en-US" u="none" baseline="-25000" dirty="0"/>
          </a:p>
        </p:txBody>
      </p:sp>
      <p:sp>
        <p:nvSpPr>
          <p:cNvPr id="102" name="Text Box 30"/>
          <p:cNvSpPr txBox="1">
            <a:spLocks noChangeArrowheads="1"/>
          </p:cNvSpPr>
          <p:nvPr/>
        </p:nvSpPr>
        <p:spPr bwMode="auto">
          <a:xfrm>
            <a:off x="6855727" y="4872277"/>
            <a:ext cx="596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dirty="0"/>
              <a:t> G</a:t>
            </a:r>
            <a:endParaRPr lang="en-US" altLang="en-US" u="none" baseline="-25000" dirty="0"/>
          </a:p>
        </p:txBody>
      </p:sp>
      <p:sp>
        <p:nvSpPr>
          <p:cNvPr id="103" name="Oval 35"/>
          <p:cNvSpPr>
            <a:spLocks noChangeArrowheads="1"/>
          </p:cNvSpPr>
          <p:nvPr/>
        </p:nvSpPr>
        <p:spPr bwMode="auto">
          <a:xfrm>
            <a:off x="4925328" y="4910757"/>
            <a:ext cx="285750" cy="2667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104" name="Rectangle 37"/>
          <p:cNvSpPr>
            <a:spLocks noChangeArrowheads="1"/>
          </p:cNvSpPr>
          <p:nvPr/>
        </p:nvSpPr>
        <p:spPr bwMode="auto">
          <a:xfrm>
            <a:off x="4750703" y="4752007"/>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a:solidFill>
                  <a:srgbClr val="1E4191"/>
                </a:solidFill>
              </a:rPr>
              <a:t>+</a:t>
            </a:r>
          </a:p>
        </p:txBody>
      </p:sp>
      <p:sp>
        <p:nvSpPr>
          <p:cNvPr id="105" name="Rectangle 38"/>
          <p:cNvSpPr>
            <a:spLocks noChangeArrowheads="1"/>
          </p:cNvSpPr>
          <p:nvPr/>
        </p:nvSpPr>
        <p:spPr bwMode="auto">
          <a:xfrm>
            <a:off x="4788803" y="5056807"/>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a:solidFill>
                  <a:srgbClr val="1E4191"/>
                </a:solidFill>
              </a:rPr>
              <a:t>-</a:t>
            </a:r>
          </a:p>
        </p:txBody>
      </p:sp>
      <p:sp>
        <p:nvSpPr>
          <p:cNvPr id="107" name="Line 25"/>
          <p:cNvSpPr>
            <a:spLocks noChangeShapeType="1"/>
          </p:cNvSpPr>
          <p:nvPr/>
        </p:nvSpPr>
        <p:spPr bwMode="auto">
          <a:xfrm>
            <a:off x="6513760" y="4289676"/>
            <a:ext cx="4078" cy="6061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8" name="Oval 35"/>
          <p:cNvSpPr>
            <a:spLocks noChangeArrowheads="1"/>
          </p:cNvSpPr>
          <p:nvPr/>
        </p:nvSpPr>
        <p:spPr bwMode="auto">
          <a:xfrm>
            <a:off x="6370885" y="4901232"/>
            <a:ext cx="285750" cy="2667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cxnSp>
        <p:nvCxnSpPr>
          <p:cNvPr id="110" name="Straight Connector 109"/>
          <p:cNvCxnSpPr/>
          <p:nvPr/>
        </p:nvCxnSpPr>
        <p:spPr>
          <a:xfrm flipH="1">
            <a:off x="5757479" y="4288115"/>
            <a:ext cx="754965" cy="143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 name="Straight Connector 110"/>
          <p:cNvCxnSpPr>
            <a:stCxn id="108" idx="2"/>
            <a:endCxn id="101" idx="3"/>
          </p:cNvCxnSpPr>
          <p:nvPr/>
        </p:nvCxnSpPr>
        <p:spPr>
          <a:xfrm flipH="1">
            <a:off x="6233428" y="5034582"/>
            <a:ext cx="137457" cy="9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4" name="AutoShape 19"/>
          <p:cNvSpPr>
            <a:spLocks noChangeArrowheads="1"/>
          </p:cNvSpPr>
          <p:nvPr/>
        </p:nvSpPr>
        <p:spPr bwMode="auto">
          <a:xfrm>
            <a:off x="5248821" y="4054777"/>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115" name="Text Box 30"/>
          <p:cNvSpPr txBox="1">
            <a:spLocks noChangeArrowheads="1"/>
          </p:cNvSpPr>
          <p:nvPr/>
        </p:nvSpPr>
        <p:spPr bwMode="auto">
          <a:xfrm>
            <a:off x="5286579" y="4152761"/>
            <a:ext cx="5969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dirty="0"/>
              <a:t>FF</a:t>
            </a:r>
            <a:endParaRPr lang="en-US" altLang="en-US" u="none" baseline="-25000" dirty="0"/>
          </a:p>
        </p:txBody>
      </p:sp>
      <p:sp>
        <p:nvSpPr>
          <p:cNvPr id="118" name="TextBox 117"/>
          <p:cNvSpPr txBox="1"/>
          <p:nvPr/>
        </p:nvSpPr>
        <p:spPr>
          <a:xfrm>
            <a:off x="4029080" y="972415"/>
            <a:ext cx="189154" cy="169277"/>
          </a:xfrm>
          <a:prstGeom prst="rect">
            <a:avLst/>
          </a:prstGeom>
          <a:noFill/>
        </p:spPr>
        <p:txBody>
          <a:bodyPr wrap="none" lIns="0" tIns="0" rIns="0" bIns="0" rtlCol="0">
            <a:spAutoFit/>
          </a:bodyPr>
          <a:lstStyle/>
          <a:p>
            <a:r>
              <a:rPr lang="en-US" sz="1100" dirty="0">
                <a:solidFill>
                  <a:schemeClr val="accent2"/>
                </a:solidFill>
              </a:rPr>
              <a:t>Ref</a:t>
            </a:r>
            <a:endParaRPr lang="en-US" dirty="0">
              <a:solidFill>
                <a:schemeClr val="accent2"/>
              </a:solidFill>
            </a:endParaRPr>
          </a:p>
        </p:txBody>
      </p:sp>
      <p:sp>
        <p:nvSpPr>
          <p:cNvPr id="119" name="TextBox 118"/>
          <p:cNvSpPr txBox="1"/>
          <p:nvPr/>
        </p:nvSpPr>
        <p:spPr>
          <a:xfrm>
            <a:off x="5065028" y="869214"/>
            <a:ext cx="102592" cy="246221"/>
          </a:xfrm>
          <a:prstGeom prst="rect">
            <a:avLst/>
          </a:prstGeom>
          <a:noFill/>
        </p:spPr>
        <p:txBody>
          <a:bodyPr wrap="none" lIns="0" tIns="0" rIns="0" bIns="0" rtlCol="0">
            <a:spAutoFit/>
          </a:bodyPr>
          <a:lstStyle/>
          <a:p>
            <a:r>
              <a:rPr lang="en-US" sz="1600" dirty="0">
                <a:solidFill>
                  <a:schemeClr val="accent2"/>
                </a:solidFill>
              </a:rPr>
              <a:t>e</a:t>
            </a:r>
          </a:p>
        </p:txBody>
      </p:sp>
      <p:sp>
        <p:nvSpPr>
          <p:cNvPr id="121" name="TextBox 120"/>
          <p:cNvSpPr txBox="1"/>
          <p:nvPr/>
        </p:nvSpPr>
        <p:spPr>
          <a:xfrm>
            <a:off x="5927348" y="845102"/>
            <a:ext cx="583493" cy="338554"/>
          </a:xfrm>
          <a:prstGeom prst="rect">
            <a:avLst/>
          </a:prstGeom>
          <a:noFill/>
        </p:spPr>
        <p:txBody>
          <a:bodyPr wrap="none" lIns="0" tIns="0" rIns="0" bIns="0" rtlCol="0">
            <a:spAutoFit/>
          </a:bodyPr>
          <a:lstStyle/>
          <a:p>
            <a:pPr algn="ctr"/>
            <a:r>
              <a:rPr lang="en-US" sz="1100" dirty="0">
                <a:solidFill>
                  <a:schemeClr val="accent2"/>
                </a:solidFill>
              </a:rPr>
              <a:t>Controller</a:t>
            </a:r>
          </a:p>
          <a:p>
            <a:pPr algn="ctr"/>
            <a:r>
              <a:rPr lang="en-US" sz="1100" dirty="0">
                <a:solidFill>
                  <a:schemeClr val="accent2"/>
                </a:solidFill>
              </a:rPr>
              <a:t> output</a:t>
            </a:r>
          </a:p>
        </p:txBody>
      </p:sp>
      <p:sp>
        <p:nvSpPr>
          <p:cNvPr id="122" name="TextBox 121"/>
          <p:cNvSpPr txBox="1"/>
          <p:nvPr/>
        </p:nvSpPr>
        <p:spPr>
          <a:xfrm>
            <a:off x="7180501" y="853884"/>
            <a:ext cx="423193" cy="338554"/>
          </a:xfrm>
          <a:prstGeom prst="rect">
            <a:avLst/>
          </a:prstGeom>
          <a:noFill/>
        </p:spPr>
        <p:txBody>
          <a:bodyPr wrap="none" lIns="0" tIns="0" rIns="0" bIns="0" rtlCol="0">
            <a:spAutoFit/>
          </a:bodyPr>
          <a:lstStyle/>
          <a:p>
            <a:pPr algn="ctr"/>
            <a:r>
              <a:rPr lang="en-US" sz="1100" dirty="0">
                <a:solidFill>
                  <a:schemeClr val="accent2"/>
                </a:solidFill>
              </a:rPr>
              <a:t>Plant</a:t>
            </a:r>
          </a:p>
          <a:p>
            <a:pPr algn="ctr"/>
            <a:r>
              <a:rPr lang="en-US" sz="1100" dirty="0">
                <a:solidFill>
                  <a:schemeClr val="accent2"/>
                </a:solidFill>
              </a:rPr>
              <a:t> output</a:t>
            </a:r>
          </a:p>
        </p:txBody>
      </p:sp>
      <p:sp>
        <p:nvSpPr>
          <p:cNvPr id="123" name="TextBox 122"/>
          <p:cNvSpPr txBox="1"/>
          <p:nvPr/>
        </p:nvSpPr>
        <p:spPr>
          <a:xfrm>
            <a:off x="7630428" y="495994"/>
            <a:ext cx="1060566" cy="507831"/>
          </a:xfrm>
          <a:prstGeom prst="rect">
            <a:avLst/>
          </a:prstGeom>
          <a:noFill/>
          <a:ln>
            <a:solidFill>
              <a:schemeClr val="tx1"/>
            </a:solidFill>
          </a:ln>
        </p:spPr>
        <p:txBody>
          <a:bodyPr wrap="square" lIns="0" tIns="0" rIns="0" bIns="0" rtlCol="0">
            <a:spAutoFit/>
          </a:bodyPr>
          <a:lstStyle/>
          <a:p>
            <a:pPr algn="ctr"/>
            <a:r>
              <a:rPr lang="en-US" sz="1100" dirty="0">
                <a:solidFill>
                  <a:schemeClr val="accent2"/>
                </a:solidFill>
              </a:rPr>
              <a:t>Sensor outputs</a:t>
            </a:r>
          </a:p>
          <a:p>
            <a:pPr algn="ctr"/>
            <a:r>
              <a:rPr lang="en-US" sz="1100" dirty="0">
                <a:solidFill>
                  <a:schemeClr val="accent2"/>
                </a:solidFill>
              </a:rPr>
              <a:t>OR</a:t>
            </a:r>
          </a:p>
          <a:p>
            <a:pPr algn="ctr"/>
            <a:r>
              <a:rPr lang="en-US" sz="1100" dirty="0">
                <a:solidFill>
                  <a:schemeClr val="accent2"/>
                </a:solidFill>
              </a:rPr>
              <a:t>Model outputs</a:t>
            </a:r>
          </a:p>
        </p:txBody>
      </p:sp>
      <p:sp>
        <p:nvSpPr>
          <p:cNvPr id="126" name="TextBox 125"/>
          <p:cNvSpPr txBox="1"/>
          <p:nvPr/>
        </p:nvSpPr>
        <p:spPr>
          <a:xfrm>
            <a:off x="1512000" y="2977785"/>
            <a:ext cx="1838619" cy="169277"/>
          </a:xfrm>
          <a:prstGeom prst="rect">
            <a:avLst/>
          </a:prstGeom>
          <a:noFill/>
          <a:ln>
            <a:solidFill>
              <a:schemeClr val="tx1"/>
            </a:solidFill>
          </a:ln>
        </p:spPr>
        <p:txBody>
          <a:bodyPr wrap="square" lIns="0" tIns="0" rIns="0" bIns="0" rtlCol="0">
            <a:spAutoFit/>
          </a:bodyPr>
          <a:lstStyle/>
          <a:p>
            <a:pPr algn="ctr"/>
            <a:r>
              <a:rPr lang="en-US" sz="1100" dirty="0">
                <a:solidFill>
                  <a:schemeClr val="accent2"/>
                </a:solidFill>
              </a:rPr>
              <a:t>Ex. : Isotherm  TTXM = 1200</a:t>
            </a:r>
          </a:p>
        </p:txBody>
      </p:sp>
      <p:sp>
        <p:nvSpPr>
          <p:cNvPr id="127" name="TextBox 126"/>
          <p:cNvSpPr txBox="1"/>
          <p:nvPr/>
        </p:nvSpPr>
        <p:spPr>
          <a:xfrm>
            <a:off x="3350619" y="758688"/>
            <a:ext cx="1215879" cy="169277"/>
          </a:xfrm>
          <a:prstGeom prst="rect">
            <a:avLst/>
          </a:prstGeom>
          <a:noFill/>
          <a:ln>
            <a:solidFill>
              <a:schemeClr val="tx1"/>
            </a:solidFill>
          </a:ln>
        </p:spPr>
        <p:txBody>
          <a:bodyPr wrap="square" lIns="0" tIns="0" rIns="0" bIns="0" rtlCol="0">
            <a:spAutoFit/>
          </a:bodyPr>
          <a:lstStyle/>
          <a:p>
            <a:pPr algn="ctr"/>
            <a:r>
              <a:rPr lang="en-US" sz="1100" dirty="0">
                <a:solidFill>
                  <a:schemeClr val="accent2"/>
                </a:solidFill>
              </a:rPr>
              <a:t>Targets/ Boundary</a:t>
            </a:r>
          </a:p>
        </p:txBody>
      </p:sp>
      <p:sp>
        <p:nvSpPr>
          <p:cNvPr id="128" name="Rectangle 37"/>
          <p:cNvSpPr>
            <a:spLocks noChangeArrowheads="1"/>
          </p:cNvSpPr>
          <p:nvPr/>
        </p:nvSpPr>
        <p:spPr bwMode="auto">
          <a:xfrm>
            <a:off x="6364098" y="4838710"/>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dirty="0">
                <a:solidFill>
                  <a:srgbClr val="1E4191"/>
                </a:solidFill>
              </a:rPr>
              <a:t>+</a:t>
            </a:r>
          </a:p>
        </p:txBody>
      </p:sp>
      <p:sp>
        <p:nvSpPr>
          <p:cNvPr id="129" name="TextBox 128"/>
          <p:cNvSpPr txBox="1"/>
          <p:nvPr/>
        </p:nvSpPr>
        <p:spPr>
          <a:xfrm>
            <a:off x="3013774" y="2675074"/>
            <a:ext cx="189154" cy="169277"/>
          </a:xfrm>
          <a:prstGeom prst="rect">
            <a:avLst/>
          </a:prstGeom>
          <a:noFill/>
        </p:spPr>
        <p:txBody>
          <a:bodyPr wrap="none" lIns="0" tIns="0" rIns="0" bIns="0" rtlCol="0">
            <a:spAutoFit/>
          </a:bodyPr>
          <a:lstStyle/>
          <a:p>
            <a:r>
              <a:rPr lang="en-US" sz="1100" dirty="0">
                <a:solidFill>
                  <a:schemeClr val="accent2"/>
                </a:solidFill>
              </a:rPr>
              <a:t>Ref</a:t>
            </a:r>
            <a:endParaRPr lang="en-US" dirty="0">
              <a:solidFill>
                <a:schemeClr val="accent2"/>
              </a:solidFill>
            </a:endParaRPr>
          </a:p>
        </p:txBody>
      </p:sp>
      <p:sp>
        <p:nvSpPr>
          <p:cNvPr id="130" name="TextBox 129"/>
          <p:cNvSpPr txBox="1"/>
          <p:nvPr/>
        </p:nvSpPr>
        <p:spPr>
          <a:xfrm>
            <a:off x="5773522" y="2706519"/>
            <a:ext cx="189154" cy="169277"/>
          </a:xfrm>
          <a:prstGeom prst="rect">
            <a:avLst/>
          </a:prstGeom>
          <a:noFill/>
        </p:spPr>
        <p:txBody>
          <a:bodyPr wrap="none" lIns="0" tIns="0" rIns="0" bIns="0" rtlCol="0">
            <a:spAutoFit/>
          </a:bodyPr>
          <a:lstStyle/>
          <a:p>
            <a:r>
              <a:rPr lang="en-US" sz="1100" dirty="0">
                <a:solidFill>
                  <a:schemeClr val="accent2"/>
                </a:solidFill>
              </a:rPr>
              <a:t>Ref</a:t>
            </a:r>
            <a:endParaRPr lang="en-US" dirty="0">
              <a:solidFill>
                <a:schemeClr val="accent2"/>
              </a:solidFill>
            </a:endParaRPr>
          </a:p>
        </p:txBody>
      </p:sp>
      <p:sp>
        <p:nvSpPr>
          <p:cNvPr id="131" name="TextBox 130"/>
          <p:cNvSpPr txBox="1"/>
          <p:nvPr/>
        </p:nvSpPr>
        <p:spPr>
          <a:xfrm>
            <a:off x="4744149" y="2597130"/>
            <a:ext cx="583493" cy="338554"/>
          </a:xfrm>
          <a:prstGeom prst="rect">
            <a:avLst/>
          </a:prstGeom>
          <a:noFill/>
        </p:spPr>
        <p:txBody>
          <a:bodyPr wrap="none" lIns="0" tIns="0" rIns="0" bIns="0" rtlCol="0">
            <a:spAutoFit/>
          </a:bodyPr>
          <a:lstStyle/>
          <a:p>
            <a:pPr algn="ctr"/>
            <a:r>
              <a:rPr lang="en-US" sz="1100" dirty="0">
                <a:solidFill>
                  <a:schemeClr val="accent2"/>
                </a:solidFill>
              </a:rPr>
              <a:t>Controller</a:t>
            </a:r>
          </a:p>
          <a:p>
            <a:pPr algn="ctr"/>
            <a:r>
              <a:rPr lang="en-US" sz="1100" dirty="0">
                <a:solidFill>
                  <a:schemeClr val="accent2"/>
                </a:solidFill>
              </a:rPr>
              <a:t> output</a:t>
            </a:r>
          </a:p>
        </p:txBody>
      </p:sp>
      <p:sp>
        <p:nvSpPr>
          <p:cNvPr id="132" name="TextBox 131"/>
          <p:cNvSpPr txBox="1"/>
          <p:nvPr/>
        </p:nvSpPr>
        <p:spPr>
          <a:xfrm>
            <a:off x="8789098" y="2566749"/>
            <a:ext cx="423193" cy="338554"/>
          </a:xfrm>
          <a:prstGeom prst="rect">
            <a:avLst/>
          </a:prstGeom>
          <a:noFill/>
        </p:spPr>
        <p:txBody>
          <a:bodyPr wrap="none" lIns="0" tIns="0" rIns="0" bIns="0" rtlCol="0">
            <a:spAutoFit/>
          </a:bodyPr>
          <a:lstStyle/>
          <a:p>
            <a:pPr algn="ctr"/>
            <a:r>
              <a:rPr lang="en-US" sz="1100" dirty="0">
                <a:solidFill>
                  <a:schemeClr val="accent2"/>
                </a:solidFill>
              </a:rPr>
              <a:t>Plant</a:t>
            </a:r>
          </a:p>
          <a:p>
            <a:pPr algn="ctr"/>
            <a:r>
              <a:rPr lang="en-US" sz="1100" dirty="0">
                <a:solidFill>
                  <a:schemeClr val="accent2"/>
                </a:solidFill>
              </a:rPr>
              <a:t> output</a:t>
            </a:r>
          </a:p>
        </p:txBody>
      </p:sp>
      <p:sp>
        <p:nvSpPr>
          <p:cNvPr id="133" name="TextBox 132"/>
          <p:cNvSpPr txBox="1"/>
          <p:nvPr/>
        </p:nvSpPr>
        <p:spPr>
          <a:xfrm>
            <a:off x="6567402" y="2556597"/>
            <a:ext cx="327013" cy="338554"/>
          </a:xfrm>
          <a:prstGeom prst="rect">
            <a:avLst/>
          </a:prstGeom>
          <a:noFill/>
        </p:spPr>
        <p:txBody>
          <a:bodyPr wrap="none" lIns="0" tIns="0" rIns="0" bIns="0" rtlCol="0">
            <a:spAutoFit/>
          </a:bodyPr>
          <a:lstStyle/>
          <a:p>
            <a:pPr algn="ctr"/>
            <a:r>
              <a:rPr lang="en-US" sz="1100" dirty="0">
                <a:solidFill>
                  <a:schemeClr val="accent2"/>
                </a:solidFill>
              </a:rPr>
              <a:t>Servo</a:t>
            </a:r>
          </a:p>
          <a:p>
            <a:pPr algn="ctr"/>
            <a:r>
              <a:rPr lang="en-US" sz="1100" dirty="0">
                <a:solidFill>
                  <a:schemeClr val="accent2"/>
                </a:solidFill>
              </a:rPr>
              <a:t> O/P</a:t>
            </a:r>
          </a:p>
        </p:txBody>
      </p:sp>
      <p:sp>
        <p:nvSpPr>
          <p:cNvPr id="134" name="TextBox 133"/>
          <p:cNvSpPr txBox="1"/>
          <p:nvPr/>
        </p:nvSpPr>
        <p:spPr>
          <a:xfrm>
            <a:off x="4600792" y="2356576"/>
            <a:ext cx="937107" cy="169770"/>
          </a:xfrm>
          <a:prstGeom prst="rect">
            <a:avLst/>
          </a:prstGeom>
          <a:noFill/>
          <a:ln>
            <a:solidFill>
              <a:schemeClr val="tx1"/>
            </a:solidFill>
          </a:ln>
        </p:spPr>
        <p:txBody>
          <a:bodyPr wrap="square" lIns="0" tIns="0" rIns="0" bIns="0" rtlCol="0">
            <a:spAutoFit/>
          </a:bodyPr>
          <a:lstStyle/>
          <a:p>
            <a:pPr algn="ctr"/>
            <a:r>
              <a:rPr lang="en-US" sz="1100" dirty="0">
                <a:solidFill>
                  <a:schemeClr val="accent2"/>
                </a:solidFill>
              </a:rPr>
              <a:t>IGV  = ## </a:t>
            </a:r>
            <a:r>
              <a:rPr lang="en-US" sz="1100" dirty="0" err="1">
                <a:solidFill>
                  <a:schemeClr val="accent2"/>
                </a:solidFill>
              </a:rPr>
              <a:t>Deg</a:t>
            </a:r>
            <a:endParaRPr lang="en-US" sz="1100" dirty="0">
              <a:solidFill>
                <a:schemeClr val="accent2"/>
              </a:solidFill>
            </a:endParaRPr>
          </a:p>
        </p:txBody>
      </p:sp>
      <p:sp>
        <p:nvSpPr>
          <p:cNvPr id="135" name="TextBox 134"/>
          <p:cNvSpPr txBox="1"/>
          <p:nvPr/>
        </p:nvSpPr>
        <p:spPr>
          <a:xfrm>
            <a:off x="8982795" y="3043374"/>
            <a:ext cx="471598" cy="169277"/>
          </a:xfrm>
          <a:prstGeom prst="rect">
            <a:avLst/>
          </a:prstGeom>
          <a:noFill/>
          <a:ln>
            <a:solidFill>
              <a:schemeClr val="tx1"/>
            </a:solidFill>
          </a:ln>
        </p:spPr>
        <p:txBody>
          <a:bodyPr wrap="square" lIns="0" tIns="0" rIns="0" bIns="0" rtlCol="0">
            <a:spAutoFit/>
          </a:bodyPr>
          <a:lstStyle/>
          <a:p>
            <a:pPr algn="ctr"/>
            <a:r>
              <a:rPr lang="en-US" sz="1100" dirty="0">
                <a:solidFill>
                  <a:schemeClr val="accent2"/>
                </a:solidFill>
              </a:rPr>
              <a:t>TTXM</a:t>
            </a:r>
          </a:p>
        </p:txBody>
      </p:sp>
      <p:sp>
        <p:nvSpPr>
          <p:cNvPr id="136" name="TextBox 135"/>
          <p:cNvSpPr txBox="1"/>
          <p:nvPr/>
        </p:nvSpPr>
        <p:spPr>
          <a:xfrm>
            <a:off x="3657600" y="5155263"/>
            <a:ext cx="1149020" cy="174595"/>
          </a:xfrm>
          <a:prstGeom prst="rect">
            <a:avLst/>
          </a:prstGeom>
          <a:noFill/>
          <a:ln>
            <a:solidFill>
              <a:schemeClr val="tx1"/>
            </a:solidFill>
          </a:ln>
        </p:spPr>
        <p:txBody>
          <a:bodyPr wrap="square" lIns="0" tIns="0" rIns="0" bIns="0" rtlCol="0">
            <a:spAutoFit/>
          </a:bodyPr>
          <a:lstStyle/>
          <a:p>
            <a:pPr algn="ctr"/>
            <a:r>
              <a:rPr lang="en-US" sz="1100" dirty="0">
                <a:solidFill>
                  <a:schemeClr val="accent2"/>
                </a:solidFill>
              </a:rPr>
              <a:t>Targets/ Boundary</a:t>
            </a:r>
          </a:p>
        </p:txBody>
      </p:sp>
      <p:sp>
        <p:nvSpPr>
          <p:cNvPr id="137" name="TextBox 136"/>
          <p:cNvSpPr txBox="1"/>
          <p:nvPr/>
        </p:nvSpPr>
        <p:spPr>
          <a:xfrm>
            <a:off x="7734900" y="5142533"/>
            <a:ext cx="956094" cy="507831"/>
          </a:xfrm>
          <a:prstGeom prst="rect">
            <a:avLst/>
          </a:prstGeom>
          <a:noFill/>
          <a:ln>
            <a:solidFill>
              <a:schemeClr val="tx1"/>
            </a:solidFill>
          </a:ln>
        </p:spPr>
        <p:txBody>
          <a:bodyPr wrap="square" lIns="0" tIns="0" rIns="0" bIns="0" rtlCol="0">
            <a:spAutoFit/>
          </a:bodyPr>
          <a:lstStyle/>
          <a:p>
            <a:pPr algn="ctr"/>
            <a:r>
              <a:rPr lang="en-US" sz="1100" dirty="0">
                <a:solidFill>
                  <a:schemeClr val="accent2"/>
                </a:solidFill>
              </a:rPr>
              <a:t>Sensor outputs</a:t>
            </a:r>
          </a:p>
          <a:p>
            <a:pPr algn="ctr"/>
            <a:r>
              <a:rPr lang="en-US" sz="1100" dirty="0">
                <a:solidFill>
                  <a:schemeClr val="accent2"/>
                </a:solidFill>
              </a:rPr>
              <a:t>OR</a:t>
            </a:r>
          </a:p>
          <a:p>
            <a:pPr algn="ctr"/>
            <a:r>
              <a:rPr lang="en-US" sz="1100" dirty="0">
                <a:solidFill>
                  <a:schemeClr val="accent2"/>
                </a:solidFill>
              </a:rPr>
              <a:t>Model outputs</a:t>
            </a:r>
          </a:p>
        </p:txBody>
      </p:sp>
      <p:sp>
        <p:nvSpPr>
          <p:cNvPr id="138" name="TextBox 137"/>
          <p:cNvSpPr txBox="1"/>
          <p:nvPr/>
        </p:nvSpPr>
        <p:spPr>
          <a:xfrm>
            <a:off x="3853110" y="9801802"/>
            <a:ext cx="1057982" cy="169277"/>
          </a:xfrm>
          <a:prstGeom prst="rect">
            <a:avLst/>
          </a:prstGeom>
          <a:noFill/>
          <a:ln>
            <a:solidFill>
              <a:schemeClr val="tx1"/>
            </a:solidFill>
          </a:ln>
        </p:spPr>
        <p:txBody>
          <a:bodyPr wrap="none" lIns="0" tIns="0" rIns="0" bIns="0" rtlCol="0">
            <a:spAutoFit/>
          </a:bodyPr>
          <a:lstStyle/>
          <a:p>
            <a:pPr algn="ctr"/>
            <a:r>
              <a:rPr lang="en-US" sz="1100" dirty="0">
                <a:solidFill>
                  <a:schemeClr val="accent2"/>
                </a:solidFill>
              </a:rPr>
              <a:t>Targets/ Boundary</a:t>
            </a:r>
          </a:p>
        </p:txBody>
      </p:sp>
      <p:sp>
        <p:nvSpPr>
          <p:cNvPr id="140" name="TextBox 139"/>
          <p:cNvSpPr txBox="1"/>
          <p:nvPr/>
        </p:nvSpPr>
        <p:spPr>
          <a:xfrm>
            <a:off x="6783679" y="3992490"/>
            <a:ext cx="1065618" cy="507831"/>
          </a:xfrm>
          <a:prstGeom prst="rect">
            <a:avLst/>
          </a:prstGeom>
          <a:noFill/>
          <a:ln>
            <a:solidFill>
              <a:schemeClr val="tx1"/>
            </a:solidFill>
          </a:ln>
        </p:spPr>
        <p:txBody>
          <a:bodyPr wrap="square" lIns="0" tIns="0" rIns="0" bIns="0" rtlCol="0">
            <a:spAutoFit/>
          </a:bodyPr>
          <a:lstStyle/>
          <a:p>
            <a:pPr algn="ctr"/>
            <a:r>
              <a:rPr lang="en-US" sz="1100" dirty="0">
                <a:solidFill>
                  <a:schemeClr val="accent2"/>
                </a:solidFill>
              </a:rPr>
              <a:t>FF output</a:t>
            </a:r>
          </a:p>
          <a:p>
            <a:pPr algn="ctr"/>
            <a:r>
              <a:rPr lang="en-US" sz="1100" dirty="0">
                <a:solidFill>
                  <a:schemeClr val="accent2"/>
                </a:solidFill>
              </a:rPr>
              <a:t>+</a:t>
            </a:r>
          </a:p>
          <a:p>
            <a:pPr algn="ctr"/>
            <a:r>
              <a:rPr lang="en-US" sz="1100" dirty="0">
                <a:solidFill>
                  <a:schemeClr val="accent2"/>
                </a:solidFill>
              </a:rPr>
              <a:t>Controller output</a:t>
            </a:r>
          </a:p>
        </p:txBody>
      </p:sp>
      <p:sp>
        <p:nvSpPr>
          <p:cNvPr id="141" name="Line 14"/>
          <p:cNvSpPr>
            <a:spLocks noChangeShapeType="1"/>
          </p:cNvSpPr>
          <p:nvPr/>
        </p:nvSpPr>
        <p:spPr bwMode="auto">
          <a:xfrm flipV="1">
            <a:off x="6619686" y="4583255"/>
            <a:ext cx="248741" cy="28108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143" name="Straight Connector 142"/>
          <p:cNvCxnSpPr/>
          <p:nvPr/>
        </p:nvCxnSpPr>
        <p:spPr>
          <a:xfrm flipV="1">
            <a:off x="2227210" y="2150533"/>
            <a:ext cx="7980275" cy="60129"/>
          </a:xfrm>
          <a:prstGeom prst="line">
            <a:avLst/>
          </a:prstGeom>
          <a:noFill/>
          <a:ln w="285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cxnSp>
      <p:cxnSp>
        <p:nvCxnSpPr>
          <p:cNvPr id="144" name="Straight Connector 143"/>
          <p:cNvCxnSpPr/>
          <p:nvPr/>
        </p:nvCxnSpPr>
        <p:spPr>
          <a:xfrm flipV="1">
            <a:off x="2144823" y="3836327"/>
            <a:ext cx="7980275" cy="60129"/>
          </a:xfrm>
          <a:prstGeom prst="line">
            <a:avLst/>
          </a:prstGeom>
          <a:noFill/>
          <a:ln w="2857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88605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3"/>
          <p:cNvSpPr txBox="1">
            <a:spLocks noChangeArrowheads="1"/>
          </p:cNvSpPr>
          <p:nvPr/>
        </p:nvSpPr>
        <p:spPr bwMode="auto">
          <a:xfrm>
            <a:off x="430212" y="679450"/>
            <a:ext cx="2192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dirty="0">
                <a:solidFill>
                  <a:srgbClr val="C00000"/>
                </a:solidFill>
              </a:rPr>
              <a:t>What are my effectors?</a:t>
            </a:r>
          </a:p>
        </p:txBody>
      </p:sp>
      <p:sp>
        <p:nvSpPr>
          <p:cNvPr id="21507" name="Text Box 4"/>
          <p:cNvSpPr txBox="1">
            <a:spLocks noChangeArrowheads="1"/>
          </p:cNvSpPr>
          <p:nvPr/>
        </p:nvSpPr>
        <p:spPr bwMode="auto">
          <a:xfrm>
            <a:off x="2200275" y="955675"/>
            <a:ext cx="8778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b="1" u="sng"/>
              <a:t>Legend:</a:t>
            </a:r>
            <a:endParaRPr lang="en-US" altLang="en-US" b="1"/>
          </a:p>
        </p:txBody>
      </p:sp>
      <p:sp>
        <p:nvSpPr>
          <p:cNvPr id="21508" name="Text Box 6"/>
          <p:cNvSpPr txBox="1">
            <a:spLocks noChangeArrowheads="1"/>
          </p:cNvSpPr>
          <p:nvPr/>
        </p:nvSpPr>
        <p:spPr bwMode="auto">
          <a:xfrm>
            <a:off x="2317751" y="1347789"/>
            <a:ext cx="41116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rgbClr val="FF0000"/>
                </a:solidFill>
              </a:rPr>
              <a:t>IGV</a:t>
            </a:r>
          </a:p>
        </p:txBody>
      </p:sp>
      <p:sp>
        <p:nvSpPr>
          <p:cNvPr id="21509" name="Oval 7"/>
          <p:cNvSpPr>
            <a:spLocks noChangeArrowheads="1"/>
          </p:cNvSpPr>
          <p:nvPr/>
        </p:nvSpPr>
        <p:spPr bwMode="auto">
          <a:xfrm>
            <a:off x="2359026" y="1739901"/>
            <a:ext cx="328613"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TTXM</a:t>
            </a:r>
          </a:p>
        </p:txBody>
      </p:sp>
      <p:sp>
        <p:nvSpPr>
          <p:cNvPr id="21510" name="Text Box 8"/>
          <p:cNvSpPr txBox="1">
            <a:spLocks noChangeArrowheads="1"/>
          </p:cNvSpPr>
          <p:nvPr/>
        </p:nvSpPr>
        <p:spPr bwMode="auto">
          <a:xfrm>
            <a:off x="2649539" y="1344613"/>
            <a:ext cx="858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a:solidFill>
                  <a:srgbClr val="FF0000"/>
                </a:solidFill>
              </a:rPr>
              <a:t>– critical</a:t>
            </a:r>
          </a:p>
          <a:p>
            <a:r>
              <a:rPr lang="en-US" altLang="en-US">
                <a:solidFill>
                  <a:srgbClr val="FF0000"/>
                </a:solidFill>
              </a:rPr>
              <a:t>   effectors</a:t>
            </a:r>
          </a:p>
        </p:txBody>
      </p:sp>
      <p:sp>
        <p:nvSpPr>
          <p:cNvPr id="21511" name="Text Box 9"/>
          <p:cNvSpPr txBox="1">
            <a:spLocks noChangeArrowheads="1"/>
          </p:cNvSpPr>
          <p:nvPr/>
        </p:nvSpPr>
        <p:spPr bwMode="auto">
          <a:xfrm>
            <a:off x="2678114" y="1722438"/>
            <a:ext cx="784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a:solidFill>
                  <a:srgbClr val="FF0000"/>
                </a:solidFill>
              </a:rPr>
              <a:t>– critical </a:t>
            </a:r>
          </a:p>
          <a:p>
            <a:r>
              <a:rPr lang="en-US" altLang="en-US">
                <a:solidFill>
                  <a:srgbClr val="FF0000"/>
                </a:solidFill>
              </a:rPr>
              <a:t>   sensors</a:t>
            </a:r>
          </a:p>
        </p:txBody>
      </p:sp>
      <p:sp>
        <p:nvSpPr>
          <p:cNvPr id="21512" name="Text Box 10"/>
          <p:cNvSpPr txBox="1">
            <a:spLocks noChangeArrowheads="1"/>
          </p:cNvSpPr>
          <p:nvPr/>
        </p:nvSpPr>
        <p:spPr bwMode="auto">
          <a:xfrm>
            <a:off x="2584451" y="1978026"/>
            <a:ext cx="277813"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(F)</a:t>
            </a:r>
          </a:p>
        </p:txBody>
      </p:sp>
      <p:sp>
        <p:nvSpPr>
          <p:cNvPr id="21513" name="Text Box 11"/>
          <p:cNvSpPr txBox="1">
            <a:spLocks noChangeArrowheads="1"/>
          </p:cNvSpPr>
          <p:nvPr/>
        </p:nvSpPr>
        <p:spPr bwMode="auto">
          <a:xfrm>
            <a:off x="2732088" y="2135189"/>
            <a:ext cx="5127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000">
                <a:solidFill>
                  <a:srgbClr val="FF0000"/>
                </a:solidFill>
              </a:rPr>
              <a:t>(Units)</a:t>
            </a:r>
          </a:p>
        </p:txBody>
      </p:sp>
      <p:sp>
        <p:nvSpPr>
          <p:cNvPr id="21514" name="Line 12"/>
          <p:cNvSpPr>
            <a:spLocks noChangeShapeType="1"/>
          </p:cNvSpPr>
          <p:nvPr/>
        </p:nvSpPr>
        <p:spPr bwMode="auto">
          <a:xfrm>
            <a:off x="2728914" y="2146300"/>
            <a:ext cx="41275" cy="9048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5" name="Freeform 14"/>
          <p:cNvSpPr>
            <a:spLocks/>
          </p:cNvSpPr>
          <p:nvPr/>
        </p:nvSpPr>
        <p:spPr bwMode="auto">
          <a:xfrm>
            <a:off x="5294313" y="2690814"/>
            <a:ext cx="1066800" cy="1055687"/>
          </a:xfrm>
          <a:custGeom>
            <a:avLst/>
            <a:gdLst>
              <a:gd name="T0" fmla="*/ 1588 w 672"/>
              <a:gd name="T1" fmla="*/ 0 h 665"/>
              <a:gd name="T2" fmla="*/ 0 w 672"/>
              <a:gd name="T3" fmla="*/ 1055687 h 665"/>
              <a:gd name="T4" fmla="*/ 1066800 w 672"/>
              <a:gd name="T5" fmla="*/ 750887 h 665"/>
              <a:gd name="T6" fmla="*/ 1066800 w 672"/>
              <a:gd name="T7" fmla="*/ 293687 h 665"/>
              <a:gd name="T8" fmla="*/ 1588 w 672"/>
              <a:gd name="T9" fmla="*/ 0 h 6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2" h="665">
                <a:moveTo>
                  <a:pt x="1" y="0"/>
                </a:moveTo>
                <a:lnTo>
                  <a:pt x="0" y="665"/>
                </a:lnTo>
                <a:lnTo>
                  <a:pt x="672" y="473"/>
                </a:lnTo>
                <a:lnTo>
                  <a:pt x="672" y="185"/>
                </a:lnTo>
                <a:lnTo>
                  <a:pt x="1" y="0"/>
                </a:lnTo>
                <a:close/>
              </a:path>
            </a:pathLst>
          </a:custGeom>
          <a:solidFill>
            <a:srgbClr val="C0C0C0"/>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6" name="Freeform 15"/>
          <p:cNvSpPr>
            <a:spLocks/>
          </p:cNvSpPr>
          <p:nvPr/>
        </p:nvSpPr>
        <p:spPr bwMode="auto">
          <a:xfrm flipH="1">
            <a:off x="6894513" y="2689225"/>
            <a:ext cx="609600" cy="1055688"/>
          </a:xfrm>
          <a:custGeom>
            <a:avLst/>
            <a:gdLst>
              <a:gd name="T0" fmla="*/ 907 w 672"/>
              <a:gd name="T1" fmla="*/ 0 h 665"/>
              <a:gd name="T2" fmla="*/ 0 w 672"/>
              <a:gd name="T3" fmla="*/ 1055688 h 665"/>
              <a:gd name="T4" fmla="*/ 609600 w 672"/>
              <a:gd name="T5" fmla="*/ 750888 h 665"/>
              <a:gd name="T6" fmla="*/ 609600 w 672"/>
              <a:gd name="T7" fmla="*/ 293688 h 665"/>
              <a:gd name="T8" fmla="*/ 907 w 672"/>
              <a:gd name="T9" fmla="*/ 0 h 6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2" h="665">
                <a:moveTo>
                  <a:pt x="1" y="0"/>
                </a:moveTo>
                <a:lnTo>
                  <a:pt x="0" y="665"/>
                </a:lnTo>
                <a:lnTo>
                  <a:pt x="672" y="473"/>
                </a:lnTo>
                <a:lnTo>
                  <a:pt x="672" y="185"/>
                </a:lnTo>
                <a:lnTo>
                  <a:pt x="1" y="0"/>
                </a:lnTo>
                <a:close/>
              </a:path>
            </a:pathLst>
          </a:custGeom>
          <a:solidFill>
            <a:srgbClr val="C0C0C0"/>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17" name="Rectangle 16"/>
          <p:cNvSpPr>
            <a:spLocks noChangeArrowheads="1"/>
          </p:cNvSpPr>
          <p:nvPr/>
        </p:nvSpPr>
        <p:spPr bwMode="auto">
          <a:xfrm>
            <a:off x="6437313" y="2379663"/>
            <a:ext cx="457200" cy="304800"/>
          </a:xfrm>
          <a:prstGeom prst="rect">
            <a:avLst/>
          </a:prstGeom>
          <a:solidFill>
            <a:srgbClr val="C0C0C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21518" name="Rectangle 17"/>
          <p:cNvSpPr>
            <a:spLocks noChangeArrowheads="1"/>
          </p:cNvSpPr>
          <p:nvPr/>
        </p:nvSpPr>
        <p:spPr bwMode="auto">
          <a:xfrm>
            <a:off x="6361113" y="3159126"/>
            <a:ext cx="533400" cy="119063"/>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21519" name="Freeform 18"/>
          <p:cNvSpPr>
            <a:spLocks/>
          </p:cNvSpPr>
          <p:nvPr/>
        </p:nvSpPr>
        <p:spPr bwMode="auto">
          <a:xfrm>
            <a:off x="6172201" y="2574926"/>
            <a:ext cx="265113" cy="385763"/>
          </a:xfrm>
          <a:custGeom>
            <a:avLst/>
            <a:gdLst>
              <a:gd name="T0" fmla="*/ 0 w 96"/>
              <a:gd name="T1" fmla="*/ 385763 h 192"/>
              <a:gd name="T2" fmla="*/ 0 w 96"/>
              <a:gd name="T3" fmla="*/ 0 h 192"/>
              <a:gd name="T4" fmla="*/ 265113 w 96"/>
              <a:gd name="T5" fmla="*/ 0 h 192"/>
              <a:gd name="T6" fmla="*/ 0 60000 65536"/>
              <a:gd name="T7" fmla="*/ 0 60000 65536"/>
              <a:gd name="T8" fmla="*/ 0 60000 65536"/>
            </a:gdLst>
            <a:ahLst/>
            <a:cxnLst>
              <a:cxn ang="T6">
                <a:pos x="T0" y="T1"/>
              </a:cxn>
              <a:cxn ang="T7">
                <a:pos x="T2" y="T3"/>
              </a:cxn>
              <a:cxn ang="T8">
                <a:pos x="T4" y="T5"/>
              </a:cxn>
            </a:cxnLst>
            <a:rect l="0" t="0" r="r" b="b"/>
            <a:pathLst>
              <a:path w="96" h="192">
                <a:moveTo>
                  <a:pt x="0" y="192"/>
                </a:moveTo>
                <a:lnTo>
                  <a:pt x="0" y="0"/>
                </a:lnTo>
                <a:lnTo>
                  <a:pt x="96" y="0"/>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0" name="Freeform 19"/>
          <p:cNvSpPr>
            <a:spLocks/>
          </p:cNvSpPr>
          <p:nvPr/>
        </p:nvSpPr>
        <p:spPr bwMode="auto">
          <a:xfrm>
            <a:off x="6894513" y="2532063"/>
            <a:ext cx="152400" cy="381000"/>
          </a:xfrm>
          <a:custGeom>
            <a:avLst/>
            <a:gdLst>
              <a:gd name="T0" fmla="*/ 0 w 96"/>
              <a:gd name="T1" fmla="*/ 0 h 240"/>
              <a:gd name="T2" fmla="*/ 152400 w 96"/>
              <a:gd name="T3" fmla="*/ 0 h 240"/>
              <a:gd name="T4" fmla="*/ 152400 w 96"/>
              <a:gd name="T5" fmla="*/ 381000 h 240"/>
              <a:gd name="T6" fmla="*/ 0 60000 65536"/>
              <a:gd name="T7" fmla="*/ 0 60000 65536"/>
              <a:gd name="T8" fmla="*/ 0 60000 65536"/>
            </a:gdLst>
            <a:ahLst/>
            <a:cxnLst>
              <a:cxn ang="T6">
                <a:pos x="T0" y="T1"/>
              </a:cxn>
              <a:cxn ang="T7">
                <a:pos x="T2" y="T3"/>
              </a:cxn>
              <a:cxn ang="T8">
                <a:pos x="T4" y="T5"/>
              </a:cxn>
            </a:cxnLst>
            <a:rect l="0" t="0" r="r" b="b"/>
            <a:pathLst>
              <a:path w="96" h="240">
                <a:moveTo>
                  <a:pt x="0" y="0"/>
                </a:moveTo>
                <a:lnTo>
                  <a:pt x="96" y="0"/>
                </a:lnTo>
                <a:lnTo>
                  <a:pt x="96" y="240"/>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1" name="Freeform 20"/>
          <p:cNvSpPr>
            <a:spLocks/>
          </p:cNvSpPr>
          <p:nvPr/>
        </p:nvSpPr>
        <p:spPr bwMode="auto">
          <a:xfrm>
            <a:off x="6132513" y="1698625"/>
            <a:ext cx="228600" cy="152400"/>
          </a:xfrm>
          <a:custGeom>
            <a:avLst/>
            <a:gdLst>
              <a:gd name="T0" fmla="*/ 0 w 144"/>
              <a:gd name="T1" fmla="*/ 0 h 96"/>
              <a:gd name="T2" fmla="*/ 0 w 144"/>
              <a:gd name="T3" fmla="*/ 152400 h 96"/>
              <a:gd name="T4" fmla="*/ 228600 w 144"/>
              <a:gd name="T5" fmla="*/ 0 h 96"/>
              <a:gd name="T6" fmla="*/ 228600 w 144"/>
              <a:gd name="T7" fmla="*/ 152400 h 96"/>
              <a:gd name="T8" fmla="*/ 0 w 144"/>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96">
                <a:moveTo>
                  <a:pt x="0" y="0"/>
                </a:moveTo>
                <a:lnTo>
                  <a:pt x="0" y="96"/>
                </a:lnTo>
                <a:lnTo>
                  <a:pt x="144" y="0"/>
                </a:lnTo>
                <a:lnTo>
                  <a:pt x="144" y="96"/>
                </a:lnTo>
                <a:lnTo>
                  <a:pt x="0" y="0"/>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2" name="Freeform 21"/>
          <p:cNvSpPr>
            <a:spLocks/>
          </p:cNvSpPr>
          <p:nvPr/>
        </p:nvSpPr>
        <p:spPr bwMode="auto">
          <a:xfrm>
            <a:off x="6132513" y="2079625"/>
            <a:ext cx="228600" cy="152400"/>
          </a:xfrm>
          <a:custGeom>
            <a:avLst/>
            <a:gdLst>
              <a:gd name="T0" fmla="*/ 0 w 144"/>
              <a:gd name="T1" fmla="*/ 0 h 96"/>
              <a:gd name="T2" fmla="*/ 0 w 144"/>
              <a:gd name="T3" fmla="*/ 152400 h 96"/>
              <a:gd name="T4" fmla="*/ 228600 w 144"/>
              <a:gd name="T5" fmla="*/ 0 h 96"/>
              <a:gd name="T6" fmla="*/ 228600 w 144"/>
              <a:gd name="T7" fmla="*/ 152400 h 96"/>
              <a:gd name="T8" fmla="*/ 0 w 144"/>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96">
                <a:moveTo>
                  <a:pt x="0" y="0"/>
                </a:moveTo>
                <a:lnTo>
                  <a:pt x="0" y="96"/>
                </a:lnTo>
                <a:lnTo>
                  <a:pt x="144" y="0"/>
                </a:lnTo>
                <a:lnTo>
                  <a:pt x="144" y="96"/>
                </a:lnTo>
                <a:lnTo>
                  <a:pt x="0" y="0"/>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3" name="Freeform 22"/>
          <p:cNvSpPr>
            <a:spLocks/>
          </p:cNvSpPr>
          <p:nvPr/>
        </p:nvSpPr>
        <p:spPr bwMode="auto">
          <a:xfrm>
            <a:off x="6132513" y="1317625"/>
            <a:ext cx="228600" cy="152400"/>
          </a:xfrm>
          <a:custGeom>
            <a:avLst/>
            <a:gdLst>
              <a:gd name="T0" fmla="*/ 0 w 144"/>
              <a:gd name="T1" fmla="*/ 0 h 96"/>
              <a:gd name="T2" fmla="*/ 0 w 144"/>
              <a:gd name="T3" fmla="*/ 152400 h 96"/>
              <a:gd name="T4" fmla="*/ 228600 w 144"/>
              <a:gd name="T5" fmla="*/ 0 h 96"/>
              <a:gd name="T6" fmla="*/ 228600 w 144"/>
              <a:gd name="T7" fmla="*/ 152400 h 96"/>
              <a:gd name="T8" fmla="*/ 0 w 144"/>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96">
                <a:moveTo>
                  <a:pt x="0" y="0"/>
                </a:moveTo>
                <a:lnTo>
                  <a:pt x="0" y="96"/>
                </a:lnTo>
                <a:lnTo>
                  <a:pt x="144" y="0"/>
                </a:lnTo>
                <a:lnTo>
                  <a:pt x="144" y="96"/>
                </a:lnTo>
                <a:lnTo>
                  <a:pt x="0" y="0"/>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4" name="Freeform 23"/>
          <p:cNvSpPr>
            <a:spLocks/>
          </p:cNvSpPr>
          <p:nvPr/>
        </p:nvSpPr>
        <p:spPr bwMode="auto">
          <a:xfrm>
            <a:off x="5675313" y="1317625"/>
            <a:ext cx="228600" cy="152400"/>
          </a:xfrm>
          <a:custGeom>
            <a:avLst/>
            <a:gdLst>
              <a:gd name="T0" fmla="*/ 0 w 144"/>
              <a:gd name="T1" fmla="*/ 0 h 96"/>
              <a:gd name="T2" fmla="*/ 0 w 144"/>
              <a:gd name="T3" fmla="*/ 152400 h 96"/>
              <a:gd name="T4" fmla="*/ 228600 w 144"/>
              <a:gd name="T5" fmla="*/ 0 h 96"/>
              <a:gd name="T6" fmla="*/ 228600 w 144"/>
              <a:gd name="T7" fmla="*/ 152400 h 96"/>
              <a:gd name="T8" fmla="*/ 0 w 144"/>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96">
                <a:moveTo>
                  <a:pt x="0" y="0"/>
                </a:moveTo>
                <a:lnTo>
                  <a:pt x="0" y="96"/>
                </a:lnTo>
                <a:lnTo>
                  <a:pt x="144" y="0"/>
                </a:lnTo>
                <a:lnTo>
                  <a:pt x="144" y="96"/>
                </a:lnTo>
                <a:lnTo>
                  <a:pt x="0" y="0"/>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5" name="Line 24"/>
          <p:cNvSpPr>
            <a:spLocks noChangeShapeType="1"/>
          </p:cNvSpPr>
          <p:nvPr/>
        </p:nvSpPr>
        <p:spPr bwMode="auto">
          <a:xfrm>
            <a:off x="5903913" y="1393825"/>
            <a:ext cx="228600" cy="15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6" name="Freeform 25"/>
          <p:cNvSpPr>
            <a:spLocks/>
          </p:cNvSpPr>
          <p:nvPr/>
        </p:nvSpPr>
        <p:spPr bwMode="auto">
          <a:xfrm>
            <a:off x="5980113" y="1393825"/>
            <a:ext cx="152400" cy="762000"/>
          </a:xfrm>
          <a:custGeom>
            <a:avLst/>
            <a:gdLst>
              <a:gd name="T0" fmla="*/ 0 w 96"/>
              <a:gd name="T1" fmla="*/ 0 h 432"/>
              <a:gd name="T2" fmla="*/ 0 w 96"/>
              <a:gd name="T3" fmla="*/ 762000 h 432"/>
              <a:gd name="T4" fmla="*/ 152400 w 96"/>
              <a:gd name="T5" fmla="*/ 762000 h 432"/>
              <a:gd name="T6" fmla="*/ 0 60000 65536"/>
              <a:gd name="T7" fmla="*/ 0 60000 65536"/>
              <a:gd name="T8" fmla="*/ 0 60000 65536"/>
            </a:gdLst>
            <a:ahLst/>
            <a:cxnLst>
              <a:cxn ang="T6">
                <a:pos x="T0" y="T1"/>
              </a:cxn>
              <a:cxn ang="T7">
                <a:pos x="T2" y="T3"/>
              </a:cxn>
              <a:cxn ang="T8">
                <a:pos x="T4" y="T5"/>
              </a:cxn>
            </a:cxnLst>
            <a:rect l="0" t="0" r="r" b="b"/>
            <a:pathLst>
              <a:path w="96" h="432">
                <a:moveTo>
                  <a:pt x="0" y="0"/>
                </a:moveTo>
                <a:lnTo>
                  <a:pt x="0" y="432"/>
                </a:lnTo>
                <a:lnTo>
                  <a:pt x="96" y="432"/>
                </a:lnTo>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27" name="Line 26"/>
          <p:cNvSpPr>
            <a:spLocks noChangeShapeType="1"/>
          </p:cNvSpPr>
          <p:nvPr/>
        </p:nvSpPr>
        <p:spPr bwMode="auto">
          <a:xfrm>
            <a:off x="5980113" y="1774825"/>
            <a:ext cx="15240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1528" name="Group 27"/>
          <p:cNvGrpSpPr>
            <a:grpSpLocks/>
          </p:cNvGrpSpPr>
          <p:nvPr/>
        </p:nvGrpSpPr>
        <p:grpSpPr bwMode="auto">
          <a:xfrm>
            <a:off x="5218113" y="2689226"/>
            <a:ext cx="152400" cy="1025525"/>
            <a:chOff x="2049" y="1921"/>
            <a:chExt cx="96" cy="646"/>
          </a:xfrm>
        </p:grpSpPr>
        <p:sp>
          <p:nvSpPr>
            <p:cNvPr id="21597" name="Line 28"/>
            <p:cNvSpPr>
              <a:spLocks noChangeShapeType="1"/>
            </p:cNvSpPr>
            <p:nvPr/>
          </p:nvSpPr>
          <p:spPr bwMode="auto">
            <a:xfrm>
              <a:off x="2049" y="1921"/>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98" name="Line 29"/>
            <p:cNvSpPr>
              <a:spLocks noChangeShapeType="1"/>
            </p:cNvSpPr>
            <p:nvPr/>
          </p:nvSpPr>
          <p:spPr bwMode="auto">
            <a:xfrm>
              <a:off x="2049" y="2017"/>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99" name="Line 30"/>
            <p:cNvSpPr>
              <a:spLocks noChangeShapeType="1"/>
            </p:cNvSpPr>
            <p:nvPr/>
          </p:nvSpPr>
          <p:spPr bwMode="auto">
            <a:xfrm>
              <a:off x="2049" y="2113"/>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600" name="Line 31"/>
            <p:cNvSpPr>
              <a:spLocks noChangeShapeType="1"/>
            </p:cNvSpPr>
            <p:nvPr/>
          </p:nvSpPr>
          <p:spPr bwMode="auto">
            <a:xfrm>
              <a:off x="2049" y="2209"/>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601" name="Line 32"/>
            <p:cNvSpPr>
              <a:spLocks noChangeShapeType="1"/>
            </p:cNvSpPr>
            <p:nvPr/>
          </p:nvSpPr>
          <p:spPr bwMode="auto">
            <a:xfrm>
              <a:off x="2049" y="2305"/>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602" name="Line 33"/>
            <p:cNvSpPr>
              <a:spLocks noChangeShapeType="1"/>
            </p:cNvSpPr>
            <p:nvPr/>
          </p:nvSpPr>
          <p:spPr bwMode="auto">
            <a:xfrm>
              <a:off x="2049" y="2401"/>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603" name="Line 34"/>
            <p:cNvSpPr>
              <a:spLocks noChangeShapeType="1"/>
            </p:cNvSpPr>
            <p:nvPr/>
          </p:nvSpPr>
          <p:spPr bwMode="auto">
            <a:xfrm>
              <a:off x="2049" y="2497"/>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1529" name="Freeform 35"/>
          <p:cNvSpPr>
            <a:spLocks/>
          </p:cNvSpPr>
          <p:nvPr/>
        </p:nvSpPr>
        <p:spPr bwMode="auto">
          <a:xfrm>
            <a:off x="6361113" y="2155825"/>
            <a:ext cx="228600" cy="228600"/>
          </a:xfrm>
          <a:custGeom>
            <a:avLst/>
            <a:gdLst>
              <a:gd name="T0" fmla="*/ 0 w 144"/>
              <a:gd name="T1" fmla="*/ 0 h 240"/>
              <a:gd name="T2" fmla="*/ 228600 w 144"/>
              <a:gd name="T3" fmla="*/ 0 h 240"/>
              <a:gd name="T4" fmla="*/ 228600 w 144"/>
              <a:gd name="T5" fmla="*/ 228600 h 240"/>
              <a:gd name="T6" fmla="*/ 0 60000 65536"/>
              <a:gd name="T7" fmla="*/ 0 60000 65536"/>
              <a:gd name="T8" fmla="*/ 0 60000 65536"/>
            </a:gdLst>
            <a:ahLst/>
            <a:cxnLst>
              <a:cxn ang="T6">
                <a:pos x="T0" y="T1"/>
              </a:cxn>
              <a:cxn ang="T7">
                <a:pos x="T2" y="T3"/>
              </a:cxn>
              <a:cxn ang="T8">
                <a:pos x="T4" y="T5"/>
              </a:cxn>
            </a:cxnLst>
            <a:rect l="0" t="0" r="r" b="b"/>
            <a:pathLst>
              <a:path w="144" h="240">
                <a:moveTo>
                  <a:pt x="0" y="0"/>
                </a:moveTo>
                <a:lnTo>
                  <a:pt x="144" y="0"/>
                </a:lnTo>
                <a:lnTo>
                  <a:pt x="144" y="240"/>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30" name="Freeform 36"/>
          <p:cNvSpPr>
            <a:spLocks/>
          </p:cNvSpPr>
          <p:nvPr/>
        </p:nvSpPr>
        <p:spPr bwMode="auto">
          <a:xfrm>
            <a:off x="6361113" y="1774825"/>
            <a:ext cx="304800" cy="609600"/>
          </a:xfrm>
          <a:custGeom>
            <a:avLst/>
            <a:gdLst>
              <a:gd name="T0" fmla="*/ 0 w 192"/>
              <a:gd name="T1" fmla="*/ 0 h 384"/>
              <a:gd name="T2" fmla="*/ 304800 w 192"/>
              <a:gd name="T3" fmla="*/ 0 h 384"/>
              <a:gd name="T4" fmla="*/ 304800 w 192"/>
              <a:gd name="T5" fmla="*/ 609600 h 384"/>
              <a:gd name="T6" fmla="*/ 0 60000 65536"/>
              <a:gd name="T7" fmla="*/ 0 60000 65536"/>
              <a:gd name="T8" fmla="*/ 0 60000 65536"/>
            </a:gdLst>
            <a:ahLst/>
            <a:cxnLst>
              <a:cxn ang="T6">
                <a:pos x="T0" y="T1"/>
              </a:cxn>
              <a:cxn ang="T7">
                <a:pos x="T2" y="T3"/>
              </a:cxn>
              <a:cxn ang="T8">
                <a:pos x="T4" y="T5"/>
              </a:cxn>
            </a:cxnLst>
            <a:rect l="0" t="0" r="r" b="b"/>
            <a:pathLst>
              <a:path w="192" h="384">
                <a:moveTo>
                  <a:pt x="0" y="0"/>
                </a:moveTo>
                <a:lnTo>
                  <a:pt x="192" y="0"/>
                </a:lnTo>
                <a:lnTo>
                  <a:pt x="192" y="384"/>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31" name="Freeform 37"/>
          <p:cNvSpPr>
            <a:spLocks/>
          </p:cNvSpPr>
          <p:nvPr/>
        </p:nvSpPr>
        <p:spPr bwMode="auto">
          <a:xfrm>
            <a:off x="6361113" y="1393825"/>
            <a:ext cx="381000" cy="990600"/>
          </a:xfrm>
          <a:custGeom>
            <a:avLst/>
            <a:gdLst>
              <a:gd name="T0" fmla="*/ 0 w 240"/>
              <a:gd name="T1" fmla="*/ 0 h 528"/>
              <a:gd name="T2" fmla="*/ 381000 w 240"/>
              <a:gd name="T3" fmla="*/ 0 h 528"/>
              <a:gd name="T4" fmla="*/ 381000 w 240"/>
              <a:gd name="T5" fmla="*/ 990600 h 528"/>
              <a:gd name="T6" fmla="*/ 0 60000 65536"/>
              <a:gd name="T7" fmla="*/ 0 60000 65536"/>
              <a:gd name="T8" fmla="*/ 0 60000 65536"/>
            </a:gdLst>
            <a:ahLst/>
            <a:cxnLst>
              <a:cxn ang="T6">
                <a:pos x="T0" y="T1"/>
              </a:cxn>
              <a:cxn ang="T7">
                <a:pos x="T2" y="T3"/>
              </a:cxn>
              <a:cxn ang="T8">
                <a:pos x="T4" y="T5"/>
              </a:cxn>
            </a:cxnLst>
            <a:rect l="0" t="0" r="r" b="b"/>
            <a:pathLst>
              <a:path w="240" h="528">
                <a:moveTo>
                  <a:pt x="0" y="0"/>
                </a:moveTo>
                <a:lnTo>
                  <a:pt x="240" y="0"/>
                </a:lnTo>
                <a:lnTo>
                  <a:pt x="240" y="528"/>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32" name="Freeform 38"/>
          <p:cNvSpPr>
            <a:spLocks/>
          </p:cNvSpPr>
          <p:nvPr/>
        </p:nvSpPr>
        <p:spPr bwMode="auto">
          <a:xfrm>
            <a:off x="7504113" y="2509839"/>
            <a:ext cx="1452562" cy="1385887"/>
          </a:xfrm>
          <a:custGeom>
            <a:avLst/>
            <a:gdLst>
              <a:gd name="T0" fmla="*/ 0 w 915"/>
              <a:gd name="T1" fmla="*/ 166687 h 873"/>
              <a:gd name="T2" fmla="*/ 0 w 915"/>
              <a:gd name="T3" fmla="*/ 1233487 h 873"/>
              <a:gd name="T4" fmla="*/ 1447800 w 915"/>
              <a:gd name="T5" fmla="*/ 1385887 h 873"/>
              <a:gd name="T6" fmla="*/ 1452562 w 915"/>
              <a:gd name="T7" fmla="*/ 0 h 873"/>
              <a:gd name="T8" fmla="*/ 0 w 915"/>
              <a:gd name="T9" fmla="*/ 166687 h 8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5" h="873">
                <a:moveTo>
                  <a:pt x="0" y="105"/>
                </a:moveTo>
                <a:lnTo>
                  <a:pt x="0" y="777"/>
                </a:lnTo>
                <a:lnTo>
                  <a:pt x="912" y="873"/>
                </a:lnTo>
                <a:lnTo>
                  <a:pt x="915" y="0"/>
                </a:lnTo>
                <a:lnTo>
                  <a:pt x="0" y="105"/>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33" name="Text Box 39"/>
          <p:cNvSpPr txBox="1">
            <a:spLocks noChangeArrowheads="1"/>
          </p:cNvSpPr>
          <p:nvPr/>
        </p:nvSpPr>
        <p:spPr bwMode="auto">
          <a:xfrm>
            <a:off x="5103813" y="3738564"/>
            <a:ext cx="41116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rgbClr val="FF0000"/>
                </a:solidFill>
              </a:rPr>
              <a:t>IGV</a:t>
            </a:r>
          </a:p>
        </p:txBody>
      </p:sp>
      <p:sp>
        <p:nvSpPr>
          <p:cNvPr id="21534" name="Text Box 40"/>
          <p:cNvSpPr txBox="1">
            <a:spLocks noChangeArrowheads="1"/>
          </p:cNvSpPr>
          <p:nvPr/>
        </p:nvSpPr>
        <p:spPr bwMode="auto">
          <a:xfrm>
            <a:off x="6042026" y="1800225"/>
            <a:ext cx="4683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a:solidFill>
                  <a:srgbClr val="FF0000"/>
                </a:solidFill>
              </a:rPr>
              <a:t>PM1</a:t>
            </a:r>
          </a:p>
        </p:txBody>
      </p:sp>
      <p:sp>
        <p:nvSpPr>
          <p:cNvPr id="21535" name="Text Box 41"/>
          <p:cNvSpPr txBox="1">
            <a:spLocks noChangeArrowheads="1"/>
          </p:cNvSpPr>
          <p:nvPr/>
        </p:nvSpPr>
        <p:spPr bwMode="auto">
          <a:xfrm>
            <a:off x="6042026" y="2185989"/>
            <a:ext cx="4683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a:solidFill>
                  <a:srgbClr val="FF0000"/>
                </a:solidFill>
              </a:rPr>
              <a:t>PM4</a:t>
            </a:r>
          </a:p>
        </p:txBody>
      </p:sp>
      <p:sp>
        <p:nvSpPr>
          <p:cNvPr id="21536" name="Text Box 42"/>
          <p:cNvSpPr txBox="1">
            <a:spLocks noChangeArrowheads="1"/>
          </p:cNvSpPr>
          <p:nvPr/>
        </p:nvSpPr>
        <p:spPr bwMode="auto">
          <a:xfrm>
            <a:off x="6091238" y="1398589"/>
            <a:ext cx="3683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a:solidFill>
                  <a:srgbClr val="FF0000"/>
                </a:solidFill>
              </a:rPr>
              <a:t>D5</a:t>
            </a:r>
          </a:p>
        </p:txBody>
      </p:sp>
      <p:sp>
        <p:nvSpPr>
          <p:cNvPr id="21537" name="Freeform 43"/>
          <p:cNvSpPr>
            <a:spLocks/>
          </p:cNvSpPr>
          <p:nvPr/>
        </p:nvSpPr>
        <p:spPr bwMode="auto">
          <a:xfrm>
            <a:off x="5751513" y="4060825"/>
            <a:ext cx="228600" cy="152400"/>
          </a:xfrm>
          <a:custGeom>
            <a:avLst/>
            <a:gdLst>
              <a:gd name="T0" fmla="*/ 0 w 144"/>
              <a:gd name="T1" fmla="*/ 0 h 96"/>
              <a:gd name="T2" fmla="*/ 0 w 144"/>
              <a:gd name="T3" fmla="*/ 152400 h 96"/>
              <a:gd name="T4" fmla="*/ 228600 w 144"/>
              <a:gd name="T5" fmla="*/ 0 h 96"/>
              <a:gd name="T6" fmla="*/ 228600 w 144"/>
              <a:gd name="T7" fmla="*/ 152400 h 96"/>
              <a:gd name="T8" fmla="*/ 0 w 144"/>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96">
                <a:moveTo>
                  <a:pt x="0" y="0"/>
                </a:moveTo>
                <a:lnTo>
                  <a:pt x="0" y="96"/>
                </a:lnTo>
                <a:lnTo>
                  <a:pt x="144" y="0"/>
                </a:lnTo>
                <a:lnTo>
                  <a:pt x="144" y="96"/>
                </a:lnTo>
                <a:lnTo>
                  <a:pt x="0" y="0"/>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38" name="Freeform 44"/>
          <p:cNvSpPr>
            <a:spLocks/>
          </p:cNvSpPr>
          <p:nvPr/>
        </p:nvSpPr>
        <p:spPr bwMode="auto">
          <a:xfrm>
            <a:off x="5980113" y="3451225"/>
            <a:ext cx="304800" cy="685800"/>
          </a:xfrm>
          <a:custGeom>
            <a:avLst/>
            <a:gdLst>
              <a:gd name="T0" fmla="*/ 304800 w 192"/>
              <a:gd name="T1" fmla="*/ 0 h 432"/>
              <a:gd name="T2" fmla="*/ 304800 w 192"/>
              <a:gd name="T3" fmla="*/ 685800 h 432"/>
              <a:gd name="T4" fmla="*/ 0 w 192"/>
              <a:gd name="T5" fmla="*/ 685800 h 432"/>
              <a:gd name="T6" fmla="*/ 0 60000 65536"/>
              <a:gd name="T7" fmla="*/ 0 60000 65536"/>
              <a:gd name="T8" fmla="*/ 0 60000 65536"/>
            </a:gdLst>
            <a:ahLst/>
            <a:cxnLst>
              <a:cxn ang="T6">
                <a:pos x="T0" y="T1"/>
              </a:cxn>
              <a:cxn ang="T7">
                <a:pos x="T2" y="T3"/>
              </a:cxn>
              <a:cxn ang="T8">
                <a:pos x="T4" y="T5"/>
              </a:cxn>
            </a:cxnLst>
            <a:rect l="0" t="0" r="r" b="b"/>
            <a:pathLst>
              <a:path w="192" h="432">
                <a:moveTo>
                  <a:pt x="192" y="0"/>
                </a:moveTo>
                <a:lnTo>
                  <a:pt x="192" y="432"/>
                </a:lnTo>
                <a:lnTo>
                  <a:pt x="0" y="432"/>
                </a:lnTo>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39" name="Freeform 45"/>
          <p:cNvSpPr>
            <a:spLocks/>
          </p:cNvSpPr>
          <p:nvPr/>
        </p:nvSpPr>
        <p:spPr bwMode="auto">
          <a:xfrm>
            <a:off x="3951289" y="2460626"/>
            <a:ext cx="1343025" cy="1300163"/>
          </a:xfrm>
          <a:custGeom>
            <a:avLst/>
            <a:gdLst>
              <a:gd name="T0" fmla="*/ 1343025 w 720"/>
              <a:gd name="T1" fmla="*/ 228600 h 819"/>
              <a:gd name="T2" fmla="*/ 0 w 720"/>
              <a:gd name="T3" fmla="*/ 0 h 819"/>
              <a:gd name="T4" fmla="*/ 7461 w 720"/>
              <a:gd name="T5" fmla="*/ 1300163 h 819"/>
              <a:gd name="T6" fmla="*/ 1343025 w 720"/>
              <a:gd name="T7" fmla="*/ 1295400 h 819"/>
              <a:gd name="T8" fmla="*/ 1343025 w 720"/>
              <a:gd name="T9" fmla="*/ 228600 h 8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819">
                <a:moveTo>
                  <a:pt x="720" y="144"/>
                </a:moveTo>
                <a:lnTo>
                  <a:pt x="0" y="0"/>
                </a:lnTo>
                <a:lnTo>
                  <a:pt x="4" y="819"/>
                </a:lnTo>
                <a:lnTo>
                  <a:pt x="720" y="816"/>
                </a:lnTo>
                <a:lnTo>
                  <a:pt x="720" y="144"/>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40" name="Text Box 46"/>
          <p:cNvSpPr txBox="1">
            <a:spLocks noChangeArrowheads="1"/>
          </p:cNvSpPr>
          <p:nvPr/>
        </p:nvSpPr>
        <p:spPr bwMode="auto">
          <a:xfrm>
            <a:off x="5675314" y="4213225"/>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rgbClr val="FF0000"/>
                </a:solidFill>
              </a:rPr>
              <a:t>IBH</a:t>
            </a:r>
          </a:p>
        </p:txBody>
      </p:sp>
      <p:sp>
        <p:nvSpPr>
          <p:cNvPr id="21541" name="Oval 47"/>
          <p:cNvSpPr>
            <a:spLocks noChangeArrowheads="1"/>
          </p:cNvSpPr>
          <p:nvPr/>
        </p:nvSpPr>
        <p:spPr bwMode="auto">
          <a:xfrm>
            <a:off x="7504113" y="3892551"/>
            <a:ext cx="328612"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TTXM</a:t>
            </a:r>
          </a:p>
        </p:txBody>
      </p:sp>
      <p:sp>
        <p:nvSpPr>
          <p:cNvPr id="21542" name="Oval 48"/>
          <p:cNvSpPr>
            <a:spLocks noChangeArrowheads="1"/>
          </p:cNvSpPr>
          <p:nvPr/>
        </p:nvSpPr>
        <p:spPr bwMode="auto">
          <a:xfrm>
            <a:off x="6391276" y="3906838"/>
            <a:ext cx="328613" cy="334962"/>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CTD</a:t>
            </a:r>
          </a:p>
        </p:txBody>
      </p:sp>
      <p:sp>
        <p:nvSpPr>
          <p:cNvPr id="21543" name="Oval 49"/>
          <p:cNvSpPr>
            <a:spLocks noChangeArrowheads="1"/>
          </p:cNvSpPr>
          <p:nvPr/>
        </p:nvSpPr>
        <p:spPr bwMode="auto">
          <a:xfrm>
            <a:off x="6392863" y="3576638"/>
            <a:ext cx="328612" cy="334962"/>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CPD</a:t>
            </a:r>
          </a:p>
        </p:txBody>
      </p:sp>
      <p:sp>
        <p:nvSpPr>
          <p:cNvPr id="21544" name="Line 50"/>
          <p:cNvSpPr>
            <a:spLocks noChangeShapeType="1"/>
          </p:cNvSpPr>
          <p:nvPr/>
        </p:nvSpPr>
        <p:spPr bwMode="auto">
          <a:xfrm flipV="1">
            <a:off x="7656513" y="3671888"/>
            <a:ext cx="0" cy="22066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45" name="Oval 51"/>
          <p:cNvSpPr>
            <a:spLocks noChangeArrowheads="1"/>
          </p:cNvSpPr>
          <p:nvPr/>
        </p:nvSpPr>
        <p:spPr bwMode="auto">
          <a:xfrm>
            <a:off x="4962526" y="2197101"/>
            <a:ext cx="328613"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CTIM</a:t>
            </a:r>
          </a:p>
        </p:txBody>
      </p:sp>
      <p:sp>
        <p:nvSpPr>
          <p:cNvPr id="21546" name="Oval 52"/>
          <p:cNvSpPr>
            <a:spLocks noChangeArrowheads="1"/>
          </p:cNvSpPr>
          <p:nvPr/>
        </p:nvSpPr>
        <p:spPr bwMode="auto">
          <a:xfrm>
            <a:off x="6461126" y="3055938"/>
            <a:ext cx="328613" cy="334962"/>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TNH</a:t>
            </a:r>
          </a:p>
        </p:txBody>
      </p:sp>
      <p:sp>
        <p:nvSpPr>
          <p:cNvPr id="21547" name="Freeform 53"/>
          <p:cNvSpPr>
            <a:spLocks/>
          </p:cNvSpPr>
          <p:nvPr/>
        </p:nvSpPr>
        <p:spPr bwMode="auto">
          <a:xfrm>
            <a:off x="6410325" y="3030538"/>
            <a:ext cx="165100" cy="381000"/>
          </a:xfrm>
          <a:custGeom>
            <a:avLst/>
            <a:gdLst>
              <a:gd name="T0" fmla="*/ 165100 w 104"/>
              <a:gd name="T1" fmla="*/ 304800 h 240"/>
              <a:gd name="T2" fmla="*/ 88900 w 104"/>
              <a:gd name="T3" fmla="*/ 381000 h 240"/>
              <a:gd name="T4" fmla="*/ 12700 w 104"/>
              <a:gd name="T5" fmla="*/ 304800 h 240"/>
              <a:gd name="T6" fmla="*/ 12700 w 104"/>
              <a:gd name="T7" fmla="*/ 76200 h 240"/>
              <a:gd name="T8" fmla="*/ 88900 w 104"/>
              <a:gd name="T9" fmla="*/ 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240">
                <a:moveTo>
                  <a:pt x="104" y="192"/>
                </a:moveTo>
                <a:cubicBezTo>
                  <a:pt x="88" y="216"/>
                  <a:pt x="72" y="240"/>
                  <a:pt x="56" y="240"/>
                </a:cubicBezTo>
                <a:cubicBezTo>
                  <a:pt x="40" y="240"/>
                  <a:pt x="16" y="224"/>
                  <a:pt x="8" y="192"/>
                </a:cubicBezTo>
                <a:cubicBezTo>
                  <a:pt x="0" y="160"/>
                  <a:pt x="0" y="80"/>
                  <a:pt x="8" y="48"/>
                </a:cubicBezTo>
                <a:cubicBezTo>
                  <a:pt x="16" y="16"/>
                  <a:pt x="36" y="8"/>
                  <a:pt x="56" y="0"/>
                </a:cubicBezTo>
              </a:path>
            </a:pathLst>
          </a:custGeom>
          <a:noFill/>
          <a:ln w="9525">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48" name="Line 54"/>
          <p:cNvSpPr>
            <a:spLocks noChangeShapeType="1"/>
          </p:cNvSpPr>
          <p:nvPr/>
        </p:nvSpPr>
        <p:spPr bwMode="auto">
          <a:xfrm flipH="1" flipV="1">
            <a:off x="6361113" y="3451225"/>
            <a:ext cx="95250" cy="1524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49" name="Line 55"/>
          <p:cNvSpPr>
            <a:spLocks noChangeShapeType="1"/>
          </p:cNvSpPr>
          <p:nvPr/>
        </p:nvSpPr>
        <p:spPr bwMode="auto">
          <a:xfrm>
            <a:off x="5127625" y="2532063"/>
            <a:ext cx="0" cy="2032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50" name="Text Box 56"/>
          <p:cNvSpPr txBox="1">
            <a:spLocks noChangeArrowheads="1"/>
          </p:cNvSpPr>
          <p:nvPr/>
        </p:nvSpPr>
        <p:spPr bwMode="auto">
          <a:xfrm>
            <a:off x="5576889" y="1423989"/>
            <a:ext cx="4349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a:solidFill>
                  <a:srgbClr val="FF0000"/>
                </a:solidFill>
              </a:rPr>
              <a:t>SRV</a:t>
            </a:r>
          </a:p>
        </p:txBody>
      </p:sp>
      <p:sp>
        <p:nvSpPr>
          <p:cNvPr id="21551" name="Oval 57"/>
          <p:cNvSpPr>
            <a:spLocks noChangeArrowheads="1"/>
          </p:cNvSpPr>
          <p:nvPr/>
        </p:nvSpPr>
        <p:spPr bwMode="auto">
          <a:xfrm>
            <a:off x="5843588" y="914401"/>
            <a:ext cx="328612"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FPG2</a:t>
            </a:r>
          </a:p>
        </p:txBody>
      </p:sp>
      <p:sp>
        <p:nvSpPr>
          <p:cNvPr id="21552" name="Line 58"/>
          <p:cNvSpPr>
            <a:spLocks noChangeShapeType="1"/>
          </p:cNvSpPr>
          <p:nvPr/>
        </p:nvSpPr>
        <p:spPr bwMode="auto">
          <a:xfrm flipV="1">
            <a:off x="6008688" y="1249363"/>
            <a:ext cx="0" cy="11906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53" name="Rectangle 59"/>
          <p:cNvSpPr>
            <a:spLocks noChangeArrowheads="1"/>
          </p:cNvSpPr>
          <p:nvPr/>
        </p:nvSpPr>
        <p:spPr bwMode="auto">
          <a:xfrm>
            <a:off x="3617914" y="3159126"/>
            <a:ext cx="333375" cy="119063"/>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21554" name="Oval 60"/>
          <p:cNvSpPr>
            <a:spLocks noChangeArrowheads="1"/>
          </p:cNvSpPr>
          <p:nvPr/>
        </p:nvSpPr>
        <p:spPr bwMode="auto">
          <a:xfrm>
            <a:off x="3108326" y="3586163"/>
            <a:ext cx="328613" cy="334962"/>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DWATT</a:t>
            </a:r>
          </a:p>
        </p:txBody>
      </p:sp>
      <p:sp>
        <p:nvSpPr>
          <p:cNvPr id="21555" name="Rectangle 61"/>
          <p:cNvSpPr>
            <a:spLocks noChangeArrowheads="1"/>
          </p:cNvSpPr>
          <p:nvPr/>
        </p:nvSpPr>
        <p:spPr bwMode="auto">
          <a:xfrm>
            <a:off x="2708275" y="2897188"/>
            <a:ext cx="914400" cy="641350"/>
          </a:xfrm>
          <a:prstGeom prst="rect">
            <a:avLst/>
          </a:prstGeom>
          <a:solidFill>
            <a:srgbClr val="C0C0C0"/>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21556" name="Text Box 62"/>
          <p:cNvSpPr txBox="1">
            <a:spLocks noChangeArrowheads="1"/>
          </p:cNvSpPr>
          <p:nvPr/>
        </p:nvSpPr>
        <p:spPr bwMode="auto">
          <a:xfrm>
            <a:off x="2901951" y="2755901"/>
            <a:ext cx="5302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4800">
                <a:solidFill>
                  <a:srgbClr val="000000"/>
                </a:solidFill>
              </a:rPr>
              <a:t>~</a:t>
            </a:r>
          </a:p>
        </p:txBody>
      </p:sp>
      <p:sp>
        <p:nvSpPr>
          <p:cNvPr id="21557" name="Text Box 63"/>
          <p:cNvSpPr txBox="1">
            <a:spLocks noChangeArrowheads="1"/>
          </p:cNvSpPr>
          <p:nvPr/>
        </p:nvSpPr>
        <p:spPr bwMode="auto">
          <a:xfrm>
            <a:off x="7648576" y="2811464"/>
            <a:ext cx="2432076" cy="86177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000" b="1" u="sng" dirty="0">
                <a:solidFill>
                  <a:srgbClr val="FF0000"/>
                </a:solidFill>
              </a:rPr>
              <a:t>Other Critical Control Parameters:</a:t>
            </a:r>
          </a:p>
          <a:p>
            <a:r>
              <a:rPr lang="en-US" altLang="en-US" sz="1000" dirty="0">
                <a:solidFill>
                  <a:srgbClr val="FF0000"/>
                </a:solidFill>
              </a:rPr>
              <a:t>TFIRE- Firing temperature</a:t>
            </a:r>
          </a:p>
          <a:p>
            <a:r>
              <a:rPr lang="en-US" altLang="en-US" sz="1000" dirty="0">
                <a:solidFill>
                  <a:srgbClr val="FF0000"/>
                </a:solidFill>
              </a:rPr>
              <a:t>CRT – Combustion reference temperature</a:t>
            </a:r>
          </a:p>
          <a:p>
            <a:r>
              <a:rPr lang="en-US" altLang="en-US" sz="1000" dirty="0">
                <a:solidFill>
                  <a:srgbClr val="FF0000"/>
                </a:solidFill>
              </a:rPr>
              <a:t>TNHCOR – inlet temp-corrected speed</a:t>
            </a:r>
          </a:p>
          <a:p>
            <a:r>
              <a:rPr lang="en-US" altLang="en-US" sz="1000" dirty="0">
                <a:solidFill>
                  <a:srgbClr val="FF0000"/>
                </a:solidFill>
              </a:rPr>
              <a:t>CPR – compressor pressure ratio</a:t>
            </a:r>
          </a:p>
        </p:txBody>
      </p:sp>
      <p:sp>
        <p:nvSpPr>
          <p:cNvPr id="21558" name="Oval 64"/>
          <p:cNvSpPr>
            <a:spLocks noChangeArrowheads="1"/>
          </p:cNvSpPr>
          <p:nvPr/>
        </p:nvSpPr>
        <p:spPr bwMode="auto">
          <a:xfrm>
            <a:off x="4119563" y="2085976"/>
            <a:ext cx="328612"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AFPCS</a:t>
            </a:r>
          </a:p>
        </p:txBody>
      </p:sp>
      <p:sp>
        <p:nvSpPr>
          <p:cNvPr id="21559" name="Oval 65"/>
          <p:cNvSpPr>
            <a:spLocks noChangeArrowheads="1"/>
          </p:cNvSpPr>
          <p:nvPr/>
        </p:nvSpPr>
        <p:spPr bwMode="auto">
          <a:xfrm>
            <a:off x="4129088" y="1504951"/>
            <a:ext cx="328612"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AFPAP</a:t>
            </a:r>
          </a:p>
        </p:txBody>
      </p:sp>
      <p:sp>
        <p:nvSpPr>
          <p:cNvPr id="21560" name="Freeform 66"/>
          <p:cNvSpPr>
            <a:spLocks/>
          </p:cNvSpPr>
          <p:nvPr/>
        </p:nvSpPr>
        <p:spPr bwMode="auto">
          <a:xfrm>
            <a:off x="4821238" y="2395539"/>
            <a:ext cx="74612" cy="363537"/>
          </a:xfrm>
          <a:custGeom>
            <a:avLst/>
            <a:gdLst>
              <a:gd name="T0" fmla="*/ 74612 w 47"/>
              <a:gd name="T1" fmla="*/ 0 h 229"/>
              <a:gd name="T2" fmla="*/ 74612 w 47"/>
              <a:gd name="T3" fmla="*/ 363537 h 229"/>
              <a:gd name="T4" fmla="*/ 0 w 47"/>
              <a:gd name="T5" fmla="*/ 363537 h 229"/>
              <a:gd name="T6" fmla="*/ 0 60000 65536"/>
              <a:gd name="T7" fmla="*/ 0 60000 65536"/>
              <a:gd name="T8" fmla="*/ 0 60000 65536"/>
            </a:gdLst>
            <a:ahLst/>
            <a:cxnLst>
              <a:cxn ang="T6">
                <a:pos x="T0" y="T1"/>
              </a:cxn>
              <a:cxn ang="T7">
                <a:pos x="T2" y="T3"/>
              </a:cxn>
              <a:cxn ang="T8">
                <a:pos x="T4" y="T5"/>
              </a:cxn>
            </a:cxnLst>
            <a:rect l="0" t="0" r="r" b="b"/>
            <a:pathLst>
              <a:path w="47" h="229">
                <a:moveTo>
                  <a:pt x="47" y="0"/>
                </a:moveTo>
                <a:lnTo>
                  <a:pt x="47" y="229"/>
                </a:lnTo>
                <a:lnTo>
                  <a:pt x="0" y="229"/>
                </a:lnTo>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61" name="Freeform 67"/>
          <p:cNvSpPr>
            <a:spLocks/>
          </p:cNvSpPr>
          <p:nvPr/>
        </p:nvSpPr>
        <p:spPr bwMode="auto">
          <a:xfrm>
            <a:off x="4457700" y="2232026"/>
            <a:ext cx="438150" cy="188913"/>
          </a:xfrm>
          <a:custGeom>
            <a:avLst/>
            <a:gdLst>
              <a:gd name="T0" fmla="*/ 438150 w 165"/>
              <a:gd name="T1" fmla="*/ 188913 h 103"/>
              <a:gd name="T2" fmla="*/ 438150 w 165"/>
              <a:gd name="T3" fmla="*/ 0 h 103"/>
              <a:gd name="T4" fmla="*/ 0 w 165"/>
              <a:gd name="T5" fmla="*/ 0 h 103"/>
              <a:gd name="T6" fmla="*/ 0 60000 65536"/>
              <a:gd name="T7" fmla="*/ 0 60000 65536"/>
              <a:gd name="T8" fmla="*/ 0 60000 65536"/>
            </a:gdLst>
            <a:ahLst/>
            <a:cxnLst>
              <a:cxn ang="T6">
                <a:pos x="T0" y="T1"/>
              </a:cxn>
              <a:cxn ang="T7">
                <a:pos x="T2" y="T3"/>
              </a:cxn>
              <a:cxn ang="T8">
                <a:pos x="T4" y="T5"/>
              </a:cxn>
            </a:cxnLst>
            <a:rect l="0" t="0" r="r" b="b"/>
            <a:pathLst>
              <a:path w="165" h="103">
                <a:moveTo>
                  <a:pt x="165" y="103"/>
                </a:moveTo>
                <a:lnTo>
                  <a:pt x="165" y="0"/>
                </a:lnTo>
                <a:lnTo>
                  <a:pt x="0" y="0"/>
                </a:lnTo>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62" name="Line 68"/>
          <p:cNvSpPr>
            <a:spLocks noChangeShapeType="1"/>
          </p:cNvSpPr>
          <p:nvPr/>
        </p:nvSpPr>
        <p:spPr bwMode="auto">
          <a:xfrm flipH="1" flipV="1">
            <a:off x="4291013" y="1839913"/>
            <a:ext cx="0" cy="24606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1563" name="Group 69"/>
          <p:cNvGrpSpPr>
            <a:grpSpLocks/>
          </p:cNvGrpSpPr>
          <p:nvPr/>
        </p:nvGrpSpPr>
        <p:grpSpPr bwMode="auto">
          <a:xfrm>
            <a:off x="4379913" y="2620963"/>
            <a:ext cx="1371600" cy="1516062"/>
            <a:chOff x="1521" y="1878"/>
            <a:chExt cx="864" cy="955"/>
          </a:xfrm>
        </p:grpSpPr>
        <p:sp>
          <p:nvSpPr>
            <p:cNvPr id="21588" name="Freeform 70"/>
            <p:cNvSpPr>
              <a:spLocks/>
            </p:cNvSpPr>
            <p:nvPr/>
          </p:nvSpPr>
          <p:spPr bwMode="auto">
            <a:xfrm>
              <a:off x="1521" y="1878"/>
              <a:ext cx="864" cy="955"/>
            </a:xfrm>
            <a:custGeom>
              <a:avLst/>
              <a:gdLst>
                <a:gd name="T0" fmla="*/ 864 w 864"/>
                <a:gd name="T1" fmla="*/ 955 h 955"/>
                <a:gd name="T2" fmla="*/ 0 w 864"/>
                <a:gd name="T3" fmla="*/ 955 h 955"/>
                <a:gd name="T4" fmla="*/ 2 w 864"/>
                <a:gd name="T5" fmla="*/ 0 h 955"/>
                <a:gd name="T6" fmla="*/ 120 w 864"/>
                <a:gd name="T7" fmla="*/ 0 h 9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4" h="955">
                  <a:moveTo>
                    <a:pt x="864" y="955"/>
                  </a:moveTo>
                  <a:lnTo>
                    <a:pt x="0" y="955"/>
                  </a:lnTo>
                  <a:lnTo>
                    <a:pt x="2" y="0"/>
                  </a:lnTo>
                  <a:lnTo>
                    <a:pt x="120" y="0"/>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1589" name="Group 71"/>
            <p:cNvGrpSpPr>
              <a:grpSpLocks/>
            </p:cNvGrpSpPr>
            <p:nvPr/>
          </p:nvGrpSpPr>
          <p:grpSpPr bwMode="auto">
            <a:xfrm>
              <a:off x="1521" y="1961"/>
              <a:ext cx="111" cy="584"/>
              <a:chOff x="1521" y="1961"/>
              <a:chExt cx="48" cy="584"/>
            </a:xfrm>
          </p:grpSpPr>
          <p:sp>
            <p:nvSpPr>
              <p:cNvPr id="21590" name="Line 72"/>
              <p:cNvSpPr>
                <a:spLocks noChangeShapeType="1"/>
              </p:cNvSpPr>
              <p:nvPr/>
            </p:nvSpPr>
            <p:spPr bwMode="auto">
              <a:xfrm flipV="1">
                <a:off x="1521" y="2065"/>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91" name="Line 73"/>
              <p:cNvSpPr>
                <a:spLocks noChangeShapeType="1"/>
              </p:cNvSpPr>
              <p:nvPr/>
            </p:nvSpPr>
            <p:spPr bwMode="auto">
              <a:xfrm flipV="1">
                <a:off x="1521" y="2161"/>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92" name="Line 74"/>
              <p:cNvSpPr>
                <a:spLocks noChangeShapeType="1"/>
              </p:cNvSpPr>
              <p:nvPr/>
            </p:nvSpPr>
            <p:spPr bwMode="auto">
              <a:xfrm flipV="1">
                <a:off x="1521" y="2257"/>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93" name="Line 75"/>
              <p:cNvSpPr>
                <a:spLocks noChangeShapeType="1"/>
              </p:cNvSpPr>
              <p:nvPr/>
            </p:nvSpPr>
            <p:spPr bwMode="auto">
              <a:xfrm flipV="1">
                <a:off x="1521" y="2353"/>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94" name="Line 76"/>
              <p:cNvSpPr>
                <a:spLocks noChangeShapeType="1"/>
              </p:cNvSpPr>
              <p:nvPr/>
            </p:nvSpPr>
            <p:spPr bwMode="auto">
              <a:xfrm flipV="1">
                <a:off x="1521" y="2449"/>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95" name="Line 77"/>
              <p:cNvSpPr>
                <a:spLocks noChangeShapeType="1"/>
              </p:cNvSpPr>
              <p:nvPr/>
            </p:nvSpPr>
            <p:spPr bwMode="auto">
              <a:xfrm flipV="1">
                <a:off x="1521" y="2545"/>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96" name="Line 78"/>
              <p:cNvSpPr>
                <a:spLocks noChangeShapeType="1"/>
              </p:cNvSpPr>
              <p:nvPr/>
            </p:nvSpPr>
            <p:spPr bwMode="auto">
              <a:xfrm flipV="1">
                <a:off x="1521" y="1961"/>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1564" name="Freeform 79" descr="Outlined diamond"/>
          <p:cNvSpPr>
            <a:spLocks/>
          </p:cNvSpPr>
          <p:nvPr/>
        </p:nvSpPr>
        <p:spPr bwMode="auto">
          <a:xfrm>
            <a:off x="4057650" y="2486026"/>
            <a:ext cx="95250" cy="1262063"/>
          </a:xfrm>
          <a:custGeom>
            <a:avLst/>
            <a:gdLst>
              <a:gd name="T0" fmla="*/ 0 w 55"/>
              <a:gd name="T1" fmla="*/ 0 h 813"/>
              <a:gd name="T2" fmla="*/ 0 w 55"/>
              <a:gd name="T3" fmla="*/ 1262063 h 813"/>
              <a:gd name="T4" fmla="*/ 95250 w 55"/>
              <a:gd name="T5" fmla="*/ 1262063 h 813"/>
              <a:gd name="T6" fmla="*/ 95250 w 55"/>
              <a:gd name="T7" fmla="*/ 24838 h 813"/>
              <a:gd name="T8" fmla="*/ 0 w 55"/>
              <a:gd name="T9" fmla="*/ 0 h 8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813">
                <a:moveTo>
                  <a:pt x="0" y="0"/>
                </a:moveTo>
                <a:lnTo>
                  <a:pt x="0" y="813"/>
                </a:lnTo>
                <a:lnTo>
                  <a:pt x="55" y="813"/>
                </a:lnTo>
                <a:lnTo>
                  <a:pt x="55" y="16"/>
                </a:lnTo>
                <a:lnTo>
                  <a:pt x="0" y="0"/>
                </a:lnTo>
                <a:close/>
              </a:path>
            </a:pathLst>
          </a:custGeom>
          <a:blipFill dpi="0" rotWithShape="0">
            <a:blip r:embed="rId3"/>
            <a:srcRect/>
            <a:tile tx="0" ty="0" sx="100000" sy="100000" flip="none" algn="tl"/>
          </a:blip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65" name="Oval 80"/>
          <p:cNvSpPr>
            <a:spLocks noChangeArrowheads="1"/>
          </p:cNvSpPr>
          <p:nvPr/>
        </p:nvSpPr>
        <p:spPr bwMode="auto">
          <a:xfrm>
            <a:off x="4144963" y="985838"/>
            <a:ext cx="328612" cy="334962"/>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ATID</a:t>
            </a:r>
          </a:p>
        </p:txBody>
      </p:sp>
      <p:sp>
        <p:nvSpPr>
          <p:cNvPr id="21566" name="Text Box 81"/>
          <p:cNvSpPr txBox="1">
            <a:spLocks noChangeArrowheads="1"/>
          </p:cNvSpPr>
          <p:nvPr/>
        </p:nvSpPr>
        <p:spPr bwMode="auto">
          <a:xfrm>
            <a:off x="3314701" y="3794126"/>
            <a:ext cx="3968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(MW)</a:t>
            </a:r>
          </a:p>
        </p:txBody>
      </p:sp>
      <p:sp>
        <p:nvSpPr>
          <p:cNvPr id="21567" name="Text Box 82"/>
          <p:cNvSpPr txBox="1">
            <a:spLocks noChangeArrowheads="1"/>
          </p:cNvSpPr>
          <p:nvPr/>
        </p:nvSpPr>
        <p:spPr bwMode="auto">
          <a:xfrm>
            <a:off x="4343400" y="1752601"/>
            <a:ext cx="427038"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(inHg)</a:t>
            </a:r>
          </a:p>
        </p:txBody>
      </p:sp>
      <p:sp>
        <p:nvSpPr>
          <p:cNvPr id="21568" name="Text Box 83"/>
          <p:cNvSpPr txBox="1">
            <a:spLocks noChangeArrowheads="1"/>
          </p:cNvSpPr>
          <p:nvPr/>
        </p:nvSpPr>
        <p:spPr bwMode="auto">
          <a:xfrm>
            <a:off x="4413251" y="1173163"/>
            <a:ext cx="27781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(F)</a:t>
            </a:r>
          </a:p>
        </p:txBody>
      </p:sp>
      <p:sp>
        <p:nvSpPr>
          <p:cNvPr id="21569" name="Text Box 84"/>
          <p:cNvSpPr txBox="1">
            <a:spLocks noChangeArrowheads="1"/>
          </p:cNvSpPr>
          <p:nvPr/>
        </p:nvSpPr>
        <p:spPr bwMode="auto">
          <a:xfrm>
            <a:off x="6623051" y="3771901"/>
            <a:ext cx="404813"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(psig)</a:t>
            </a:r>
          </a:p>
        </p:txBody>
      </p:sp>
      <p:sp>
        <p:nvSpPr>
          <p:cNvPr id="21570" name="Text Box 85"/>
          <p:cNvSpPr txBox="1">
            <a:spLocks noChangeArrowheads="1"/>
          </p:cNvSpPr>
          <p:nvPr/>
        </p:nvSpPr>
        <p:spPr bwMode="auto">
          <a:xfrm>
            <a:off x="6637338" y="4100513"/>
            <a:ext cx="27781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(F)</a:t>
            </a:r>
          </a:p>
        </p:txBody>
      </p:sp>
      <p:sp>
        <p:nvSpPr>
          <p:cNvPr id="21571" name="Text Box 86"/>
          <p:cNvSpPr txBox="1">
            <a:spLocks noChangeArrowheads="1"/>
          </p:cNvSpPr>
          <p:nvPr/>
        </p:nvSpPr>
        <p:spPr bwMode="auto">
          <a:xfrm>
            <a:off x="6638926" y="3309938"/>
            <a:ext cx="31432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a:t>
            </a:r>
          </a:p>
        </p:txBody>
      </p:sp>
      <p:sp>
        <p:nvSpPr>
          <p:cNvPr id="21572" name="Text Box 87"/>
          <p:cNvSpPr txBox="1">
            <a:spLocks noChangeArrowheads="1"/>
          </p:cNvSpPr>
          <p:nvPr/>
        </p:nvSpPr>
        <p:spPr bwMode="auto">
          <a:xfrm>
            <a:off x="5210176" y="2409826"/>
            <a:ext cx="277813"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(F)</a:t>
            </a:r>
          </a:p>
        </p:txBody>
      </p:sp>
      <p:sp>
        <p:nvSpPr>
          <p:cNvPr id="21573" name="Text Box 88"/>
          <p:cNvSpPr txBox="1">
            <a:spLocks noChangeArrowheads="1"/>
          </p:cNvSpPr>
          <p:nvPr/>
        </p:nvSpPr>
        <p:spPr bwMode="auto">
          <a:xfrm>
            <a:off x="4357689" y="2271713"/>
            <a:ext cx="49212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(inH2O)</a:t>
            </a:r>
          </a:p>
        </p:txBody>
      </p:sp>
      <p:sp>
        <p:nvSpPr>
          <p:cNvPr id="21574" name="Text Box 89"/>
          <p:cNvSpPr txBox="1">
            <a:spLocks noChangeArrowheads="1"/>
          </p:cNvSpPr>
          <p:nvPr/>
        </p:nvSpPr>
        <p:spPr bwMode="auto">
          <a:xfrm>
            <a:off x="6111876" y="1106488"/>
            <a:ext cx="40481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(psig)</a:t>
            </a:r>
          </a:p>
        </p:txBody>
      </p:sp>
      <p:sp>
        <p:nvSpPr>
          <p:cNvPr id="21575" name="Text Box 90"/>
          <p:cNvSpPr txBox="1">
            <a:spLocks noChangeArrowheads="1"/>
          </p:cNvSpPr>
          <p:nvPr/>
        </p:nvSpPr>
        <p:spPr bwMode="auto">
          <a:xfrm>
            <a:off x="7766051" y="4090988"/>
            <a:ext cx="27781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(F)</a:t>
            </a:r>
          </a:p>
        </p:txBody>
      </p:sp>
      <p:sp>
        <p:nvSpPr>
          <p:cNvPr id="21576" name="Text Box 91"/>
          <p:cNvSpPr txBox="1">
            <a:spLocks noChangeArrowheads="1"/>
          </p:cNvSpPr>
          <p:nvPr/>
        </p:nvSpPr>
        <p:spPr bwMode="auto">
          <a:xfrm>
            <a:off x="5662613" y="3073400"/>
            <a:ext cx="2905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400" b="1">
                <a:solidFill>
                  <a:srgbClr val="000000"/>
                </a:solidFill>
              </a:rPr>
              <a:t>C</a:t>
            </a:r>
          </a:p>
        </p:txBody>
      </p:sp>
      <p:sp>
        <p:nvSpPr>
          <p:cNvPr id="21577" name="Text Box 92"/>
          <p:cNvSpPr txBox="1">
            <a:spLocks noChangeArrowheads="1"/>
          </p:cNvSpPr>
          <p:nvPr/>
        </p:nvSpPr>
        <p:spPr bwMode="auto">
          <a:xfrm>
            <a:off x="6351589" y="2371725"/>
            <a:ext cx="6365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400" b="1">
                <a:solidFill>
                  <a:srgbClr val="000000"/>
                </a:solidFill>
              </a:rPr>
              <a:t>Comb</a:t>
            </a:r>
          </a:p>
        </p:txBody>
      </p:sp>
      <p:sp>
        <p:nvSpPr>
          <p:cNvPr id="21578" name="Text Box 93"/>
          <p:cNvSpPr txBox="1">
            <a:spLocks noChangeArrowheads="1"/>
          </p:cNvSpPr>
          <p:nvPr/>
        </p:nvSpPr>
        <p:spPr bwMode="auto">
          <a:xfrm>
            <a:off x="7056439" y="3073400"/>
            <a:ext cx="2762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400" b="1">
                <a:solidFill>
                  <a:srgbClr val="000000"/>
                </a:solidFill>
              </a:rPr>
              <a:t>T</a:t>
            </a:r>
          </a:p>
        </p:txBody>
      </p:sp>
      <p:sp>
        <p:nvSpPr>
          <p:cNvPr id="21579" name="Text Box 94"/>
          <p:cNvSpPr txBox="1">
            <a:spLocks noChangeArrowheads="1"/>
          </p:cNvSpPr>
          <p:nvPr/>
        </p:nvSpPr>
        <p:spPr bwMode="auto">
          <a:xfrm>
            <a:off x="7466013" y="546100"/>
            <a:ext cx="129593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a:solidFill>
                  <a:schemeClr val="tx2"/>
                </a:solidFill>
              </a:rPr>
              <a:t>What is FSR?</a:t>
            </a:r>
          </a:p>
        </p:txBody>
      </p:sp>
      <p:sp>
        <p:nvSpPr>
          <p:cNvPr id="21580" name="Text Box 95"/>
          <p:cNvSpPr txBox="1">
            <a:spLocks noChangeArrowheads="1"/>
          </p:cNvSpPr>
          <p:nvPr/>
        </p:nvSpPr>
        <p:spPr bwMode="auto">
          <a:xfrm>
            <a:off x="7519989" y="868364"/>
            <a:ext cx="287813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a:t>FSR stands for Fuel Stroke Reference.  FSR is the key fuel control output, designed to be proportional to the fuel heat consumption (BTU/sec).  FSR can be thought of as though there it were the position of a single “virtual” gas control valve for the turbine.</a:t>
            </a:r>
          </a:p>
        </p:txBody>
      </p:sp>
      <p:sp>
        <p:nvSpPr>
          <p:cNvPr id="21581" name="Text Box 96"/>
          <p:cNvSpPr txBox="1">
            <a:spLocks noChangeArrowheads="1"/>
          </p:cNvSpPr>
          <p:nvPr/>
        </p:nvSpPr>
        <p:spPr bwMode="auto">
          <a:xfrm>
            <a:off x="2317750" y="4137025"/>
            <a:ext cx="19240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a:solidFill>
                  <a:schemeClr val="tx2"/>
                </a:solidFill>
              </a:rPr>
              <a:t>What are fuel splits?</a:t>
            </a:r>
          </a:p>
        </p:txBody>
      </p:sp>
      <p:sp>
        <p:nvSpPr>
          <p:cNvPr id="21582" name="Text Box 97"/>
          <p:cNvSpPr txBox="1">
            <a:spLocks noChangeArrowheads="1"/>
          </p:cNvSpPr>
          <p:nvPr/>
        </p:nvSpPr>
        <p:spPr bwMode="auto">
          <a:xfrm>
            <a:off x="2371725" y="4459289"/>
            <a:ext cx="287813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a:t>A “split” is the proportion of fuel that is delivered to a particular combustion gas passage.  In any given DLN system design with N valves, there are N-1 split effectors (since the sum of the fuel is prescribed by FSR, you lose one degree of freedom in splits).</a:t>
            </a:r>
          </a:p>
        </p:txBody>
      </p:sp>
      <p:sp>
        <p:nvSpPr>
          <p:cNvPr id="21583" name="Rectangle 99"/>
          <p:cNvSpPr>
            <a:spLocks noChangeArrowheads="1"/>
          </p:cNvSpPr>
          <p:nvPr/>
        </p:nvSpPr>
        <p:spPr bwMode="auto">
          <a:xfrm>
            <a:off x="194470" y="141286"/>
            <a:ext cx="8818562" cy="522288"/>
          </a:xfrm>
          <a:prstGeom prst="rect">
            <a:avLst/>
          </a:prstGeom>
        </p:spPr>
        <p:txBody>
          <a:bodyPr vert="horz" lIns="0" tIns="0" rIns="0" bIns="0" rtlCol="0" anchor="t" anchorCtr="0">
            <a:noAutofit/>
          </a:bodyPr>
          <a:lstStyle/>
          <a:p>
            <a:pPr>
              <a:lnSpc>
                <a:spcPct val="90000"/>
              </a:lnSpc>
              <a:spcBef>
                <a:spcPct val="0"/>
              </a:spcBef>
            </a:pPr>
            <a:r>
              <a:rPr lang="en-US" altLang="en-US" sz="3200" dirty="0">
                <a:solidFill>
                  <a:schemeClr val="accent2"/>
                </a:solidFill>
                <a:latin typeface="+mj-lt"/>
                <a:ea typeface="+mj-ea"/>
                <a:cs typeface="+mj-cs"/>
              </a:rPr>
              <a:t>Gas Turbine Effectors / Sensors</a:t>
            </a:r>
          </a:p>
        </p:txBody>
      </p:sp>
      <p:sp>
        <p:nvSpPr>
          <p:cNvPr id="21584" name="Text Box 100"/>
          <p:cNvSpPr txBox="1">
            <a:spLocks noChangeArrowheads="1"/>
          </p:cNvSpPr>
          <p:nvPr/>
        </p:nvSpPr>
        <p:spPr bwMode="auto">
          <a:xfrm>
            <a:off x="5627689" y="4625975"/>
            <a:ext cx="12588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a:solidFill>
                  <a:schemeClr val="tx2"/>
                </a:solidFill>
              </a:rPr>
              <a:t>What is IGV?</a:t>
            </a:r>
          </a:p>
        </p:txBody>
      </p:sp>
      <p:sp>
        <p:nvSpPr>
          <p:cNvPr id="21585" name="Text Box 101"/>
          <p:cNvSpPr txBox="1">
            <a:spLocks noChangeArrowheads="1"/>
          </p:cNvSpPr>
          <p:nvPr/>
        </p:nvSpPr>
        <p:spPr bwMode="auto">
          <a:xfrm>
            <a:off x="8153400" y="4191000"/>
            <a:ext cx="12652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a:solidFill>
                  <a:schemeClr val="tx2"/>
                </a:solidFill>
              </a:rPr>
              <a:t>What is IBH?</a:t>
            </a:r>
          </a:p>
        </p:txBody>
      </p:sp>
      <p:sp>
        <p:nvSpPr>
          <p:cNvPr id="21586" name="Text Box 102"/>
          <p:cNvSpPr txBox="1">
            <a:spLocks noChangeArrowheads="1"/>
          </p:cNvSpPr>
          <p:nvPr/>
        </p:nvSpPr>
        <p:spPr bwMode="auto">
          <a:xfrm>
            <a:off x="5638801" y="4962526"/>
            <a:ext cx="240506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a:t>IGV stands for Inlet Guide Vanes. IGV (csrgv signal name) refers to the vanes at the compressor inlet that affect air flow.  Opening the IGV increases air flow through the compressor and hence the gas turbine.</a:t>
            </a:r>
          </a:p>
        </p:txBody>
      </p:sp>
      <p:sp>
        <p:nvSpPr>
          <p:cNvPr id="21587" name="Text Box 103"/>
          <p:cNvSpPr txBox="1">
            <a:spLocks noChangeArrowheads="1"/>
          </p:cNvSpPr>
          <p:nvPr/>
        </p:nvSpPr>
        <p:spPr bwMode="auto">
          <a:xfrm>
            <a:off x="8153401" y="4495800"/>
            <a:ext cx="240506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a:t>IBH stands for Inlet Bleed Heat. IBH refers to recycling compressor outlet flow back to the compressor inlet.  IBH acts to increase air flow through the compressor while decreasing air flow through the gas turbine.  The primary use is Compressor surge and icing protection.</a:t>
            </a:r>
          </a:p>
        </p:txBody>
      </p:sp>
    </p:spTree>
    <p:extLst>
      <p:ext uri="{BB962C8B-B14F-4D97-AF65-F5344CB8AC3E}">
        <p14:creationId xmlns:p14="http://schemas.microsoft.com/office/powerpoint/2010/main" val="444986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050"/>
          <p:cNvSpPr txBox="1">
            <a:spLocks noChangeArrowheads="1"/>
          </p:cNvSpPr>
          <p:nvPr/>
        </p:nvSpPr>
        <p:spPr bwMode="auto">
          <a:xfrm>
            <a:off x="565303" y="805735"/>
            <a:ext cx="21258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dirty="0">
                <a:solidFill>
                  <a:srgbClr val="C00000"/>
                </a:solidFill>
              </a:rPr>
              <a:t>What are my Sensors?</a:t>
            </a:r>
          </a:p>
        </p:txBody>
      </p:sp>
      <p:sp>
        <p:nvSpPr>
          <p:cNvPr id="23555" name="Text Box 2051"/>
          <p:cNvSpPr txBox="1">
            <a:spLocks noChangeArrowheads="1"/>
          </p:cNvSpPr>
          <p:nvPr/>
        </p:nvSpPr>
        <p:spPr bwMode="auto">
          <a:xfrm>
            <a:off x="2970211" y="1445288"/>
            <a:ext cx="8778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b="1" u="sng"/>
              <a:t>Legend:</a:t>
            </a:r>
            <a:endParaRPr lang="en-US" altLang="en-US" b="1"/>
          </a:p>
        </p:txBody>
      </p:sp>
      <p:sp>
        <p:nvSpPr>
          <p:cNvPr id="23556" name="Text Box 2052"/>
          <p:cNvSpPr txBox="1">
            <a:spLocks noChangeArrowheads="1"/>
          </p:cNvSpPr>
          <p:nvPr/>
        </p:nvSpPr>
        <p:spPr bwMode="auto">
          <a:xfrm>
            <a:off x="3087687" y="1837402"/>
            <a:ext cx="41116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rgbClr val="FF0000"/>
                </a:solidFill>
              </a:rPr>
              <a:t>IGV</a:t>
            </a:r>
          </a:p>
        </p:txBody>
      </p:sp>
      <p:sp>
        <p:nvSpPr>
          <p:cNvPr id="23557" name="Oval 2053"/>
          <p:cNvSpPr>
            <a:spLocks noChangeArrowheads="1"/>
          </p:cNvSpPr>
          <p:nvPr/>
        </p:nvSpPr>
        <p:spPr bwMode="auto">
          <a:xfrm>
            <a:off x="3128962" y="2229514"/>
            <a:ext cx="328613"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TTXM</a:t>
            </a:r>
          </a:p>
        </p:txBody>
      </p:sp>
      <p:sp>
        <p:nvSpPr>
          <p:cNvPr id="23558" name="Text Box 2054"/>
          <p:cNvSpPr txBox="1">
            <a:spLocks noChangeArrowheads="1"/>
          </p:cNvSpPr>
          <p:nvPr/>
        </p:nvSpPr>
        <p:spPr bwMode="auto">
          <a:xfrm>
            <a:off x="3419475" y="1834226"/>
            <a:ext cx="858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a:solidFill>
                  <a:srgbClr val="FF0000"/>
                </a:solidFill>
              </a:rPr>
              <a:t>– critical</a:t>
            </a:r>
          </a:p>
          <a:p>
            <a:r>
              <a:rPr lang="en-US" altLang="en-US">
                <a:solidFill>
                  <a:srgbClr val="FF0000"/>
                </a:solidFill>
              </a:rPr>
              <a:t>   effectors</a:t>
            </a:r>
          </a:p>
        </p:txBody>
      </p:sp>
      <p:sp>
        <p:nvSpPr>
          <p:cNvPr id="23559" name="Text Box 2055"/>
          <p:cNvSpPr txBox="1">
            <a:spLocks noChangeArrowheads="1"/>
          </p:cNvSpPr>
          <p:nvPr/>
        </p:nvSpPr>
        <p:spPr bwMode="auto">
          <a:xfrm>
            <a:off x="3448050" y="2212051"/>
            <a:ext cx="784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a:solidFill>
                  <a:srgbClr val="FF0000"/>
                </a:solidFill>
              </a:rPr>
              <a:t>– critical </a:t>
            </a:r>
          </a:p>
          <a:p>
            <a:r>
              <a:rPr lang="en-US" altLang="en-US">
                <a:solidFill>
                  <a:srgbClr val="FF0000"/>
                </a:solidFill>
              </a:rPr>
              <a:t>   sensors</a:t>
            </a:r>
          </a:p>
        </p:txBody>
      </p:sp>
      <p:sp>
        <p:nvSpPr>
          <p:cNvPr id="23560" name="Text Box 2056"/>
          <p:cNvSpPr txBox="1">
            <a:spLocks noChangeArrowheads="1"/>
          </p:cNvSpPr>
          <p:nvPr/>
        </p:nvSpPr>
        <p:spPr bwMode="auto">
          <a:xfrm>
            <a:off x="3354387" y="2467639"/>
            <a:ext cx="277813"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(F)</a:t>
            </a:r>
          </a:p>
        </p:txBody>
      </p:sp>
      <p:sp>
        <p:nvSpPr>
          <p:cNvPr id="23561" name="Text Box 2057"/>
          <p:cNvSpPr txBox="1">
            <a:spLocks noChangeArrowheads="1"/>
          </p:cNvSpPr>
          <p:nvPr/>
        </p:nvSpPr>
        <p:spPr bwMode="auto">
          <a:xfrm>
            <a:off x="3502024" y="2624802"/>
            <a:ext cx="51276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000">
                <a:solidFill>
                  <a:srgbClr val="FF0000"/>
                </a:solidFill>
              </a:rPr>
              <a:t>(Units)</a:t>
            </a:r>
          </a:p>
        </p:txBody>
      </p:sp>
      <p:sp>
        <p:nvSpPr>
          <p:cNvPr id="23562" name="Line 2058"/>
          <p:cNvSpPr>
            <a:spLocks noChangeShapeType="1"/>
          </p:cNvSpPr>
          <p:nvPr/>
        </p:nvSpPr>
        <p:spPr bwMode="auto">
          <a:xfrm>
            <a:off x="3498850" y="2635913"/>
            <a:ext cx="41275" cy="90488"/>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3" name="Freeform 2059"/>
          <p:cNvSpPr>
            <a:spLocks/>
          </p:cNvSpPr>
          <p:nvPr/>
        </p:nvSpPr>
        <p:spPr bwMode="auto">
          <a:xfrm>
            <a:off x="6064249" y="3180427"/>
            <a:ext cx="1066800" cy="1055687"/>
          </a:xfrm>
          <a:custGeom>
            <a:avLst/>
            <a:gdLst>
              <a:gd name="T0" fmla="*/ 1588 w 672"/>
              <a:gd name="T1" fmla="*/ 0 h 665"/>
              <a:gd name="T2" fmla="*/ 0 w 672"/>
              <a:gd name="T3" fmla="*/ 1055687 h 665"/>
              <a:gd name="T4" fmla="*/ 1066800 w 672"/>
              <a:gd name="T5" fmla="*/ 750887 h 665"/>
              <a:gd name="T6" fmla="*/ 1066800 w 672"/>
              <a:gd name="T7" fmla="*/ 293687 h 665"/>
              <a:gd name="T8" fmla="*/ 1588 w 672"/>
              <a:gd name="T9" fmla="*/ 0 h 6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2" h="665">
                <a:moveTo>
                  <a:pt x="1" y="0"/>
                </a:moveTo>
                <a:lnTo>
                  <a:pt x="0" y="665"/>
                </a:lnTo>
                <a:lnTo>
                  <a:pt x="672" y="473"/>
                </a:lnTo>
                <a:lnTo>
                  <a:pt x="672" y="185"/>
                </a:lnTo>
                <a:lnTo>
                  <a:pt x="1" y="0"/>
                </a:lnTo>
                <a:close/>
              </a:path>
            </a:pathLst>
          </a:custGeom>
          <a:solidFill>
            <a:srgbClr val="C0C0C0"/>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4" name="Freeform 2060"/>
          <p:cNvSpPr>
            <a:spLocks/>
          </p:cNvSpPr>
          <p:nvPr/>
        </p:nvSpPr>
        <p:spPr bwMode="auto">
          <a:xfrm flipH="1">
            <a:off x="7664449" y="3178838"/>
            <a:ext cx="609600" cy="1055688"/>
          </a:xfrm>
          <a:custGeom>
            <a:avLst/>
            <a:gdLst>
              <a:gd name="T0" fmla="*/ 907 w 672"/>
              <a:gd name="T1" fmla="*/ 0 h 665"/>
              <a:gd name="T2" fmla="*/ 0 w 672"/>
              <a:gd name="T3" fmla="*/ 1055688 h 665"/>
              <a:gd name="T4" fmla="*/ 609600 w 672"/>
              <a:gd name="T5" fmla="*/ 750888 h 665"/>
              <a:gd name="T6" fmla="*/ 609600 w 672"/>
              <a:gd name="T7" fmla="*/ 293688 h 665"/>
              <a:gd name="T8" fmla="*/ 907 w 672"/>
              <a:gd name="T9" fmla="*/ 0 h 66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72" h="665">
                <a:moveTo>
                  <a:pt x="1" y="0"/>
                </a:moveTo>
                <a:lnTo>
                  <a:pt x="0" y="665"/>
                </a:lnTo>
                <a:lnTo>
                  <a:pt x="672" y="473"/>
                </a:lnTo>
                <a:lnTo>
                  <a:pt x="672" y="185"/>
                </a:lnTo>
                <a:lnTo>
                  <a:pt x="1" y="0"/>
                </a:lnTo>
                <a:close/>
              </a:path>
            </a:pathLst>
          </a:custGeom>
          <a:solidFill>
            <a:srgbClr val="C0C0C0"/>
          </a:solidFill>
          <a:ln w="254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5" name="Rectangle 2061"/>
          <p:cNvSpPr>
            <a:spLocks noChangeArrowheads="1"/>
          </p:cNvSpPr>
          <p:nvPr/>
        </p:nvSpPr>
        <p:spPr bwMode="auto">
          <a:xfrm>
            <a:off x="7207249" y="2869276"/>
            <a:ext cx="457200" cy="304800"/>
          </a:xfrm>
          <a:prstGeom prst="rect">
            <a:avLst/>
          </a:prstGeom>
          <a:solidFill>
            <a:srgbClr val="C0C0C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23566" name="Rectangle 2062"/>
          <p:cNvSpPr>
            <a:spLocks noChangeArrowheads="1"/>
          </p:cNvSpPr>
          <p:nvPr/>
        </p:nvSpPr>
        <p:spPr bwMode="auto">
          <a:xfrm>
            <a:off x="7131049" y="3648739"/>
            <a:ext cx="533400" cy="119063"/>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23567" name="Freeform 2063"/>
          <p:cNvSpPr>
            <a:spLocks/>
          </p:cNvSpPr>
          <p:nvPr/>
        </p:nvSpPr>
        <p:spPr bwMode="auto">
          <a:xfrm>
            <a:off x="6942137" y="3064539"/>
            <a:ext cx="265113" cy="385763"/>
          </a:xfrm>
          <a:custGeom>
            <a:avLst/>
            <a:gdLst>
              <a:gd name="T0" fmla="*/ 0 w 96"/>
              <a:gd name="T1" fmla="*/ 385763 h 192"/>
              <a:gd name="T2" fmla="*/ 0 w 96"/>
              <a:gd name="T3" fmla="*/ 0 h 192"/>
              <a:gd name="T4" fmla="*/ 265113 w 96"/>
              <a:gd name="T5" fmla="*/ 0 h 192"/>
              <a:gd name="T6" fmla="*/ 0 60000 65536"/>
              <a:gd name="T7" fmla="*/ 0 60000 65536"/>
              <a:gd name="T8" fmla="*/ 0 60000 65536"/>
            </a:gdLst>
            <a:ahLst/>
            <a:cxnLst>
              <a:cxn ang="T6">
                <a:pos x="T0" y="T1"/>
              </a:cxn>
              <a:cxn ang="T7">
                <a:pos x="T2" y="T3"/>
              </a:cxn>
              <a:cxn ang="T8">
                <a:pos x="T4" y="T5"/>
              </a:cxn>
            </a:cxnLst>
            <a:rect l="0" t="0" r="r" b="b"/>
            <a:pathLst>
              <a:path w="96" h="192">
                <a:moveTo>
                  <a:pt x="0" y="192"/>
                </a:moveTo>
                <a:lnTo>
                  <a:pt x="0" y="0"/>
                </a:lnTo>
                <a:lnTo>
                  <a:pt x="96" y="0"/>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8" name="Freeform 2064"/>
          <p:cNvSpPr>
            <a:spLocks/>
          </p:cNvSpPr>
          <p:nvPr/>
        </p:nvSpPr>
        <p:spPr bwMode="auto">
          <a:xfrm>
            <a:off x="7664449" y="3021676"/>
            <a:ext cx="152400" cy="381000"/>
          </a:xfrm>
          <a:custGeom>
            <a:avLst/>
            <a:gdLst>
              <a:gd name="T0" fmla="*/ 0 w 96"/>
              <a:gd name="T1" fmla="*/ 0 h 240"/>
              <a:gd name="T2" fmla="*/ 152400 w 96"/>
              <a:gd name="T3" fmla="*/ 0 h 240"/>
              <a:gd name="T4" fmla="*/ 152400 w 96"/>
              <a:gd name="T5" fmla="*/ 381000 h 240"/>
              <a:gd name="T6" fmla="*/ 0 60000 65536"/>
              <a:gd name="T7" fmla="*/ 0 60000 65536"/>
              <a:gd name="T8" fmla="*/ 0 60000 65536"/>
            </a:gdLst>
            <a:ahLst/>
            <a:cxnLst>
              <a:cxn ang="T6">
                <a:pos x="T0" y="T1"/>
              </a:cxn>
              <a:cxn ang="T7">
                <a:pos x="T2" y="T3"/>
              </a:cxn>
              <a:cxn ang="T8">
                <a:pos x="T4" y="T5"/>
              </a:cxn>
            </a:cxnLst>
            <a:rect l="0" t="0" r="r" b="b"/>
            <a:pathLst>
              <a:path w="96" h="240">
                <a:moveTo>
                  <a:pt x="0" y="0"/>
                </a:moveTo>
                <a:lnTo>
                  <a:pt x="96" y="0"/>
                </a:lnTo>
                <a:lnTo>
                  <a:pt x="96" y="240"/>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69" name="Freeform 2065"/>
          <p:cNvSpPr>
            <a:spLocks/>
          </p:cNvSpPr>
          <p:nvPr/>
        </p:nvSpPr>
        <p:spPr bwMode="auto">
          <a:xfrm>
            <a:off x="6902449" y="2188238"/>
            <a:ext cx="228600" cy="152400"/>
          </a:xfrm>
          <a:custGeom>
            <a:avLst/>
            <a:gdLst>
              <a:gd name="T0" fmla="*/ 0 w 144"/>
              <a:gd name="T1" fmla="*/ 0 h 96"/>
              <a:gd name="T2" fmla="*/ 0 w 144"/>
              <a:gd name="T3" fmla="*/ 152400 h 96"/>
              <a:gd name="T4" fmla="*/ 228600 w 144"/>
              <a:gd name="T5" fmla="*/ 0 h 96"/>
              <a:gd name="T6" fmla="*/ 228600 w 144"/>
              <a:gd name="T7" fmla="*/ 152400 h 96"/>
              <a:gd name="T8" fmla="*/ 0 w 144"/>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96">
                <a:moveTo>
                  <a:pt x="0" y="0"/>
                </a:moveTo>
                <a:lnTo>
                  <a:pt x="0" y="96"/>
                </a:lnTo>
                <a:lnTo>
                  <a:pt x="144" y="0"/>
                </a:lnTo>
                <a:lnTo>
                  <a:pt x="144" y="96"/>
                </a:lnTo>
                <a:lnTo>
                  <a:pt x="0" y="0"/>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0" name="Freeform 2066"/>
          <p:cNvSpPr>
            <a:spLocks/>
          </p:cNvSpPr>
          <p:nvPr/>
        </p:nvSpPr>
        <p:spPr bwMode="auto">
          <a:xfrm>
            <a:off x="6902449" y="2569238"/>
            <a:ext cx="228600" cy="152400"/>
          </a:xfrm>
          <a:custGeom>
            <a:avLst/>
            <a:gdLst>
              <a:gd name="T0" fmla="*/ 0 w 144"/>
              <a:gd name="T1" fmla="*/ 0 h 96"/>
              <a:gd name="T2" fmla="*/ 0 w 144"/>
              <a:gd name="T3" fmla="*/ 152400 h 96"/>
              <a:gd name="T4" fmla="*/ 228600 w 144"/>
              <a:gd name="T5" fmla="*/ 0 h 96"/>
              <a:gd name="T6" fmla="*/ 228600 w 144"/>
              <a:gd name="T7" fmla="*/ 152400 h 96"/>
              <a:gd name="T8" fmla="*/ 0 w 144"/>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96">
                <a:moveTo>
                  <a:pt x="0" y="0"/>
                </a:moveTo>
                <a:lnTo>
                  <a:pt x="0" y="96"/>
                </a:lnTo>
                <a:lnTo>
                  <a:pt x="144" y="0"/>
                </a:lnTo>
                <a:lnTo>
                  <a:pt x="144" y="96"/>
                </a:lnTo>
                <a:lnTo>
                  <a:pt x="0" y="0"/>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1" name="Freeform 2067"/>
          <p:cNvSpPr>
            <a:spLocks/>
          </p:cNvSpPr>
          <p:nvPr/>
        </p:nvSpPr>
        <p:spPr bwMode="auto">
          <a:xfrm>
            <a:off x="6902449" y="1807238"/>
            <a:ext cx="228600" cy="152400"/>
          </a:xfrm>
          <a:custGeom>
            <a:avLst/>
            <a:gdLst>
              <a:gd name="T0" fmla="*/ 0 w 144"/>
              <a:gd name="T1" fmla="*/ 0 h 96"/>
              <a:gd name="T2" fmla="*/ 0 w 144"/>
              <a:gd name="T3" fmla="*/ 152400 h 96"/>
              <a:gd name="T4" fmla="*/ 228600 w 144"/>
              <a:gd name="T5" fmla="*/ 0 h 96"/>
              <a:gd name="T6" fmla="*/ 228600 w 144"/>
              <a:gd name="T7" fmla="*/ 152400 h 96"/>
              <a:gd name="T8" fmla="*/ 0 w 144"/>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96">
                <a:moveTo>
                  <a:pt x="0" y="0"/>
                </a:moveTo>
                <a:lnTo>
                  <a:pt x="0" y="96"/>
                </a:lnTo>
                <a:lnTo>
                  <a:pt x="144" y="0"/>
                </a:lnTo>
                <a:lnTo>
                  <a:pt x="144" y="96"/>
                </a:lnTo>
                <a:lnTo>
                  <a:pt x="0" y="0"/>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2" name="Freeform 2068"/>
          <p:cNvSpPr>
            <a:spLocks/>
          </p:cNvSpPr>
          <p:nvPr/>
        </p:nvSpPr>
        <p:spPr bwMode="auto">
          <a:xfrm>
            <a:off x="6445249" y="1807238"/>
            <a:ext cx="228600" cy="152400"/>
          </a:xfrm>
          <a:custGeom>
            <a:avLst/>
            <a:gdLst>
              <a:gd name="T0" fmla="*/ 0 w 144"/>
              <a:gd name="T1" fmla="*/ 0 h 96"/>
              <a:gd name="T2" fmla="*/ 0 w 144"/>
              <a:gd name="T3" fmla="*/ 152400 h 96"/>
              <a:gd name="T4" fmla="*/ 228600 w 144"/>
              <a:gd name="T5" fmla="*/ 0 h 96"/>
              <a:gd name="T6" fmla="*/ 228600 w 144"/>
              <a:gd name="T7" fmla="*/ 152400 h 96"/>
              <a:gd name="T8" fmla="*/ 0 w 144"/>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96">
                <a:moveTo>
                  <a:pt x="0" y="0"/>
                </a:moveTo>
                <a:lnTo>
                  <a:pt x="0" y="96"/>
                </a:lnTo>
                <a:lnTo>
                  <a:pt x="144" y="0"/>
                </a:lnTo>
                <a:lnTo>
                  <a:pt x="144" y="96"/>
                </a:lnTo>
                <a:lnTo>
                  <a:pt x="0" y="0"/>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3" name="Line 2069"/>
          <p:cNvSpPr>
            <a:spLocks noChangeShapeType="1"/>
          </p:cNvSpPr>
          <p:nvPr/>
        </p:nvSpPr>
        <p:spPr bwMode="auto">
          <a:xfrm>
            <a:off x="6673849" y="1883438"/>
            <a:ext cx="228600" cy="15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4" name="Freeform 2070"/>
          <p:cNvSpPr>
            <a:spLocks/>
          </p:cNvSpPr>
          <p:nvPr/>
        </p:nvSpPr>
        <p:spPr bwMode="auto">
          <a:xfrm>
            <a:off x="6750049" y="1883438"/>
            <a:ext cx="152400" cy="762000"/>
          </a:xfrm>
          <a:custGeom>
            <a:avLst/>
            <a:gdLst>
              <a:gd name="T0" fmla="*/ 0 w 96"/>
              <a:gd name="T1" fmla="*/ 0 h 432"/>
              <a:gd name="T2" fmla="*/ 0 w 96"/>
              <a:gd name="T3" fmla="*/ 762000 h 432"/>
              <a:gd name="T4" fmla="*/ 152400 w 96"/>
              <a:gd name="T5" fmla="*/ 762000 h 432"/>
              <a:gd name="T6" fmla="*/ 0 60000 65536"/>
              <a:gd name="T7" fmla="*/ 0 60000 65536"/>
              <a:gd name="T8" fmla="*/ 0 60000 65536"/>
            </a:gdLst>
            <a:ahLst/>
            <a:cxnLst>
              <a:cxn ang="T6">
                <a:pos x="T0" y="T1"/>
              </a:cxn>
              <a:cxn ang="T7">
                <a:pos x="T2" y="T3"/>
              </a:cxn>
              <a:cxn ang="T8">
                <a:pos x="T4" y="T5"/>
              </a:cxn>
            </a:cxnLst>
            <a:rect l="0" t="0" r="r" b="b"/>
            <a:pathLst>
              <a:path w="96" h="432">
                <a:moveTo>
                  <a:pt x="0" y="0"/>
                </a:moveTo>
                <a:lnTo>
                  <a:pt x="0" y="432"/>
                </a:lnTo>
                <a:lnTo>
                  <a:pt x="96" y="432"/>
                </a:lnTo>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5" name="Line 2071"/>
          <p:cNvSpPr>
            <a:spLocks noChangeShapeType="1"/>
          </p:cNvSpPr>
          <p:nvPr/>
        </p:nvSpPr>
        <p:spPr bwMode="auto">
          <a:xfrm>
            <a:off x="6750049" y="2264438"/>
            <a:ext cx="152400"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3576" name="Group 2072"/>
          <p:cNvGrpSpPr>
            <a:grpSpLocks/>
          </p:cNvGrpSpPr>
          <p:nvPr/>
        </p:nvGrpSpPr>
        <p:grpSpPr bwMode="auto">
          <a:xfrm>
            <a:off x="5988049" y="3178839"/>
            <a:ext cx="152400" cy="1025525"/>
            <a:chOff x="2049" y="1921"/>
            <a:chExt cx="96" cy="646"/>
          </a:xfrm>
        </p:grpSpPr>
        <p:sp>
          <p:nvSpPr>
            <p:cNvPr id="23638" name="Line 2073"/>
            <p:cNvSpPr>
              <a:spLocks noChangeShapeType="1"/>
            </p:cNvSpPr>
            <p:nvPr/>
          </p:nvSpPr>
          <p:spPr bwMode="auto">
            <a:xfrm>
              <a:off x="2049" y="1921"/>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39" name="Line 2074"/>
            <p:cNvSpPr>
              <a:spLocks noChangeShapeType="1"/>
            </p:cNvSpPr>
            <p:nvPr/>
          </p:nvSpPr>
          <p:spPr bwMode="auto">
            <a:xfrm>
              <a:off x="2049" y="2017"/>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40" name="Line 2075"/>
            <p:cNvSpPr>
              <a:spLocks noChangeShapeType="1"/>
            </p:cNvSpPr>
            <p:nvPr/>
          </p:nvSpPr>
          <p:spPr bwMode="auto">
            <a:xfrm>
              <a:off x="2049" y="2113"/>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41" name="Line 2076"/>
            <p:cNvSpPr>
              <a:spLocks noChangeShapeType="1"/>
            </p:cNvSpPr>
            <p:nvPr/>
          </p:nvSpPr>
          <p:spPr bwMode="auto">
            <a:xfrm>
              <a:off x="2049" y="2209"/>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42" name="Line 2077"/>
            <p:cNvSpPr>
              <a:spLocks noChangeShapeType="1"/>
            </p:cNvSpPr>
            <p:nvPr/>
          </p:nvSpPr>
          <p:spPr bwMode="auto">
            <a:xfrm>
              <a:off x="2049" y="2305"/>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43" name="Line 2078"/>
            <p:cNvSpPr>
              <a:spLocks noChangeShapeType="1"/>
            </p:cNvSpPr>
            <p:nvPr/>
          </p:nvSpPr>
          <p:spPr bwMode="auto">
            <a:xfrm>
              <a:off x="2049" y="2401"/>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44" name="Line 2079"/>
            <p:cNvSpPr>
              <a:spLocks noChangeShapeType="1"/>
            </p:cNvSpPr>
            <p:nvPr/>
          </p:nvSpPr>
          <p:spPr bwMode="auto">
            <a:xfrm>
              <a:off x="2049" y="2497"/>
              <a:ext cx="96" cy="7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3577" name="Freeform 2080"/>
          <p:cNvSpPr>
            <a:spLocks/>
          </p:cNvSpPr>
          <p:nvPr/>
        </p:nvSpPr>
        <p:spPr bwMode="auto">
          <a:xfrm>
            <a:off x="7131049" y="2645438"/>
            <a:ext cx="228600" cy="228600"/>
          </a:xfrm>
          <a:custGeom>
            <a:avLst/>
            <a:gdLst>
              <a:gd name="T0" fmla="*/ 0 w 144"/>
              <a:gd name="T1" fmla="*/ 0 h 240"/>
              <a:gd name="T2" fmla="*/ 228600 w 144"/>
              <a:gd name="T3" fmla="*/ 0 h 240"/>
              <a:gd name="T4" fmla="*/ 228600 w 144"/>
              <a:gd name="T5" fmla="*/ 228600 h 240"/>
              <a:gd name="T6" fmla="*/ 0 60000 65536"/>
              <a:gd name="T7" fmla="*/ 0 60000 65536"/>
              <a:gd name="T8" fmla="*/ 0 60000 65536"/>
            </a:gdLst>
            <a:ahLst/>
            <a:cxnLst>
              <a:cxn ang="T6">
                <a:pos x="T0" y="T1"/>
              </a:cxn>
              <a:cxn ang="T7">
                <a:pos x="T2" y="T3"/>
              </a:cxn>
              <a:cxn ang="T8">
                <a:pos x="T4" y="T5"/>
              </a:cxn>
            </a:cxnLst>
            <a:rect l="0" t="0" r="r" b="b"/>
            <a:pathLst>
              <a:path w="144" h="240">
                <a:moveTo>
                  <a:pt x="0" y="0"/>
                </a:moveTo>
                <a:lnTo>
                  <a:pt x="144" y="0"/>
                </a:lnTo>
                <a:lnTo>
                  <a:pt x="144" y="240"/>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8" name="Freeform 2081"/>
          <p:cNvSpPr>
            <a:spLocks/>
          </p:cNvSpPr>
          <p:nvPr/>
        </p:nvSpPr>
        <p:spPr bwMode="auto">
          <a:xfrm>
            <a:off x="7131049" y="2264438"/>
            <a:ext cx="304800" cy="609600"/>
          </a:xfrm>
          <a:custGeom>
            <a:avLst/>
            <a:gdLst>
              <a:gd name="T0" fmla="*/ 0 w 192"/>
              <a:gd name="T1" fmla="*/ 0 h 384"/>
              <a:gd name="T2" fmla="*/ 304800 w 192"/>
              <a:gd name="T3" fmla="*/ 0 h 384"/>
              <a:gd name="T4" fmla="*/ 304800 w 192"/>
              <a:gd name="T5" fmla="*/ 609600 h 384"/>
              <a:gd name="T6" fmla="*/ 0 60000 65536"/>
              <a:gd name="T7" fmla="*/ 0 60000 65536"/>
              <a:gd name="T8" fmla="*/ 0 60000 65536"/>
            </a:gdLst>
            <a:ahLst/>
            <a:cxnLst>
              <a:cxn ang="T6">
                <a:pos x="T0" y="T1"/>
              </a:cxn>
              <a:cxn ang="T7">
                <a:pos x="T2" y="T3"/>
              </a:cxn>
              <a:cxn ang="T8">
                <a:pos x="T4" y="T5"/>
              </a:cxn>
            </a:cxnLst>
            <a:rect l="0" t="0" r="r" b="b"/>
            <a:pathLst>
              <a:path w="192" h="384">
                <a:moveTo>
                  <a:pt x="0" y="0"/>
                </a:moveTo>
                <a:lnTo>
                  <a:pt x="192" y="0"/>
                </a:lnTo>
                <a:lnTo>
                  <a:pt x="192" y="384"/>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79" name="Freeform 2082"/>
          <p:cNvSpPr>
            <a:spLocks/>
          </p:cNvSpPr>
          <p:nvPr/>
        </p:nvSpPr>
        <p:spPr bwMode="auto">
          <a:xfrm>
            <a:off x="7131049" y="1883438"/>
            <a:ext cx="381000" cy="990600"/>
          </a:xfrm>
          <a:custGeom>
            <a:avLst/>
            <a:gdLst>
              <a:gd name="T0" fmla="*/ 0 w 240"/>
              <a:gd name="T1" fmla="*/ 0 h 528"/>
              <a:gd name="T2" fmla="*/ 381000 w 240"/>
              <a:gd name="T3" fmla="*/ 0 h 528"/>
              <a:gd name="T4" fmla="*/ 381000 w 240"/>
              <a:gd name="T5" fmla="*/ 990600 h 528"/>
              <a:gd name="T6" fmla="*/ 0 60000 65536"/>
              <a:gd name="T7" fmla="*/ 0 60000 65536"/>
              <a:gd name="T8" fmla="*/ 0 60000 65536"/>
            </a:gdLst>
            <a:ahLst/>
            <a:cxnLst>
              <a:cxn ang="T6">
                <a:pos x="T0" y="T1"/>
              </a:cxn>
              <a:cxn ang="T7">
                <a:pos x="T2" y="T3"/>
              </a:cxn>
              <a:cxn ang="T8">
                <a:pos x="T4" y="T5"/>
              </a:cxn>
            </a:cxnLst>
            <a:rect l="0" t="0" r="r" b="b"/>
            <a:pathLst>
              <a:path w="240" h="528">
                <a:moveTo>
                  <a:pt x="0" y="0"/>
                </a:moveTo>
                <a:lnTo>
                  <a:pt x="240" y="0"/>
                </a:lnTo>
                <a:lnTo>
                  <a:pt x="240" y="528"/>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0" name="Freeform 2083"/>
          <p:cNvSpPr>
            <a:spLocks/>
          </p:cNvSpPr>
          <p:nvPr/>
        </p:nvSpPr>
        <p:spPr bwMode="auto">
          <a:xfrm>
            <a:off x="8274049" y="2999452"/>
            <a:ext cx="1452562" cy="1385887"/>
          </a:xfrm>
          <a:custGeom>
            <a:avLst/>
            <a:gdLst>
              <a:gd name="T0" fmla="*/ 0 w 915"/>
              <a:gd name="T1" fmla="*/ 166687 h 873"/>
              <a:gd name="T2" fmla="*/ 0 w 915"/>
              <a:gd name="T3" fmla="*/ 1233487 h 873"/>
              <a:gd name="T4" fmla="*/ 1447800 w 915"/>
              <a:gd name="T5" fmla="*/ 1385887 h 873"/>
              <a:gd name="T6" fmla="*/ 1452562 w 915"/>
              <a:gd name="T7" fmla="*/ 0 h 873"/>
              <a:gd name="T8" fmla="*/ 0 w 915"/>
              <a:gd name="T9" fmla="*/ 166687 h 8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15" h="873">
                <a:moveTo>
                  <a:pt x="0" y="105"/>
                </a:moveTo>
                <a:lnTo>
                  <a:pt x="0" y="777"/>
                </a:lnTo>
                <a:lnTo>
                  <a:pt x="912" y="873"/>
                </a:lnTo>
                <a:lnTo>
                  <a:pt x="915" y="0"/>
                </a:lnTo>
                <a:lnTo>
                  <a:pt x="0" y="105"/>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1" name="Text Box 2084"/>
          <p:cNvSpPr txBox="1">
            <a:spLocks noChangeArrowheads="1"/>
          </p:cNvSpPr>
          <p:nvPr/>
        </p:nvSpPr>
        <p:spPr bwMode="auto">
          <a:xfrm>
            <a:off x="5873749" y="4228177"/>
            <a:ext cx="41116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rgbClr val="FF0000"/>
                </a:solidFill>
              </a:rPr>
              <a:t>IGV</a:t>
            </a:r>
          </a:p>
        </p:txBody>
      </p:sp>
      <p:sp>
        <p:nvSpPr>
          <p:cNvPr id="23582" name="Text Box 2085"/>
          <p:cNvSpPr txBox="1">
            <a:spLocks noChangeArrowheads="1"/>
          </p:cNvSpPr>
          <p:nvPr/>
        </p:nvSpPr>
        <p:spPr bwMode="auto">
          <a:xfrm>
            <a:off x="6811962" y="2289838"/>
            <a:ext cx="4683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a:solidFill>
                  <a:srgbClr val="FF0000"/>
                </a:solidFill>
              </a:rPr>
              <a:t>PM1</a:t>
            </a:r>
          </a:p>
        </p:txBody>
      </p:sp>
      <p:sp>
        <p:nvSpPr>
          <p:cNvPr id="23583" name="Text Box 2086"/>
          <p:cNvSpPr txBox="1">
            <a:spLocks noChangeArrowheads="1"/>
          </p:cNvSpPr>
          <p:nvPr/>
        </p:nvSpPr>
        <p:spPr bwMode="auto">
          <a:xfrm>
            <a:off x="6811962" y="2675602"/>
            <a:ext cx="4683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a:solidFill>
                  <a:srgbClr val="FF0000"/>
                </a:solidFill>
              </a:rPr>
              <a:t>PM4</a:t>
            </a:r>
          </a:p>
        </p:txBody>
      </p:sp>
      <p:sp>
        <p:nvSpPr>
          <p:cNvPr id="23584" name="Text Box 2087"/>
          <p:cNvSpPr txBox="1">
            <a:spLocks noChangeArrowheads="1"/>
          </p:cNvSpPr>
          <p:nvPr/>
        </p:nvSpPr>
        <p:spPr bwMode="auto">
          <a:xfrm>
            <a:off x="6861174" y="1888202"/>
            <a:ext cx="3683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a:solidFill>
                  <a:srgbClr val="FF0000"/>
                </a:solidFill>
              </a:rPr>
              <a:t>D5</a:t>
            </a:r>
          </a:p>
        </p:txBody>
      </p:sp>
      <p:sp>
        <p:nvSpPr>
          <p:cNvPr id="23585" name="Freeform 2088"/>
          <p:cNvSpPr>
            <a:spLocks/>
          </p:cNvSpPr>
          <p:nvPr/>
        </p:nvSpPr>
        <p:spPr bwMode="auto">
          <a:xfrm>
            <a:off x="6521449" y="4550438"/>
            <a:ext cx="228600" cy="152400"/>
          </a:xfrm>
          <a:custGeom>
            <a:avLst/>
            <a:gdLst>
              <a:gd name="T0" fmla="*/ 0 w 144"/>
              <a:gd name="T1" fmla="*/ 0 h 96"/>
              <a:gd name="T2" fmla="*/ 0 w 144"/>
              <a:gd name="T3" fmla="*/ 152400 h 96"/>
              <a:gd name="T4" fmla="*/ 228600 w 144"/>
              <a:gd name="T5" fmla="*/ 0 h 96"/>
              <a:gd name="T6" fmla="*/ 228600 w 144"/>
              <a:gd name="T7" fmla="*/ 152400 h 96"/>
              <a:gd name="T8" fmla="*/ 0 w 144"/>
              <a:gd name="T9" fmla="*/ 0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96">
                <a:moveTo>
                  <a:pt x="0" y="0"/>
                </a:moveTo>
                <a:lnTo>
                  <a:pt x="0" y="96"/>
                </a:lnTo>
                <a:lnTo>
                  <a:pt x="144" y="0"/>
                </a:lnTo>
                <a:lnTo>
                  <a:pt x="144" y="96"/>
                </a:lnTo>
                <a:lnTo>
                  <a:pt x="0" y="0"/>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6" name="Freeform 2089"/>
          <p:cNvSpPr>
            <a:spLocks/>
          </p:cNvSpPr>
          <p:nvPr/>
        </p:nvSpPr>
        <p:spPr bwMode="auto">
          <a:xfrm>
            <a:off x="6750049" y="3940838"/>
            <a:ext cx="304800" cy="685800"/>
          </a:xfrm>
          <a:custGeom>
            <a:avLst/>
            <a:gdLst>
              <a:gd name="T0" fmla="*/ 304800 w 192"/>
              <a:gd name="T1" fmla="*/ 0 h 432"/>
              <a:gd name="T2" fmla="*/ 304800 w 192"/>
              <a:gd name="T3" fmla="*/ 685800 h 432"/>
              <a:gd name="T4" fmla="*/ 0 w 192"/>
              <a:gd name="T5" fmla="*/ 685800 h 432"/>
              <a:gd name="T6" fmla="*/ 0 60000 65536"/>
              <a:gd name="T7" fmla="*/ 0 60000 65536"/>
              <a:gd name="T8" fmla="*/ 0 60000 65536"/>
            </a:gdLst>
            <a:ahLst/>
            <a:cxnLst>
              <a:cxn ang="T6">
                <a:pos x="T0" y="T1"/>
              </a:cxn>
              <a:cxn ang="T7">
                <a:pos x="T2" y="T3"/>
              </a:cxn>
              <a:cxn ang="T8">
                <a:pos x="T4" y="T5"/>
              </a:cxn>
            </a:cxnLst>
            <a:rect l="0" t="0" r="r" b="b"/>
            <a:pathLst>
              <a:path w="192" h="432">
                <a:moveTo>
                  <a:pt x="192" y="0"/>
                </a:moveTo>
                <a:lnTo>
                  <a:pt x="192" y="432"/>
                </a:lnTo>
                <a:lnTo>
                  <a:pt x="0" y="432"/>
                </a:lnTo>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7" name="Freeform 2090"/>
          <p:cNvSpPr>
            <a:spLocks/>
          </p:cNvSpPr>
          <p:nvPr/>
        </p:nvSpPr>
        <p:spPr bwMode="auto">
          <a:xfrm>
            <a:off x="4721225" y="2950239"/>
            <a:ext cx="1343025" cy="1300163"/>
          </a:xfrm>
          <a:custGeom>
            <a:avLst/>
            <a:gdLst>
              <a:gd name="T0" fmla="*/ 1343025 w 720"/>
              <a:gd name="T1" fmla="*/ 228600 h 819"/>
              <a:gd name="T2" fmla="*/ 0 w 720"/>
              <a:gd name="T3" fmla="*/ 0 h 819"/>
              <a:gd name="T4" fmla="*/ 7461 w 720"/>
              <a:gd name="T5" fmla="*/ 1300163 h 819"/>
              <a:gd name="T6" fmla="*/ 1343025 w 720"/>
              <a:gd name="T7" fmla="*/ 1295400 h 819"/>
              <a:gd name="T8" fmla="*/ 1343025 w 720"/>
              <a:gd name="T9" fmla="*/ 228600 h 8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0" h="819">
                <a:moveTo>
                  <a:pt x="720" y="144"/>
                </a:moveTo>
                <a:lnTo>
                  <a:pt x="0" y="0"/>
                </a:lnTo>
                <a:lnTo>
                  <a:pt x="4" y="819"/>
                </a:lnTo>
                <a:lnTo>
                  <a:pt x="720" y="816"/>
                </a:lnTo>
                <a:lnTo>
                  <a:pt x="720" y="144"/>
                </a:lnTo>
                <a:close/>
              </a:path>
            </a:pathLst>
          </a:custGeom>
          <a:noFill/>
          <a:ln w="254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8" name="Text Box 2091"/>
          <p:cNvSpPr txBox="1">
            <a:spLocks noChangeArrowheads="1"/>
          </p:cNvSpPr>
          <p:nvPr/>
        </p:nvSpPr>
        <p:spPr bwMode="auto">
          <a:xfrm>
            <a:off x="6445250" y="4702838"/>
            <a:ext cx="415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rgbClr val="FF0000"/>
                </a:solidFill>
              </a:rPr>
              <a:t>IBH</a:t>
            </a:r>
          </a:p>
        </p:txBody>
      </p:sp>
      <p:sp>
        <p:nvSpPr>
          <p:cNvPr id="23589" name="Oval 2092"/>
          <p:cNvSpPr>
            <a:spLocks noChangeArrowheads="1"/>
          </p:cNvSpPr>
          <p:nvPr/>
        </p:nvSpPr>
        <p:spPr bwMode="auto">
          <a:xfrm>
            <a:off x="8274049" y="4382164"/>
            <a:ext cx="328612"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TTXM</a:t>
            </a:r>
          </a:p>
        </p:txBody>
      </p:sp>
      <p:sp>
        <p:nvSpPr>
          <p:cNvPr id="23590" name="Oval 2093"/>
          <p:cNvSpPr>
            <a:spLocks noChangeArrowheads="1"/>
          </p:cNvSpPr>
          <p:nvPr/>
        </p:nvSpPr>
        <p:spPr bwMode="auto">
          <a:xfrm>
            <a:off x="7161212" y="4396451"/>
            <a:ext cx="328613" cy="334962"/>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CTD</a:t>
            </a:r>
          </a:p>
        </p:txBody>
      </p:sp>
      <p:sp>
        <p:nvSpPr>
          <p:cNvPr id="23591" name="Oval 2094"/>
          <p:cNvSpPr>
            <a:spLocks noChangeArrowheads="1"/>
          </p:cNvSpPr>
          <p:nvPr/>
        </p:nvSpPr>
        <p:spPr bwMode="auto">
          <a:xfrm>
            <a:off x="7162799" y="4066251"/>
            <a:ext cx="328612" cy="334962"/>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CPD</a:t>
            </a:r>
          </a:p>
        </p:txBody>
      </p:sp>
      <p:sp>
        <p:nvSpPr>
          <p:cNvPr id="23592" name="Line 2095"/>
          <p:cNvSpPr>
            <a:spLocks noChangeShapeType="1"/>
          </p:cNvSpPr>
          <p:nvPr/>
        </p:nvSpPr>
        <p:spPr bwMode="auto">
          <a:xfrm flipV="1">
            <a:off x="8426449" y="4161501"/>
            <a:ext cx="0" cy="22066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93" name="Oval 2096"/>
          <p:cNvSpPr>
            <a:spLocks noChangeArrowheads="1"/>
          </p:cNvSpPr>
          <p:nvPr/>
        </p:nvSpPr>
        <p:spPr bwMode="auto">
          <a:xfrm>
            <a:off x="5732462" y="2686714"/>
            <a:ext cx="328613"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CTIM</a:t>
            </a:r>
          </a:p>
        </p:txBody>
      </p:sp>
      <p:sp>
        <p:nvSpPr>
          <p:cNvPr id="23594" name="Oval 2097"/>
          <p:cNvSpPr>
            <a:spLocks noChangeArrowheads="1"/>
          </p:cNvSpPr>
          <p:nvPr/>
        </p:nvSpPr>
        <p:spPr bwMode="auto">
          <a:xfrm>
            <a:off x="7231062" y="3545551"/>
            <a:ext cx="328613" cy="334962"/>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TNH</a:t>
            </a:r>
          </a:p>
        </p:txBody>
      </p:sp>
      <p:sp>
        <p:nvSpPr>
          <p:cNvPr id="23595" name="Freeform 2098"/>
          <p:cNvSpPr>
            <a:spLocks/>
          </p:cNvSpPr>
          <p:nvPr/>
        </p:nvSpPr>
        <p:spPr bwMode="auto">
          <a:xfrm>
            <a:off x="7180261" y="3520151"/>
            <a:ext cx="165100" cy="381000"/>
          </a:xfrm>
          <a:custGeom>
            <a:avLst/>
            <a:gdLst>
              <a:gd name="T0" fmla="*/ 165100 w 104"/>
              <a:gd name="T1" fmla="*/ 304800 h 240"/>
              <a:gd name="T2" fmla="*/ 88900 w 104"/>
              <a:gd name="T3" fmla="*/ 381000 h 240"/>
              <a:gd name="T4" fmla="*/ 12700 w 104"/>
              <a:gd name="T5" fmla="*/ 304800 h 240"/>
              <a:gd name="T6" fmla="*/ 12700 w 104"/>
              <a:gd name="T7" fmla="*/ 76200 h 240"/>
              <a:gd name="T8" fmla="*/ 88900 w 104"/>
              <a:gd name="T9" fmla="*/ 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240">
                <a:moveTo>
                  <a:pt x="104" y="192"/>
                </a:moveTo>
                <a:cubicBezTo>
                  <a:pt x="88" y="216"/>
                  <a:pt x="72" y="240"/>
                  <a:pt x="56" y="240"/>
                </a:cubicBezTo>
                <a:cubicBezTo>
                  <a:pt x="40" y="240"/>
                  <a:pt x="16" y="224"/>
                  <a:pt x="8" y="192"/>
                </a:cubicBezTo>
                <a:cubicBezTo>
                  <a:pt x="0" y="160"/>
                  <a:pt x="0" y="80"/>
                  <a:pt x="8" y="48"/>
                </a:cubicBezTo>
                <a:cubicBezTo>
                  <a:pt x="16" y="16"/>
                  <a:pt x="36" y="8"/>
                  <a:pt x="56" y="0"/>
                </a:cubicBezTo>
              </a:path>
            </a:pathLst>
          </a:custGeom>
          <a:noFill/>
          <a:ln w="9525">
            <a:solidFill>
              <a:srgbClr val="FF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96" name="Line 2099"/>
          <p:cNvSpPr>
            <a:spLocks noChangeShapeType="1"/>
          </p:cNvSpPr>
          <p:nvPr/>
        </p:nvSpPr>
        <p:spPr bwMode="auto">
          <a:xfrm flipH="1" flipV="1">
            <a:off x="7131049" y="3940838"/>
            <a:ext cx="95250" cy="1524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97" name="Line 2100"/>
          <p:cNvSpPr>
            <a:spLocks noChangeShapeType="1"/>
          </p:cNvSpPr>
          <p:nvPr/>
        </p:nvSpPr>
        <p:spPr bwMode="auto">
          <a:xfrm>
            <a:off x="5897561" y="3021676"/>
            <a:ext cx="0" cy="2032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98" name="Text Box 2101"/>
          <p:cNvSpPr txBox="1">
            <a:spLocks noChangeArrowheads="1"/>
          </p:cNvSpPr>
          <p:nvPr/>
        </p:nvSpPr>
        <p:spPr bwMode="auto">
          <a:xfrm>
            <a:off x="6346825" y="1913602"/>
            <a:ext cx="4349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a:solidFill>
                  <a:srgbClr val="FF0000"/>
                </a:solidFill>
              </a:rPr>
              <a:t>SRV</a:t>
            </a:r>
          </a:p>
        </p:txBody>
      </p:sp>
      <p:sp>
        <p:nvSpPr>
          <p:cNvPr id="23599" name="Oval 2102"/>
          <p:cNvSpPr>
            <a:spLocks noChangeArrowheads="1"/>
          </p:cNvSpPr>
          <p:nvPr/>
        </p:nvSpPr>
        <p:spPr bwMode="auto">
          <a:xfrm>
            <a:off x="6613524" y="1404014"/>
            <a:ext cx="328612"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FPG2</a:t>
            </a:r>
          </a:p>
        </p:txBody>
      </p:sp>
      <p:sp>
        <p:nvSpPr>
          <p:cNvPr id="23600" name="Line 2103"/>
          <p:cNvSpPr>
            <a:spLocks noChangeShapeType="1"/>
          </p:cNvSpPr>
          <p:nvPr/>
        </p:nvSpPr>
        <p:spPr bwMode="auto">
          <a:xfrm flipV="1">
            <a:off x="6778624" y="1738976"/>
            <a:ext cx="0" cy="11906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01" name="Rectangle 2104"/>
          <p:cNvSpPr>
            <a:spLocks noChangeArrowheads="1"/>
          </p:cNvSpPr>
          <p:nvPr/>
        </p:nvSpPr>
        <p:spPr bwMode="auto">
          <a:xfrm>
            <a:off x="4387850" y="3648739"/>
            <a:ext cx="333375" cy="119063"/>
          </a:xfrm>
          <a:prstGeom prst="rect">
            <a:avLst/>
          </a:prstGeom>
          <a:noFill/>
          <a:ln w="25400">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23602" name="Oval 2105"/>
          <p:cNvSpPr>
            <a:spLocks noChangeArrowheads="1"/>
          </p:cNvSpPr>
          <p:nvPr/>
        </p:nvSpPr>
        <p:spPr bwMode="auto">
          <a:xfrm>
            <a:off x="3878262" y="4075776"/>
            <a:ext cx="328613" cy="334962"/>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DWATT</a:t>
            </a:r>
          </a:p>
        </p:txBody>
      </p:sp>
      <p:sp>
        <p:nvSpPr>
          <p:cNvPr id="23603" name="Rectangle 2106"/>
          <p:cNvSpPr>
            <a:spLocks noChangeArrowheads="1"/>
          </p:cNvSpPr>
          <p:nvPr/>
        </p:nvSpPr>
        <p:spPr bwMode="auto">
          <a:xfrm>
            <a:off x="3478211" y="3386801"/>
            <a:ext cx="914400" cy="641350"/>
          </a:xfrm>
          <a:prstGeom prst="rect">
            <a:avLst/>
          </a:prstGeom>
          <a:solidFill>
            <a:srgbClr val="C0C0C0"/>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23604" name="Text Box 2107"/>
          <p:cNvSpPr txBox="1">
            <a:spLocks noChangeArrowheads="1"/>
          </p:cNvSpPr>
          <p:nvPr/>
        </p:nvSpPr>
        <p:spPr bwMode="auto">
          <a:xfrm>
            <a:off x="3671887" y="3245514"/>
            <a:ext cx="53022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4800">
                <a:solidFill>
                  <a:srgbClr val="000000"/>
                </a:solidFill>
              </a:rPr>
              <a:t>~</a:t>
            </a:r>
          </a:p>
        </p:txBody>
      </p:sp>
      <p:sp>
        <p:nvSpPr>
          <p:cNvPr id="23606" name="Oval 2109"/>
          <p:cNvSpPr>
            <a:spLocks noChangeArrowheads="1"/>
          </p:cNvSpPr>
          <p:nvPr/>
        </p:nvSpPr>
        <p:spPr bwMode="auto">
          <a:xfrm>
            <a:off x="4889499" y="2575589"/>
            <a:ext cx="328612"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AFPCS</a:t>
            </a:r>
          </a:p>
        </p:txBody>
      </p:sp>
      <p:sp>
        <p:nvSpPr>
          <p:cNvPr id="23607" name="Oval 2110"/>
          <p:cNvSpPr>
            <a:spLocks noChangeArrowheads="1"/>
          </p:cNvSpPr>
          <p:nvPr/>
        </p:nvSpPr>
        <p:spPr bwMode="auto">
          <a:xfrm>
            <a:off x="4899024" y="1994564"/>
            <a:ext cx="328612" cy="334963"/>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AFPAP</a:t>
            </a:r>
          </a:p>
        </p:txBody>
      </p:sp>
      <p:sp>
        <p:nvSpPr>
          <p:cNvPr id="23608" name="Freeform 2111"/>
          <p:cNvSpPr>
            <a:spLocks/>
          </p:cNvSpPr>
          <p:nvPr/>
        </p:nvSpPr>
        <p:spPr bwMode="auto">
          <a:xfrm>
            <a:off x="5591174" y="2885152"/>
            <a:ext cx="74612" cy="363537"/>
          </a:xfrm>
          <a:custGeom>
            <a:avLst/>
            <a:gdLst>
              <a:gd name="T0" fmla="*/ 74612 w 47"/>
              <a:gd name="T1" fmla="*/ 0 h 229"/>
              <a:gd name="T2" fmla="*/ 74612 w 47"/>
              <a:gd name="T3" fmla="*/ 363537 h 229"/>
              <a:gd name="T4" fmla="*/ 0 w 47"/>
              <a:gd name="T5" fmla="*/ 363537 h 229"/>
              <a:gd name="T6" fmla="*/ 0 60000 65536"/>
              <a:gd name="T7" fmla="*/ 0 60000 65536"/>
              <a:gd name="T8" fmla="*/ 0 60000 65536"/>
            </a:gdLst>
            <a:ahLst/>
            <a:cxnLst>
              <a:cxn ang="T6">
                <a:pos x="T0" y="T1"/>
              </a:cxn>
              <a:cxn ang="T7">
                <a:pos x="T2" y="T3"/>
              </a:cxn>
              <a:cxn ang="T8">
                <a:pos x="T4" y="T5"/>
              </a:cxn>
            </a:cxnLst>
            <a:rect l="0" t="0" r="r" b="b"/>
            <a:pathLst>
              <a:path w="47" h="229">
                <a:moveTo>
                  <a:pt x="47" y="0"/>
                </a:moveTo>
                <a:lnTo>
                  <a:pt x="47" y="229"/>
                </a:lnTo>
                <a:lnTo>
                  <a:pt x="0" y="229"/>
                </a:lnTo>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09" name="Freeform 2112"/>
          <p:cNvSpPr>
            <a:spLocks/>
          </p:cNvSpPr>
          <p:nvPr/>
        </p:nvSpPr>
        <p:spPr bwMode="auto">
          <a:xfrm>
            <a:off x="5227636" y="2721639"/>
            <a:ext cx="438150" cy="188913"/>
          </a:xfrm>
          <a:custGeom>
            <a:avLst/>
            <a:gdLst>
              <a:gd name="T0" fmla="*/ 438150 w 165"/>
              <a:gd name="T1" fmla="*/ 188913 h 103"/>
              <a:gd name="T2" fmla="*/ 438150 w 165"/>
              <a:gd name="T3" fmla="*/ 0 h 103"/>
              <a:gd name="T4" fmla="*/ 0 w 165"/>
              <a:gd name="T5" fmla="*/ 0 h 103"/>
              <a:gd name="T6" fmla="*/ 0 60000 65536"/>
              <a:gd name="T7" fmla="*/ 0 60000 65536"/>
              <a:gd name="T8" fmla="*/ 0 60000 65536"/>
            </a:gdLst>
            <a:ahLst/>
            <a:cxnLst>
              <a:cxn ang="T6">
                <a:pos x="T0" y="T1"/>
              </a:cxn>
              <a:cxn ang="T7">
                <a:pos x="T2" y="T3"/>
              </a:cxn>
              <a:cxn ang="T8">
                <a:pos x="T4" y="T5"/>
              </a:cxn>
            </a:cxnLst>
            <a:rect l="0" t="0" r="r" b="b"/>
            <a:pathLst>
              <a:path w="165" h="103">
                <a:moveTo>
                  <a:pt x="165" y="103"/>
                </a:moveTo>
                <a:lnTo>
                  <a:pt x="165" y="0"/>
                </a:lnTo>
                <a:lnTo>
                  <a:pt x="0" y="0"/>
                </a:lnTo>
              </a:path>
            </a:pathLst>
          </a:cu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10" name="Line 2113"/>
          <p:cNvSpPr>
            <a:spLocks noChangeShapeType="1"/>
          </p:cNvSpPr>
          <p:nvPr/>
        </p:nvSpPr>
        <p:spPr bwMode="auto">
          <a:xfrm flipH="1" flipV="1">
            <a:off x="5060949" y="2329526"/>
            <a:ext cx="0" cy="246062"/>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3611" name="Group 2114"/>
          <p:cNvGrpSpPr>
            <a:grpSpLocks/>
          </p:cNvGrpSpPr>
          <p:nvPr/>
        </p:nvGrpSpPr>
        <p:grpSpPr bwMode="auto">
          <a:xfrm>
            <a:off x="5149849" y="3110576"/>
            <a:ext cx="1371600" cy="1516062"/>
            <a:chOff x="1521" y="1878"/>
            <a:chExt cx="864" cy="955"/>
          </a:xfrm>
        </p:grpSpPr>
        <p:sp>
          <p:nvSpPr>
            <p:cNvPr id="23629" name="Freeform 2115"/>
            <p:cNvSpPr>
              <a:spLocks/>
            </p:cNvSpPr>
            <p:nvPr/>
          </p:nvSpPr>
          <p:spPr bwMode="auto">
            <a:xfrm>
              <a:off x="1521" y="1878"/>
              <a:ext cx="864" cy="955"/>
            </a:xfrm>
            <a:custGeom>
              <a:avLst/>
              <a:gdLst>
                <a:gd name="T0" fmla="*/ 864 w 864"/>
                <a:gd name="T1" fmla="*/ 955 h 955"/>
                <a:gd name="T2" fmla="*/ 0 w 864"/>
                <a:gd name="T3" fmla="*/ 955 h 955"/>
                <a:gd name="T4" fmla="*/ 2 w 864"/>
                <a:gd name="T5" fmla="*/ 0 h 955"/>
                <a:gd name="T6" fmla="*/ 120 w 864"/>
                <a:gd name="T7" fmla="*/ 0 h 95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4" h="955">
                  <a:moveTo>
                    <a:pt x="864" y="955"/>
                  </a:moveTo>
                  <a:lnTo>
                    <a:pt x="0" y="955"/>
                  </a:lnTo>
                  <a:lnTo>
                    <a:pt x="2" y="0"/>
                  </a:lnTo>
                  <a:lnTo>
                    <a:pt x="120" y="0"/>
                  </a:lnTo>
                </a:path>
              </a:pathLst>
            </a:custGeom>
            <a:noFill/>
            <a:ln w="25400">
              <a:solidFill>
                <a:srgbClr val="000000"/>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3630" name="Group 2116"/>
            <p:cNvGrpSpPr>
              <a:grpSpLocks/>
            </p:cNvGrpSpPr>
            <p:nvPr/>
          </p:nvGrpSpPr>
          <p:grpSpPr bwMode="auto">
            <a:xfrm>
              <a:off x="1521" y="1961"/>
              <a:ext cx="111" cy="584"/>
              <a:chOff x="1521" y="1961"/>
              <a:chExt cx="48" cy="584"/>
            </a:xfrm>
          </p:grpSpPr>
          <p:sp>
            <p:nvSpPr>
              <p:cNvPr id="23631" name="Line 2117"/>
              <p:cNvSpPr>
                <a:spLocks noChangeShapeType="1"/>
              </p:cNvSpPr>
              <p:nvPr/>
            </p:nvSpPr>
            <p:spPr bwMode="auto">
              <a:xfrm flipV="1">
                <a:off x="1521" y="2065"/>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32" name="Line 2118"/>
              <p:cNvSpPr>
                <a:spLocks noChangeShapeType="1"/>
              </p:cNvSpPr>
              <p:nvPr/>
            </p:nvSpPr>
            <p:spPr bwMode="auto">
              <a:xfrm flipV="1">
                <a:off x="1521" y="2161"/>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33" name="Line 2119"/>
              <p:cNvSpPr>
                <a:spLocks noChangeShapeType="1"/>
              </p:cNvSpPr>
              <p:nvPr/>
            </p:nvSpPr>
            <p:spPr bwMode="auto">
              <a:xfrm flipV="1">
                <a:off x="1521" y="2257"/>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34" name="Line 2120"/>
              <p:cNvSpPr>
                <a:spLocks noChangeShapeType="1"/>
              </p:cNvSpPr>
              <p:nvPr/>
            </p:nvSpPr>
            <p:spPr bwMode="auto">
              <a:xfrm flipV="1">
                <a:off x="1521" y="2353"/>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35" name="Line 2121"/>
              <p:cNvSpPr>
                <a:spLocks noChangeShapeType="1"/>
              </p:cNvSpPr>
              <p:nvPr/>
            </p:nvSpPr>
            <p:spPr bwMode="auto">
              <a:xfrm flipV="1">
                <a:off x="1521" y="2449"/>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36" name="Line 2122"/>
              <p:cNvSpPr>
                <a:spLocks noChangeShapeType="1"/>
              </p:cNvSpPr>
              <p:nvPr/>
            </p:nvSpPr>
            <p:spPr bwMode="auto">
              <a:xfrm flipV="1">
                <a:off x="1521" y="2545"/>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37" name="Line 2123"/>
              <p:cNvSpPr>
                <a:spLocks noChangeShapeType="1"/>
              </p:cNvSpPr>
              <p:nvPr/>
            </p:nvSpPr>
            <p:spPr bwMode="auto">
              <a:xfrm flipV="1">
                <a:off x="1521" y="1961"/>
                <a:ext cx="48"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23612" name="Freeform 2124" descr="Outlined diamond"/>
          <p:cNvSpPr>
            <a:spLocks/>
          </p:cNvSpPr>
          <p:nvPr/>
        </p:nvSpPr>
        <p:spPr bwMode="auto">
          <a:xfrm>
            <a:off x="4827586" y="2975639"/>
            <a:ext cx="95250" cy="1262063"/>
          </a:xfrm>
          <a:custGeom>
            <a:avLst/>
            <a:gdLst>
              <a:gd name="T0" fmla="*/ 0 w 55"/>
              <a:gd name="T1" fmla="*/ 0 h 813"/>
              <a:gd name="T2" fmla="*/ 0 w 55"/>
              <a:gd name="T3" fmla="*/ 1262063 h 813"/>
              <a:gd name="T4" fmla="*/ 95250 w 55"/>
              <a:gd name="T5" fmla="*/ 1262063 h 813"/>
              <a:gd name="T6" fmla="*/ 95250 w 55"/>
              <a:gd name="T7" fmla="*/ 24838 h 813"/>
              <a:gd name="T8" fmla="*/ 0 w 55"/>
              <a:gd name="T9" fmla="*/ 0 h 8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 h="813">
                <a:moveTo>
                  <a:pt x="0" y="0"/>
                </a:moveTo>
                <a:lnTo>
                  <a:pt x="0" y="813"/>
                </a:lnTo>
                <a:lnTo>
                  <a:pt x="55" y="813"/>
                </a:lnTo>
                <a:lnTo>
                  <a:pt x="55" y="16"/>
                </a:lnTo>
                <a:lnTo>
                  <a:pt x="0" y="0"/>
                </a:lnTo>
                <a:close/>
              </a:path>
            </a:pathLst>
          </a:custGeom>
          <a:blipFill dpi="0" rotWithShape="0">
            <a:blip r:embed="rId3"/>
            <a:srcRect/>
            <a:tile tx="0" ty="0" sx="100000" sy="100000" flip="none" algn="tl"/>
          </a:blip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13" name="Oval 2125"/>
          <p:cNvSpPr>
            <a:spLocks noChangeArrowheads="1"/>
          </p:cNvSpPr>
          <p:nvPr/>
        </p:nvSpPr>
        <p:spPr bwMode="auto">
          <a:xfrm>
            <a:off x="4914899" y="1475451"/>
            <a:ext cx="328612" cy="334962"/>
          </a:xfrm>
          <a:prstGeom prst="ellipse">
            <a:avLst/>
          </a:prstGeom>
          <a:solidFill>
            <a:schemeClr val="bg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800">
                <a:solidFill>
                  <a:srgbClr val="FF0000"/>
                </a:solidFill>
              </a:rPr>
              <a:t>ATID</a:t>
            </a:r>
          </a:p>
        </p:txBody>
      </p:sp>
      <p:sp>
        <p:nvSpPr>
          <p:cNvPr id="23614" name="Text Box 2126"/>
          <p:cNvSpPr txBox="1">
            <a:spLocks noChangeArrowheads="1"/>
          </p:cNvSpPr>
          <p:nvPr/>
        </p:nvSpPr>
        <p:spPr bwMode="auto">
          <a:xfrm>
            <a:off x="4084637" y="4283739"/>
            <a:ext cx="3968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(MW)</a:t>
            </a:r>
          </a:p>
        </p:txBody>
      </p:sp>
      <p:sp>
        <p:nvSpPr>
          <p:cNvPr id="23615" name="Text Box 2127"/>
          <p:cNvSpPr txBox="1">
            <a:spLocks noChangeArrowheads="1"/>
          </p:cNvSpPr>
          <p:nvPr/>
        </p:nvSpPr>
        <p:spPr bwMode="auto">
          <a:xfrm>
            <a:off x="5113336" y="2242214"/>
            <a:ext cx="427038"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(inHg)</a:t>
            </a:r>
          </a:p>
        </p:txBody>
      </p:sp>
      <p:sp>
        <p:nvSpPr>
          <p:cNvPr id="23616" name="Text Box 2128"/>
          <p:cNvSpPr txBox="1">
            <a:spLocks noChangeArrowheads="1"/>
          </p:cNvSpPr>
          <p:nvPr/>
        </p:nvSpPr>
        <p:spPr bwMode="auto">
          <a:xfrm>
            <a:off x="5183187" y="1662776"/>
            <a:ext cx="27781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(F)</a:t>
            </a:r>
          </a:p>
        </p:txBody>
      </p:sp>
      <p:sp>
        <p:nvSpPr>
          <p:cNvPr id="23617" name="Text Box 2129"/>
          <p:cNvSpPr txBox="1">
            <a:spLocks noChangeArrowheads="1"/>
          </p:cNvSpPr>
          <p:nvPr/>
        </p:nvSpPr>
        <p:spPr bwMode="auto">
          <a:xfrm>
            <a:off x="7392987" y="4261514"/>
            <a:ext cx="404813"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(psig)</a:t>
            </a:r>
          </a:p>
        </p:txBody>
      </p:sp>
      <p:sp>
        <p:nvSpPr>
          <p:cNvPr id="23618" name="Text Box 2130"/>
          <p:cNvSpPr txBox="1">
            <a:spLocks noChangeArrowheads="1"/>
          </p:cNvSpPr>
          <p:nvPr/>
        </p:nvSpPr>
        <p:spPr bwMode="auto">
          <a:xfrm>
            <a:off x="7407274" y="4590126"/>
            <a:ext cx="277812"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(F)</a:t>
            </a:r>
          </a:p>
        </p:txBody>
      </p:sp>
      <p:sp>
        <p:nvSpPr>
          <p:cNvPr id="23619" name="Text Box 2131"/>
          <p:cNvSpPr txBox="1">
            <a:spLocks noChangeArrowheads="1"/>
          </p:cNvSpPr>
          <p:nvPr/>
        </p:nvSpPr>
        <p:spPr bwMode="auto">
          <a:xfrm>
            <a:off x="7408862" y="3799551"/>
            <a:ext cx="31432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a:t>
            </a:r>
          </a:p>
        </p:txBody>
      </p:sp>
      <p:sp>
        <p:nvSpPr>
          <p:cNvPr id="23620" name="Text Box 2132"/>
          <p:cNvSpPr txBox="1">
            <a:spLocks noChangeArrowheads="1"/>
          </p:cNvSpPr>
          <p:nvPr/>
        </p:nvSpPr>
        <p:spPr bwMode="auto">
          <a:xfrm>
            <a:off x="5980112" y="2899439"/>
            <a:ext cx="277813"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(F)</a:t>
            </a:r>
          </a:p>
        </p:txBody>
      </p:sp>
      <p:sp>
        <p:nvSpPr>
          <p:cNvPr id="23621" name="Text Box 2133"/>
          <p:cNvSpPr txBox="1">
            <a:spLocks noChangeArrowheads="1"/>
          </p:cNvSpPr>
          <p:nvPr/>
        </p:nvSpPr>
        <p:spPr bwMode="auto">
          <a:xfrm>
            <a:off x="5127625" y="2761326"/>
            <a:ext cx="492125"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(inH2O)</a:t>
            </a:r>
          </a:p>
        </p:txBody>
      </p:sp>
      <p:sp>
        <p:nvSpPr>
          <p:cNvPr id="23622" name="Text Box 2134"/>
          <p:cNvSpPr txBox="1">
            <a:spLocks noChangeArrowheads="1"/>
          </p:cNvSpPr>
          <p:nvPr/>
        </p:nvSpPr>
        <p:spPr bwMode="auto">
          <a:xfrm>
            <a:off x="6881812" y="1596101"/>
            <a:ext cx="40481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(psig)</a:t>
            </a:r>
          </a:p>
        </p:txBody>
      </p:sp>
      <p:sp>
        <p:nvSpPr>
          <p:cNvPr id="23623" name="Text Box 2135"/>
          <p:cNvSpPr txBox="1">
            <a:spLocks noChangeArrowheads="1"/>
          </p:cNvSpPr>
          <p:nvPr/>
        </p:nvSpPr>
        <p:spPr bwMode="auto">
          <a:xfrm>
            <a:off x="8535987" y="4580601"/>
            <a:ext cx="277813"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solidFill>
                  <a:srgbClr val="FF0000"/>
                </a:solidFill>
              </a:rPr>
              <a:t>(F)</a:t>
            </a:r>
          </a:p>
        </p:txBody>
      </p:sp>
      <p:sp>
        <p:nvSpPr>
          <p:cNvPr id="23624" name="Text Box 2136"/>
          <p:cNvSpPr txBox="1">
            <a:spLocks noChangeArrowheads="1"/>
          </p:cNvSpPr>
          <p:nvPr/>
        </p:nvSpPr>
        <p:spPr bwMode="auto">
          <a:xfrm>
            <a:off x="6432549" y="3563013"/>
            <a:ext cx="2905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400" b="1">
                <a:solidFill>
                  <a:srgbClr val="000000"/>
                </a:solidFill>
              </a:rPr>
              <a:t>C</a:t>
            </a:r>
          </a:p>
        </p:txBody>
      </p:sp>
      <p:sp>
        <p:nvSpPr>
          <p:cNvPr id="23625" name="Text Box 2137"/>
          <p:cNvSpPr txBox="1">
            <a:spLocks noChangeArrowheads="1"/>
          </p:cNvSpPr>
          <p:nvPr/>
        </p:nvSpPr>
        <p:spPr bwMode="auto">
          <a:xfrm>
            <a:off x="7121525" y="2861338"/>
            <a:ext cx="6365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400" b="1">
                <a:solidFill>
                  <a:srgbClr val="000000"/>
                </a:solidFill>
              </a:rPr>
              <a:t>Comb</a:t>
            </a:r>
          </a:p>
        </p:txBody>
      </p:sp>
      <p:sp>
        <p:nvSpPr>
          <p:cNvPr id="23626" name="Text Box 2138"/>
          <p:cNvSpPr txBox="1">
            <a:spLocks noChangeArrowheads="1"/>
          </p:cNvSpPr>
          <p:nvPr/>
        </p:nvSpPr>
        <p:spPr bwMode="auto">
          <a:xfrm>
            <a:off x="7826375" y="3563013"/>
            <a:ext cx="2762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400" b="1">
                <a:solidFill>
                  <a:srgbClr val="000000"/>
                </a:solidFill>
              </a:rPr>
              <a:t>T</a:t>
            </a:r>
          </a:p>
        </p:txBody>
      </p:sp>
      <p:sp>
        <p:nvSpPr>
          <p:cNvPr id="23627" name="Text Box 2142"/>
          <p:cNvSpPr txBox="1">
            <a:spLocks noChangeArrowheads="1"/>
          </p:cNvSpPr>
          <p:nvPr/>
        </p:nvSpPr>
        <p:spPr bwMode="auto">
          <a:xfrm>
            <a:off x="1192213" y="4210714"/>
            <a:ext cx="3800475"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dirty="0"/>
              <a:t>Sensor Signals:</a:t>
            </a:r>
          </a:p>
          <a:p>
            <a:r>
              <a:rPr lang="en-US" altLang="en-US" dirty="0"/>
              <a:t>ATID – Ambient Temperature</a:t>
            </a:r>
          </a:p>
          <a:p>
            <a:r>
              <a:rPr lang="en-US" altLang="en-US" dirty="0"/>
              <a:t>AFPAP – Ambient Pressure</a:t>
            </a:r>
          </a:p>
          <a:p>
            <a:r>
              <a:rPr lang="en-US" altLang="en-US" dirty="0"/>
              <a:t>AFPCS – Inlet Pressure Drop</a:t>
            </a:r>
          </a:p>
          <a:p>
            <a:r>
              <a:rPr lang="en-US" altLang="en-US" dirty="0"/>
              <a:t>CTIM – Compressor Inlet Temperature</a:t>
            </a:r>
          </a:p>
          <a:p>
            <a:r>
              <a:rPr lang="en-US" altLang="en-US" dirty="0"/>
              <a:t>DWATT – Generator Output</a:t>
            </a:r>
          </a:p>
          <a:p>
            <a:r>
              <a:rPr lang="en-US" altLang="en-US" dirty="0"/>
              <a:t>FPG2 – P2 Fuel Pressure</a:t>
            </a:r>
          </a:p>
          <a:p>
            <a:r>
              <a:rPr lang="en-US" altLang="en-US" dirty="0"/>
              <a:t>TNH – Shaft Speed as % of Design Point</a:t>
            </a:r>
          </a:p>
          <a:p>
            <a:r>
              <a:rPr lang="en-US" altLang="en-US" dirty="0"/>
              <a:t>CPD – Compressor Discharge Pressure</a:t>
            </a:r>
          </a:p>
          <a:p>
            <a:r>
              <a:rPr lang="en-US" altLang="en-US" dirty="0"/>
              <a:t>CTD – Compressor Discharge Temperature</a:t>
            </a:r>
          </a:p>
          <a:p>
            <a:r>
              <a:rPr lang="en-US" altLang="en-US" dirty="0"/>
              <a:t>TTXM – Exhaust Gas Temperature</a:t>
            </a:r>
          </a:p>
        </p:txBody>
      </p:sp>
      <p:sp>
        <p:nvSpPr>
          <p:cNvPr id="23628" name="Rectangle 2143"/>
          <p:cNvSpPr>
            <a:spLocks noChangeArrowheads="1"/>
          </p:cNvSpPr>
          <p:nvPr/>
        </p:nvSpPr>
        <p:spPr bwMode="auto">
          <a:xfrm>
            <a:off x="311944" y="185231"/>
            <a:ext cx="8818562" cy="522288"/>
          </a:xfrm>
          <a:prstGeom prst="rect">
            <a:avLst/>
          </a:prstGeom>
        </p:spPr>
        <p:txBody>
          <a:bodyPr vert="horz" lIns="0" tIns="0" rIns="0" bIns="0" rtlCol="0" anchor="t" anchorCtr="0">
            <a:noAutofit/>
          </a:bodyPr>
          <a:lstStyle/>
          <a:p>
            <a:pPr>
              <a:lnSpc>
                <a:spcPct val="90000"/>
              </a:lnSpc>
              <a:spcBef>
                <a:spcPct val="0"/>
              </a:spcBef>
            </a:pPr>
            <a:r>
              <a:rPr lang="en-US" altLang="en-US" sz="3200" dirty="0">
                <a:solidFill>
                  <a:schemeClr val="accent2"/>
                </a:solidFill>
                <a:latin typeface="+mj-lt"/>
                <a:ea typeface="+mj-ea"/>
                <a:cs typeface="+mj-cs"/>
              </a:rPr>
              <a:t>Gas Turbine Effectors / Sensors</a:t>
            </a:r>
          </a:p>
        </p:txBody>
      </p:sp>
      <p:sp>
        <p:nvSpPr>
          <p:cNvPr id="93" name="Text Box 63"/>
          <p:cNvSpPr txBox="1">
            <a:spLocks noChangeArrowheads="1"/>
          </p:cNvSpPr>
          <p:nvPr/>
        </p:nvSpPr>
        <p:spPr bwMode="auto">
          <a:xfrm>
            <a:off x="8435975" y="3257420"/>
            <a:ext cx="2432076" cy="86177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000" b="1" u="sng" dirty="0">
                <a:solidFill>
                  <a:srgbClr val="FF0000"/>
                </a:solidFill>
              </a:rPr>
              <a:t>Other Critical Control Parameters:</a:t>
            </a:r>
          </a:p>
          <a:p>
            <a:r>
              <a:rPr lang="en-US" altLang="en-US" sz="1000" dirty="0">
                <a:solidFill>
                  <a:srgbClr val="FF0000"/>
                </a:solidFill>
              </a:rPr>
              <a:t>TFIRE- Firing temperature</a:t>
            </a:r>
          </a:p>
          <a:p>
            <a:r>
              <a:rPr lang="en-US" altLang="en-US" sz="1000" dirty="0">
                <a:solidFill>
                  <a:srgbClr val="FF0000"/>
                </a:solidFill>
              </a:rPr>
              <a:t>CRT – Combustion reference temperature</a:t>
            </a:r>
          </a:p>
          <a:p>
            <a:r>
              <a:rPr lang="en-US" altLang="en-US" sz="1000" dirty="0">
                <a:solidFill>
                  <a:srgbClr val="FF0000"/>
                </a:solidFill>
              </a:rPr>
              <a:t>TNHCOR – inlet temp-corrected speed</a:t>
            </a:r>
          </a:p>
          <a:p>
            <a:r>
              <a:rPr lang="en-US" altLang="en-US" sz="1000" dirty="0">
                <a:solidFill>
                  <a:srgbClr val="FF0000"/>
                </a:solidFill>
              </a:rPr>
              <a:t>CPR – compressor pressure ratio</a:t>
            </a:r>
          </a:p>
        </p:txBody>
      </p:sp>
    </p:spTree>
    <p:extLst>
      <p:ext uri="{BB962C8B-B14F-4D97-AF65-F5344CB8AC3E}">
        <p14:creationId xmlns:p14="http://schemas.microsoft.com/office/powerpoint/2010/main" val="2596356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0D66A1-610B-4265-B864-4A40BAAC46C1}" type="datetime3">
              <a:rPr lang="en-US" smtClean="0"/>
              <a:t>7 March 2017</a:t>
            </a:fld>
            <a:endParaRPr lang="en-CA" dirty="0"/>
          </a:p>
        </p:txBody>
      </p:sp>
      <p:sp>
        <p:nvSpPr>
          <p:cNvPr id="4" name="Slide Number Placeholder 3"/>
          <p:cNvSpPr>
            <a:spLocks noGrp="1"/>
          </p:cNvSpPr>
          <p:nvPr>
            <p:ph type="sldNum" sz="quarter" idx="12"/>
          </p:nvPr>
        </p:nvSpPr>
        <p:spPr/>
        <p:txBody>
          <a:bodyPr/>
          <a:lstStyle/>
          <a:p>
            <a:fld id="{00E6A5BD-C011-4A45-AA3A-201790FB7F2B}" type="slidenum">
              <a:rPr lang="en-CA" smtClean="0"/>
              <a:pPr/>
              <a:t>11</a:t>
            </a:fld>
            <a:endParaRPr lang="en-CA" dirty="0"/>
          </a:p>
        </p:txBody>
      </p:sp>
      <p:sp>
        <p:nvSpPr>
          <p:cNvPr id="5" name="Title 4"/>
          <p:cNvSpPr>
            <a:spLocks noGrp="1"/>
          </p:cNvSpPr>
          <p:nvPr>
            <p:ph type="title"/>
          </p:nvPr>
        </p:nvSpPr>
        <p:spPr/>
        <p:txBody>
          <a:bodyPr/>
          <a:lstStyle/>
          <a:p>
            <a:r>
              <a:rPr lang="en-US" dirty="0"/>
              <a:t>Quiz - 1</a:t>
            </a:r>
          </a:p>
        </p:txBody>
      </p:sp>
      <p:sp>
        <p:nvSpPr>
          <p:cNvPr id="6" name="TextBox 5"/>
          <p:cNvSpPr txBox="1"/>
          <p:nvPr/>
        </p:nvSpPr>
        <p:spPr>
          <a:xfrm>
            <a:off x="805343" y="1325461"/>
            <a:ext cx="8741175" cy="1938992"/>
          </a:xfrm>
          <a:prstGeom prst="rect">
            <a:avLst/>
          </a:prstGeom>
          <a:noFill/>
        </p:spPr>
        <p:txBody>
          <a:bodyPr wrap="none" lIns="0" tIns="0" rIns="0" bIns="0" rtlCol="0">
            <a:spAutoFit/>
          </a:bodyPr>
          <a:lstStyle/>
          <a:p>
            <a:r>
              <a:rPr lang="en-US" dirty="0">
                <a:solidFill>
                  <a:schemeClr val="accent2"/>
                </a:solidFill>
              </a:rPr>
              <a:t>Considering normal operation, which is the first effector(after firing) to use ARES for control ?</a:t>
            </a:r>
          </a:p>
          <a:p>
            <a:endParaRPr lang="en-US" dirty="0">
              <a:solidFill>
                <a:schemeClr val="accent2"/>
              </a:solidFill>
            </a:endParaRPr>
          </a:p>
          <a:p>
            <a:pPr marL="342900" indent="-342900">
              <a:buFont typeface="+mj-lt"/>
              <a:buAutoNum type="arabicPeriod"/>
            </a:pPr>
            <a:r>
              <a:rPr lang="en-US" dirty="0">
                <a:solidFill>
                  <a:schemeClr val="accent2"/>
                </a:solidFill>
              </a:rPr>
              <a:t>FSR</a:t>
            </a:r>
          </a:p>
          <a:p>
            <a:pPr marL="342900" indent="-342900">
              <a:buFont typeface="+mj-lt"/>
              <a:buAutoNum type="arabicPeriod"/>
            </a:pPr>
            <a:r>
              <a:rPr lang="en-US" dirty="0">
                <a:solidFill>
                  <a:schemeClr val="accent2"/>
                </a:solidFill>
              </a:rPr>
              <a:t>FUEL SPLITS</a:t>
            </a:r>
          </a:p>
          <a:p>
            <a:pPr marL="342900" indent="-342900">
              <a:buFont typeface="+mj-lt"/>
              <a:buAutoNum type="arabicPeriod"/>
            </a:pPr>
            <a:r>
              <a:rPr lang="en-US" dirty="0">
                <a:solidFill>
                  <a:schemeClr val="accent2"/>
                </a:solidFill>
              </a:rPr>
              <a:t>IGV</a:t>
            </a:r>
          </a:p>
          <a:p>
            <a:pPr marL="342900" indent="-342900">
              <a:buFont typeface="+mj-lt"/>
              <a:buAutoNum type="arabicPeriod"/>
            </a:pPr>
            <a:r>
              <a:rPr lang="en-US" dirty="0">
                <a:solidFill>
                  <a:schemeClr val="accent2"/>
                </a:solidFill>
              </a:rPr>
              <a:t>IBH</a:t>
            </a:r>
          </a:p>
          <a:p>
            <a:pPr marL="342900" indent="-342900">
              <a:buFont typeface="+mj-lt"/>
              <a:buAutoNum type="arabicPeriod"/>
            </a:pPr>
            <a:endParaRPr lang="en-US" dirty="0">
              <a:solidFill>
                <a:schemeClr val="accent2"/>
              </a:solidFill>
            </a:endParaRPr>
          </a:p>
        </p:txBody>
      </p:sp>
      <p:sp>
        <p:nvSpPr>
          <p:cNvPr id="9" name="TextBox 8"/>
          <p:cNvSpPr txBox="1"/>
          <p:nvPr/>
        </p:nvSpPr>
        <p:spPr>
          <a:xfrm>
            <a:off x="805343" y="3264453"/>
            <a:ext cx="7917232" cy="1384995"/>
          </a:xfrm>
          <a:prstGeom prst="rect">
            <a:avLst/>
          </a:prstGeom>
          <a:noFill/>
        </p:spPr>
        <p:txBody>
          <a:bodyPr wrap="none" lIns="0" tIns="0" rIns="0" bIns="0" rtlCol="0">
            <a:spAutoFit/>
          </a:bodyPr>
          <a:lstStyle/>
          <a:p>
            <a:r>
              <a:rPr lang="en-US" dirty="0">
                <a:solidFill>
                  <a:schemeClr val="accent2"/>
                </a:solidFill>
              </a:rPr>
              <a:t>ANSWER:</a:t>
            </a:r>
          </a:p>
          <a:p>
            <a:r>
              <a:rPr lang="en-US" dirty="0">
                <a:solidFill>
                  <a:schemeClr val="accent2"/>
                </a:solidFill>
              </a:rPr>
              <a:t>FUEL SPILITS</a:t>
            </a:r>
          </a:p>
          <a:p>
            <a:endParaRPr lang="en-US" dirty="0">
              <a:solidFill>
                <a:schemeClr val="accent2"/>
              </a:solidFill>
            </a:endParaRPr>
          </a:p>
          <a:p>
            <a:r>
              <a:rPr lang="en-US" dirty="0">
                <a:solidFill>
                  <a:schemeClr val="accent2"/>
                </a:solidFill>
              </a:rPr>
              <a:t>5 seconds after ARES is enabled Fuel splits are scheduled as a function of CRT (T3.9) </a:t>
            </a:r>
          </a:p>
          <a:p>
            <a:endParaRPr lang="en-US" dirty="0">
              <a:solidFill>
                <a:schemeClr val="accent2"/>
              </a:solidFill>
            </a:endParaRPr>
          </a:p>
        </p:txBody>
      </p:sp>
    </p:spTree>
    <p:extLst>
      <p:ext uri="{BB962C8B-B14F-4D97-AF65-F5344CB8AC3E}">
        <p14:creationId xmlns:p14="http://schemas.microsoft.com/office/powerpoint/2010/main" val="3723443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0"/>
                                        <p:tgtEl>
                                          <p:spTgt spid="9"/>
                                        </p:tgtEl>
                                      </p:cBhvr>
                                    </p:animEffect>
                                    <p:anim calcmode="lin" valueType="num">
                                      <p:cBhvr>
                                        <p:cTn id="8" dur="3000" fill="hold"/>
                                        <p:tgtEl>
                                          <p:spTgt spid="9"/>
                                        </p:tgtEl>
                                        <p:attrNameLst>
                                          <p:attrName>ppt_x</p:attrName>
                                        </p:attrNameLst>
                                      </p:cBhvr>
                                      <p:tavLst>
                                        <p:tav tm="0">
                                          <p:val>
                                            <p:strVal val="#ppt_x"/>
                                          </p:val>
                                        </p:tav>
                                        <p:tav tm="100000">
                                          <p:val>
                                            <p:strVal val="#ppt_x"/>
                                          </p:val>
                                        </p:tav>
                                      </p:tavLst>
                                    </p:anim>
                                    <p:anim calcmode="lin" valueType="num">
                                      <p:cBhvr>
                                        <p:cTn id="9" dur="3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0D66A1-610B-4265-B864-4A40BAAC46C1}" type="datetime3">
              <a:rPr lang="en-US" smtClean="0"/>
              <a:t>7 March 2017</a:t>
            </a:fld>
            <a:endParaRPr lang="en-CA" dirty="0"/>
          </a:p>
        </p:txBody>
      </p:sp>
      <p:sp>
        <p:nvSpPr>
          <p:cNvPr id="3" name="Footer Placeholder 2"/>
          <p:cNvSpPr>
            <a:spLocks noGrp="1"/>
          </p:cNvSpPr>
          <p:nvPr>
            <p:ph type="ftr" sz="quarter" idx="4294967295"/>
          </p:nvPr>
        </p:nvSpPr>
        <p:spPr>
          <a:xfrm>
            <a:off x="1269205" y="6432462"/>
            <a:ext cx="3229587" cy="182880"/>
          </a:xfrm>
          <a:prstGeom prst="rect">
            <a:avLst/>
          </a:prstGeom>
        </p:spPr>
        <p:txBody>
          <a:bodyPr/>
          <a:lstStyle/>
          <a:p>
            <a:r>
              <a:rPr lang="en-US"/>
              <a:t>Edit Presentation Title in [Insert Tab &gt; Header &amp; Footer]   |</a:t>
            </a:r>
            <a:endParaRPr lang="en-US" dirty="0"/>
          </a:p>
        </p:txBody>
      </p:sp>
      <p:sp>
        <p:nvSpPr>
          <p:cNvPr id="4" name="Slide Number Placeholder 3"/>
          <p:cNvSpPr>
            <a:spLocks noGrp="1"/>
          </p:cNvSpPr>
          <p:nvPr>
            <p:ph type="sldNum" sz="quarter" idx="12"/>
          </p:nvPr>
        </p:nvSpPr>
        <p:spPr/>
        <p:txBody>
          <a:bodyPr/>
          <a:lstStyle/>
          <a:p>
            <a:fld id="{00E6A5BD-C011-4A45-AA3A-201790FB7F2B}" type="slidenum">
              <a:rPr lang="en-CA" smtClean="0"/>
              <a:pPr/>
              <a:t>12</a:t>
            </a:fld>
            <a:endParaRPr lang="en-CA" dirty="0"/>
          </a:p>
        </p:txBody>
      </p:sp>
      <p:sp>
        <p:nvSpPr>
          <p:cNvPr id="5" name="Title 4"/>
          <p:cNvSpPr>
            <a:spLocks noGrp="1"/>
          </p:cNvSpPr>
          <p:nvPr>
            <p:ph type="title"/>
          </p:nvPr>
        </p:nvSpPr>
        <p:spPr>
          <a:xfrm>
            <a:off x="143224" y="219919"/>
            <a:ext cx="11201400" cy="914400"/>
          </a:xfrm>
        </p:spPr>
        <p:txBody>
          <a:bodyPr/>
          <a:lstStyle/>
          <a:p>
            <a:r>
              <a:rPr lang="en-US" dirty="0"/>
              <a:t>Nominal Operation Effector – Loop Sequence</a:t>
            </a:r>
            <a:br>
              <a:rPr lang="en-US" dirty="0"/>
            </a:br>
            <a:r>
              <a:rPr lang="en-US" dirty="0"/>
              <a:t>Cycle Control</a:t>
            </a:r>
          </a:p>
        </p:txBody>
      </p:sp>
      <p:sp>
        <p:nvSpPr>
          <p:cNvPr id="6" name="TextBox 5"/>
          <p:cNvSpPr txBox="1"/>
          <p:nvPr/>
        </p:nvSpPr>
        <p:spPr>
          <a:xfrm>
            <a:off x="143224" y="1252372"/>
            <a:ext cx="3622787" cy="276999"/>
          </a:xfrm>
          <a:prstGeom prst="rect">
            <a:avLst/>
          </a:prstGeom>
          <a:noFill/>
        </p:spPr>
        <p:txBody>
          <a:bodyPr wrap="none" lIns="0" tIns="0" rIns="0" bIns="0" rtlCol="0">
            <a:spAutoFit/>
          </a:bodyPr>
          <a:lstStyle/>
          <a:p>
            <a:r>
              <a:rPr lang="en-US" dirty="0">
                <a:solidFill>
                  <a:schemeClr val="accent2"/>
                </a:solidFill>
              </a:rPr>
              <a:t>Start to FSNL – Start UP Control (SUC) </a:t>
            </a:r>
          </a:p>
        </p:txBody>
      </p:sp>
      <p:pic>
        <p:nvPicPr>
          <p:cNvPr id="7" name="Picture 6"/>
          <p:cNvPicPr>
            <a:picLocks noChangeAspect="1"/>
          </p:cNvPicPr>
          <p:nvPr/>
        </p:nvPicPr>
        <p:blipFill>
          <a:blip r:embed="rId2"/>
          <a:stretch>
            <a:fillRect/>
          </a:stretch>
        </p:blipFill>
        <p:spPr>
          <a:xfrm>
            <a:off x="143224" y="1631091"/>
            <a:ext cx="5841381" cy="2696414"/>
          </a:xfrm>
          <a:prstGeom prst="rect">
            <a:avLst/>
          </a:prstGeom>
        </p:spPr>
      </p:pic>
      <p:sp>
        <p:nvSpPr>
          <p:cNvPr id="8" name="TextBox 7"/>
          <p:cNvSpPr txBox="1"/>
          <p:nvPr/>
        </p:nvSpPr>
        <p:spPr>
          <a:xfrm>
            <a:off x="252282" y="4563611"/>
            <a:ext cx="3611566" cy="1107996"/>
          </a:xfrm>
          <a:prstGeom prst="rect">
            <a:avLst/>
          </a:prstGeom>
          <a:noFill/>
        </p:spPr>
        <p:txBody>
          <a:bodyPr wrap="none" lIns="0" tIns="0" rIns="0" bIns="0" rtlCol="0">
            <a:spAutoFit/>
          </a:bodyPr>
          <a:lstStyle/>
          <a:p>
            <a:r>
              <a:rPr lang="en-US" dirty="0">
                <a:solidFill>
                  <a:schemeClr val="accent2"/>
                </a:solidFill>
              </a:rPr>
              <a:t>FSR – Firing-&gt;Acceleration/Min-&gt;FSRN</a:t>
            </a:r>
          </a:p>
          <a:p>
            <a:r>
              <a:rPr lang="en-US" dirty="0">
                <a:solidFill>
                  <a:schemeClr val="accent2"/>
                </a:solidFill>
              </a:rPr>
              <a:t>IGV – Min</a:t>
            </a:r>
          </a:p>
          <a:p>
            <a:r>
              <a:rPr lang="en-US" dirty="0">
                <a:solidFill>
                  <a:schemeClr val="accent2"/>
                </a:solidFill>
              </a:rPr>
              <a:t>IBH – Min</a:t>
            </a:r>
          </a:p>
          <a:p>
            <a:r>
              <a:rPr lang="en-US" dirty="0">
                <a:solidFill>
                  <a:schemeClr val="accent2"/>
                </a:solidFill>
              </a:rPr>
              <a:t>SPLITS – Per mode sequence</a:t>
            </a:r>
          </a:p>
        </p:txBody>
      </p:sp>
      <p:pic>
        <p:nvPicPr>
          <p:cNvPr id="9" name="Picture 8"/>
          <p:cNvPicPr>
            <a:picLocks noChangeAspect="1"/>
          </p:cNvPicPr>
          <p:nvPr/>
        </p:nvPicPr>
        <p:blipFill>
          <a:blip r:embed="rId3"/>
          <a:stretch>
            <a:fillRect/>
          </a:stretch>
        </p:blipFill>
        <p:spPr>
          <a:xfrm>
            <a:off x="6269831" y="1631091"/>
            <a:ext cx="5841381" cy="2696414"/>
          </a:xfrm>
          <a:prstGeom prst="rect">
            <a:avLst/>
          </a:prstGeom>
        </p:spPr>
      </p:pic>
      <p:sp>
        <p:nvSpPr>
          <p:cNvPr id="10" name="TextBox 9"/>
          <p:cNvSpPr txBox="1"/>
          <p:nvPr/>
        </p:nvSpPr>
        <p:spPr>
          <a:xfrm>
            <a:off x="6269831" y="1255229"/>
            <a:ext cx="2314736" cy="276999"/>
          </a:xfrm>
          <a:prstGeom prst="rect">
            <a:avLst/>
          </a:prstGeom>
          <a:noFill/>
        </p:spPr>
        <p:txBody>
          <a:bodyPr wrap="none" lIns="0" tIns="0" rIns="0" bIns="0" rtlCol="0">
            <a:spAutoFit/>
          </a:bodyPr>
          <a:lstStyle/>
          <a:p>
            <a:r>
              <a:rPr lang="en-US" dirty="0">
                <a:solidFill>
                  <a:schemeClr val="accent2"/>
                </a:solidFill>
              </a:rPr>
              <a:t>Sync– Base load (CMBC) </a:t>
            </a:r>
          </a:p>
        </p:txBody>
      </p:sp>
      <p:sp>
        <p:nvSpPr>
          <p:cNvPr id="11" name="TextBox 10"/>
          <p:cNvSpPr txBox="1"/>
          <p:nvPr/>
        </p:nvSpPr>
        <p:spPr>
          <a:xfrm>
            <a:off x="6269831" y="4546833"/>
            <a:ext cx="4363374" cy="1107996"/>
          </a:xfrm>
          <a:prstGeom prst="rect">
            <a:avLst/>
          </a:prstGeom>
          <a:noFill/>
        </p:spPr>
        <p:txBody>
          <a:bodyPr wrap="none" lIns="0" tIns="0" rIns="0" bIns="0" rtlCol="0">
            <a:spAutoFit/>
          </a:bodyPr>
          <a:lstStyle/>
          <a:p>
            <a:r>
              <a:rPr lang="en-US" dirty="0">
                <a:solidFill>
                  <a:schemeClr val="accent2"/>
                </a:solidFill>
              </a:rPr>
              <a:t>FSR – FSRN -&gt; FSRT </a:t>
            </a:r>
          </a:p>
          <a:p>
            <a:r>
              <a:rPr lang="en-US" dirty="0">
                <a:solidFill>
                  <a:schemeClr val="accent2"/>
                </a:solidFill>
              </a:rPr>
              <a:t>IGV – Min -&gt; ISO -&gt; Tfire TG -&gt; Max</a:t>
            </a:r>
          </a:p>
          <a:p>
            <a:r>
              <a:rPr lang="en-US" dirty="0">
                <a:solidFill>
                  <a:schemeClr val="accent2"/>
                </a:solidFill>
              </a:rPr>
              <a:t>IBH – Min -&gt;Max Flow -&gt;CRT -&gt;Min</a:t>
            </a:r>
          </a:p>
          <a:p>
            <a:r>
              <a:rPr lang="en-US" dirty="0">
                <a:solidFill>
                  <a:schemeClr val="accent2"/>
                </a:solidFill>
              </a:rPr>
              <a:t>SPLITS – Per mode sequence ( function of CRT)</a:t>
            </a:r>
          </a:p>
        </p:txBody>
      </p:sp>
      <p:sp>
        <p:nvSpPr>
          <p:cNvPr id="12" name="TextBox 11"/>
          <p:cNvSpPr txBox="1"/>
          <p:nvPr/>
        </p:nvSpPr>
        <p:spPr>
          <a:xfrm>
            <a:off x="252282" y="5769213"/>
            <a:ext cx="2470228" cy="276999"/>
          </a:xfrm>
          <a:prstGeom prst="rect">
            <a:avLst/>
          </a:prstGeom>
          <a:noFill/>
        </p:spPr>
        <p:txBody>
          <a:bodyPr wrap="none" lIns="0" tIns="0" rIns="0" bIns="0" rtlCol="0">
            <a:spAutoFit/>
          </a:bodyPr>
          <a:lstStyle/>
          <a:p>
            <a:r>
              <a:rPr lang="en-US" dirty="0">
                <a:solidFill>
                  <a:srgbClr val="C00000"/>
                </a:solidFill>
              </a:rPr>
              <a:t>No ARES outputs are used</a:t>
            </a:r>
          </a:p>
        </p:txBody>
      </p:sp>
      <p:sp>
        <p:nvSpPr>
          <p:cNvPr id="13" name="TextBox 12"/>
          <p:cNvSpPr txBox="1"/>
          <p:nvPr/>
        </p:nvSpPr>
        <p:spPr>
          <a:xfrm>
            <a:off x="6269831" y="5671607"/>
            <a:ext cx="2205732" cy="830997"/>
          </a:xfrm>
          <a:prstGeom prst="rect">
            <a:avLst/>
          </a:prstGeom>
          <a:noFill/>
        </p:spPr>
        <p:txBody>
          <a:bodyPr wrap="none" lIns="0" tIns="0" rIns="0" bIns="0" rtlCol="0">
            <a:spAutoFit/>
          </a:bodyPr>
          <a:lstStyle/>
          <a:p>
            <a:r>
              <a:rPr lang="en-US" dirty="0">
                <a:solidFill>
                  <a:srgbClr val="C00000"/>
                </a:solidFill>
              </a:rPr>
              <a:t>ARES outputs used</a:t>
            </a:r>
          </a:p>
          <a:p>
            <a:r>
              <a:rPr lang="en-US" dirty="0">
                <a:solidFill>
                  <a:srgbClr val="C00000"/>
                </a:solidFill>
              </a:rPr>
              <a:t>CRT, TFIRE, BFM,CM/U…</a:t>
            </a:r>
          </a:p>
          <a:p>
            <a:endParaRPr lang="en-US" dirty="0">
              <a:solidFill>
                <a:srgbClr val="C00000"/>
              </a:solidFill>
            </a:endParaRPr>
          </a:p>
        </p:txBody>
      </p:sp>
    </p:spTree>
    <p:extLst>
      <p:ext uri="{BB962C8B-B14F-4D97-AF65-F5344CB8AC3E}">
        <p14:creationId xmlns:p14="http://schemas.microsoft.com/office/powerpoint/2010/main" val="411743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0D66A1-610B-4265-B864-4A40BAAC46C1}" type="datetime3">
              <a:rPr lang="en-US" smtClean="0"/>
              <a:t>7 March 2017</a:t>
            </a:fld>
            <a:endParaRPr lang="en-CA" dirty="0"/>
          </a:p>
        </p:txBody>
      </p:sp>
      <p:sp>
        <p:nvSpPr>
          <p:cNvPr id="4" name="Slide Number Placeholder 3"/>
          <p:cNvSpPr>
            <a:spLocks noGrp="1"/>
          </p:cNvSpPr>
          <p:nvPr>
            <p:ph type="sldNum" sz="quarter" idx="12"/>
          </p:nvPr>
        </p:nvSpPr>
        <p:spPr/>
        <p:txBody>
          <a:bodyPr/>
          <a:lstStyle/>
          <a:p>
            <a:fld id="{00E6A5BD-C011-4A45-AA3A-201790FB7F2B}" type="slidenum">
              <a:rPr lang="en-CA" smtClean="0"/>
              <a:pPr/>
              <a:t>13</a:t>
            </a:fld>
            <a:endParaRPr lang="en-CA" dirty="0"/>
          </a:p>
        </p:txBody>
      </p:sp>
      <p:sp>
        <p:nvSpPr>
          <p:cNvPr id="5" name="Title 4"/>
          <p:cNvSpPr>
            <a:spLocks noGrp="1"/>
          </p:cNvSpPr>
          <p:nvPr>
            <p:ph type="title"/>
          </p:nvPr>
        </p:nvSpPr>
        <p:spPr/>
        <p:txBody>
          <a:bodyPr/>
          <a:lstStyle/>
          <a:p>
            <a:r>
              <a:rPr lang="en-US" dirty="0"/>
              <a:t>Quiz - 2</a:t>
            </a:r>
          </a:p>
        </p:txBody>
      </p:sp>
      <p:sp>
        <p:nvSpPr>
          <p:cNvPr id="6" name="TextBox 5"/>
          <p:cNvSpPr txBox="1"/>
          <p:nvPr/>
        </p:nvSpPr>
        <p:spPr>
          <a:xfrm>
            <a:off x="805343" y="1325461"/>
            <a:ext cx="4034759" cy="1938992"/>
          </a:xfrm>
          <a:prstGeom prst="rect">
            <a:avLst/>
          </a:prstGeom>
          <a:noFill/>
        </p:spPr>
        <p:txBody>
          <a:bodyPr wrap="none" lIns="0" tIns="0" rIns="0" bIns="0" rtlCol="0">
            <a:spAutoFit/>
          </a:bodyPr>
          <a:lstStyle/>
          <a:p>
            <a:r>
              <a:rPr lang="en-US" dirty="0">
                <a:solidFill>
                  <a:schemeClr val="accent2"/>
                </a:solidFill>
              </a:rPr>
              <a:t>What does ARES stand for ?</a:t>
            </a:r>
          </a:p>
          <a:p>
            <a:endParaRPr lang="en-US" dirty="0">
              <a:solidFill>
                <a:schemeClr val="accent2"/>
              </a:solidFill>
            </a:endParaRPr>
          </a:p>
          <a:p>
            <a:pPr marL="342900" indent="-342900">
              <a:buFont typeface="+mj-lt"/>
              <a:buAutoNum type="arabicPeriod"/>
            </a:pPr>
            <a:r>
              <a:rPr lang="en-US" b="1" dirty="0">
                <a:solidFill>
                  <a:schemeClr val="accent2"/>
                </a:solidFill>
              </a:rPr>
              <a:t>A</a:t>
            </a:r>
            <a:r>
              <a:rPr lang="en-US" dirty="0">
                <a:solidFill>
                  <a:schemeClr val="accent2"/>
                </a:solidFill>
              </a:rPr>
              <a:t>daptive </a:t>
            </a:r>
            <a:r>
              <a:rPr lang="en-US" b="1" dirty="0">
                <a:solidFill>
                  <a:schemeClr val="accent2"/>
                </a:solidFill>
              </a:rPr>
              <a:t>R</a:t>
            </a:r>
            <a:r>
              <a:rPr lang="en-US" dirty="0">
                <a:solidFill>
                  <a:schemeClr val="accent2"/>
                </a:solidFill>
              </a:rPr>
              <a:t>eal-time </a:t>
            </a:r>
            <a:r>
              <a:rPr lang="en-US" b="1" dirty="0">
                <a:solidFill>
                  <a:schemeClr val="accent2"/>
                </a:solidFill>
              </a:rPr>
              <a:t>E</a:t>
            </a:r>
            <a:r>
              <a:rPr lang="en-US" dirty="0">
                <a:solidFill>
                  <a:schemeClr val="accent2"/>
                </a:solidFill>
              </a:rPr>
              <a:t>ngine </a:t>
            </a:r>
            <a:r>
              <a:rPr lang="en-US" b="1" dirty="0">
                <a:solidFill>
                  <a:schemeClr val="accent2"/>
                </a:solidFill>
              </a:rPr>
              <a:t>S</a:t>
            </a:r>
            <a:r>
              <a:rPr lang="en-US" dirty="0">
                <a:solidFill>
                  <a:schemeClr val="accent2"/>
                </a:solidFill>
              </a:rPr>
              <a:t>imulation</a:t>
            </a:r>
          </a:p>
          <a:p>
            <a:pPr marL="342900" indent="-342900">
              <a:buFont typeface="+mj-lt"/>
              <a:buAutoNum type="arabicPeriod"/>
            </a:pPr>
            <a:r>
              <a:rPr lang="en-US" b="1" dirty="0">
                <a:solidFill>
                  <a:schemeClr val="accent2"/>
                </a:solidFill>
              </a:rPr>
              <a:t>A</a:t>
            </a:r>
            <a:r>
              <a:rPr lang="en-US" dirty="0">
                <a:solidFill>
                  <a:schemeClr val="accent2"/>
                </a:solidFill>
              </a:rPr>
              <a:t>ccurate </a:t>
            </a:r>
            <a:r>
              <a:rPr lang="en-US" b="1" dirty="0">
                <a:solidFill>
                  <a:schemeClr val="accent2"/>
                </a:solidFill>
              </a:rPr>
              <a:t>R</a:t>
            </a:r>
            <a:r>
              <a:rPr lang="en-US" dirty="0">
                <a:solidFill>
                  <a:schemeClr val="accent2"/>
                </a:solidFill>
              </a:rPr>
              <a:t>eal-time </a:t>
            </a:r>
            <a:r>
              <a:rPr lang="en-US" b="1" dirty="0">
                <a:solidFill>
                  <a:schemeClr val="accent2"/>
                </a:solidFill>
              </a:rPr>
              <a:t>E</a:t>
            </a:r>
            <a:r>
              <a:rPr lang="en-US" dirty="0">
                <a:solidFill>
                  <a:schemeClr val="accent2"/>
                </a:solidFill>
              </a:rPr>
              <a:t>stimated </a:t>
            </a:r>
            <a:r>
              <a:rPr lang="en-US" b="1" dirty="0">
                <a:solidFill>
                  <a:schemeClr val="accent2"/>
                </a:solidFill>
              </a:rPr>
              <a:t>S</a:t>
            </a:r>
            <a:r>
              <a:rPr lang="en-US" dirty="0">
                <a:solidFill>
                  <a:schemeClr val="accent2"/>
                </a:solidFill>
              </a:rPr>
              <a:t>olution</a:t>
            </a:r>
          </a:p>
          <a:p>
            <a:pPr marL="342900" indent="-342900">
              <a:buFont typeface="+mj-lt"/>
              <a:buAutoNum type="arabicPeriod"/>
            </a:pPr>
            <a:r>
              <a:rPr lang="en-US" b="1" dirty="0">
                <a:solidFill>
                  <a:schemeClr val="accent2"/>
                </a:solidFill>
              </a:rPr>
              <a:t>A</a:t>
            </a:r>
            <a:r>
              <a:rPr lang="en-US" dirty="0">
                <a:solidFill>
                  <a:schemeClr val="accent2"/>
                </a:solidFill>
              </a:rPr>
              <a:t>daptive </a:t>
            </a:r>
            <a:r>
              <a:rPr lang="en-US" b="1" dirty="0">
                <a:solidFill>
                  <a:schemeClr val="accent2"/>
                </a:solidFill>
              </a:rPr>
              <a:t>R</a:t>
            </a:r>
            <a:r>
              <a:rPr lang="en-US" dirty="0">
                <a:solidFill>
                  <a:schemeClr val="accent2"/>
                </a:solidFill>
              </a:rPr>
              <a:t>eal-time </a:t>
            </a:r>
            <a:r>
              <a:rPr lang="en-US" b="1" dirty="0">
                <a:solidFill>
                  <a:schemeClr val="accent2"/>
                </a:solidFill>
              </a:rPr>
              <a:t>E</a:t>
            </a:r>
            <a:r>
              <a:rPr lang="en-US" dirty="0">
                <a:solidFill>
                  <a:schemeClr val="accent2"/>
                </a:solidFill>
              </a:rPr>
              <a:t>ngine </a:t>
            </a:r>
            <a:r>
              <a:rPr lang="en-US" b="1" dirty="0">
                <a:solidFill>
                  <a:schemeClr val="accent2"/>
                </a:solidFill>
              </a:rPr>
              <a:t>S</a:t>
            </a:r>
            <a:r>
              <a:rPr lang="en-US" dirty="0">
                <a:solidFill>
                  <a:schemeClr val="accent2"/>
                </a:solidFill>
              </a:rPr>
              <a:t>olution</a:t>
            </a:r>
          </a:p>
          <a:p>
            <a:pPr marL="342900" indent="-342900">
              <a:buFont typeface="+mj-lt"/>
              <a:buAutoNum type="arabicPeriod"/>
            </a:pPr>
            <a:r>
              <a:rPr lang="en-US" b="1" dirty="0">
                <a:solidFill>
                  <a:schemeClr val="accent2"/>
                </a:solidFill>
              </a:rPr>
              <a:t>A</a:t>
            </a:r>
            <a:r>
              <a:rPr lang="en-US" dirty="0">
                <a:solidFill>
                  <a:schemeClr val="accent2"/>
                </a:solidFill>
              </a:rPr>
              <a:t>djusted </a:t>
            </a:r>
            <a:r>
              <a:rPr lang="en-US" b="1" dirty="0">
                <a:solidFill>
                  <a:schemeClr val="accent2"/>
                </a:solidFill>
              </a:rPr>
              <a:t>R</a:t>
            </a:r>
            <a:r>
              <a:rPr lang="en-US" dirty="0">
                <a:solidFill>
                  <a:schemeClr val="accent2"/>
                </a:solidFill>
              </a:rPr>
              <a:t>obust </a:t>
            </a:r>
            <a:r>
              <a:rPr lang="en-US" b="1" dirty="0">
                <a:solidFill>
                  <a:schemeClr val="accent2"/>
                </a:solidFill>
              </a:rPr>
              <a:t>E</a:t>
            </a:r>
            <a:r>
              <a:rPr lang="en-US" dirty="0">
                <a:solidFill>
                  <a:schemeClr val="accent2"/>
                </a:solidFill>
              </a:rPr>
              <a:t>ngine </a:t>
            </a:r>
            <a:r>
              <a:rPr lang="en-US" b="1" dirty="0">
                <a:solidFill>
                  <a:schemeClr val="accent2"/>
                </a:solidFill>
              </a:rPr>
              <a:t>S</a:t>
            </a:r>
            <a:r>
              <a:rPr lang="en-US" dirty="0">
                <a:solidFill>
                  <a:schemeClr val="accent2"/>
                </a:solidFill>
              </a:rPr>
              <a:t>imulation</a:t>
            </a:r>
          </a:p>
          <a:p>
            <a:pPr marL="342900" indent="-342900">
              <a:buFont typeface="+mj-lt"/>
              <a:buAutoNum type="arabicPeriod"/>
            </a:pPr>
            <a:endParaRPr lang="en-US" dirty="0">
              <a:solidFill>
                <a:schemeClr val="accent2"/>
              </a:solidFill>
            </a:endParaRPr>
          </a:p>
        </p:txBody>
      </p:sp>
      <p:sp>
        <p:nvSpPr>
          <p:cNvPr id="9" name="TextBox 8"/>
          <p:cNvSpPr txBox="1"/>
          <p:nvPr/>
        </p:nvSpPr>
        <p:spPr>
          <a:xfrm>
            <a:off x="805343" y="3484476"/>
            <a:ext cx="3948197" cy="1107996"/>
          </a:xfrm>
          <a:prstGeom prst="rect">
            <a:avLst/>
          </a:prstGeom>
          <a:noFill/>
        </p:spPr>
        <p:txBody>
          <a:bodyPr wrap="none" lIns="0" tIns="0" rIns="0" bIns="0" rtlCol="0">
            <a:spAutoFit/>
          </a:bodyPr>
          <a:lstStyle/>
          <a:p>
            <a:r>
              <a:rPr lang="en-US" dirty="0">
                <a:solidFill>
                  <a:schemeClr val="accent2"/>
                </a:solidFill>
              </a:rPr>
              <a:t>ANSWER:</a:t>
            </a:r>
          </a:p>
          <a:p>
            <a:pPr marL="342900" indent="-342900">
              <a:buFont typeface="+mj-lt"/>
              <a:buAutoNum type="arabicPeriod"/>
            </a:pPr>
            <a:r>
              <a:rPr lang="en-US" b="1" dirty="0">
                <a:solidFill>
                  <a:schemeClr val="accent2"/>
                </a:solidFill>
              </a:rPr>
              <a:t>A</a:t>
            </a:r>
            <a:r>
              <a:rPr lang="en-US" dirty="0">
                <a:solidFill>
                  <a:schemeClr val="accent2"/>
                </a:solidFill>
              </a:rPr>
              <a:t>daptive </a:t>
            </a:r>
            <a:r>
              <a:rPr lang="en-US" b="1" dirty="0">
                <a:solidFill>
                  <a:schemeClr val="accent2"/>
                </a:solidFill>
              </a:rPr>
              <a:t>R</a:t>
            </a:r>
            <a:r>
              <a:rPr lang="en-US" dirty="0">
                <a:solidFill>
                  <a:schemeClr val="accent2"/>
                </a:solidFill>
              </a:rPr>
              <a:t>eal-time </a:t>
            </a:r>
            <a:r>
              <a:rPr lang="en-US" b="1" dirty="0">
                <a:solidFill>
                  <a:schemeClr val="accent2"/>
                </a:solidFill>
              </a:rPr>
              <a:t>E</a:t>
            </a:r>
            <a:r>
              <a:rPr lang="en-US" dirty="0">
                <a:solidFill>
                  <a:schemeClr val="accent2"/>
                </a:solidFill>
              </a:rPr>
              <a:t>ngine </a:t>
            </a:r>
            <a:r>
              <a:rPr lang="en-US" b="1" dirty="0">
                <a:solidFill>
                  <a:schemeClr val="accent2"/>
                </a:solidFill>
              </a:rPr>
              <a:t>S</a:t>
            </a:r>
            <a:r>
              <a:rPr lang="en-US" dirty="0">
                <a:solidFill>
                  <a:schemeClr val="accent2"/>
                </a:solidFill>
              </a:rPr>
              <a:t>imulation</a:t>
            </a:r>
          </a:p>
          <a:p>
            <a:r>
              <a:rPr lang="en-US" dirty="0">
                <a:solidFill>
                  <a:schemeClr val="accent2"/>
                </a:solidFill>
              </a:rPr>
              <a:t> </a:t>
            </a:r>
          </a:p>
          <a:p>
            <a:endParaRPr lang="en-US" dirty="0">
              <a:solidFill>
                <a:schemeClr val="accent2"/>
              </a:solidFill>
            </a:endParaRPr>
          </a:p>
        </p:txBody>
      </p:sp>
    </p:spTree>
    <p:extLst>
      <p:ext uri="{BB962C8B-B14F-4D97-AF65-F5344CB8AC3E}">
        <p14:creationId xmlns:p14="http://schemas.microsoft.com/office/powerpoint/2010/main" val="18325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Line 3"/>
          <p:cNvSpPr>
            <a:spLocks noChangeShapeType="1"/>
          </p:cNvSpPr>
          <p:nvPr/>
        </p:nvSpPr>
        <p:spPr bwMode="auto">
          <a:xfrm flipH="1">
            <a:off x="2514601" y="5943600"/>
            <a:ext cx="4786313" cy="0"/>
          </a:xfrm>
          <a:prstGeom prst="line">
            <a:avLst/>
          </a:prstGeom>
          <a:noFill/>
          <a:ln w="38100" cmpd="dbl">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52" name="Rectangle 4"/>
          <p:cNvSpPr>
            <a:spLocks noGrp="1" noChangeArrowheads="1"/>
          </p:cNvSpPr>
          <p:nvPr>
            <p:ph type="title"/>
          </p:nvPr>
        </p:nvSpPr>
        <p:spPr>
          <a:xfrm>
            <a:off x="477405" y="185737"/>
            <a:ext cx="8636000" cy="576263"/>
          </a:xfrm>
        </p:spPr>
        <p:txBody>
          <a:bodyPr/>
          <a:lstStyle/>
          <a:p>
            <a:pPr eaLnBrk="1" hangingPunct="1"/>
            <a:r>
              <a:rPr lang="en-US" altLang="en-US" sz="3600" dirty="0">
                <a:solidFill>
                  <a:schemeClr val="tx1"/>
                </a:solidFill>
              </a:rPr>
              <a:t>Model-Reference Adaptive Control</a:t>
            </a:r>
          </a:p>
        </p:txBody>
      </p:sp>
      <p:sp>
        <p:nvSpPr>
          <p:cNvPr id="78853" name="Rectangle 5"/>
          <p:cNvSpPr>
            <a:spLocks noChangeArrowheads="1"/>
          </p:cNvSpPr>
          <p:nvPr/>
        </p:nvSpPr>
        <p:spPr bwMode="auto">
          <a:xfrm>
            <a:off x="8405814" y="1066801"/>
            <a:ext cx="1881187" cy="9810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8854" name="AutoShape 6"/>
          <p:cNvSpPr>
            <a:spLocks noChangeArrowheads="1"/>
          </p:cNvSpPr>
          <p:nvPr/>
        </p:nvSpPr>
        <p:spPr bwMode="auto">
          <a:xfrm rot="16200000">
            <a:off x="8576470" y="1178720"/>
            <a:ext cx="688975" cy="725487"/>
          </a:xfrm>
          <a:custGeom>
            <a:avLst/>
            <a:gdLst>
              <a:gd name="T0" fmla="*/ 602853 w 21600"/>
              <a:gd name="T1" fmla="*/ 362744 h 21600"/>
              <a:gd name="T2" fmla="*/ 344488 w 21600"/>
              <a:gd name="T3" fmla="*/ 725487 h 21600"/>
              <a:gd name="T4" fmla="*/ 86122 w 21600"/>
              <a:gd name="T5" fmla="*/ 362744 h 21600"/>
              <a:gd name="T6" fmla="*/ 34448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78855" name="AutoShape 7"/>
          <p:cNvSpPr>
            <a:spLocks noChangeArrowheads="1"/>
          </p:cNvSpPr>
          <p:nvPr/>
        </p:nvSpPr>
        <p:spPr bwMode="auto">
          <a:xfrm rot="16200000" flipV="1">
            <a:off x="9599614" y="1316039"/>
            <a:ext cx="688975" cy="428625"/>
          </a:xfrm>
          <a:custGeom>
            <a:avLst/>
            <a:gdLst>
              <a:gd name="T0" fmla="*/ 602853 w 21600"/>
              <a:gd name="T1" fmla="*/ 214313 h 21600"/>
              <a:gd name="T2" fmla="*/ 344488 w 21600"/>
              <a:gd name="T3" fmla="*/ 428625 h 21600"/>
              <a:gd name="T4" fmla="*/ 86122 w 21600"/>
              <a:gd name="T5" fmla="*/ 214313 h 21600"/>
              <a:gd name="T6" fmla="*/ 344488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8856" name="Rectangle 8"/>
          <p:cNvSpPr>
            <a:spLocks noChangeArrowheads="1"/>
          </p:cNvSpPr>
          <p:nvPr/>
        </p:nvSpPr>
        <p:spPr bwMode="auto">
          <a:xfrm rot="14642635">
            <a:off x="9382126" y="1662113"/>
            <a:ext cx="187325" cy="29845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8857" name="Rectangle 9"/>
          <p:cNvSpPr>
            <a:spLocks noChangeArrowheads="1"/>
          </p:cNvSpPr>
          <p:nvPr/>
        </p:nvSpPr>
        <p:spPr bwMode="auto">
          <a:xfrm rot="17757365" flipH="1">
            <a:off x="9378951" y="1117601"/>
            <a:ext cx="187325" cy="29845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8858" name="Rectangle 10"/>
          <p:cNvSpPr>
            <a:spLocks noChangeArrowheads="1"/>
          </p:cNvSpPr>
          <p:nvPr/>
        </p:nvSpPr>
        <p:spPr bwMode="auto">
          <a:xfrm>
            <a:off x="9283700" y="1514476"/>
            <a:ext cx="446088" cy="746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8860" name="Text Box 12"/>
          <p:cNvSpPr txBox="1">
            <a:spLocks noChangeArrowheads="1"/>
          </p:cNvSpPr>
          <p:nvPr/>
        </p:nvSpPr>
        <p:spPr bwMode="auto">
          <a:xfrm>
            <a:off x="1752600" y="1524001"/>
            <a:ext cx="1447800" cy="835025"/>
          </a:xfrm>
          <a:prstGeom prst="rect">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1600" b="1">
                <a:solidFill>
                  <a:srgbClr val="000000"/>
                </a:solidFill>
              </a:rPr>
              <a:t>Boundary Scheduling Logic</a:t>
            </a:r>
          </a:p>
        </p:txBody>
      </p:sp>
      <p:sp>
        <p:nvSpPr>
          <p:cNvPr id="78861" name="Line 13"/>
          <p:cNvSpPr>
            <a:spLocks noChangeShapeType="1"/>
          </p:cNvSpPr>
          <p:nvPr/>
        </p:nvSpPr>
        <p:spPr bwMode="auto">
          <a:xfrm>
            <a:off x="3200401" y="1970088"/>
            <a:ext cx="938213" cy="0"/>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8862" name="Group 14"/>
          <p:cNvGrpSpPr>
            <a:grpSpLocks/>
          </p:cNvGrpSpPr>
          <p:nvPr/>
        </p:nvGrpSpPr>
        <p:grpSpPr bwMode="auto">
          <a:xfrm>
            <a:off x="4095751" y="1828800"/>
            <a:ext cx="347663" cy="306388"/>
            <a:chOff x="1620" y="1296"/>
            <a:chExt cx="219" cy="193"/>
          </a:xfrm>
        </p:grpSpPr>
        <p:sp>
          <p:nvSpPr>
            <p:cNvPr id="78896" name="Oval 15"/>
            <p:cNvSpPr>
              <a:spLocks noChangeArrowheads="1"/>
            </p:cNvSpPr>
            <p:nvPr/>
          </p:nvSpPr>
          <p:spPr bwMode="auto">
            <a:xfrm>
              <a:off x="1647" y="1296"/>
              <a:ext cx="192"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tx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8897" name="Text Box 16"/>
            <p:cNvSpPr txBox="1">
              <a:spLocks noChangeArrowheads="1"/>
            </p:cNvSpPr>
            <p:nvPr/>
          </p:nvSpPr>
          <p:spPr bwMode="auto">
            <a:xfrm>
              <a:off x="1620" y="1313"/>
              <a:ext cx="15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000"/>
                <a:t>+</a:t>
              </a:r>
            </a:p>
          </p:txBody>
        </p:sp>
        <p:sp>
          <p:nvSpPr>
            <p:cNvPr id="78898" name="Text Box 17"/>
            <p:cNvSpPr txBox="1">
              <a:spLocks noChangeArrowheads="1"/>
            </p:cNvSpPr>
            <p:nvPr/>
          </p:nvSpPr>
          <p:spPr bwMode="auto">
            <a:xfrm>
              <a:off x="1679" y="1335"/>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000"/>
                <a:t>_</a:t>
              </a:r>
            </a:p>
          </p:txBody>
        </p:sp>
      </p:grpSp>
      <p:sp>
        <p:nvSpPr>
          <p:cNvPr id="78866" name="Line 21"/>
          <p:cNvSpPr>
            <a:spLocks noChangeShapeType="1"/>
          </p:cNvSpPr>
          <p:nvPr/>
        </p:nvSpPr>
        <p:spPr bwMode="auto">
          <a:xfrm>
            <a:off x="9525000" y="2057401"/>
            <a:ext cx="0" cy="2468563"/>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70" name="Line 25"/>
          <p:cNvSpPr>
            <a:spLocks noChangeShapeType="1"/>
          </p:cNvSpPr>
          <p:nvPr/>
        </p:nvSpPr>
        <p:spPr bwMode="auto">
          <a:xfrm>
            <a:off x="4443414" y="1970088"/>
            <a:ext cx="661987" cy="0"/>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71" name="Text Box 26"/>
          <p:cNvSpPr txBox="1">
            <a:spLocks noChangeArrowheads="1"/>
          </p:cNvSpPr>
          <p:nvPr/>
        </p:nvSpPr>
        <p:spPr bwMode="auto">
          <a:xfrm>
            <a:off x="5105401" y="1066800"/>
            <a:ext cx="2354263" cy="10795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1600" b="1">
                <a:solidFill>
                  <a:srgbClr val="000000"/>
                </a:solidFill>
              </a:rPr>
              <a:t>Model-Based </a:t>
            </a:r>
          </a:p>
          <a:p>
            <a:pPr algn="ctr"/>
            <a:r>
              <a:rPr lang="en-US" altLang="en-US" sz="1600" b="1">
                <a:solidFill>
                  <a:srgbClr val="000000"/>
                </a:solidFill>
              </a:rPr>
              <a:t>Control Structure</a:t>
            </a:r>
          </a:p>
          <a:p>
            <a:pPr algn="ctr"/>
            <a:endParaRPr lang="en-US" altLang="en-US" sz="1600" b="1">
              <a:solidFill>
                <a:srgbClr val="000000"/>
              </a:solidFill>
            </a:endParaRPr>
          </a:p>
          <a:p>
            <a:pPr algn="ctr"/>
            <a:r>
              <a:rPr lang="en-US" altLang="en-US" sz="1600" b="1">
                <a:solidFill>
                  <a:srgbClr val="000000"/>
                </a:solidFill>
              </a:rPr>
              <a:t>(Loop Selection Logic)</a:t>
            </a:r>
          </a:p>
        </p:txBody>
      </p:sp>
      <p:sp>
        <p:nvSpPr>
          <p:cNvPr id="78872" name="Line 27"/>
          <p:cNvSpPr>
            <a:spLocks noChangeShapeType="1"/>
          </p:cNvSpPr>
          <p:nvPr/>
        </p:nvSpPr>
        <p:spPr bwMode="auto">
          <a:xfrm flipV="1">
            <a:off x="7459663" y="1589088"/>
            <a:ext cx="946150" cy="0"/>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73" name="Text Box 28"/>
          <p:cNvSpPr txBox="1">
            <a:spLocks noChangeArrowheads="1"/>
          </p:cNvSpPr>
          <p:nvPr/>
        </p:nvSpPr>
        <p:spPr bwMode="auto">
          <a:xfrm>
            <a:off x="3200400" y="1447800"/>
            <a:ext cx="94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dirty="0"/>
              <a:t>Boundary/ Targets</a:t>
            </a:r>
          </a:p>
        </p:txBody>
      </p:sp>
      <p:sp>
        <p:nvSpPr>
          <p:cNvPr id="78876" name="Text Box 31"/>
          <p:cNvSpPr txBox="1">
            <a:spLocks noChangeArrowheads="1"/>
          </p:cNvSpPr>
          <p:nvPr/>
        </p:nvSpPr>
        <p:spPr bwMode="auto">
          <a:xfrm>
            <a:off x="7459663" y="1239839"/>
            <a:ext cx="9461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t>Effectors</a:t>
            </a:r>
          </a:p>
        </p:txBody>
      </p:sp>
      <p:sp>
        <p:nvSpPr>
          <p:cNvPr id="78877" name="Text Box 32"/>
          <p:cNvSpPr txBox="1">
            <a:spLocks noChangeArrowheads="1"/>
          </p:cNvSpPr>
          <p:nvPr/>
        </p:nvSpPr>
        <p:spPr bwMode="auto">
          <a:xfrm>
            <a:off x="4443413" y="1649414"/>
            <a:ext cx="9461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t>Errors</a:t>
            </a:r>
          </a:p>
        </p:txBody>
      </p:sp>
      <p:sp>
        <p:nvSpPr>
          <p:cNvPr id="78878" name="Line 33"/>
          <p:cNvSpPr>
            <a:spLocks noChangeShapeType="1"/>
          </p:cNvSpPr>
          <p:nvPr/>
        </p:nvSpPr>
        <p:spPr bwMode="auto">
          <a:xfrm>
            <a:off x="4138614" y="1311275"/>
            <a:ext cx="966787" cy="0"/>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79" name="Text Box 34"/>
          <p:cNvSpPr txBox="1">
            <a:spLocks noChangeArrowheads="1"/>
          </p:cNvSpPr>
          <p:nvPr/>
        </p:nvSpPr>
        <p:spPr bwMode="auto">
          <a:xfrm>
            <a:off x="4038601" y="990600"/>
            <a:ext cx="12430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t>Commands</a:t>
            </a:r>
          </a:p>
        </p:txBody>
      </p:sp>
      <p:sp>
        <p:nvSpPr>
          <p:cNvPr id="78880" name="Line 35"/>
          <p:cNvSpPr>
            <a:spLocks noChangeShapeType="1"/>
          </p:cNvSpPr>
          <p:nvPr/>
        </p:nvSpPr>
        <p:spPr bwMode="auto">
          <a:xfrm flipV="1">
            <a:off x="2514600" y="2359026"/>
            <a:ext cx="0" cy="3584575"/>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8885" name="Group 40"/>
          <p:cNvGrpSpPr>
            <a:grpSpLocks/>
          </p:cNvGrpSpPr>
          <p:nvPr/>
        </p:nvGrpSpPr>
        <p:grpSpPr bwMode="auto">
          <a:xfrm>
            <a:off x="7300913" y="4525964"/>
            <a:ext cx="2857500" cy="1646237"/>
            <a:chOff x="3639" y="3237"/>
            <a:chExt cx="1656" cy="821"/>
          </a:xfrm>
        </p:grpSpPr>
        <p:pic>
          <p:nvPicPr>
            <p:cNvPr id="78893"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9" y="3255"/>
              <a:ext cx="1640" cy="80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94" name="Rectangle 42"/>
            <p:cNvSpPr>
              <a:spLocks noChangeArrowheads="1"/>
            </p:cNvSpPr>
            <p:nvPr/>
          </p:nvSpPr>
          <p:spPr bwMode="auto">
            <a:xfrm>
              <a:off x="3639" y="3237"/>
              <a:ext cx="8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spAutoFit/>
            </a:bodyPr>
            <a:lstStyle>
              <a:lvl1pPr defTabSz="585788">
                <a:defRPr sz="1200">
                  <a:solidFill>
                    <a:schemeClr val="tx1"/>
                  </a:solidFill>
                  <a:latin typeface="GE Inspira" panose="020F0603030400020203" pitchFamily="34" charset="0"/>
                </a:defRPr>
              </a:lvl1pPr>
              <a:lvl2pPr marL="742950" indent="-285750" defTabSz="585788">
                <a:defRPr sz="1200">
                  <a:solidFill>
                    <a:schemeClr val="tx1"/>
                  </a:solidFill>
                  <a:latin typeface="GE Inspira" panose="020F0603030400020203" pitchFamily="34" charset="0"/>
                </a:defRPr>
              </a:lvl2pPr>
              <a:lvl3pPr marL="1143000" indent="-228600" defTabSz="585788">
                <a:defRPr sz="1200">
                  <a:solidFill>
                    <a:schemeClr val="tx1"/>
                  </a:solidFill>
                  <a:latin typeface="GE Inspira" panose="020F0603030400020203" pitchFamily="34" charset="0"/>
                </a:defRPr>
              </a:lvl3pPr>
              <a:lvl4pPr marL="1600200" indent="-228600" defTabSz="585788">
                <a:defRPr sz="1200">
                  <a:solidFill>
                    <a:schemeClr val="tx1"/>
                  </a:solidFill>
                  <a:latin typeface="GE Inspira" panose="020F0603030400020203" pitchFamily="34" charset="0"/>
                </a:defRPr>
              </a:lvl4pPr>
              <a:lvl5pPr marL="2057400" indent="-228600" defTabSz="585788">
                <a:defRPr sz="1200">
                  <a:solidFill>
                    <a:schemeClr val="tx1"/>
                  </a:solidFill>
                  <a:latin typeface="GE Inspira" panose="020F0603030400020203" pitchFamily="34" charset="0"/>
                </a:defRPr>
              </a:lvl5pPr>
              <a:lvl6pPr marL="2514600" indent="-228600" defTabSz="585788" eaLnBrk="0" fontAlgn="base" hangingPunct="0">
                <a:spcBef>
                  <a:spcPct val="0"/>
                </a:spcBef>
                <a:spcAft>
                  <a:spcPct val="0"/>
                </a:spcAft>
                <a:defRPr sz="1200">
                  <a:solidFill>
                    <a:schemeClr val="tx1"/>
                  </a:solidFill>
                  <a:latin typeface="GE Inspira" panose="020F0603030400020203" pitchFamily="34" charset="0"/>
                </a:defRPr>
              </a:lvl6pPr>
              <a:lvl7pPr marL="2971800" indent="-228600" defTabSz="585788" eaLnBrk="0" fontAlgn="base" hangingPunct="0">
                <a:spcBef>
                  <a:spcPct val="0"/>
                </a:spcBef>
                <a:spcAft>
                  <a:spcPct val="0"/>
                </a:spcAft>
                <a:defRPr sz="1200">
                  <a:solidFill>
                    <a:schemeClr val="tx1"/>
                  </a:solidFill>
                  <a:latin typeface="GE Inspira" panose="020F0603030400020203" pitchFamily="34" charset="0"/>
                </a:defRPr>
              </a:lvl7pPr>
              <a:lvl8pPr marL="3429000" indent="-228600" defTabSz="585788" eaLnBrk="0" fontAlgn="base" hangingPunct="0">
                <a:spcBef>
                  <a:spcPct val="0"/>
                </a:spcBef>
                <a:spcAft>
                  <a:spcPct val="0"/>
                </a:spcAft>
                <a:defRPr sz="1200">
                  <a:solidFill>
                    <a:schemeClr val="tx1"/>
                  </a:solidFill>
                  <a:latin typeface="GE Inspira" panose="020F0603030400020203" pitchFamily="34" charset="0"/>
                </a:defRPr>
              </a:lvl8pPr>
              <a:lvl9pPr marL="3886200" indent="-228600" defTabSz="585788"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400" b="1" i="1"/>
                <a:t>ARES - Parameter</a:t>
              </a:r>
            </a:p>
            <a:p>
              <a:r>
                <a:rPr lang="en-US" altLang="en-US" sz="1400" b="1" i="1"/>
                <a:t>Estimation</a:t>
              </a:r>
            </a:p>
          </p:txBody>
        </p:sp>
        <p:sp>
          <p:nvSpPr>
            <p:cNvPr id="78895" name="Rectangle 43"/>
            <p:cNvSpPr>
              <a:spLocks noChangeArrowheads="1"/>
            </p:cNvSpPr>
            <p:nvPr/>
          </p:nvSpPr>
          <p:spPr bwMode="auto">
            <a:xfrm>
              <a:off x="4605" y="3858"/>
              <a:ext cx="69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spAutoFit/>
            </a:bodyPr>
            <a:lstStyle>
              <a:lvl1pPr defTabSz="585788">
                <a:defRPr sz="1200">
                  <a:solidFill>
                    <a:schemeClr val="tx1"/>
                  </a:solidFill>
                  <a:latin typeface="GE Inspira" panose="020F0603030400020203" pitchFamily="34" charset="0"/>
                </a:defRPr>
              </a:lvl1pPr>
              <a:lvl2pPr marL="742950" indent="-285750" defTabSz="585788">
                <a:defRPr sz="1200">
                  <a:solidFill>
                    <a:schemeClr val="tx1"/>
                  </a:solidFill>
                  <a:latin typeface="GE Inspira" panose="020F0603030400020203" pitchFamily="34" charset="0"/>
                </a:defRPr>
              </a:lvl2pPr>
              <a:lvl3pPr marL="1143000" indent="-228600" defTabSz="585788">
                <a:defRPr sz="1200">
                  <a:solidFill>
                    <a:schemeClr val="tx1"/>
                  </a:solidFill>
                  <a:latin typeface="GE Inspira" panose="020F0603030400020203" pitchFamily="34" charset="0"/>
                </a:defRPr>
              </a:lvl3pPr>
              <a:lvl4pPr marL="1600200" indent="-228600" defTabSz="585788">
                <a:defRPr sz="1200">
                  <a:solidFill>
                    <a:schemeClr val="tx1"/>
                  </a:solidFill>
                  <a:latin typeface="GE Inspira" panose="020F0603030400020203" pitchFamily="34" charset="0"/>
                </a:defRPr>
              </a:lvl4pPr>
              <a:lvl5pPr marL="2057400" indent="-228600" defTabSz="585788">
                <a:defRPr sz="1200">
                  <a:solidFill>
                    <a:schemeClr val="tx1"/>
                  </a:solidFill>
                  <a:latin typeface="GE Inspira" panose="020F0603030400020203" pitchFamily="34" charset="0"/>
                </a:defRPr>
              </a:lvl5pPr>
              <a:lvl6pPr marL="2514600" indent="-228600" defTabSz="585788" eaLnBrk="0" fontAlgn="base" hangingPunct="0">
                <a:spcBef>
                  <a:spcPct val="0"/>
                </a:spcBef>
                <a:spcAft>
                  <a:spcPct val="0"/>
                </a:spcAft>
                <a:defRPr sz="1200">
                  <a:solidFill>
                    <a:schemeClr val="tx1"/>
                  </a:solidFill>
                  <a:latin typeface="GE Inspira" panose="020F0603030400020203" pitchFamily="34" charset="0"/>
                </a:defRPr>
              </a:lvl6pPr>
              <a:lvl7pPr marL="2971800" indent="-228600" defTabSz="585788" eaLnBrk="0" fontAlgn="base" hangingPunct="0">
                <a:spcBef>
                  <a:spcPct val="0"/>
                </a:spcBef>
                <a:spcAft>
                  <a:spcPct val="0"/>
                </a:spcAft>
                <a:defRPr sz="1200">
                  <a:solidFill>
                    <a:schemeClr val="tx1"/>
                  </a:solidFill>
                  <a:latin typeface="GE Inspira" panose="020F0603030400020203" pitchFamily="34" charset="0"/>
                </a:defRPr>
              </a:lvl7pPr>
              <a:lvl8pPr marL="3429000" indent="-228600" defTabSz="585788" eaLnBrk="0" fontAlgn="base" hangingPunct="0">
                <a:spcBef>
                  <a:spcPct val="0"/>
                </a:spcBef>
                <a:spcAft>
                  <a:spcPct val="0"/>
                </a:spcAft>
                <a:defRPr sz="1200">
                  <a:solidFill>
                    <a:schemeClr val="tx1"/>
                  </a:solidFill>
                  <a:latin typeface="GE Inspira" panose="020F0603030400020203" pitchFamily="34" charset="0"/>
                </a:defRPr>
              </a:lvl8pPr>
              <a:lvl9pPr marL="3886200" indent="-228600" defTabSz="585788" eaLnBrk="0" fontAlgn="base" hangingPunct="0">
                <a:spcBef>
                  <a:spcPct val="0"/>
                </a:spcBef>
                <a:spcAft>
                  <a:spcPct val="0"/>
                </a:spcAft>
                <a:defRPr sz="1200">
                  <a:solidFill>
                    <a:schemeClr val="tx1"/>
                  </a:solidFill>
                  <a:latin typeface="GE Inspira" panose="020F0603030400020203" pitchFamily="34" charset="0"/>
                </a:defRPr>
              </a:lvl9pPr>
            </a:lstStyle>
            <a:p>
              <a:pPr algn="r"/>
              <a:r>
                <a:rPr lang="en-US" altLang="en-US" sz="1400" b="1" i="1"/>
                <a:t>Engine Model</a:t>
              </a:r>
            </a:p>
          </p:txBody>
        </p:sp>
      </p:grpSp>
      <p:sp>
        <p:nvSpPr>
          <p:cNvPr id="78888" name="Text Box 46"/>
          <p:cNvSpPr txBox="1">
            <a:spLocks noChangeArrowheads="1"/>
          </p:cNvSpPr>
          <p:nvPr/>
        </p:nvSpPr>
        <p:spPr bwMode="auto">
          <a:xfrm>
            <a:off x="9039226" y="808039"/>
            <a:ext cx="132397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r"/>
            <a:r>
              <a:rPr lang="en-US" altLang="en-US" b="1"/>
              <a:t>Gas Turbine</a:t>
            </a:r>
          </a:p>
        </p:txBody>
      </p:sp>
      <p:grpSp>
        <p:nvGrpSpPr>
          <p:cNvPr id="2" name="Group 1"/>
          <p:cNvGrpSpPr/>
          <p:nvPr/>
        </p:nvGrpSpPr>
        <p:grpSpPr>
          <a:xfrm>
            <a:off x="3321050" y="2057400"/>
            <a:ext cx="5986464" cy="3657600"/>
            <a:chOff x="3321050" y="2057400"/>
            <a:chExt cx="5986464" cy="3657600"/>
          </a:xfrm>
        </p:grpSpPr>
        <p:pic>
          <p:nvPicPr>
            <p:cNvPr id="788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6214" y="2971801"/>
              <a:ext cx="1119187" cy="113347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63" name="Line 18"/>
            <p:cNvSpPr>
              <a:spLocks noChangeShapeType="1"/>
            </p:cNvSpPr>
            <p:nvPr/>
          </p:nvSpPr>
          <p:spPr bwMode="auto">
            <a:xfrm flipH="1" flipV="1">
              <a:off x="4291013" y="4872038"/>
              <a:ext cx="342900" cy="0"/>
            </a:xfrm>
            <a:prstGeom prst="line">
              <a:avLst/>
            </a:prstGeom>
            <a:noFill/>
            <a:ln w="38100" cmpd="dbl">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64" name="Line 19"/>
            <p:cNvSpPr>
              <a:spLocks noChangeShapeType="1"/>
            </p:cNvSpPr>
            <p:nvPr/>
          </p:nvSpPr>
          <p:spPr bwMode="auto">
            <a:xfrm flipH="1">
              <a:off x="6019801" y="4827588"/>
              <a:ext cx="1281113" cy="0"/>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65" name="Line 20"/>
            <p:cNvSpPr>
              <a:spLocks noChangeShapeType="1"/>
            </p:cNvSpPr>
            <p:nvPr/>
          </p:nvSpPr>
          <p:spPr bwMode="auto">
            <a:xfrm>
              <a:off x="9283700" y="2057400"/>
              <a:ext cx="0" cy="1295400"/>
            </a:xfrm>
            <a:prstGeom prst="line">
              <a:avLst/>
            </a:prstGeom>
            <a:noFill/>
            <a:ln w="38100" cmpd="dbl">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67" name="Text Box 22"/>
            <p:cNvSpPr txBox="1">
              <a:spLocks noChangeArrowheads="1"/>
            </p:cNvSpPr>
            <p:nvPr/>
          </p:nvSpPr>
          <p:spPr bwMode="auto">
            <a:xfrm>
              <a:off x="4624389" y="3692526"/>
              <a:ext cx="1387475" cy="346075"/>
            </a:xfrm>
            <a:prstGeom prst="rect">
              <a:avLst/>
            </a:prstGeom>
            <a:solidFill>
              <a:srgbClr val="B3D7E8"/>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1600" b="1" dirty="0">
                  <a:solidFill>
                    <a:srgbClr val="000000"/>
                  </a:solidFill>
                </a:rPr>
                <a:t>TF Tuning</a:t>
              </a:r>
            </a:p>
          </p:txBody>
        </p:sp>
        <p:sp>
          <p:nvSpPr>
            <p:cNvPr id="78874" name="Text Box 29"/>
            <p:cNvSpPr txBox="1">
              <a:spLocks noChangeArrowheads="1"/>
            </p:cNvSpPr>
            <p:nvPr/>
          </p:nvSpPr>
          <p:spPr bwMode="auto">
            <a:xfrm>
              <a:off x="3321050" y="4084639"/>
              <a:ext cx="9461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r"/>
              <a:r>
                <a:rPr lang="en-US" altLang="en-US" b="1"/>
                <a:t>Estimated Boundary Levels</a:t>
              </a:r>
            </a:p>
          </p:txBody>
        </p:sp>
        <p:sp>
          <p:nvSpPr>
            <p:cNvPr id="78875" name="Text Box 30"/>
            <p:cNvSpPr txBox="1">
              <a:spLocks noChangeArrowheads="1"/>
            </p:cNvSpPr>
            <p:nvPr/>
          </p:nvSpPr>
          <p:spPr bwMode="auto">
            <a:xfrm>
              <a:off x="6172200" y="4525964"/>
              <a:ext cx="10747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t>Surrogates</a:t>
              </a:r>
            </a:p>
          </p:txBody>
        </p:sp>
        <p:sp>
          <p:nvSpPr>
            <p:cNvPr id="78881" name="Line 36"/>
            <p:cNvSpPr>
              <a:spLocks noChangeShapeType="1"/>
            </p:cNvSpPr>
            <p:nvPr/>
          </p:nvSpPr>
          <p:spPr bwMode="auto">
            <a:xfrm flipV="1">
              <a:off x="4291013" y="2133600"/>
              <a:ext cx="0" cy="2738438"/>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82" name="Line 37"/>
            <p:cNvSpPr>
              <a:spLocks noChangeShapeType="1"/>
            </p:cNvSpPr>
            <p:nvPr/>
          </p:nvSpPr>
          <p:spPr bwMode="auto">
            <a:xfrm flipH="1">
              <a:off x="5334000" y="3352801"/>
              <a:ext cx="0" cy="339725"/>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83" name="Line 38"/>
            <p:cNvSpPr>
              <a:spLocks noChangeShapeType="1"/>
            </p:cNvSpPr>
            <p:nvPr/>
          </p:nvSpPr>
          <p:spPr bwMode="auto">
            <a:xfrm flipH="1">
              <a:off x="5334000" y="3352800"/>
              <a:ext cx="1219200" cy="0"/>
            </a:xfrm>
            <a:prstGeom prst="line">
              <a:avLst/>
            </a:prstGeom>
            <a:noFill/>
            <a:ln w="38100" cmpd="dbl">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78884" name="Picture 39" descr="C:\Documents and Settings\ziminswi\My Documents\NOx CPC\NOxMesh.gif"/>
            <p:cNvPicPr>
              <a:picLocks noChangeAspect="1" noChangeArrowheads="1"/>
            </p:cNvPicPr>
            <p:nvPr/>
          </p:nvPicPr>
          <p:blipFill>
            <a:blip r:embed="rId5" cstate="print">
              <a:extLst>
                <a:ext uri="{28A0092B-C50C-407E-A947-70E740481C1C}">
                  <a14:useLocalDpi xmlns:a14="http://schemas.microsoft.com/office/drawing/2010/main" val="0"/>
                </a:ext>
              </a:extLst>
            </a:blip>
            <a:srcRect t="3186"/>
            <a:stretch>
              <a:fillRect/>
            </a:stretch>
          </p:blipFill>
          <p:spPr bwMode="auto">
            <a:xfrm>
              <a:off x="4633913" y="4028663"/>
              <a:ext cx="1385887" cy="10937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8886" name="Picture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0814" y="2644776"/>
              <a:ext cx="1423987" cy="93662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87" name="Line 45"/>
            <p:cNvSpPr>
              <a:spLocks noChangeShapeType="1"/>
            </p:cNvSpPr>
            <p:nvPr/>
          </p:nvSpPr>
          <p:spPr bwMode="auto">
            <a:xfrm flipH="1">
              <a:off x="8915401" y="3352800"/>
              <a:ext cx="392113" cy="0"/>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8889" name="Text Box 47"/>
            <p:cNvSpPr txBox="1">
              <a:spLocks noChangeArrowheads="1"/>
            </p:cNvSpPr>
            <p:nvPr/>
          </p:nvSpPr>
          <p:spPr bwMode="auto">
            <a:xfrm>
              <a:off x="5481638" y="2209800"/>
              <a:ext cx="25193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r"/>
              <a:r>
                <a:rPr lang="en-US" altLang="en-US" b="1"/>
                <a:t>Combustion Dynamics Measurement</a:t>
              </a:r>
            </a:p>
          </p:txBody>
        </p:sp>
        <p:sp>
          <p:nvSpPr>
            <p:cNvPr id="78890" name="Text Box 48"/>
            <p:cNvSpPr txBox="1">
              <a:spLocks noChangeArrowheads="1"/>
            </p:cNvSpPr>
            <p:nvPr/>
          </p:nvSpPr>
          <p:spPr bwMode="auto">
            <a:xfrm>
              <a:off x="3657601" y="5124450"/>
              <a:ext cx="1808163" cy="5905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1600"/>
                <a:t>Boundary Transfer Functions</a:t>
              </a:r>
            </a:p>
          </p:txBody>
        </p:sp>
        <p:sp>
          <p:nvSpPr>
            <p:cNvPr id="78891" name="Text Box 49"/>
            <p:cNvSpPr txBox="1">
              <a:spLocks noChangeArrowheads="1"/>
            </p:cNvSpPr>
            <p:nvPr/>
          </p:nvSpPr>
          <p:spPr bwMode="auto">
            <a:xfrm>
              <a:off x="6477001" y="2514600"/>
              <a:ext cx="2519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r"/>
              <a:r>
                <a:rPr lang="en-US" altLang="en-US" b="1">
                  <a:solidFill>
                    <a:srgbClr val="FF0000"/>
                  </a:solidFill>
                </a:rPr>
                <a:t>*</a:t>
              </a:r>
              <a:r>
                <a:rPr lang="en-US" altLang="en-US" b="1"/>
                <a:t> Emissions</a:t>
              </a:r>
            </a:p>
            <a:p>
              <a:pPr algn="r"/>
              <a:r>
                <a:rPr lang="en-US" altLang="en-US" b="1"/>
                <a:t> Measurement</a:t>
              </a:r>
            </a:p>
          </p:txBody>
        </p:sp>
      </p:grpSp>
      <p:sp>
        <p:nvSpPr>
          <p:cNvPr id="78892" name="Text Box 50"/>
          <p:cNvSpPr txBox="1">
            <a:spLocks noChangeArrowheads="1"/>
          </p:cNvSpPr>
          <p:nvPr/>
        </p:nvSpPr>
        <p:spPr bwMode="auto">
          <a:xfrm>
            <a:off x="4633913" y="6172201"/>
            <a:ext cx="5497512"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000">
                <a:solidFill>
                  <a:srgbClr val="FF0000"/>
                </a:solidFill>
              </a:rPr>
              <a:t>*</a:t>
            </a:r>
            <a:r>
              <a:rPr lang="en-US" altLang="en-US" sz="1000"/>
              <a:t> Closed-Loop Emissions Sensor Part of Development Test Engine(s) – Potentially AO</a:t>
            </a:r>
          </a:p>
        </p:txBody>
      </p:sp>
      <p:sp>
        <p:nvSpPr>
          <p:cNvPr id="51" name="Line 3"/>
          <p:cNvSpPr>
            <a:spLocks noChangeShapeType="1"/>
          </p:cNvSpPr>
          <p:nvPr/>
        </p:nvSpPr>
        <p:spPr bwMode="auto">
          <a:xfrm flipH="1" flipV="1">
            <a:off x="2514599" y="2961197"/>
            <a:ext cx="1776413" cy="5839"/>
          </a:xfrm>
          <a:prstGeom prst="line">
            <a:avLst/>
          </a:prstGeom>
          <a:noFill/>
          <a:ln w="38100" cmpd="dbl">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Line 13"/>
          <p:cNvSpPr>
            <a:spLocks noChangeShapeType="1"/>
          </p:cNvSpPr>
          <p:nvPr/>
        </p:nvSpPr>
        <p:spPr bwMode="auto">
          <a:xfrm flipV="1">
            <a:off x="4291013" y="2133599"/>
            <a:ext cx="0" cy="827088"/>
          </a:xfrm>
          <a:prstGeom prst="line">
            <a:avLst/>
          </a:prstGeom>
          <a:noFill/>
          <a:ln w="38100" cmpd="dbl">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9159970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1027"/>
          <p:cNvSpPr txBox="1">
            <a:spLocks noChangeArrowheads="1"/>
          </p:cNvSpPr>
          <p:nvPr/>
        </p:nvSpPr>
        <p:spPr bwMode="auto">
          <a:xfrm>
            <a:off x="379924" y="618472"/>
            <a:ext cx="2949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1600">
                <a:solidFill>
                  <a:srgbClr val="C00000"/>
                </a:solidFill>
                <a:latin typeface="GE Inspira" panose="020F0603030400020203" pitchFamily="34" charset="0"/>
              </a:defRPr>
            </a:lvl1pPr>
            <a:lvl2pPr marL="742950" indent="-285750">
              <a:defRPr sz="1200">
                <a:latin typeface="GE Inspira" panose="020F0603030400020203" pitchFamily="34" charset="0"/>
              </a:defRPr>
            </a:lvl2pPr>
            <a:lvl3pPr marL="1143000" indent="-228600">
              <a:defRPr sz="1200">
                <a:latin typeface="GE Inspira" panose="020F0603030400020203" pitchFamily="34" charset="0"/>
              </a:defRPr>
            </a:lvl3pPr>
            <a:lvl4pPr marL="1600200" indent="-228600">
              <a:defRPr sz="1200">
                <a:latin typeface="GE Inspira" panose="020F0603030400020203" pitchFamily="34" charset="0"/>
              </a:defRPr>
            </a:lvl4pPr>
            <a:lvl5pPr marL="2057400" indent="-228600">
              <a:defRPr sz="1200">
                <a:latin typeface="GE Inspira" panose="020F0603030400020203" pitchFamily="34" charset="0"/>
              </a:defRPr>
            </a:lvl5pPr>
            <a:lvl6pPr marL="2514600" indent="-228600" eaLnBrk="0" fontAlgn="base" hangingPunct="0">
              <a:spcBef>
                <a:spcPct val="0"/>
              </a:spcBef>
              <a:spcAft>
                <a:spcPct val="0"/>
              </a:spcAft>
              <a:defRPr sz="1200">
                <a:latin typeface="GE Inspira" panose="020F0603030400020203" pitchFamily="34" charset="0"/>
              </a:defRPr>
            </a:lvl6pPr>
            <a:lvl7pPr marL="2971800" indent="-228600" eaLnBrk="0" fontAlgn="base" hangingPunct="0">
              <a:spcBef>
                <a:spcPct val="0"/>
              </a:spcBef>
              <a:spcAft>
                <a:spcPct val="0"/>
              </a:spcAft>
              <a:defRPr sz="1200">
                <a:latin typeface="GE Inspira" panose="020F0603030400020203" pitchFamily="34" charset="0"/>
              </a:defRPr>
            </a:lvl7pPr>
            <a:lvl8pPr marL="3429000" indent="-228600" eaLnBrk="0" fontAlgn="base" hangingPunct="0">
              <a:spcBef>
                <a:spcPct val="0"/>
              </a:spcBef>
              <a:spcAft>
                <a:spcPct val="0"/>
              </a:spcAft>
              <a:defRPr sz="1200">
                <a:latin typeface="GE Inspira" panose="020F0603030400020203" pitchFamily="34" charset="0"/>
              </a:defRPr>
            </a:lvl8pPr>
            <a:lvl9pPr marL="3886200" indent="-228600" eaLnBrk="0" fontAlgn="base" hangingPunct="0">
              <a:spcBef>
                <a:spcPct val="0"/>
              </a:spcBef>
              <a:spcAft>
                <a:spcPct val="0"/>
              </a:spcAft>
              <a:defRPr sz="1200">
                <a:latin typeface="GE Inspira" panose="020F0603030400020203" pitchFamily="34" charset="0"/>
              </a:defRPr>
            </a:lvl9pPr>
          </a:lstStyle>
          <a:p>
            <a:r>
              <a:rPr lang="en-US" altLang="en-US" dirty="0"/>
              <a:t>What are my control objectives?</a:t>
            </a:r>
          </a:p>
        </p:txBody>
      </p:sp>
      <p:sp>
        <p:nvSpPr>
          <p:cNvPr id="25603" name="Text Box 1028"/>
          <p:cNvSpPr txBox="1">
            <a:spLocks noChangeArrowheads="1"/>
          </p:cNvSpPr>
          <p:nvPr/>
        </p:nvSpPr>
        <p:spPr bwMode="auto">
          <a:xfrm>
            <a:off x="448787" y="3812623"/>
            <a:ext cx="46751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1600">
                <a:solidFill>
                  <a:srgbClr val="C00000"/>
                </a:solidFill>
                <a:latin typeface="GE Inspira" panose="020F0603030400020203" pitchFamily="34" charset="0"/>
              </a:defRPr>
            </a:lvl1pPr>
            <a:lvl2pPr marL="742950" indent="-285750">
              <a:defRPr sz="1200">
                <a:latin typeface="GE Inspira" panose="020F0603030400020203" pitchFamily="34" charset="0"/>
              </a:defRPr>
            </a:lvl2pPr>
            <a:lvl3pPr marL="1143000" indent="-228600">
              <a:defRPr sz="1200">
                <a:latin typeface="GE Inspira" panose="020F0603030400020203" pitchFamily="34" charset="0"/>
              </a:defRPr>
            </a:lvl3pPr>
            <a:lvl4pPr marL="1600200" indent="-228600">
              <a:defRPr sz="1200">
                <a:latin typeface="GE Inspira" panose="020F0603030400020203" pitchFamily="34" charset="0"/>
              </a:defRPr>
            </a:lvl4pPr>
            <a:lvl5pPr marL="2057400" indent="-228600">
              <a:defRPr sz="1200">
                <a:latin typeface="GE Inspira" panose="020F0603030400020203" pitchFamily="34" charset="0"/>
              </a:defRPr>
            </a:lvl5pPr>
            <a:lvl6pPr marL="2514600" indent="-228600" eaLnBrk="0" fontAlgn="base" hangingPunct="0">
              <a:spcBef>
                <a:spcPct val="0"/>
              </a:spcBef>
              <a:spcAft>
                <a:spcPct val="0"/>
              </a:spcAft>
              <a:defRPr sz="1200">
                <a:latin typeface="GE Inspira" panose="020F0603030400020203" pitchFamily="34" charset="0"/>
              </a:defRPr>
            </a:lvl6pPr>
            <a:lvl7pPr marL="2971800" indent="-228600" eaLnBrk="0" fontAlgn="base" hangingPunct="0">
              <a:spcBef>
                <a:spcPct val="0"/>
              </a:spcBef>
              <a:spcAft>
                <a:spcPct val="0"/>
              </a:spcAft>
              <a:defRPr sz="1200">
                <a:latin typeface="GE Inspira" panose="020F0603030400020203" pitchFamily="34" charset="0"/>
              </a:defRPr>
            </a:lvl7pPr>
            <a:lvl8pPr marL="3429000" indent="-228600" eaLnBrk="0" fontAlgn="base" hangingPunct="0">
              <a:spcBef>
                <a:spcPct val="0"/>
              </a:spcBef>
              <a:spcAft>
                <a:spcPct val="0"/>
              </a:spcAft>
              <a:defRPr sz="1200">
                <a:latin typeface="GE Inspira" panose="020F0603030400020203" pitchFamily="34" charset="0"/>
              </a:defRPr>
            </a:lvl8pPr>
            <a:lvl9pPr marL="3886200" indent="-228600" eaLnBrk="0" fontAlgn="base" hangingPunct="0">
              <a:spcBef>
                <a:spcPct val="0"/>
              </a:spcBef>
              <a:spcAft>
                <a:spcPct val="0"/>
              </a:spcAft>
              <a:defRPr sz="1200">
                <a:latin typeface="GE Inspira" panose="020F0603030400020203" pitchFamily="34" charset="0"/>
              </a:defRPr>
            </a:lvl9pPr>
          </a:lstStyle>
          <a:p>
            <a:r>
              <a:rPr lang="en-US" altLang="en-US" dirty="0"/>
              <a:t>What are my noise/disturbance parameters/events?</a:t>
            </a:r>
          </a:p>
        </p:txBody>
      </p:sp>
      <p:sp>
        <p:nvSpPr>
          <p:cNvPr id="25604" name="Text Box 1029"/>
          <p:cNvSpPr txBox="1">
            <a:spLocks noChangeArrowheads="1"/>
          </p:cNvSpPr>
          <p:nvPr/>
        </p:nvSpPr>
        <p:spPr bwMode="auto">
          <a:xfrm>
            <a:off x="918406" y="4127012"/>
            <a:ext cx="724262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dirty="0"/>
              <a:t>Again, different per operating mode</a:t>
            </a:r>
            <a:endParaRPr lang="en-US" altLang="en-US" sz="1600" u="sng" dirty="0"/>
          </a:p>
          <a:p>
            <a:r>
              <a:rPr lang="en-US" altLang="en-US" sz="1600" u="sng" dirty="0"/>
              <a:t>Focusing on Gas Fuel, Pre-selected Load operation:</a:t>
            </a:r>
          </a:p>
          <a:p>
            <a:pPr>
              <a:buFontTx/>
              <a:buChar char="•"/>
            </a:pPr>
            <a:r>
              <a:rPr lang="en-US" altLang="en-US" sz="1600" dirty="0"/>
              <a:t> Grid frequency upsets</a:t>
            </a:r>
          </a:p>
          <a:p>
            <a:pPr>
              <a:buFontTx/>
              <a:buChar char="•"/>
            </a:pPr>
            <a:r>
              <a:rPr lang="en-US" altLang="en-US" sz="1600" dirty="0"/>
              <a:t> Fuel pressure, temperature, composition upsets</a:t>
            </a:r>
          </a:p>
          <a:p>
            <a:pPr>
              <a:buFontTx/>
              <a:buChar char="•"/>
            </a:pPr>
            <a:r>
              <a:rPr lang="en-US" altLang="en-US" sz="1600" dirty="0"/>
              <a:t> Swings in compressor inlet conditions (ambient, fogging, chillers, steam heating)</a:t>
            </a:r>
          </a:p>
          <a:p>
            <a:pPr>
              <a:buFontTx/>
              <a:buChar char="•"/>
            </a:pPr>
            <a:r>
              <a:rPr lang="en-US" altLang="en-US" sz="1600" dirty="0"/>
              <a:t> Sensor / effector faults</a:t>
            </a:r>
          </a:p>
          <a:p>
            <a:pPr>
              <a:buFontTx/>
              <a:buChar char="•"/>
            </a:pPr>
            <a:r>
              <a:rPr lang="en-US" altLang="en-US" sz="1600" dirty="0"/>
              <a:t> others…</a:t>
            </a:r>
          </a:p>
        </p:txBody>
      </p:sp>
      <p:sp>
        <p:nvSpPr>
          <p:cNvPr id="25605" name="Text Box 1030"/>
          <p:cNvSpPr txBox="1">
            <a:spLocks noChangeArrowheads="1"/>
          </p:cNvSpPr>
          <p:nvPr/>
        </p:nvSpPr>
        <p:spPr bwMode="auto">
          <a:xfrm>
            <a:off x="918406" y="886829"/>
            <a:ext cx="460145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600" dirty="0"/>
              <a:t>Objectives change per operating mode</a:t>
            </a:r>
            <a:endParaRPr lang="en-US" altLang="en-US" sz="1600" u="sng" dirty="0"/>
          </a:p>
          <a:p>
            <a:endParaRPr lang="en-US" altLang="en-US" sz="1600" u="sng" dirty="0"/>
          </a:p>
          <a:p>
            <a:r>
              <a:rPr lang="en-US" altLang="en-US" sz="1600" u="sng" dirty="0"/>
              <a:t>Focusing on Gas Fuel, Pre-selected Load operation:</a:t>
            </a:r>
          </a:p>
          <a:p>
            <a:pPr>
              <a:buFontTx/>
              <a:buChar char="•"/>
            </a:pPr>
            <a:r>
              <a:rPr lang="en-US" altLang="en-US" sz="1600" dirty="0"/>
              <a:t> Deliver requested power</a:t>
            </a:r>
          </a:p>
          <a:p>
            <a:pPr>
              <a:buFontTx/>
              <a:buChar char="•"/>
            </a:pPr>
            <a:r>
              <a:rPr lang="en-US" altLang="en-US" sz="1600" dirty="0"/>
              <a:t> Contribute to grid frequency regulation</a:t>
            </a:r>
          </a:p>
          <a:p>
            <a:pPr>
              <a:buFontTx/>
              <a:buChar char="•"/>
            </a:pPr>
            <a:r>
              <a:rPr lang="en-US" altLang="en-US" sz="1600" dirty="0"/>
              <a:t> Minimize heat rate</a:t>
            </a:r>
          </a:p>
          <a:p>
            <a:pPr>
              <a:buFontTx/>
              <a:buChar char="•"/>
            </a:pPr>
            <a:r>
              <a:rPr lang="en-US" altLang="en-US" sz="1600" dirty="0"/>
              <a:t> Allow  Flexibility</a:t>
            </a:r>
          </a:p>
          <a:p>
            <a:pPr>
              <a:buFontTx/>
              <a:buChar char="•"/>
            </a:pPr>
            <a:r>
              <a:rPr lang="en-US" altLang="en-US" sz="1600" dirty="0"/>
              <a:t> Utilize combustion operability</a:t>
            </a:r>
          </a:p>
          <a:p>
            <a:pPr lvl="1">
              <a:buFontTx/>
              <a:buChar char="•"/>
            </a:pPr>
            <a:r>
              <a:rPr lang="en-US" altLang="en-US" sz="1600" dirty="0"/>
              <a:t> Minimize dynamics</a:t>
            </a:r>
          </a:p>
          <a:p>
            <a:pPr lvl="1">
              <a:buFontTx/>
              <a:buChar char="•"/>
            </a:pPr>
            <a:r>
              <a:rPr lang="en-US" altLang="en-US" sz="1600" dirty="0"/>
              <a:t> Minimize emissions</a:t>
            </a:r>
          </a:p>
          <a:p>
            <a:pPr lvl="1">
              <a:buFontTx/>
              <a:buChar char="•"/>
            </a:pPr>
            <a:r>
              <a:rPr lang="en-US" altLang="en-US" sz="1600" dirty="0"/>
              <a:t> Maximize efficiency</a:t>
            </a:r>
          </a:p>
          <a:p>
            <a:pPr lvl="1">
              <a:buFontTx/>
              <a:buChar char="•"/>
            </a:pPr>
            <a:r>
              <a:rPr lang="en-US" altLang="en-US" sz="1600" dirty="0"/>
              <a:t> Of course don’t blow out</a:t>
            </a:r>
          </a:p>
        </p:txBody>
      </p:sp>
      <p:grpSp>
        <p:nvGrpSpPr>
          <p:cNvPr id="25606" name="Group 1031"/>
          <p:cNvGrpSpPr>
            <a:grpSpLocks/>
          </p:cNvGrpSpPr>
          <p:nvPr/>
        </p:nvGrpSpPr>
        <p:grpSpPr bwMode="auto">
          <a:xfrm>
            <a:off x="6999478" y="833271"/>
            <a:ext cx="3819525" cy="2854325"/>
            <a:chOff x="3354" y="533"/>
            <a:chExt cx="2406" cy="1798"/>
          </a:xfrm>
        </p:grpSpPr>
        <p:graphicFrame>
          <p:nvGraphicFramePr>
            <p:cNvPr id="25608" name="Object 1032"/>
            <p:cNvGraphicFramePr>
              <a:graphicFrameLocks noChangeAspect="1"/>
            </p:cNvGraphicFramePr>
            <p:nvPr/>
          </p:nvGraphicFramePr>
          <p:xfrm>
            <a:off x="3354" y="735"/>
            <a:ext cx="2406" cy="1542"/>
          </p:xfrm>
          <a:graphic>
            <a:graphicData uri="http://schemas.openxmlformats.org/presentationml/2006/ole">
              <mc:AlternateContent xmlns:mc="http://schemas.openxmlformats.org/markup-compatibility/2006">
                <mc:Choice xmlns:v="urn:schemas-microsoft-com:vml" Requires="v">
                  <p:oleObj spid="_x0000_s1070" r:id="rId4" imgW="6867144" imgH="4215384" progId="">
                    <p:embed/>
                  </p:oleObj>
                </mc:Choice>
                <mc:Fallback>
                  <p:oleObj r:id="rId4" imgW="6867144" imgH="4215384" progId="">
                    <p:embed/>
                    <p:pic>
                      <p:nvPicPr>
                        <p:cNvPr id="25608" name="Object 10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4" y="735"/>
                          <a:ext cx="2406" cy="1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9" name="AutoShape 1033"/>
            <p:cNvSpPr>
              <a:spLocks noChangeArrowheads="1"/>
            </p:cNvSpPr>
            <p:nvPr/>
          </p:nvSpPr>
          <p:spPr bwMode="auto">
            <a:xfrm>
              <a:off x="3424" y="533"/>
              <a:ext cx="2251" cy="1798"/>
            </a:xfrm>
            <a:prstGeom prst="wedgeRectCallout">
              <a:avLst>
                <a:gd name="adj1" fmla="val -122473"/>
                <a:gd name="adj2" fmla="val -6126"/>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endParaRPr lang="en-US" altLang="en-US" sz="1600"/>
            </a:p>
          </p:txBody>
        </p:sp>
        <p:sp>
          <p:nvSpPr>
            <p:cNvPr id="25610" name="Text Box 1034"/>
            <p:cNvSpPr txBox="1">
              <a:spLocks noChangeArrowheads="1"/>
            </p:cNvSpPr>
            <p:nvPr/>
          </p:nvSpPr>
          <p:spPr bwMode="auto">
            <a:xfrm>
              <a:off x="3403" y="539"/>
              <a:ext cx="160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000" dirty="0"/>
                <a:t>Standard Droop Speed/Load Control shown:</a:t>
              </a:r>
            </a:p>
          </p:txBody>
        </p:sp>
      </p:grpSp>
      <p:sp>
        <p:nvSpPr>
          <p:cNvPr id="25607" name="Rectangle 1036"/>
          <p:cNvSpPr>
            <a:spLocks noChangeArrowheads="1"/>
          </p:cNvSpPr>
          <p:nvPr/>
        </p:nvSpPr>
        <p:spPr bwMode="auto">
          <a:xfrm>
            <a:off x="252121" y="199737"/>
            <a:ext cx="8818562" cy="522288"/>
          </a:xfrm>
          <a:prstGeom prst="rect">
            <a:avLst/>
          </a:prstGeom>
        </p:spPr>
        <p:txBody>
          <a:bodyPr vert="horz" lIns="0" tIns="0" rIns="0" bIns="0" rtlCol="0" anchor="t" anchorCtr="0">
            <a:noAutofit/>
          </a:bodyPr>
          <a:lstStyle/>
          <a:p>
            <a:pPr>
              <a:lnSpc>
                <a:spcPct val="90000"/>
              </a:lnSpc>
              <a:spcBef>
                <a:spcPct val="0"/>
              </a:spcBef>
            </a:pPr>
            <a:r>
              <a:rPr lang="en-US" altLang="en-US" sz="3200" dirty="0">
                <a:solidFill>
                  <a:schemeClr val="accent2"/>
                </a:solidFill>
                <a:latin typeface="+mj-lt"/>
                <a:ea typeface="+mj-ea"/>
                <a:cs typeface="+mj-cs"/>
              </a:rPr>
              <a:t>Gas Turbine Control Objectives</a:t>
            </a:r>
          </a:p>
        </p:txBody>
      </p:sp>
    </p:spTree>
    <p:extLst>
      <p:ext uri="{BB962C8B-B14F-4D97-AF65-F5344CB8AC3E}">
        <p14:creationId xmlns:p14="http://schemas.microsoft.com/office/powerpoint/2010/main" val="1297148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Line 2"/>
          <p:cNvSpPr>
            <a:spLocks noChangeShapeType="1"/>
          </p:cNvSpPr>
          <p:nvPr/>
        </p:nvSpPr>
        <p:spPr bwMode="auto">
          <a:xfrm flipV="1">
            <a:off x="5226051" y="4217988"/>
            <a:ext cx="1158875" cy="476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03" name="Rectangle 3"/>
          <p:cNvSpPr>
            <a:spLocks noGrp="1" noChangeArrowheads="1"/>
          </p:cNvSpPr>
          <p:nvPr>
            <p:ph type="title"/>
          </p:nvPr>
        </p:nvSpPr>
        <p:spPr>
          <a:xfrm>
            <a:off x="159546" y="148433"/>
            <a:ext cx="8534400" cy="1143000"/>
          </a:xfrm>
        </p:spPr>
        <p:txBody>
          <a:bodyPr/>
          <a:lstStyle/>
          <a:p>
            <a:pPr eaLnBrk="1" hangingPunct="1"/>
            <a:r>
              <a:rPr lang="en-US" altLang="en-US" sz="3600" dirty="0"/>
              <a:t>Model-Based Control v/s CPC</a:t>
            </a:r>
          </a:p>
        </p:txBody>
      </p:sp>
      <p:sp>
        <p:nvSpPr>
          <p:cNvPr id="76804" name="Line 4"/>
          <p:cNvSpPr>
            <a:spLocks noChangeShapeType="1"/>
          </p:cNvSpPr>
          <p:nvPr/>
        </p:nvSpPr>
        <p:spPr bwMode="auto">
          <a:xfrm>
            <a:off x="5402263" y="3754438"/>
            <a:ext cx="98266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05" name="Line 5"/>
          <p:cNvSpPr>
            <a:spLocks noChangeShapeType="1"/>
          </p:cNvSpPr>
          <p:nvPr/>
        </p:nvSpPr>
        <p:spPr bwMode="auto">
          <a:xfrm flipV="1">
            <a:off x="5073651" y="4627563"/>
            <a:ext cx="1311275" cy="476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06" name="Text Box 6"/>
          <p:cNvSpPr txBox="1">
            <a:spLocks noChangeArrowheads="1"/>
          </p:cNvSpPr>
          <p:nvPr/>
        </p:nvSpPr>
        <p:spPr bwMode="auto">
          <a:xfrm>
            <a:off x="5775326" y="3517900"/>
            <a:ext cx="44767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IGV</a:t>
            </a:r>
          </a:p>
        </p:txBody>
      </p:sp>
      <p:sp>
        <p:nvSpPr>
          <p:cNvPr id="76807" name="Text Box 7"/>
          <p:cNvSpPr txBox="1">
            <a:spLocks noChangeArrowheads="1"/>
          </p:cNvSpPr>
          <p:nvPr/>
        </p:nvSpPr>
        <p:spPr bwMode="auto">
          <a:xfrm>
            <a:off x="5573714" y="4206875"/>
            <a:ext cx="776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Fuel Splits</a:t>
            </a:r>
          </a:p>
        </p:txBody>
      </p:sp>
      <p:sp>
        <p:nvSpPr>
          <p:cNvPr id="76808" name="Line 8"/>
          <p:cNvSpPr>
            <a:spLocks noChangeShapeType="1"/>
          </p:cNvSpPr>
          <p:nvPr/>
        </p:nvSpPr>
        <p:spPr bwMode="auto">
          <a:xfrm>
            <a:off x="2030414" y="3565525"/>
            <a:ext cx="2111375"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09" name="Line 9"/>
          <p:cNvSpPr>
            <a:spLocks noChangeShapeType="1"/>
          </p:cNvSpPr>
          <p:nvPr/>
        </p:nvSpPr>
        <p:spPr bwMode="auto">
          <a:xfrm>
            <a:off x="4300538" y="3563938"/>
            <a:ext cx="652462"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6810" name="Group 10"/>
          <p:cNvGrpSpPr>
            <a:grpSpLocks/>
          </p:cNvGrpSpPr>
          <p:nvPr/>
        </p:nvGrpSpPr>
        <p:grpSpPr bwMode="auto">
          <a:xfrm>
            <a:off x="4062414" y="3444876"/>
            <a:ext cx="282575" cy="225425"/>
            <a:chOff x="1790" y="2400"/>
            <a:chExt cx="178" cy="142"/>
          </a:xfrm>
        </p:grpSpPr>
        <p:sp>
          <p:nvSpPr>
            <p:cNvPr id="76942" name="Oval 11"/>
            <p:cNvSpPr>
              <a:spLocks noChangeArrowheads="1"/>
            </p:cNvSpPr>
            <p:nvPr/>
          </p:nvSpPr>
          <p:spPr bwMode="auto">
            <a:xfrm>
              <a:off x="1840" y="2427"/>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43" name="Text Box 12"/>
            <p:cNvSpPr txBox="1">
              <a:spLocks noChangeArrowheads="1"/>
            </p:cNvSpPr>
            <p:nvPr/>
          </p:nvSpPr>
          <p:spPr bwMode="auto">
            <a:xfrm>
              <a:off x="1790" y="2407"/>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latin typeface="Arial" panose="020B0604020202020204" pitchFamily="34" charset="0"/>
                </a:rPr>
                <a:t>+</a:t>
              </a:r>
            </a:p>
          </p:txBody>
        </p:sp>
        <p:sp>
          <p:nvSpPr>
            <p:cNvPr id="76944" name="Text Box 13"/>
            <p:cNvSpPr txBox="1">
              <a:spLocks noChangeArrowheads="1"/>
            </p:cNvSpPr>
            <p:nvPr/>
          </p:nvSpPr>
          <p:spPr bwMode="auto">
            <a:xfrm>
              <a:off x="1816" y="2400"/>
              <a:ext cx="15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b="1">
                  <a:latin typeface="Arial" panose="020B0604020202020204" pitchFamily="34" charset="0"/>
                </a:rPr>
                <a:t>_</a:t>
              </a:r>
            </a:p>
          </p:txBody>
        </p:sp>
      </p:grpSp>
      <p:sp>
        <p:nvSpPr>
          <p:cNvPr id="76811" name="Line 14"/>
          <p:cNvSpPr>
            <a:spLocks noChangeShapeType="1"/>
          </p:cNvSpPr>
          <p:nvPr/>
        </p:nvSpPr>
        <p:spPr bwMode="auto">
          <a:xfrm flipV="1">
            <a:off x="4211638" y="3640139"/>
            <a:ext cx="0" cy="1698625"/>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12" name="Line 15"/>
          <p:cNvSpPr>
            <a:spLocks noChangeShapeType="1"/>
          </p:cNvSpPr>
          <p:nvPr/>
        </p:nvSpPr>
        <p:spPr bwMode="auto">
          <a:xfrm>
            <a:off x="2030414" y="3717925"/>
            <a:ext cx="1946275"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13" name="Line 16"/>
          <p:cNvSpPr>
            <a:spLocks noChangeShapeType="1"/>
          </p:cNvSpPr>
          <p:nvPr/>
        </p:nvSpPr>
        <p:spPr bwMode="auto">
          <a:xfrm>
            <a:off x="4135438" y="3716338"/>
            <a:ext cx="817562"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6814" name="Group 17"/>
          <p:cNvGrpSpPr>
            <a:grpSpLocks/>
          </p:cNvGrpSpPr>
          <p:nvPr/>
        </p:nvGrpSpPr>
        <p:grpSpPr bwMode="auto">
          <a:xfrm>
            <a:off x="3897314" y="3597276"/>
            <a:ext cx="282575" cy="225425"/>
            <a:chOff x="1790" y="2400"/>
            <a:chExt cx="178" cy="142"/>
          </a:xfrm>
        </p:grpSpPr>
        <p:sp>
          <p:nvSpPr>
            <p:cNvPr id="76939" name="Oval 18"/>
            <p:cNvSpPr>
              <a:spLocks noChangeArrowheads="1"/>
            </p:cNvSpPr>
            <p:nvPr/>
          </p:nvSpPr>
          <p:spPr bwMode="auto">
            <a:xfrm>
              <a:off x="1840" y="2427"/>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40" name="Text Box 19"/>
            <p:cNvSpPr txBox="1">
              <a:spLocks noChangeArrowheads="1"/>
            </p:cNvSpPr>
            <p:nvPr/>
          </p:nvSpPr>
          <p:spPr bwMode="auto">
            <a:xfrm>
              <a:off x="1790" y="2407"/>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latin typeface="Arial" panose="020B0604020202020204" pitchFamily="34" charset="0"/>
                </a:rPr>
                <a:t>+</a:t>
              </a:r>
            </a:p>
          </p:txBody>
        </p:sp>
        <p:sp>
          <p:nvSpPr>
            <p:cNvPr id="76941" name="Text Box 20"/>
            <p:cNvSpPr txBox="1">
              <a:spLocks noChangeArrowheads="1"/>
            </p:cNvSpPr>
            <p:nvPr/>
          </p:nvSpPr>
          <p:spPr bwMode="auto">
            <a:xfrm>
              <a:off x="1816" y="2400"/>
              <a:ext cx="15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b="1">
                  <a:latin typeface="Arial" panose="020B0604020202020204" pitchFamily="34" charset="0"/>
                </a:rPr>
                <a:t>_</a:t>
              </a:r>
            </a:p>
          </p:txBody>
        </p:sp>
      </p:grpSp>
      <p:sp>
        <p:nvSpPr>
          <p:cNvPr id="76815" name="Line 21"/>
          <p:cNvSpPr>
            <a:spLocks noChangeShapeType="1"/>
          </p:cNvSpPr>
          <p:nvPr/>
        </p:nvSpPr>
        <p:spPr bwMode="auto">
          <a:xfrm flipV="1">
            <a:off x="4046538" y="3792539"/>
            <a:ext cx="0" cy="1546225"/>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16" name="Line 22"/>
          <p:cNvSpPr>
            <a:spLocks noChangeShapeType="1"/>
          </p:cNvSpPr>
          <p:nvPr/>
        </p:nvSpPr>
        <p:spPr bwMode="auto">
          <a:xfrm>
            <a:off x="2030414" y="3870325"/>
            <a:ext cx="1781175"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17" name="Line 23"/>
          <p:cNvSpPr>
            <a:spLocks noChangeShapeType="1"/>
          </p:cNvSpPr>
          <p:nvPr/>
        </p:nvSpPr>
        <p:spPr bwMode="auto">
          <a:xfrm>
            <a:off x="3970338" y="3868739"/>
            <a:ext cx="982662" cy="1587"/>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6818" name="Group 24"/>
          <p:cNvGrpSpPr>
            <a:grpSpLocks/>
          </p:cNvGrpSpPr>
          <p:nvPr/>
        </p:nvGrpSpPr>
        <p:grpSpPr bwMode="auto">
          <a:xfrm>
            <a:off x="3732214" y="3749676"/>
            <a:ext cx="282575" cy="225425"/>
            <a:chOff x="1790" y="2400"/>
            <a:chExt cx="178" cy="142"/>
          </a:xfrm>
        </p:grpSpPr>
        <p:sp>
          <p:nvSpPr>
            <p:cNvPr id="76936" name="Oval 25"/>
            <p:cNvSpPr>
              <a:spLocks noChangeArrowheads="1"/>
            </p:cNvSpPr>
            <p:nvPr/>
          </p:nvSpPr>
          <p:spPr bwMode="auto">
            <a:xfrm>
              <a:off x="1840" y="2427"/>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37" name="Text Box 26"/>
            <p:cNvSpPr txBox="1">
              <a:spLocks noChangeArrowheads="1"/>
            </p:cNvSpPr>
            <p:nvPr/>
          </p:nvSpPr>
          <p:spPr bwMode="auto">
            <a:xfrm>
              <a:off x="1790" y="2407"/>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latin typeface="Arial" panose="020B0604020202020204" pitchFamily="34" charset="0"/>
                </a:rPr>
                <a:t>+</a:t>
              </a:r>
            </a:p>
          </p:txBody>
        </p:sp>
        <p:sp>
          <p:nvSpPr>
            <p:cNvPr id="76938" name="Text Box 27"/>
            <p:cNvSpPr txBox="1">
              <a:spLocks noChangeArrowheads="1"/>
            </p:cNvSpPr>
            <p:nvPr/>
          </p:nvSpPr>
          <p:spPr bwMode="auto">
            <a:xfrm>
              <a:off x="1816" y="2400"/>
              <a:ext cx="15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b="1">
                  <a:latin typeface="Arial" panose="020B0604020202020204" pitchFamily="34" charset="0"/>
                </a:rPr>
                <a:t>_</a:t>
              </a:r>
            </a:p>
          </p:txBody>
        </p:sp>
      </p:grpSp>
      <p:sp>
        <p:nvSpPr>
          <p:cNvPr id="76819" name="Line 28"/>
          <p:cNvSpPr>
            <a:spLocks noChangeShapeType="1"/>
          </p:cNvSpPr>
          <p:nvPr/>
        </p:nvSpPr>
        <p:spPr bwMode="auto">
          <a:xfrm flipV="1">
            <a:off x="3881438" y="3944939"/>
            <a:ext cx="0" cy="1393825"/>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0" name="Line 29"/>
          <p:cNvSpPr>
            <a:spLocks noChangeShapeType="1"/>
          </p:cNvSpPr>
          <p:nvPr/>
        </p:nvSpPr>
        <p:spPr bwMode="auto">
          <a:xfrm>
            <a:off x="2030413" y="4011613"/>
            <a:ext cx="1395412"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1" name="Line 30"/>
          <p:cNvSpPr>
            <a:spLocks noChangeShapeType="1"/>
          </p:cNvSpPr>
          <p:nvPr/>
        </p:nvSpPr>
        <p:spPr bwMode="auto">
          <a:xfrm>
            <a:off x="3584576" y="4010025"/>
            <a:ext cx="1216025" cy="1588"/>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6822" name="Group 31"/>
          <p:cNvGrpSpPr>
            <a:grpSpLocks/>
          </p:cNvGrpSpPr>
          <p:nvPr/>
        </p:nvGrpSpPr>
        <p:grpSpPr bwMode="auto">
          <a:xfrm>
            <a:off x="3346451" y="3890964"/>
            <a:ext cx="282575" cy="225425"/>
            <a:chOff x="1790" y="2400"/>
            <a:chExt cx="178" cy="142"/>
          </a:xfrm>
        </p:grpSpPr>
        <p:sp>
          <p:nvSpPr>
            <p:cNvPr id="76933" name="Oval 32"/>
            <p:cNvSpPr>
              <a:spLocks noChangeArrowheads="1"/>
            </p:cNvSpPr>
            <p:nvPr/>
          </p:nvSpPr>
          <p:spPr bwMode="auto">
            <a:xfrm>
              <a:off x="1840" y="2427"/>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34" name="Text Box 33"/>
            <p:cNvSpPr txBox="1">
              <a:spLocks noChangeArrowheads="1"/>
            </p:cNvSpPr>
            <p:nvPr/>
          </p:nvSpPr>
          <p:spPr bwMode="auto">
            <a:xfrm>
              <a:off x="1790" y="2407"/>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latin typeface="Arial" panose="020B0604020202020204" pitchFamily="34" charset="0"/>
                </a:rPr>
                <a:t>+</a:t>
              </a:r>
            </a:p>
          </p:txBody>
        </p:sp>
        <p:sp>
          <p:nvSpPr>
            <p:cNvPr id="76935" name="Text Box 34"/>
            <p:cNvSpPr txBox="1">
              <a:spLocks noChangeArrowheads="1"/>
            </p:cNvSpPr>
            <p:nvPr/>
          </p:nvSpPr>
          <p:spPr bwMode="auto">
            <a:xfrm>
              <a:off x="1816" y="2400"/>
              <a:ext cx="15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b="1">
                  <a:latin typeface="Arial" panose="020B0604020202020204" pitchFamily="34" charset="0"/>
                </a:rPr>
                <a:t>_</a:t>
              </a:r>
            </a:p>
          </p:txBody>
        </p:sp>
      </p:grpSp>
      <p:sp>
        <p:nvSpPr>
          <p:cNvPr id="76823" name="Line 35"/>
          <p:cNvSpPr>
            <a:spLocks noChangeShapeType="1"/>
          </p:cNvSpPr>
          <p:nvPr/>
        </p:nvSpPr>
        <p:spPr bwMode="auto">
          <a:xfrm flipV="1">
            <a:off x="3495675" y="4086225"/>
            <a:ext cx="0" cy="1252538"/>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4" name="Line 36"/>
          <p:cNvSpPr>
            <a:spLocks noChangeShapeType="1"/>
          </p:cNvSpPr>
          <p:nvPr/>
        </p:nvSpPr>
        <p:spPr bwMode="auto">
          <a:xfrm>
            <a:off x="2030413" y="4164013"/>
            <a:ext cx="1230312"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5" name="Line 37"/>
          <p:cNvSpPr>
            <a:spLocks noChangeShapeType="1"/>
          </p:cNvSpPr>
          <p:nvPr/>
        </p:nvSpPr>
        <p:spPr bwMode="auto">
          <a:xfrm>
            <a:off x="3419476" y="4162425"/>
            <a:ext cx="1381125" cy="1588"/>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6826" name="Group 38"/>
          <p:cNvGrpSpPr>
            <a:grpSpLocks/>
          </p:cNvGrpSpPr>
          <p:nvPr/>
        </p:nvGrpSpPr>
        <p:grpSpPr bwMode="auto">
          <a:xfrm>
            <a:off x="3181351" y="4043364"/>
            <a:ext cx="282575" cy="225425"/>
            <a:chOff x="1790" y="2400"/>
            <a:chExt cx="178" cy="142"/>
          </a:xfrm>
        </p:grpSpPr>
        <p:sp>
          <p:nvSpPr>
            <p:cNvPr id="76930" name="Oval 39"/>
            <p:cNvSpPr>
              <a:spLocks noChangeArrowheads="1"/>
            </p:cNvSpPr>
            <p:nvPr/>
          </p:nvSpPr>
          <p:spPr bwMode="auto">
            <a:xfrm>
              <a:off x="1840" y="2427"/>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31" name="Text Box 40"/>
            <p:cNvSpPr txBox="1">
              <a:spLocks noChangeArrowheads="1"/>
            </p:cNvSpPr>
            <p:nvPr/>
          </p:nvSpPr>
          <p:spPr bwMode="auto">
            <a:xfrm>
              <a:off x="1790" y="2407"/>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latin typeface="Arial" panose="020B0604020202020204" pitchFamily="34" charset="0"/>
                </a:rPr>
                <a:t>+</a:t>
              </a:r>
            </a:p>
          </p:txBody>
        </p:sp>
        <p:sp>
          <p:nvSpPr>
            <p:cNvPr id="76932" name="Text Box 41"/>
            <p:cNvSpPr txBox="1">
              <a:spLocks noChangeArrowheads="1"/>
            </p:cNvSpPr>
            <p:nvPr/>
          </p:nvSpPr>
          <p:spPr bwMode="auto">
            <a:xfrm>
              <a:off x="1816" y="2400"/>
              <a:ext cx="15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b="1">
                  <a:latin typeface="Arial" panose="020B0604020202020204" pitchFamily="34" charset="0"/>
                </a:rPr>
                <a:t>_</a:t>
              </a:r>
            </a:p>
          </p:txBody>
        </p:sp>
      </p:grpSp>
      <p:sp>
        <p:nvSpPr>
          <p:cNvPr id="76827" name="Line 42"/>
          <p:cNvSpPr>
            <a:spLocks noChangeShapeType="1"/>
          </p:cNvSpPr>
          <p:nvPr/>
        </p:nvSpPr>
        <p:spPr bwMode="auto">
          <a:xfrm flipV="1">
            <a:off x="3330575" y="4238625"/>
            <a:ext cx="0" cy="1100138"/>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8" name="Line 43"/>
          <p:cNvSpPr>
            <a:spLocks noChangeShapeType="1"/>
          </p:cNvSpPr>
          <p:nvPr/>
        </p:nvSpPr>
        <p:spPr bwMode="auto">
          <a:xfrm>
            <a:off x="2030413" y="4316413"/>
            <a:ext cx="1065212"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29" name="Line 44"/>
          <p:cNvSpPr>
            <a:spLocks noChangeShapeType="1"/>
          </p:cNvSpPr>
          <p:nvPr/>
        </p:nvSpPr>
        <p:spPr bwMode="auto">
          <a:xfrm>
            <a:off x="3254376" y="4314825"/>
            <a:ext cx="1546225"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6830" name="Group 45"/>
          <p:cNvGrpSpPr>
            <a:grpSpLocks/>
          </p:cNvGrpSpPr>
          <p:nvPr/>
        </p:nvGrpSpPr>
        <p:grpSpPr bwMode="auto">
          <a:xfrm>
            <a:off x="3016251" y="4195764"/>
            <a:ext cx="282575" cy="225425"/>
            <a:chOff x="1790" y="2400"/>
            <a:chExt cx="178" cy="142"/>
          </a:xfrm>
        </p:grpSpPr>
        <p:sp>
          <p:nvSpPr>
            <p:cNvPr id="76927" name="Oval 46"/>
            <p:cNvSpPr>
              <a:spLocks noChangeArrowheads="1"/>
            </p:cNvSpPr>
            <p:nvPr/>
          </p:nvSpPr>
          <p:spPr bwMode="auto">
            <a:xfrm>
              <a:off x="1840" y="2427"/>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28" name="Text Box 47"/>
            <p:cNvSpPr txBox="1">
              <a:spLocks noChangeArrowheads="1"/>
            </p:cNvSpPr>
            <p:nvPr/>
          </p:nvSpPr>
          <p:spPr bwMode="auto">
            <a:xfrm>
              <a:off x="1790" y="2407"/>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latin typeface="Arial" panose="020B0604020202020204" pitchFamily="34" charset="0"/>
                </a:rPr>
                <a:t>+</a:t>
              </a:r>
            </a:p>
          </p:txBody>
        </p:sp>
        <p:sp>
          <p:nvSpPr>
            <p:cNvPr id="76929" name="Text Box 48"/>
            <p:cNvSpPr txBox="1">
              <a:spLocks noChangeArrowheads="1"/>
            </p:cNvSpPr>
            <p:nvPr/>
          </p:nvSpPr>
          <p:spPr bwMode="auto">
            <a:xfrm>
              <a:off x="1816" y="2400"/>
              <a:ext cx="15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b="1">
                  <a:latin typeface="Arial" panose="020B0604020202020204" pitchFamily="34" charset="0"/>
                </a:rPr>
                <a:t>_</a:t>
              </a:r>
            </a:p>
          </p:txBody>
        </p:sp>
      </p:grpSp>
      <p:sp>
        <p:nvSpPr>
          <p:cNvPr id="76831" name="Line 49"/>
          <p:cNvSpPr>
            <a:spLocks noChangeShapeType="1"/>
          </p:cNvSpPr>
          <p:nvPr/>
        </p:nvSpPr>
        <p:spPr bwMode="auto">
          <a:xfrm flipV="1">
            <a:off x="3165475" y="4391025"/>
            <a:ext cx="0" cy="947738"/>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32" name="Line 50"/>
          <p:cNvSpPr>
            <a:spLocks noChangeShapeType="1"/>
          </p:cNvSpPr>
          <p:nvPr/>
        </p:nvSpPr>
        <p:spPr bwMode="auto">
          <a:xfrm>
            <a:off x="2030413" y="4468813"/>
            <a:ext cx="684212"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33" name="Line 51"/>
          <p:cNvSpPr>
            <a:spLocks noChangeShapeType="1"/>
          </p:cNvSpPr>
          <p:nvPr/>
        </p:nvSpPr>
        <p:spPr bwMode="auto">
          <a:xfrm>
            <a:off x="2873376" y="4467225"/>
            <a:ext cx="1774825"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6834" name="Group 52"/>
          <p:cNvGrpSpPr>
            <a:grpSpLocks/>
          </p:cNvGrpSpPr>
          <p:nvPr/>
        </p:nvGrpSpPr>
        <p:grpSpPr bwMode="auto">
          <a:xfrm>
            <a:off x="2635251" y="4348164"/>
            <a:ext cx="282575" cy="225425"/>
            <a:chOff x="1790" y="2400"/>
            <a:chExt cx="178" cy="142"/>
          </a:xfrm>
        </p:grpSpPr>
        <p:sp>
          <p:nvSpPr>
            <p:cNvPr id="76924" name="Oval 53"/>
            <p:cNvSpPr>
              <a:spLocks noChangeArrowheads="1"/>
            </p:cNvSpPr>
            <p:nvPr/>
          </p:nvSpPr>
          <p:spPr bwMode="auto">
            <a:xfrm>
              <a:off x="1840" y="2427"/>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25" name="Text Box 54"/>
            <p:cNvSpPr txBox="1">
              <a:spLocks noChangeArrowheads="1"/>
            </p:cNvSpPr>
            <p:nvPr/>
          </p:nvSpPr>
          <p:spPr bwMode="auto">
            <a:xfrm>
              <a:off x="1790" y="2407"/>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latin typeface="Arial" panose="020B0604020202020204" pitchFamily="34" charset="0"/>
                </a:rPr>
                <a:t>+</a:t>
              </a:r>
            </a:p>
          </p:txBody>
        </p:sp>
        <p:sp>
          <p:nvSpPr>
            <p:cNvPr id="76926" name="Text Box 55"/>
            <p:cNvSpPr txBox="1">
              <a:spLocks noChangeArrowheads="1"/>
            </p:cNvSpPr>
            <p:nvPr/>
          </p:nvSpPr>
          <p:spPr bwMode="auto">
            <a:xfrm>
              <a:off x="1816" y="2400"/>
              <a:ext cx="15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b="1">
                  <a:latin typeface="Arial" panose="020B0604020202020204" pitchFamily="34" charset="0"/>
                </a:rPr>
                <a:t>_</a:t>
              </a:r>
            </a:p>
          </p:txBody>
        </p:sp>
      </p:grpSp>
      <p:sp>
        <p:nvSpPr>
          <p:cNvPr id="76835" name="Line 56"/>
          <p:cNvSpPr>
            <a:spLocks noChangeShapeType="1"/>
          </p:cNvSpPr>
          <p:nvPr/>
        </p:nvSpPr>
        <p:spPr bwMode="auto">
          <a:xfrm flipV="1">
            <a:off x="2784475" y="4543425"/>
            <a:ext cx="0" cy="795338"/>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36" name="Line 57"/>
          <p:cNvSpPr>
            <a:spLocks noChangeShapeType="1"/>
          </p:cNvSpPr>
          <p:nvPr/>
        </p:nvSpPr>
        <p:spPr bwMode="auto">
          <a:xfrm>
            <a:off x="2030413" y="4621213"/>
            <a:ext cx="519112"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37" name="Line 58"/>
          <p:cNvSpPr>
            <a:spLocks noChangeShapeType="1"/>
          </p:cNvSpPr>
          <p:nvPr/>
        </p:nvSpPr>
        <p:spPr bwMode="auto">
          <a:xfrm>
            <a:off x="2708276" y="4619625"/>
            <a:ext cx="1939925"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6838" name="Group 59"/>
          <p:cNvGrpSpPr>
            <a:grpSpLocks/>
          </p:cNvGrpSpPr>
          <p:nvPr/>
        </p:nvGrpSpPr>
        <p:grpSpPr bwMode="auto">
          <a:xfrm>
            <a:off x="2470151" y="4500564"/>
            <a:ext cx="282575" cy="225425"/>
            <a:chOff x="1790" y="2400"/>
            <a:chExt cx="178" cy="142"/>
          </a:xfrm>
        </p:grpSpPr>
        <p:sp>
          <p:nvSpPr>
            <p:cNvPr id="76921" name="Oval 60"/>
            <p:cNvSpPr>
              <a:spLocks noChangeArrowheads="1"/>
            </p:cNvSpPr>
            <p:nvPr/>
          </p:nvSpPr>
          <p:spPr bwMode="auto">
            <a:xfrm>
              <a:off x="1840" y="2427"/>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22" name="Text Box 61"/>
            <p:cNvSpPr txBox="1">
              <a:spLocks noChangeArrowheads="1"/>
            </p:cNvSpPr>
            <p:nvPr/>
          </p:nvSpPr>
          <p:spPr bwMode="auto">
            <a:xfrm>
              <a:off x="1790" y="2407"/>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latin typeface="Arial" panose="020B0604020202020204" pitchFamily="34" charset="0"/>
                </a:rPr>
                <a:t>+</a:t>
              </a:r>
            </a:p>
          </p:txBody>
        </p:sp>
        <p:sp>
          <p:nvSpPr>
            <p:cNvPr id="76923" name="Text Box 62"/>
            <p:cNvSpPr txBox="1">
              <a:spLocks noChangeArrowheads="1"/>
            </p:cNvSpPr>
            <p:nvPr/>
          </p:nvSpPr>
          <p:spPr bwMode="auto">
            <a:xfrm>
              <a:off x="1816" y="2400"/>
              <a:ext cx="15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b="1">
                  <a:latin typeface="Arial" panose="020B0604020202020204" pitchFamily="34" charset="0"/>
                </a:rPr>
                <a:t>_</a:t>
              </a:r>
            </a:p>
          </p:txBody>
        </p:sp>
      </p:grpSp>
      <p:sp>
        <p:nvSpPr>
          <p:cNvPr id="76839" name="Line 63"/>
          <p:cNvSpPr>
            <a:spLocks noChangeShapeType="1"/>
          </p:cNvSpPr>
          <p:nvPr/>
        </p:nvSpPr>
        <p:spPr bwMode="auto">
          <a:xfrm flipV="1">
            <a:off x="2619375" y="4695825"/>
            <a:ext cx="0" cy="642938"/>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40" name="Line 64"/>
          <p:cNvSpPr>
            <a:spLocks noChangeShapeType="1"/>
          </p:cNvSpPr>
          <p:nvPr/>
        </p:nvSpPr>
        <p:spPr bwMode="auto">
          <a:xfrm>
            <a:off x="2030413" y="4773613"/>
            <a:ext cx="354012"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41" name="Line 65"/>
          <p:cNvSpPr>
            <a:spLocks noChangeShapeType="1"/>
          </p:cNvSpPr>
          <p:nvPr/>
        </p:nvSpPr>
        <p:spPr bwMode="auto">
          <a:xfrm>
            <a:off x="2543176" y="4772025"/>
            <a:ext cx="2105025" cy="0"/>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6842" name="Group 66"/>
          <p:cNvGrpSpPr>
            <a:grpSpLocks/>
          </p:cNvGrpSpPr>
          <p:nvPr/>
        </p:nvGrpSpPr>
        <p:grpSpPr bwMode="auto">
          <a:xfrm>
            <a:off x="2305051" y="4652964"/>
            <a:ext cx="282575" cy="225425"/>
            <a:chOff x="1790" y="2400"/>
            <a:chExt cx="178" cy="142"/>
          </a:xfrm>
        </p:grpSpPr>
        <p:sp>
          <p:nvSpPr>
            <p:cNvPr id="76918" name="Oval 67"/>
            <p:cNvSpPr>
              <a:spLocks noChangeArrowheads="1"/>
            </p:cNvSpPr>
            <p:nvPr/>
          </p:nvSpPr>
          <p:spPr bwMode="auto">
            <a:xfrm>
              <a:off x="1840" y="2427"/>
              <a:ext cx="96" cy="96"/>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19" name="Text Box 68"/>
            <p:cNvSpPr txBox="1">
              <a:spLocks noChangeArrowheads="1"/>
            </p:cNvSpPr>
            <p:nvPr/>
          </p:nvSpPr>
          <p:spPr bwMode="auto">
            <a:xfrm>
              <a:off x="1790" y="2407"/>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a:latin typeface="Arial" panose="020B0604020202020204" pitchFamily="34" charset="0"/>
                </a:rPr>
                <a:t>+</a:t>
              </a:r>
            </a:p>
          </p:txBody>
        </p:sp>
        <p:sp>
          <p:nvSpPr>
            <p:cNvPr id="76920" name="Text Box 69"/>
            <p:cNvSpPr txBox="1">
              <a:spLocks noChangeArrowheads="1"/>
            </p:cNvSpPr>
            <p:nvPr/>
          </p:nvSpPr>
          <p:spPr bwMode="auto">
            <a:xfrm>
              <a:off x="1816" y="2400"/>
              <a:ext cx="152"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800" b="1">
                  <a:latin typeface="Arial" panose="020B0604020202020204" pitchFamily="34" charset="0"/>
                </a:rPr>
                <a:t>_</a:t>
              </a:r>
            </a:p>
          </p:txBody>
        </p:sp>
      </p:grpSp>
      <p:sp>
        <p:nvSpPr>
          <p:cNvPr id="76843" name="Line 70"/>
          <p:cNvSpPr>
            <a:spLocks noChangeShapeType="1"/>
          </p:cNvSpPr>
          <p:nvPr/>
        </p:nvSpPr>
        <p:spPr bwMode="auto">
          <a:xfrm flipV="1">
            <a:off x="2454275" y="4848225"/>
            <a:ext cx="0" cy="490538"/>
          </a:xfrm>
          <a:prstGeom prst="line">
            <a:avLst/>
          </a:prstGeom>
          <a:noFill/>
          <a:ln w="19050">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44" name="Text Box 71"/>
          <p:cNvSpPr txBox="1">
            <a:spLocks noChangeArrowheads="1"/>
          </p:cNvSpPr>
          <p:nvPr/>
        </p:nvSpPr>
        <p:spPr bwMode="auto">
          <a:xfrm>
            <a:off x="4648200" y="4421188"/>
            <a:ext cx="762000" cy="40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1000" b="1">
                <a:solidFill>
                  <a:schemeClr val="hlink"/>
                </a:solidFill>
                <a:latin typeface="Arial" panose="020B0604020202020204" pitchFamily="34" charset="0"/>
              </a:rPr>
              <a:t>Loop-In-Control</a:t>
            </a:r>
          </a:p>
        </p:txBody>
      </p:sp>
      <p:sp>
        <p:nvSpPr>
          <p:cNvPr id="76845" name="Text Box 72"/>
          <p:cNvSpPr txBox="1">
            <a:spLocks noChangeArrowheads="1"/>
          </p:cNvSpPr>
          <p:nvPr/>
        </p:nvSpPr>
        <p:spPr bwMode="auto">
          <a:xfrm>
            <a:off x="4800600" y="3963988"/>
            <a:ext cx="762000" cy="40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1000" b="1">
                <a:solidFill>
                  <a:schemeClr val="hlink"/>
                </a:solidFill>
                <a:latin typeface="Arial" panose="020B0604020202020204" pitchFamily="34" charset="0"/>
              </a:rPr>
              <a:t>Loop-In-Control</a:t>
            </a:r>
          </a:p>
        </p:txBody>
      </p:sp>
      <p:sp>
        <p:nvSpPr>
          <p:cNvPr id="76846" name="Text Box 73"/>
          <p:cNvSpPr txBox="1">
            <a:spLocks noChangeArrowheads="1"/>
          </p:cNvSpPr>
          <p:nvPr/>
        </p:nvSpPr>
        <p:spPr bwMode="auto">
          <a:xfrm>
            <a:off x="4953000" y="3532188"/>
            <a:ext cx="762000" cy="40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sz="1000" b="1">
                <a:solidFill>
                  <a:schemeClr val="hlink"/>
                </a:solidFill>
                <a:latin typeface="Arial" panose="020B0604020202020204" pitchFamily="34" charset="0"/>
              </a:rPr>
              <a:t>Loop-In-Control</a:t>
            </a:r>
          </a:p>
        </p:txBody>
      </p:sp>
      <p:sp>
        <p:nvSpPr>
          <p:cNvPr id="76847" name="Text Box 74"/>
          <p:cNvSpPr txBox="1">
            <a:spLocks noChangeArrowheads="1"/>
          </p:cNvSpPr>
          <p:nvPr/>
        </p:nvSpPr>
        <p:spPr bwMode="auto">
          <a:xfrm>
            <a:off x="5638801" y="3943350"/>
            <a:ext cx="6842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W_fuel</a:t>
            </a:r>
          </a:p>
        </p:txBody>
      </p:sp>
      <p:grpSp>
        <p:nvGrpSpPr>
          <p:cNvPr id="76848" name="Group 75"/>
          <p:cNvGrpSpPr>
            <a:grpSpLocks/>
          </p:cNvGrpSpPr>
          <p:nvPr/>
        </p:nvGrpSpPr>
        <p:grpSpPr bwMode="auto">
          <a:xfrm>
            <a:off x="5857877" y="5314950"/>
            <a:ext cx="1541463" cy="1003300"/>
            <a:chOff x="1866" y="3312"/>
            <a:chExt cx="971" cy="632"/>
          </a:xfrm>
        </p:grpSpPr>
        <p:pic>
          <p:nvPicPr>
            <p:cNvPr id="76914" name="Picture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3" y="3432"/>
              <a:ext cx="911"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915" name="Rectangle 77"/>
            <p:cNvSpPr>
              <a:spLocks noChangeArrowheads="1"/>
            </p:cNvSpPr>
            <p:nvPr/>
          </p:nvSpPr>
          <p:spPr bwMode="auto">
            <a:xfrm>
              <a:off x="1866" y="3312"/>
              <a:ext cx="774"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spAutoFit/>
            </a:bodyPr>
            <a:lstStyle>
              <a:lvl1pPr defTabSz="585788">
                <a:defRPr sz="1200">
                  <a:solidFill>
                    <a:schemeClr val="tx1"/>
                  </a:solidFill>
                  <a:latin typeface="GE Inspira" panose="020F0603030400020203" pitchFamily="34" charset="0"/>
                </a:defRPr>
              </a:lvl1pPr>
              <a:lvl2pPr marL="742950" indent="-285750" defTabSz="585788">
                <a:defRPr sz="1200">
                  <a:solidFill>
                    <a:schemeClr val="tx1"/>
                  </a:solidFill>
                  <a:latin typeface="GE Inspira" panose="020F0603030400020203" pitchFamily="34" charset="0"/>
                </a:defRPr>
              </a:lvl2pPr>
              <a:lvl3pPr marL="1143000" indent="-228600" defTabSz="585788">
                <a:defRPr sz="1200">
                  <a:solidFill>
                    <a:schemeClr val="tx1"/>
                  </a:solidFill>
                  <a:latin typeface="GE Inspira" panose="020F0603030400020203" pitchFamily="34" charset="0"/>
                </a:defRPr>
              </a:lvl3pPr>
              <a:lvl4pPr marL="1600200" indent="-228600" defTabSz="585788">
                <a:defRPr sz="1200">
                  <a:solidFill>
                    <a:schemeClr val="tx1"/>
                  </a:solidFill>
                  <a:latin typeface="GE Inspira" panose="020F0603030400020203" pitchFamily="34" charset="0"/>
                </a:defRPr>
              </a:lvl4pPr>
              <a:lvl5pPr marL="2057400" indent="-228600" defTabSz="585788">
                <a:defRPr sz="1200">
                  <a:solidFill>
                    <a:schemeClr val="tx1"/>
                  </a:solidFill>
                  <a:latin typeface="GE Inspira" panose="020F0603030400020203" pitchFamily="34" charset="0"/>
                </a:defRPr>
              </a:lvl5pPr>
              <a:lvl6pPr marL="2514600" indent="-228600" defTabSz="585788" eaLnBrk="0" fontAlgn="base" hangingPunct="0">
                <a:spcBef>
                  <a:spcPct val="0"/>
                </a:spcBef>
                <a:spcAft>
                  <a:spcPct val="0"/>
                </a:spcAft>
                <a:defRPr sz="1200">
                  <a:solidFill>
                    <a:schemeClr val="tx1"/>
                  </a:solidFill>
                  <a:latin typeface="GE Inspira" panose="020F0603030400020203" pitchFamily="34" charset="0"/>
                </a:defRPr>
              </a:lvl6pPr>
              <a:lvl7pPr marL="2971800" indent="-228600" defTabSz="585788" eaLnBrk="0" fontAlgn="base" hangingPunct="0">
                <a:spcBef>
                  <a:spcPct val="0"/>
                </a:spcBef>
                <a:spcAft>
                  <a:spcPct val="0"/>
                </a:spcAft>
                <a:defRPr sz="1200">
                  <a:solidFill>
                    <a:schemeClr val="tx1"/>
                  </a:solidFill>
                  <a:latin typeface="GE Inspira" panose="020F0603030400020203" pitchFamily="34" charset="0"/>
                </a:defRPr>
              </a:lvl7pPr>
              <a:lvl8pPr marL="3429000" indent="-228600" defTabSz="585788" eaLnBrk="0" fontAlgn="base" hangingPunct="0">
                <a:spcBef>
                  <a:spcPct val="0"/>
                </a:spcBef>
                <a:spcAft>
                  <a:spcPct val="0"/>
                </a:spcAft>
                <a:defRPr sz="1200">
                  <a:solidFill>
                    <a:schemeClr val="tx1"/>
                  </a:solidFill>
                  <a:latin typeface="GE Inspira" panose="020F0603030400020203" pitchFamily="34" charset="0"/>
                </a:defRPr>
              </a:lvl8pPr>
              <a:lvl9pPr marL="3886200" indent="-228600" defTabSz="585788"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1000" b="1" i="1">
                  <a:latin typeface="Arial" panose="020B0604020202020204" pitchFamily="34" charset="0"/>
                </a:rPr>
                <a:t>ARES - Parameter</a:t>
              </a:r>
            </a:p>
            <a:p>
              <a:r>
                <a:rPr lang="en-US" altLang="en-US" sz="1000" b="1" i="1">
                  <a:latin typeface="Arial" panose="020B0604020202020204" pitchFamily="34" charset="0"/>
                </a:rPr>
                <a:t>Estimation</a:t>
              </a:r>
            </a:p>
          </p:txBody>
        </p:sp>
        <p:sp>
          <p:nvSpPr>
            <p:cNvPr id="76916" name="Rectangle 78"/>
            <p:cNvSpPr>
              <a:spLocks noChangeArrowheads="1"/>
            </p:cNvSpPr>
            <p:nvPr/>
          </p:nvSpPr>
          <p:spPr bwMode="auto">
            <a:xfrm>
              <a:off x="1866" y="3312"/>
              <a:ext cx="942" cy="624"/>
            </a:xfrm>
            <a:prstGeom prst="rect">
              <a:avLst/>
            </a:prstGeom>
            <a:noFill/>
            <a:ln w="12700">
              <a:solidFill>
                <a:schemeClr val="tx1"/>
              </a:solidFill>
              <a:prstDash val="dash"/>
              <a:miter lim="800000"/>
              <a:headEnd/>
              <a:tailEnd/>
            </a:ln>
            <a:effectLst/>
            <a:extLst>
              <a:ext uri="{909E8E84-426E-40DD-AFC4-6F175D3DCCD1}">
                <a14:hiddenFill xmlns:a14="http://schemas.microsoft.com/office/drawing/2010/main">
                  <a:solidFill>
                    <a:srgbClr val="99FFFF">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17" name="Rectangle 79"/>
            <p:cNvSpPr>
              <a:spLocks noChangeArrowheads="1"/>
            </p:cNvSpPr>
            <p:nvPr/>
          </p:nvSpPr>
          <p:spPr bwMode="auto">
            <a:xfrm>
              <a:off x="2272" y="3810"/>
              <a:ext cx="565"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3025" tIns="36512" rIns="73025" bIns="36512">
              <a:spAutoFit/>
            </a:bodyPr>
            <a:lstStyle>
              <a:lvl1pPr defTabSz="585788">
                <a:defRPr sz="1200">
                  <a:solidFill>
                    <a:schemeClr val="tx1"/>
                  </a:solidFill>
                  <a:latin typeface="GE Inspira" panose="020F0603030400020203" pitchFamily="34" charset="0"/>
                </a:defRPr>
              </a:lvl1pPr>
              <a:lvl2pPr marL="742950" indent="-285750" defTabSz="585788">
                <a:defRPr sz="1200">
                  <a:solidFill>
                    <a:schemeClr val="tx1"/>
                  </a:solidFill>
                  <a:latin typeface="GE Inspira" panose="020F0603030400020203" pitchFamily="34" charset="0"/>
                </a:defRPr>
              </a:lvl2pPr>
              <a:lvl3pPr marL="1143000" indent="-228600" defTabSz="585788">
                <a:defRPr sz="1200">
                  <a:solidFill>
                    <a:schemeClr val="tx1"/>
                  </a:solidFill>
                  <a:latin typeface="GE Inspira" panose="020F0603030400020203" pitchFamily="34" charset="0"/>
                </a:defRPr>
              </a:lvl3pPr>
              <a:lvl4pPr marL="1600200" indent="-228600" defTabSz="585788">
                <a:defRPr sz="1200">
                  <a:solidFill>
                    <a:schemeClr val="tx1"/>
                  </a:solidFill>
                  <a:latin typeface="GE Inspira" panose="020F0603030400020203" pitchFamily="34" charset="0"/>
                </a:defRPr>
              </a:lvl4pPr>
              <a:lvl5pPr marL="2057400" indent="-228600" defTabSz="585788">
                <a:defRPr sz="1200">
                  <a:solidFill>
                    <a:schemeClr val="tx1"/>
                  </a:solidFill>
                  <a:latin typeface="GE Inspira" panose="020F0603030400020203" pitchFamily="34" charset="0"/>
                </a:defRPr>
              </a:lvl5pPr>
              <a:lvl6pPr marL="2514600" indent="-228600" defTabSz="585788" eaLnBrk="0" fontAlgn="base" hangingPunct="0">
                <a:spcBef>
                  <a:spcPct val="0"/>
                </a:spcBef>
                <a:spcAft>
                  <a:spcPct val="0"/>
                </a:spcAft>
                <a:defRPr sz="1200">
                  <a:solidFill>
                    <a:schemeClr val="tx1"/>
                  </a:solidFill>
                  <a:latin typeface="GE Inspira" panose="020F0603030400020203" pitchFamily="34" charset="0"/>
                </a:defRPr>
              </a:lvl6pPr>
              <a:lvl7pPr marL="2971800" indent="-228600" defTabSz="585788" eaLnBrk="0" fontAlgn="base" hangingPunct="0">
                <a:spcBef>
                  <a:spcPct val="0"/>
                </a:spcBef>
                <a:spcAft>
                  <a:spcPct val="0"/>
                </a:spcAft>
                <a:defRPr sz="1200">
                  <a:solidFill>
                    <a:schemeClr val="tx1"/>
                  </a:solidFill>
                  <a:latin typeface="GE Inspira" panose="020F0603030400020203" pitchFamily="34" charset="0"/>
                </a:defRPr>
              </a:lvl7pPr>
              <a:lvl8pPr marL="3429000" indent="-228600" defTabSz="585788" eaLnBrk="0" fontAlgn="base" hangingPunct="0">
                <a:spcBef>
                  <a:spcPct val="0"/>
                </a:spcBef>
                <a:spcAft>
                  <a:spcPct val="0"/>
                </a:spcAft>
                <a:defRPr sz="1200">
                  <a:solidFill>
                    <a:schemeClr val="tx1"/>
                  </a:solidFill>
                  <a:latin typeface="GE Inspira" panose="020F0603030400020203" pitchFamily="34" charset="0"/>
                </a:defRPr>
              </a:lvl8pPr>
              <a:lvl9pPr marL="3886200" indent="-228600" defTabSz="585788"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900" b="1" i="1">
                  <a:latin typeface="Arial" panose="020B0604020202020204" pitchFamily="34" charset="0"/>
                </a:rPr>
                <a:t>Engine Model</a:t>
              </a:r>
            </a:p>
          </p:txBody>
        </p:sp>
      </p:grpSp>
      <p:grpSp>
        <p:nvGrpSpPr>
          <p:cNvPr id="76849" name="Group 80"/>
          <p:cNvGrpSpPr>
            <a:grpSpLocks/>
          </p:cNvGrpSpPr>
          <p:nvPr/>
        </p:nvGrpSpPr>
        <p:grpSpPr bwMode="auto">
          <a:xfrm>
            <a:off x="1952626" y="5005389"/>
            <a:ext cx="2695575" cy="928687"/>
            <a:chOff x="270" y="3339"/>
            <a:chExt cx="1698" cy="585"/>
          </a:xfrm>
        </p:grpSpPr>
        <p:sp>
          <p:nvSpPr>
            <p:cNvPr id="76910" name="Rectangle 81"/>
            <p:cNvSpPr>
              <a:spLocks noChangeArrowheads="1"/>
            </p:cNvSpPr>
            <p:nvPr/>
          </p:nvSpPr>
          <p:spPr bwMode="auto">
            <a:xfrm>
              <a:off x="270" y="3339"/>
              <a:ext cx="1698" cy="585"/>
            </a:xfrm>
            <a:prstGeom prst="rect">
              <a:avLst/>
            </a:prstGeom>
            <a:solidFill>
              <a:srgbClr val="D3D3D3"/>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graphicFrame>
          <p:nvGraphicFramePr>
            <p:cNvPr id="76911" name="Object 82"/>
            <p:cNvGraphicFramePr>
              <a:graphicFrameLocks noChangeAspect="1"/>
            </p:cNvGraphicFramePr>
            <p:nvPr/>
          </p:nvGraphicFramePr>
          <p:xfrm>
            <a:off x="322" y="3388"/>
            <a:ext cx="851" cy="404"/>
          </p:xfrm>
          <a:graphic>
            <a:graphicData uri="http://schemas.openxmlformats.org/presentationml/2006/ole">
              <mc:AlternateContent xmlns:mc="http://schemas.openxmlformats.org/markup-compatibility/2006">
                <mc:Choice xmlns:v="urn:schemas-microsoft-com:vml" Requires="v">
                  <p:oleObj spid="_x0000_s2102" name="Equation" r:id="rId5" imgW="1282700" imgH="774700" progId="Equation.3">
                    <p:embed/>
                  </p:oleObj>
                </mc:Choice>
                <mc:Fallback>
                  <p:oleObj name="Equation" r:id="rId5" imgW="1282700" imgH="774700" progId="Equation.3">
                    <p:embed/>
                    <p:pic>
                      <p:nvPicPr>
                        <p:cNvPr id="76911" name="Object 8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 y="3388"/>
                          <a:ext cx="851"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912" name="Rectangle 83"/>
            <p:cNvSpPr>
              <a:spLocks noChangeArrowheads="1"/>
            </p:cNvSpPr>
            <p:nvPr/>
          </p:nvSpPr>
          <p:spPr bwMode="auto">
            <a:xfrm>
              <a:off x="942" y="3339"/>
              <a:ext cx="1007" cy="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lvl1pPr defTabSz="585788">
                <a:defRPr sz="1200">
                  <a:solidFill>
                    <a:schemeClr val="tx1"/>
                  </a:solidFill>
                  <a:latin typeface="GE Inspira" panose="020F0603030400020203" pitchFamily="34" charset="0"/>
                </a:defRPr>
              </a:lvl1pPr>
              <a:lvl2pPr marL="742950" indent="-285750" defTabSz="585788">
                <a:defRPr sz="1200">
                  <a:solidFill>
                    <a:schemeClr val="tx1"/>
                  </a:solidFill>
                  <a:latin typeface="GE Inspira" panose="020F0603030400020203" pitchFamily="34" charset="0"/>
                </a:defRPr>
              </a:lvl2pPr>
              <a:lvl3pPr marL="1143000" indent="-228600" defTabSz="585788">
                <a:defRPr sz="1200">
                  <a:solidFill>
                    <a:schemeClr val="tx1"/>
                  </a:solidFill>
                  <a:latin typeface="GE Inspira" panose="020F0603030400020203" pitchFamily="34" charset="0"/>
                </a:defRPr>
              </a:lvl3pPr>
              <a:lvl4pPr marL="1600200" indent="-228600" defTabSz="585788">
                <a:defRPr sz="1200">
                  <a:solidFill>
                    <a:schemeClr val="tx1"/>
                  </a:solidFill>
                  <a:latin typeface="GE Inspira" panose="020F0603030400020203" pitchFamily="34" charset="0"/>
                </a:defRPr>
              </a:lvl4pPr>
              <a:lvl5pPr marL="2057400" indent="-228600" defTabSz="585788">
                <a:defRPr sz="1200">
                  <a:solidFill>
                    <a:schemeClr val="tx1"/>
                  </a:solidFill>
                  <a:latin typeface="GE Inspira" panose="020F0603030400020203" pitchFamily="34" charset="0"/>
                </a:defRPr>
              </a:lvl5pPr>
              <a:lvl6pPr marL="2514600" indent="-228600" defTabSz="585788" eaLnBrk="0" fontAlgn="base" hangingPunct="0">
                <a:spcBef>
                  <a:spcPct val="0"/>
                </a:spcBef>
                <a:spcAft>
                  <a:spcPct val="0"/>
                </a:spcAft>
                <a:defRPr sz="1200">
                  <a:solidFill>
                    <a:schemeClr val="tx1"/>
                  </a:solidFill>
                  <a:latin typeface="GE Inspira" panose="020F0603030400020203" pitchFamily="34" charset="0"/>
                </a:defRPr>
              </a:lvl6pPr>
              <a:lvl7pPr marL="2971800" indent="-228600" defTabSz="585788" eaLnBrk="0" fontAlgn="base" hangingPunct="0">
                <a:spcBef>
                  <a:spcPct val="0"/>
                </a:spcBef>
                <a:spcAft>
                  <a:spcPct val="0"/>
                </a:spcAft>
                <a:defRPr sz="1200">
                  <a:solidFill>
                    <a:schemeClr val="tx1"/>
                  </a:solidFill>
                  <a:latin typeface="GE Inspira" panose="020F0603030400020203" pitchFamily="34" charset="0"/>
                </a:defRPr>
              </a:lvl7pPr>
              <a:lvl8pPr marL="3429000" indent="-228600" defTabSz="585788" eaLnBrk="0" fontAlgn="base" hangingPunct="0">
                <a:spcBef>
                  <a:spcPct val="0"/>
                </a:spcBef>
                <a:spcAft>
                  <a:spcPct val="0"/>
                </a:spcAft>
                <a:defRPr sz="1200">
                  <a:solidFill>
                    <a:schemeClr val="tx1"/>
                  </a:solidFill>
                  <a:latin typeface="GE Inspira" panose="020F0603030400020203" pitchFamily="34" charset="0"/>
                </a:defRPr>
              </a:lvl8pPr>
              <a:lvl9pPr marL="3886200" indent="-228600" defTabSz="585788" eaLnBrk="0" fontAlgn="base" hangingPunct="0">
                <a:spcBef>
                  <a:spcPct val="0"/>
                </a:spcBef>
                <a:spcAft>
                  <a:spcPct val="0"/>
                </a:spcAft>
                <a:defRPr sz="1200">
                  <a:solidFill>
                    <a:schemeClr val="tx1"/>
                  </a:solidFill>
                  <a:latin typeface="GE Inspira" panose="020F0603030400020203" pitchFamily="34" charset="0"/>
                </a:defRPr>
              </a:lvl9pPr>
            </a:lstStyle>
            <a:p>
              <a:pPr algn="r"/>
              <a:r>
                <a:rPr lang="en-US" altLang="en-US" sz="1000" b="1" i="1">
                  <a:solidFill>
                    <a:srgbClr val="000000"/>
                  </a:solidFill>
                  <a:latin typeface="Arial" panose="020B0604020202020204" pitchFamily="34" charset="0"/>
                </a:rPr>
                <a:t>Physics-Based Boundary Models</a:t>
              </a:r>
            </a:p>
          </p:txBody>
        </p:sp>
        <p:graphicFrame>
          <p:nvGraphicFramePr>
            <p:cNvPr id="76913" name="Object 84"/>
            <p:cNvGraphicFramePr>
              <a:graphicFrameLocks noChangeAspect="1"/>
            </p:cNvGraphicFramePr>
            <p:nvPr/>
          </p:nvGraphicFramePr>
          <p:xfrm>
            <a:off x="558" y="3584"/>
            <a:ext cx="1371" cy="304"/>
          </p:xfrm>
          <a:graphic>
            <a:graphicData uri="http://schemas.openxmlformats.org/presentationml/2006/ole">
              <mc:AlternateContent xmlns:mc="http://schemas.openxmlformats.org/markup-compatibility/2006">
                <mc:Choice xmlns:v="urn:schemas-microsoft-com:vml" Requires="v">
                  <p:oleObj spid="_x0000_s2103" name="Equation" r:id="rId7" imgW="2197100" imgH="482600" progId="Equation.3">
                    <p:embed/>
                  </p:oleObj>
                </mc:Choice>
                <mc:Fallback>
                  <p:oleObj name="Equation" r:id="rId7" imgW="2197100" imgH="482600" progId="Equation.3">
                    <p:embed/>
                    <p:pic>
                      <p:nvPicPr>
                        <p:cNvPr id="76913" name="Object 8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 y="3584"/>
                          <a:ext cx="1371" cy="3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6850" name="Line 85"/>
          <p:cNvSpPr>
            <a:spLocks noChangeShapeType="1"/>
          </p:cNvSpPr>
          <p:nvPr/>
        </p:nvSpPr>
        <p:spPr bwMode="auto">
          <a:xfrm>
            <a:off x="4648201" y="5622925"/>
            <a:ext cx="1198563" cy="0"/>
          </a:xfrm>
          <a:prstGeom prst="line">
            <a:avLst/>
          </a:prstGeom>
          <a:noFill/>
          <a:ln w="76200" cmpd="tri">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51" name="Line 86"/>
          <p:cNvSpPr>
            <a:spLocks noChangeShapeType="1"/>
          </p:cNvSpPr>
          <p:nvPr/>
        </p:nvSpPr>
        <p:spPr bwMode="auto">
          <a:xfrm rot="16200000">
            <a:off x="6663532" y="5187157"/>
            <a:ext cx="255587" cy="0"/>
          </a:xfrm>
          <a:prstGeom prst="line">
            <a:avLst/>
          </a:prstGeom>
          <a:noFill/>
          <a:ln w="76200" cmpd="tri">
            <a:solidFill>
              <a:schemeClr val="tx1"/>
            </a:solidFill>
            <a:round/>
            <a:headEnd type="triangl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52" name="Text Box 87"/>
          <p:cNvSpPr txBox="1">
            <a:spLocks noChangeArrowheads="1"/>
          </p:cNvSpPr>
          <p:nvPr/>
        </p:nvSpPr>
        <p:spPr bwMode="auto">
          <a:xfrm>
            <a:off x="7543800" y="3571876"/>
            <a:ext cx="2979738" cy="26161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2713" indent="-112713">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buFontTx/>
              <a:buChar char="•"/>
            </a:pPr>
            <a:r>
              <a:rPr lang="en-US" altLang="en-US" sz="1400">
                <a:latin typeface="Arial" panose="020B0604020202020204" pitchFamily="34" charset="0"/>
              </a:rPr>
              <a:t>Direct Boundary Protection         </a:t>
            </a:r>
            <a:r>
              <a:rPr lang="en-US" altLang="en-US" sz="1000">
                <a:latin typeface="Arial" panose="020B0604020202020204" pitchFamily="34" charset="0"/>
              </a:rPr>
              <a:t>(In The Boundaries Physical Space)</a:t>
            </a:r>
          </a:p>
          <a:p>
            <a:endParaRPr lang="en-US" altLang="en-US" sz="1000">
              <a:latin typeface="Arial" panose="020B0604020202020204" pitchFamily="34" charset="0"/>
            </a:endParaRPr>
          </a:p>
          <a:p>
            <a:pPr eaLnBrk="1" hangingPunct="1">
              <a:buFontTx/>
              <a:buChar char="•"/>
            </a:pPr>
            <a:r>
              <a:rPr lang="en-US" altLang="en-US" sz="1400">
                <a:latin typeface="Arial" panose="020B0604020202020204" pitchFamily="34" charset="0"/>
              </a:rPr>
              <a:t>Accommodation Of Machine Deterioration                        </a:t>
            </a:r>
            <a:r>
              <a:rPr lang="en-US" altLang="en-US" sz="1000">
                <a:latin typeface="Arial" panose="020B0604020202020204" pitchFamily="34" charset="0"/>
              </a:rPr>
              <a:t>(Adaptive Model Ensures Accurate Surrogates)</a:t>
            </a:r>
          </a:p>
          <a:p>
            <a:endParaRPr lang="en-US" altLang="en-US" sz="1000">
              <a:latin typeface="Arial" panose="020B0604020202020204" pitchFamily="34" charset="0"/>
            </a:endParaRPr>
          </a:p>
          <a:p>
            <a:pPr>
              <a:buFontTx/>
              <a:buChar char="•"/>
            </a:pPr>
            <a:r>
              <a:rPr lang="en-US" altLang="en-US" sz="1400">
                <a:latin typeface="Arial" panose="020B0604020202020204" pitchFamily="34" charset="0"/>
              </a:rPr>
              <a:t>Implicitly De-Coupled Effectors </a:t>
            </a:r>
            <a:r>
              <a:rPr lang="en-US" altLang="en-US" sz="1000">
                <a:latin typeface="Arial" panose="020B0604020202020204" pitchFamily="34" charset="0"/>
              </a:rPr>
              <a:t>(Automatic Performance Optimization)</a:t>
            </a:r>
            <a:endParaRPr lang="en-US" altLang="en-US" sz="1400">
              <a:latin typeface="Arial" panose="020B0604020202020204" pitchFamily="34" charset="0"/>
            </a:endParaRPr>
          </a:p>
          <a:p>
            <a:endParaRPr lang="en-US" altLang="en-US" sz="1000">
              <a:latin typeface="Arial" panose="020B0604020202020204" pitchFamily="34" charset="0"/>
            </a:endParaRPr>
          </a:p>
          <a:p>
            <a:pPr>
              <a:buFontTx/>
              <a:buChar char="•"/>
            </a:pPr>
            <a:r>
              <a:rPr lang="en-US" altLang="en-US" sz="1400">
                <a:latin typeface="Arial" panose="020B0604020202020204" pitchFamily="34" charset="0"/>
              </a:rPr>
              <a:t>Robust / Flexible / Expandable </a:t>
            </a:r>
            <a:r>
              <a:rPr lang="en-US" altLang="en-US" sz="1000">
                <a:latin typeface="Arial" panose="020B0604020202020204" pitchFamily="34" charset="0"/>
              </a:rPr>
              <a:t>(Additional Boundaries / Loops)</a:t>
            </a:r>
          </a:p>
          <a:p>
            <a:endParaRPr lang="en-US" altLang="en-US" sz="1000">
              <a:latin typeface="Arial" panose="020B0604020202020204" pitchFamily="34" charset="0"/>
            </a:endParaRPr>
          </a:p>
          <a:p>
            <a:pPr>
              <a:buFontTx/>
              <a:buChar char="•"/>
            </a:pPr>
            <a:r>
              <a:rPr lang="en-US" altLang="en-US" sz="1400">
                <a:latin typeface="Arial" panose="020B0604020202020204" pitchFamily="34" charset="0"/>
              </a:rPr>
              <a:t>Proven GT Control Technology</a:t>
            </a:r>
            <a:endParaRPr lang="en-US" altLang="en-US" sz="1000">
              <a:latin typeface="Arial" panose="020B0604020202020204" pitchFamily="34" charset="0"/>
            </a:endParaRPr>
          </a:p>
        </p:txBody>
      </p:sp>
      <p:sp>
        <p:nvSpPr>
          <p:cNvPr id="76853" name="Rectangle 88"/>
          <p:cNvSpPr>
            <a:spLocks noChangeArrowheads="1"/>
          </p:cNvSpPr>
          <p:nvPr/>
        </p:nvSpPr>
        <p:spPr bwMode="auto">
          <a:xfrm rot="16200000">
            <a:off x="1245395" y="4028282"/>
            <a:ext cx="1431925" cy="265113"/>
          </a:xfrm>
          <a:prstGeom prst="rect">
            <a:avLst/>
          </a:prstGeom>
          <a:solidFill>
            <a:srgbClr val="99CC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3025" tIns="36512" rIns="73025" bIns="36512">
            <a:spAutoFit/>
          </a:bodyPr>
          <a:lstStyle>
            <a:lvl1pPr defTabSz="585788">
              <a:defRPr sz="1200">
                <a:solidFill>
                  <a:schemeClr val="tx1"/>
                </a:solidFill>
                <a:latin typeface="GE Inspira" panose="020F0603030400020203" pitchFamily="34" charset="0"/>
              </a:defRPr>
            </a:lvl1pPr>
            <a:lvl2pPr marL="742950" indent="-285750" defTabSz="585788">
              <a:defRPr sz="1200">
                <a:solidFill>
                  <a:schemeClr val="tx1"/>
                </a:solidFill>
                <a:latin typeface="GE Inspira" panose="020F0603030400020203" pitchFamily="34" charset="0"/>
              </a:defRPr>
            </a:lvl2pPr>
            <a:lvl3pPr marL="1143000" indent="-228600" defTabSz="585788">
              <a:defRPr sz="1200">
                <a:solidFill>
                  <a:schemeClr val="tx1"/>
                </a:solidFill>
                <a:latin typeface="GE Inspira" panose="020F0603030400020203" pitchFamily="34" charset="0"/>
              </a:defRPr>
            </a:lvl3pPr>
            <a:lvl4pPr marL="1600200" indent="-228600" defTabSz="585788">
              <a:defRPr sz="1200">
                <a:solidFill>
                  <a:schemeClr val="tx1"/>
                </a:solidFill>
                <a:latin typeface="GE Inspira" panose="020F0603030400020203" pitchFamily="34" charset="0"/>
              </a:defRPr>
            </a:lvl4pPr>
            <a:lvl5pPr marL="2057400" indent="-228600" defTabSz="585788">
              <a:defRPr sz="1200">
                <a:solidFill>
                  <a:schemeClr val="tx1"/>
                </a:solidFill>
                <a:latin typeface="GE Inspira" panose="020F0603030400020203" pitchFamily="34" charset="0"/>
              </a:defRPr>
            </a:lvl5pPr>
            <a:lvl6pPr marL="2514600" indent="-228600" defTabSz="585788" eaLnBrk="0" fontAlgn="base" hangingPunct="0">
              <a:spcBef>
                <a:spcPct val="0"/>
              </a:spcBef>
              <a:spcAft>
                <a:spcPct val="0"/>
              </a:spcAft>
              <a:defRPr sz="1200">
                <a:solidFill>
                  <a:schemeClr val="tx1"/>
                </a:solidFill>
                <a:latin typeface="GE Inspira" panose="020F0603030400020203" pitchFamily="34" charset="0"/>
              </a:defRPr>
            </a:lvl6pPr>
            <a:lvl7pPr marL="2971800" indent="-228600" defTabSz="585788" eaLnBrk="0" fontAlgn="base" hangingPunct="0">
              <a:spcBef>
                <a:spcPct val="0"/>
              </a:spcBef>
              <a:spcAft>
                <a:spcPct val="0"/>
              </a:spcAft>
              <a:defRPr sz="1200">
                <a:solidFill>
                  <a:schemeClr val="tx1"/>
                </a:solidFill>
                <a:latin typeface="GE Inspira" panose="020F0603030400020203" pitchFamily="34" charset="0"/>
              </a:defRPr>
            </a:lvl7pPr>
            <a:lvl8pPr marL="3429000" indent="-228600" defTabSz="585788" eaLnBrk="0" fontAlgn="base" hangingPunct="0">
              <a:spcBef>
                <a:spcPct val="0"/>
              </a:spcBef>
              <a:spcAft>
                <a:spcPct val="0"/>
              </a:spcAft>
              <a:defRPr sz="1200">
                <a:solidFill>
                  <a:schemeClr val="tx1"/>
                </a:solidFill>
                <a:latin typeface="GE Inspira" panose="020F0603030400020203" pitchFamily="34" charset="0"/>
              </a:defRPr>
            </a:lvl8pPr>
            <a:lvl9pPr marL="3886200" indent="-228600" defTabSz="585788"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i="1">
                <a:latin typeface="Arial" panose="020B0604020202020204" pitchFamily="34" charset="0"/>
              </a:rPr>
              <a:t>Limit Scheduling</a:t>
            </a:r>
          </a:p>
        </p:txBody>
      </p:sp>
      <p:sp>
        <p:nvSpPr>
          <p:cNvPr id="76854" name="Text Box 89"/>
          <p:cNvSpPr txBox="1">
            <a:spLocks noChangeArrowheads="1"/>
          </p:cNvSpPr>
          <p:nvPr/>
        </p:nvSpPr>
        <p:spPr bwMode="auto">
          <a:xfrm>
            <a:off x="4803776" y="5324475"/>
            <a:ext cx="9874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Surrogates</a:t>
            </a:r>
          </a:p>
        </p:txBody>
      </p:sp>
      <p:sp>
        <p:nvSpPr>
          <p:cNvPr id="76855" name="Line 90"/>
          <p:cNvSpPr>
            <a:spLocks noChangeShapeType="1"/>
          </p:cNvSpPr>
          <p:nvPr/>
        </p:nvSpPr>
        <p:spPr bwMode="auto">
          <a:xfrm>
            <a:off x="1757364" y="3048000"/>
            <a:ext cx="8586787"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56" name="Line 91"/>
          <p:cNvSpPr>
            <a:spLocks noChangeShapeType="1"/>
          </p:cNvSpPr>
          <p:nvPr/>
        </p:nvSpPr>
        <p:spPr bwMode="auto">
          <a:xfrm>
            <a:off x="8789988" y="1666875"/>
            <a:ext cx="762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57" name="Text Box 94"/>
          <p:cNvSpPr txBox="1">
            <a:spLocks noChangeArrowheads="1"/>
          </p:cNvSpPr>
          <p:nvPr/>
        </p:nvSpPr>
        <p:spPr bwMode="auto">
          <a:xfrm>
            <a:off x="5846763" y="2468564"/>
            <a:ext cx="9207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Iso-Therm</a:t>
            </a:r>
          </a:p>
        </p:txBody>
      </p:sp>
      <p:sp>
        <p:nvSpPr>
          <p:cNvPr id="76858" name="Line 95"/>
          <p:cNvSpPr>
            <a:spLocks noChangeShapeType="1"/>
          </p:cNvSpPr>
          <p:nvPr/>
        </p:nvSpPr>
        <p:spPr bwMode="auto">
          <a:xfrm>
            <a:off x="5918200" y="2709863"/>
            <a:ext cx="9144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59" name="Line 96"/>
          <p:cNvSpPr>
            <a:spLocks noChangeShapeType="1"/>
          </p:cNvSpPr>
          <p:nvPr/>
        </p:nvSpPr>
        <p:spPr bwMode="auto">
          <a:xfrm>
            <a:off x="6451600" y="2041525"/>
            <a:ext cx="381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60" name="Text Box 97"/>
          <p:cNvSpPr txBox="1">
            <a:spLocks noChangeArrowheads="1"/>
          </p:cNvSpPr>
          <p:nvPr/>
        </p:nvSpPr>
        <p:spPr bwMode="auto">
          <a:xfrm rot="16200000">
            <a:off x="6449220" y="2212182"/>
            <a:ext cx="1050925" cy="28416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a:latin typeface="Arial" panose="020B0604020202020204" pitchFamily="34" charset="0"/>
              </a:rPr>
              <a:t>  MINIMUM  </a:t>
            </a:r>
          </a:p>
        </p:txBody>
      </p:sp>
      <p:sp>
        <p:nvSpPr>
          <p:cNvPr id="76861" name="Text Box 98"/>
          <p:cNvSpPr txBox="1">
            <a:spLocks noChangeArrowheads="1"/>
          </p:cNvSpPr>
          <p:nvPr/>
        </p:nvSpPr>
        <p:spPr bwMode="auto">
          <a:xfrm>
            <a:off x="7123114" y="2011364"/>
            <a:ext cx="6826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Tx_req</a:t>
            </a:r>
          </a:p>
        </p:txBody>
      </p:sp>
      <p:sp>
        <p:nvSpPr>
          <p:cNvPr id="76862" name="Line 99"/>
          <p:cNvSpPr>
            <a:spLocks noChangeShapeType="1"/>
          </p:cNvSpPr>
          <p:nvPr/>
        </p:nvSpPr>
        <p:spPr bwMode="auto">
          <a:xfrm flipV="1">
            <a:off x="7123113" y="2281238"/>
            <a:ext cx="7366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63" name="Oval 100"/>
          <p:cNvSpPr>
            <a:spLocks noChangeArrowheads="1"/>
          </p:cNvSpPr>
          <p:nvPr/>
        </p:nvSpPr>
        <p:spPr bwMode="auto">
          <a:xfrm>
            <a:off x="7859713" y="2205038"/>
            <a:ext cx="152400" cy="152400"/>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864" name="Text Box 101"/>
          <p:cNvSpPr txBox="1">
            <a:spLocks noChangeArrowheads="1"/>
          </p:cNvSpPr>
          <p:nvPr/>
        </p:nvSpPr>
        <p:spPr bwMode="auto">
          <a:xfrm>
            <a:off x="7935913" y="2519364"/>
            <a:ext cx="3619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Tx</a:t>
            </a:r>
          </a:p>
        </p:txBody>
      </p:sp>
      <p:sp>
        <p:nvSpPr>
          <p:cNvPr id="76865" name="Line 102"/>
          <p:cNvSpPr>
            <a:spLocks noChangeShapeType="1"/>
          </p:cNvSpPr>
          <p:nvPr/>
        </p:nvSpPr>
        <p:spPr bwMode="auto">
          <a:xfrm flipV="1">
            <a:off x="7935913" y="2357438"/>
            <a:ext cx="0" cy="43656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66" name="Line 103"/>
          <p:cNvSpPr>
            <a:spLocks noChangeShapeType="1"/>
          </p:cNvSpPr>
          <p:nvPr/>
        </p:nvSpPr>
        <p:spPr bwMode="auto">
          <a:xfrm>
            <a:off x="7935914" y="2794000"/>
            <a:ext cx="16351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67" name="Line 104"/>
          <p:cNvSpPr>
            <a:spLocks noChangeShapeType="1"/>
          </p:cNvSpPr>
          <p:nvPr/>
        </p:nvSpPr>
        <p:spPr bwMode="auto">
          <a:xfrm>
            <a:off x="8012113" y="2281238"/>
            <a:ext cx="347662"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68" name="Text Box 105"/>
          <p:cNvSpPr txBox="1">
            <a:spLocks noChangeArrowheads="1"/>
          </p:cNvSpPr>
          <p:nvPr/>
        </p:nvSpPr>
        <p:spPr bwMode="auto">
          <a:xfrm>
            <a:off x="8359776" y="2125663"/>
            <a:ext cx="454025" cy="2841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a:latin typeface="Arial" panose="020B0604020202020204" pitchFamily="34" charset="0"/>
              </a:rPr>
              <a:t>P+I</a:t>
            </a:r>
          </a:p>
        </p:txBody>
      </p:sp>
      <p:sp>
        <p:nvSpPr>
          <p:cNvPr id="76869" name="Text Box 106"/>
          <p:cNvSpPr txBox="1">
            <a:spLocks noChangeArrowheads="1"/>
          </p:cNvSpPr>
          <p:nvPr/>
        </p:nvSpPr>
        <p:spPr bwMode="auto">
          <a:xfrm>
            <a:off x="7704138" y="2006600"/>
            <a:ext cx="27305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latin typeface="Arial" panose="020B0604020202020204" pitchFamily="34" charset="0"/>
              </a:rPr>
              <a:t>+</a:t>
            </a:r>
          </a:p>
        </p:txBody>
      </p:sp>
      <p:sp>
        <p:nvSpPr>
          <p:cNvPr id="76870" name="Text Box 107"/>
          <p:cNvSpPr txBox="1">
            <a:spLocks noChangeArrowheads="1"/>
          </p:cNvSpPr>
          <p:nvPr/>
        </p:nvSpPr>
        <p:spPr bwMode="auto">
          <a:xfrm>
            <a:off x="7958138" y="2281239"/>
            <a:ext cx="2349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latin typeface="Arial" panose="020B0604020202020204" pitchFamily="34" charset="0"/>
              </a:rPr>
              <a:t>-</a:t>
            </a:r>
          </a:p>
        </p:txBody>
      </p:sp>
      <p:sp>
        <p:nvSpPr>
          <p:cNvPr id="76871" name="Line 108"/>
          <p:cNvSpPr>
            <a:spLocks noChangeShapeType="1"/>
          </p:cNvSpPr>
          <p:nvPr/>
        </p:nvSpPr>
        <p:spPr bwMode="auto">
          <a:xfrm>
            <a:off x="8813800" y="2281238"/>
            <a:ext cx="73818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72" name="Text Box 115"/>
          <p:cNvSpPr txBox="1">
            <a:spLocks noChangeArrowheads="1"/>
          </p:cNvSpPr>
          <p:nvPr/>
        </p:nvSpPr>
        <p:spPr bwMode="auto">
          <a:xfrm>
            <a:off x="8848726" y="1828800"/>
            <a:ext cx="727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W_fuel </a:t>
            </a:r>
          </a:p>
          <a:p>
            <a:r>
              <a:rPr lang="en-US" altLang="en-US" b="1">
                <a:solidFill>
                  <a:schemeClr val="hlink"/>
                </a:solidFill>
                <a:latin typeface="Arial" panose="020B0604020202020204" pitchFamily="34" charset="0"/>
              </a:rPr>
              <a:t>/ IGV</a:t>
            </a:r>
          </a:p>
        </p:txBody>
      </p:sp>
      <p:sp>
        <p:nvSpPr>
          <p:cNvPr id="76873" name="Text Box 118"/>
          <p:cNvSpPr txBox="1">
            <a:spLocks noChangeArrowheads="1"/>
          </p:cNvSpPr>
          <p:nvPr/>
        </p:nvSpPr>
        <p:spPr bwMode="auto">
          <a:xfrm>
            <a:off x="6858000" y="1243014"/>
            <a:ext cx="9271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TTRF </a:t>
            </a:r>
            <a:r>
              <a:rPr lang="en-US" altLang="en-US" b="1">
                <a:latin typeface="Arial" panose="020B0604020202020204" pitchFamily="34" charset="0"/>
              </a:rPr>
              <a:t>~</a:t>
            </a:r>
            <a:r>
              <a:rPr lang="en-US" altLang="en-US" b="1">
                <a:solidFill>
                  <a:schemeClr val="hlink"/>
                </a:solidFill>
                <a:latin typeface="Arial" panose="020B0604020202020204" pitchFamily="34" charset="0"/>
              </a:rPr>
              <a:t> </a:t>
            </a:r>
            <a:r>
              <a:rPr lang="en-US" altLang="en-US" b="1">
                <a:latin typeface="Arial" panose="020B0604020202020204" pitchFamily="34" charset="0"/>
              </a:rPr>
              <a:t>Tx</a:t>
            </a:r>
          </a:p>
        </p:txBody>
      </p:sp>
      <p:sp>
        <p:nvSpPr>
          <p:cNvPr id="76874" name="Line 119"/>
          <p:cNvSpPr>
            <a:spLocks noChangeShapeType="1"/>
          </p:cNvSpPr>
          <p:nvPr/>
        </p:nvSpPr>
        <p:spPr bwMode="auto">
          <a:xfrm>
            <a:off x="6891339" y="1524000"/>
            <a:ext cx="981075"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75" name="Rectangle 120"/>
          <p:cNvSpPr>
            <a:spLocks noChangeArrowheads="1"/>
          </p:cNvSpPr>
          <p:nvPr/>
        </p:nvSpPr>
        <p:spPr bwMode="auto">
          <a:xfrm>
            <a:off x="7878764" y="1174750"/>
            <a:ext cx="911225" cy="7572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876" name="Freeform 121"/>
          <p:cNvSpPr>
            <a:spLocks/>
          </p:cNvSpPr>
          <p:nvPr/>
        </p:nvSpPr>
        <p:spPr bwMode="auto">
          <a:xfrm>
            <a:off x="8193088" y="1330325"/>
            <a:ext cx="520700" cy="280988"/>
          </a:xfrm>
          <a:custGeom>
            <a:avLst/>
            <a:gdLst>
              <a:gd name="T0" fmla="*/ 0 w 385"/>
              <a:gd name="T1" fmla="*/ 0 h 177"/>
              <a:gd name="T2" fmla="*/ 136599 w 385"/>
              <a:gd name="T3" fmla="*/ 79375 h 177"/>
              <a:gd name="T4" fmla="*/ 221805 w 385"/>
              <a:gd name="T5" fmla="*/ 142875 h 177"/>
              <a:gd name="T6" fmla="*/ 317830 w 385"/>
              <a:gd name="T7" fmla="*/ 204788 h 177"/>
              <a:gd name="T8" fmla="*/ 413855 w 385"/>
              <a:gd name="T9" fmla="*/ 268288 h 177"/>
              <a:gd name="T10" fmla="*/ 520700 w 385"/>
              <a:gd name="T11" fmla="*/ 279400 h 17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5" h="177">
                <a:moveTo>
                  <a:pt x="0" y="0"/>
                </a:moveTo>
                <a:cubicBezTo>
                  <a:pt x="17" y="8"/>
                  <a:pt x="74" y="35"/>
                  <a:pt x="101" y="50"/>
                </a:cubicBezTo>
                <a:cubicBezTo>
                  <a:pt x="128" y="65"/>
                  <a:pt x="142" y="77"/>
                  <a:pt x="164" y="90"/>
                </a:cubicBezTo>
                <a:cubicBezTo>
                  <a:pt x="186" y="103"/>
                  <a:pt x="211" y="116"/>
                  <a:pt x="235" y="129"/>
                </a:cubicBezTo>
                <a:cubicBezTo>
                  <a:pt x="259" y="142"/>
                  <a:pt x="281" y="161"/>
                  <a:pt x="306" y="169"/>
                </a:cubicBezTo>
                <a:cubicBezTo>
                  <a:pt x="331" y="177"/>
                  <a:pt x="369" y="175"/>
                  <a:pt x="385" y="176"/>
                </a:cubicBez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77" name="Line 122"/>
          <p:cNvSpPr>
            <a:spLocks noChangeShapeType="1"/>
          </p:cNvSpPr>
          <p:nvPr/>
        </p:nvSpPr>
        <p:spPr bwMode="auto">
          <a:xfrm flipH="1">
            <a:off x="8145463" y="1249363"/>
            <a:ext cx="0" cy="4683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78" name="Line 123"/>
          <p:cNvSpPr>
            <a:spLocks noChangeShapeType="1"/>
          </p:cNvSpPr>
          <p:nvPr/>
        </p:nvSpPr>
        <p:spPr bwMode="auto">
          <a:xfrm>
            <a:off x="8143876" y="1717676"/>
            <a:ext cx="582613" cy="4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78396" name="Text Box 124"/>
          <p:cNvSpPr txBox="1">
            <a:spLocks noChangeArrowheads="1"/>
          </p:cNvSpPr>
          <p:nvPr/>
        </p:nvSpPr>
        <p:spPr bwMode="auto">
          <a:xfrm rot="16200000">
            <a:off x="7677945" y="1373415"/>
            <a:ext cx="676275"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800" b="1">
                <a:solidFill>
                  <a:srgbClr val="000000"/>
                </a:solidFill>
                <a:latin typeface="Arial" panose="020B0604020202020204" pitchFamily="34" charset="0"/>
                <a:cs typeface="Times New Roman" panose="02020603050405020304" pitchFamily="18" charset="0"/>
              </a:rPr>
              <a:t>Splits</a:t>
            </a:r>
            <a:endParaRPr lang="en-US" altLang="en-US" sz="800" b="1">
              <a:solidFill>
                <a:srgbClr val="000000"/>
              </a:solidFill>
              <a:effectLst>
                <a:outerShdw blurRad="38100" dist="38100" dir="2700000" algn="tl">
                  <a:srgbClr val="C0C0C0"/>
                </a:outerShdw>
              </a:effectLst>
              <a:latin typeface="Arial" panose="020B0604020202020204" pitchFamily="34" charset="0"/>
              <a:cs typeface="Times New Roman" panose="02020603050405020304" pitchFamily="18" charset="0"/>
            </a:endParaRPr>
          </a:p>
        </p:txBody>
      </p:sp>
      <p:sp>
        <p:nvSpPr>
          <p:cNvPr id="1078397" name="Text Box 125"/>
          <p:cNvSpPr txBox="1">
            <a:spLocks noChangeArrowheads="1"/>
          </p:cNvSpPr>
          <p:nvPr/>
        </p:nvSpPr>
        <p:spPr bwMode="auto">
          <a:xfrm>
            <a:off x="8081964" y="1681164"/>
            <a:ext cx="630237"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en-US" sz="800" b="1">
                <a:solidFill>
                  <a:srgbClr val="000000"/>
                </a:solidFill>
                <a:latin typeface="Arial" panose="020B0604020202020204" pitchFamily="34" charset="0"/>
                <a:cs typeface="Times New Roman" panose="02020603050405020304" pitchFamily="18" charset="0"/>
              </a:rPr>
              <a:t>TTRF</a:t>
            </a:r>
            <a:endParaRPr lang="en-US" altLang="en-US" sz="800" b="1">
              <a:solidFill>
                <a:srgbClr val="000000"/>
              </a:solidFill>
              <a:effectLst>
                <a:outerShdw blurRad="38100" dist="38100" dir="2700000" algn="tl">
                  <a:srgbClr val="C0C0C0"/>
                </a:outerShdw>
              </a:effectLst>
              <a:latin typeface="Arial" panose="020B0604020202020204" pitchFamily="34" charset="0"/>
              <a:cs typeface="Times New Roman" panose="02020603050405020304" pitchFamily="18" charset="0"/>
            </a:endParaRPr>
          </a:p>
        </p:txBody>
      </p:sp>
      <p:sp>
        <p:nvSpPr>
          <p:cNvPr id="76881" name="Text Box 126"/>
          <p:cNvSpPr txBox="1">
            <a:spLocks noChangeArrowheads="1"/>
          </p:cNvSpPr>
          <p:nvPr/>
        </p:nvSpPr>
        <p:spPr bwMode="auto">
          <a:xfrm>
            <a:off x="8823326" y="1219200"/>
            <a:ext cx="600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Fuel </a:t>
            </a:r>
          </a:p>
          <a:p>
            <a:r>
              <a:rPr lang="en-US" altLang="en-US" b="1">
                <a:solidFill>
                  <a:schemeClr val="hlink"/>
                </a:solidFill>
                <a:latin typeface="Arial" panose="020B0604020202020204" pitchFamily="34" charset="0"/>
              </a:rPr>
              <a:t>Splits</a:t>
            </a:r>
          </a:p>
        </p:txBody>
      </p:sp>
      <p:sp>
        <p:nvSpPr>
          <p:cNvPr id="76882" name="Freeform 127"/>
          <p:cNvSpPr>
            <a:spLocks/>
          </p:cNvSpPr>
          <p:nvPr/>
        </p:nvSpPr>
        <p:spPr bwMode="auto">
          <a:xfrm>
            <a:off x="8193088" y="1266825"/>
            <a:ext cx="508000" cy="280988"/>
          </a:xfrm>
          <a:custGeom>
            <a:avLst/>
            <a:gdLst>
              <a:gd name="T0" fmla="*/ 0 w 351"/>
              <a:gd name="T1" fmla="*/ 0 h 177"/>
              <a:gd name="T2" fmla="*/ 108547 w 351"/>
              <a:gd name="T3" fmla="*/ 30163 h 177"/>
              <a:gd name="T4" fmla="*/ 215647 w 351"/>
              <a:gd name="T5" fmla="*/ 61913 h 177"/>
              <a:gd name="T6" fmla="*/ 353140 w 351"/>
              <a:gd name="T7" fmla="*/ 174625 h 177"/>
              <a:gd name="T8" fmla="*/ 416821 w 351"/>
              <a:gd name="T9" fmla="*/ 255588 h 177"/>
              <a:gd name="T10" fmla="*/ 508000 w 351"/>
              <a:gd name="T11" fmla="*/ 280988 h 17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1" h="177">
                <a:moveTo>
                  <a:pt x="0" y="0"/>
                </a:moveTo>
                <a:cubicBezTo>
                  <a:pt x="12" y="3"/>
                  <a:pt x="50" y="13"/>
                  <a:pt x="75" y="19"/>
                </a:cubicBezTo>
                <a:cubicBezTo>
                  <a:pt x="100" y="25"/>
                  <a:pt x="121" y="24"/>
                  <a:pt x="149" y="39"/>
                </a:cubicBezTo>
                <a:cubicBezTo>
                  <a:pt x="177" y="54"/>
                  <a:pt x="221" y="90"/>
                  <a:pt x="244" y="110"/>
                </a:cubicBezTo>
                <a:cubicBezTo>
                  <a:pt x="267" y="130"/>
                  <a:pt x="270" y="150"/>
                  <a:pt x="288" y="161"/>
                </a:cubicBezTo>
                <a:cubicBezTo>
                  <a:pt x="306" y="172"/>
                  <a:pt x="338" y="174"/>
                  <a:pt x="351" y="177"/>
                </a:cubicBezTo>
              </a:path>
            </a:pathLst>
          </a:custGeom>
          <a:noFill/>
          <a:ln w="1270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76883" name="Group 128"/>
          <p:cNvGrpSpPr>
            <a:grpSpLocks/>
          </p:cNvGrpSpPr>
          <p:nvPr/>
        </p:nvGrpSpPr>
        <p:grpSpPr bwMode="auto">
          <a:xfrm>
            <a:off x="9551988" y="1508126"/>
            <a:ext cx="792162" cy="1463675"/>
            <a:chOff x="5057" y="1046"/>
            <a:chExt cx="499" cy="922"/>
          </a:xfrm>
        </p:grpSpPr>
        <p:sp>
          <p:nvSpPr>
            <p:cNvPr id="76904" name="Rectangle 129"/>
            <p:cNvSpPr>
              <a:spLocks noChangeArrowheads="1"/>
            </p:cNvSpPr>
            <p:nvPr/>
          </p:nvSpPr>
          <p:spPr bwMode="auto">
            <a:xfrm rot="5400000">
              <a:off x="4846" y="1257"/>
              <a:ext cx="922" cy="499"/>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05" name="AutoShape 130"/>
            <p:cNvSpPr>
              <a:spLocks noChangeArrowheads="1"/>
            </p:cNvSpPr>
            <p:nvPr/>
          </p:nvSpPr>
          <p:spPr bwMode="auto">
            <a:xfrm>
              <a:off x="5131" y="1140"/>
              <a:ext cx="347" cy="337"/>
            </a:xfrm>
            <a:custGeom>
              <a:avLst/>
              <a:gdLst>
                <a:gd name="T0" fmla="*/ 304 w 21600"/>
                <a:gd name="T1" fmla="*/ 169 h 21600"/>
                <a:gd name="T2" fmla="*/ 174 w 21600"/>
                <a:gd name="T3" fmla="*/ 337 h 21600"/>
                <a:gd name="T4" fmla="*/ 43 w 21600"/>
                <a:gd name="T5" fmla="*/ 169 h 21600"/>
                <a:gd name="T6" fmla="*/ 174 w 21600"/>
                <a:gd name="T7" fmla="*/ 0 h 21600"/>
                <a:gd name="T8" fmla="*/ 0 60000 65536"/>
                <a:gd name="T9" fmla="*/ 0 60000 65536"/>
                <a:gd name="T10" fmla="*/ 0 60000 65536"/>
                <a:gd name="T11" fmla="*/ 0 60000 65536"/>
                <a:gd name="T12" fmla="*/ 4482 w 21600"/>
                <a:gd name="T13" fmla="*/ 4487 h 21600"/>
                <a:gd name="T14" fmla="*/ 17118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906" name="AutoShape 131"/>
            <p:cNvSpPr>
              <a:spLocks noChangeArrowheads="1"/>
            </p:cNvSpPr>
            <p:nvPr/>
          </p:nvSpPr>
          <p:spPr bwMode="auto">
            <a:xfrm flipV="1">
              <a:off x="5177" y="1702"/>
              <a:ext cx="268" cy="178"/>
            </a:xfrm>
            <a:custGeom>
              <a:avLst/>
              <a:gdLst>
                <a:gd name="T0" fmla="*/ 235 w 21600"/>
                <a:gd name="T1" fmla="*/ 89 h 21600"/>
                <a:gd name="T2" fmla="*/ 134 w 21600"/>
                <a:gd name="T3" fmla="*/ 178 h 21600"/>
                <a:gd name="T4" fmla="*/ 34 w 21600"/>
                <a:gd name="T5" fmla="*/ 89 h 21600"/>
                <a:gd name="T6" fmla="*/ 134 w 21600"/>
                <a:gd name="T7" fmla="*/ 0 h 21600"/>
                <a:gd name="T8" fmla="*/ 0 60000 65536"/>
                <a:gd name="T9" fmla="*/ 0 60000 65536"/>
                <a:gd name="T10" fmla="*/ 0 60000 65536"/>
                <a:gd name="T11" fmla="*/ 0 60000 65536"/>
                <a:gd name="T12" fmla="*/ 4513 w 21600"/>
                <a:gd name="T13" fmla="*/ 4490 h 21600"/>
                <a:gd name="T14" fmla="*/ 17087 w 21600"/>
                <a:gd name="T15" fmla="*/ 1711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907" name="Rectangle 132"/>
            <p:cNvSpPr>
              <a:spLocks noChangeArrowheads="1"/>
            </p:cNvSpPr>
            <p:nvPr/>
          </p:nvSpPr>
          <p:spPr bwMode="auto">
            <a:xfrm rot="-1557365">
              <a:off x="5131" y="1479"/>
              <a:ext cx="92" cy="179"/>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08" name="Rectangle 133"/>
            <p:cNvSpPr>
              <a:spLocks noChangeArrowheads="1"/>
            </p:cNvSpPr>
            <p:nvPr/>
          </p:nvSpPr>
          <p:spPr bwMode="auto">
            <a:xfrm rot="5400000">
              <a:off x="5191" y="1566"/>
              <a:ext cx="225" cy="4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09" name="Rectangle 134"/>
            <p:cNvSpPr>
              <a:spLocks noChangeArrowheads="1"/>
            </p:cNvSpPr>
            <p:nvPr/>
          </p:nvSpPr>
          <p:spPr bwMode="auto">
            <a:xfrm rot="12357365" flipV="1">
              <a:off x="5389" y="1477"/>
              <a:ext cx="92" cy="179"/>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grpSp>
      <p:sp>
        <p:nvSpPr>
          <p:cNvPr id="76884" name="Text Box 135"/>
          <p:cNvSpPr txBox="1">
            <a:spLocks noChangeArrowheads="1"/>
          </p:cNvSpPr>
          <p:nvPr/>
        </p:nvSpPr>
        <p:spPr bwMode="auto">
          <a:xfrm>
            <a:off x="1651001" y="1295401"/>
            <a:ext cx="3751263" cy="172354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2713" indent="-112713">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buFontTx/>
              <a:buChar char="•"/>
            </a:pPr>
            <a:r>
              <a:rPr lang="en-US" altLang="en-US" sz="1400">
                <a:latin typeface="Arial" panose="020B0604020202020204" pitchFamily="34" charset="0"/>
              </a:rPr>
              <a:t>Approximate Boundary Protection                                </a:t>
            </a:r>
            <a:r>
              <a:rPr lang="en-US" altLang="en-US" sz="1000">
                <a:latin typeface="Arial" panose="020B0604020202020204" pitchFamily="34" charset="0"/>
              </a:rPr>
              <a:t>(Accommodate Worst-Case Condition)</a:t>
            </a:r>
          </a:p>
          <a:p>
            <a:endParaRPr lang="en-US" altLang="en-US" sz="1000">
              <a:latin typeface="Arial" panose="020B0604020202020204" pitchFamily="34" charset="0"/>
            </a:endParaRPr>
          </a:p>
          <a:p>
            <a:pPr eaLnBrk="1" hangingPunct="1">
              <a:buFontTx/>
              <a:buChar char="•"/>
            </a:pPr>
            <a:r>
              <a:rPr lang="en-US" altLang="en-US" sz="1400">
                <a:latin typeface="Arial" panose="020B0604020202020204" pitchFamily="34" charset="0"/>
              </a:rPr>
              <a:t>No Explicit Accommodation Of Machine Deterioration                                            </a:t>
            </a:r>
            <a:r>
              <a:rPr lang="en-US" altLang="en-US" sz="1000">
                <a:latin typeface="Arial" panose="020B0604020202020204" pitchFamily="34" charset="0"/>
              </a:rPr>
              <a:t>(New &amp; Clean / Mean Machine Assumption)</a:t>
            </a:r>
          </a:p>
          <a:p>
            <a:pPr eaLnBrk="1" hangingPunct="1"/>
            <a:endParaRPr lang="en-US" altLang="en-US" sz="1000">
              <a:latin typeface="Arial" panose="020B0604020202020204" pitchFamily="34" charset="0"/>
            </a:endParaRPr>
          </a:p>
          <a:p>
            <a:pPr>
              <a:buFontTx/>
              <a:buChar char="•"/>
            </a:pPr>
            <a:r>
              <a:rPr lang="en-US" altLang="en-US" sz="1400">
                <a:latin typeface="Arial" panose="020B0604020202020204" pitchFamily="34" charset="0"/>
              </a:rPr>
              <a:t>Coupled Effectors Prohibit Optimization                            </a:t>
            </a:r>
            <a:r>
              <a:rPr lang="en-US" altLang="en-US" sz="1000">
                <a:latin typeface="Arial" panose="020B0604020202020204" pitchFamily="34" charset="0"/>
              </a:rPr>
              <a:t>(Part-Load Exhaust Temperature &amp; Fuel Splits)</a:t>
            </a:r>
            <a:endParaRPr lang="en-US" altLang="en-US" sz="900">
              <a:latin typeface="Arial" panose="020B0604020202020204" pitchFamily="34" charset="0"/>
            </a:endParaRPr>
          </a:p>
        </p:txBody>
      </p:sp>
      <p:grpSp>
        <p:nvGrpSpPr>
          <p:cNvPr id="76885" name="Group 136"/>
          <p:cNvGrpSpPr>
            <a:grpSpLocks/>
          </p:cNvGrpSpPr>
          <p:nvPr/>
        </p:nvGrpSpPr>
        <p:grpSpPr bwMode="auto">
          <a:xfrm>
            <a:off x="6396038" y="3594101"/>
            <a:ext cx="792162" cy="1463675"/>
            <a:chOff x="5057" y="1046"/>
            <a:chExt cx="499" cy="922"/>
          </a:xfrm>
        </p:grpSpPr>
        <p:sp>
          <p:nvSpPr>
            <p:cNvPr id="76898" name="Rectangle 137"/>
            <p:cNvSpPr>
              <a:spLocks noChangeArrowheads="1"/>
            </p:cNvSpPr>
            <p:nvPr/>
          </p:nvSpPr>
          <p:spPr bwMode="auto">
            <a:xfrm rot="5400000">
              <a:off x="4846" y="1257"/>
              <a:ext cx="922" cy="499"/>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899" name="AutoShape 138"/>
            <p:cNvSpPr>
              <a:spLocks noChangeArrowheads="1"/>
            </p:cNvSpPr>
            <p:nvPr/>
          </p:nvSpPr>
          <p:spPr bwMode="auto">
            <a:xfrm>
              <a:off x="5131" y="1140"/>
              <a:ext cx="347" cy="337"/>
            </a:xfrm>
            <a:custGeom>
              <a:avLst/>
              <a:gdLst>
                <a:gd name="T0" fmla="*/ 304 w 21600"/>
                <a:gd name="T1" fmla="*/ 169 h 21600"/>
                <a:gd name="T2" fmla="*/ 174 w 21600"/>
                <a:gd name="T3" fmla="*/ 337 h 21600"/>
                <a:gd name="T4" fmla="*/ 43 w 21600"/>
                <a:gd name="T5" fmla="*/ 169 h 21600"/>
                <a:gd name="T6" fmla="*/ 174 w 21600"/>
                <a:gd name="T7" fmla="*/ 0 h 21600"/>
                <a:gd name="T8" fmla="*/ 0 60000 65536"/>
                <a:gd name="T9" fmla="*/ 0 60000 65536"/>
                <a:gd name="T10" fmla="*/ 0 60000 65536"/>
                <a:gd name="T11" fmla="*/ 0 60000 65536"/>
                <a:gd name="T12" fmla="*/ 4482 w 21600"/>
                <a:gd name="T13" fmla="*/ 4487 h 21600"/>
                <a:gd name="T14" fmla="*/ 17118 w 21600"/>
                <a:gd name="T15" fmla="*/ 1711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900" name="AutoShape 139"/>
            <p:cNvSpPr>
              <a:spLocks noChangeArrowheads="1"/>
            </p:cNvSpPr>
            <p:nvPr/>
          </p:nvSpPr>
          <p:spPr bwMode="auto">
            <a:xfrm flipV="1">
              <a:off x="5177" y="1702"/>
              <a:ext cx="268" cy="178"/>
            </a:xfrm>
            <a:custGeom>
              <a:avLst/>
              <a:gdLst>
                <a:gd name="T0" fmla="*/ 235 w 21600"/>
                <a:gd name="T1" fmla="*/ 89 h 21600"/>
                <a:gd name="T2" fmla="*/ 134 w 21600"/>
                <a:gd name="T3" fmla="*/ 178 h 21600"/>
                <a:gd name="T4" fmla="*/ 34 w 21600"/>
                <a:gd name="T5" fmla="*/ 89 h 21600"/>
                <a:gd name="T6" fmla="*/ 134 w 21600"/>
                <a:gd name="T7" fmla="*/ 0 h 21600"/>
                <a:gd name="T8" fmla="*/ 0 60000 65536"/>
                <a:gd name="T9" fmla="*/ 0 60000 65536"/>
                <a:gd name="T10" fmla="*/ 0 60000 65536"/>
                <a:gd name="T11" fmla="*/ 0 60000 65536"/>
                <a:gd name="T12" fmla="*/ 4513 w 21600"/>
                <a:gd name="T13" fmla="*/ 4490 h 21600"/>
                <a:gd name="T14" fmla="*/ 17087 w 21600"/>
                <a:gd name="T15" fmla="*/ 1711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6901" name="Rectangle 140"/>
            <p:cNvSpPr>
              <a:spLocks noChangeArrowheads="1"/>
            </p:cNvSpPr>
            <p:nvPr/>
          </p:nvSpPr>
          <p:spPr bwMode="auto">
            <a:xfrm rot="-1557365">
              <a:off x="5131" y="1479"/>
              <a:ext cx="92" cy="179"/>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02" name="Rectangle 141"/>
            <p:cNvSpPr>
              <a:spLocks noChangeArrowheads="1"/>
            </p:cNvSpPr>
            <p:nvPr/>
          </p:nvSpPr>
          <p:spPr bwMode="auto">
            <a:xfrm rot="5400000">
              <a:off x="5191" y="1566"/>
              <a:ext cx="225" cy="4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903" name="Rectangle 142"/>
            <p:cNvSpPr>
              <a:spLocks noChangeArrowheads="1"/>
            </p:cNvSpPr>
            <p:nvPr/>
          </p:nvSpPr>
          <p:spPr bwMode="auto">
            <a:xfrm rot="12357365" flipV="1">
              <a:off x="5389" y="1477"/>
              <a:ext cx="92" cy="179"/>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grpSp>
      <p:sp>
        <p:nvSpPr>
          <p:cNvPr id="76886" name="Text Box 143"/>
          <p:cNvSpPr txBox="1">
            <a:spLocks noChangeArrowheads="1"/>
          </p:cNvSpPr>
          <p:nvPr/>
        </p:nvSpPr>
        <p:spPr bwMode="auto">
          <a:xfrm>
            <a:off x="1676400" y="898526"/>
            <a:ext cx="52466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38138" indent="-338138">
              <a:defRPr sz="1200">
                <a:solidFill>
                  <a:schemeClr val="tx1"/>
                </a:solidFill>
                <a:latin typeface="GE Inspira" panose="020F0603030400020203" pitchFamily="34" charset="0"/>
              </a:defRPr>
            </a:lvl1pPr>
            <a:lvl2pPr marL="1300163" indent="-609600">
              <a:defRPr sz="1200">
                <a:solidFill>
                  <a:schemeClr val="tx1"/>
                </a:solidFill>
                <a:latin typeface="GE Inspira" panose="020F0603030400020203" pitchFamily="34" charset="0"/>
              </a:defRPr>
            </a:lvl2pPr>
            <a:lvl3pPr marL="2024063" indent="-609600">
              <a:defRPr sz="1200">
                <a:solidFill>
                  <a:schemeClr val="tx1"/>
                </a:solidFill>
                <a:latin typeface="GE Inspira" panose="020F0603030400020203" pitchFamily="34" charset="0"/>
              </a:defRPr>
            </a:lvl3pPr>
            <a:lvl4pPr marL="2747963" indent="-609600">
              <a:defRPr sz="1200">
                <a:solidFill>
                  <a:schemeClr val="tx1"/>
                </a:solidFill>
                <a:latin typeface="GE Inspira" panose="020F0603030400020203" pitchFamily="34" charset="0"/>
              </a:defRPr>
            </a:lvl4pPr>
            <a:lvl5pPr marL="3471863" indent="-609600">
              <a:defRPr sz="1200">
                <a:solidFill>
                  <a:schemeClr val="tx1"/>
                </a:solidFill>
                <a:latin typeface="GE Inspira" panose="020F0603030400020203" pitchFamily="34" charset="0"/>
              </a:defRPr>
            </a:lvl5pPr>
            <a:lvl6pPr marL="3929063" indent="-609600" eaLnBrk="0" fontAlgn="base" hangingPunct="0">
              <a:spcBef>
                <a:spcPct val="0"/>
              </a:spcBef>
              <a:spcAft>
                <a:spcPct val="0"/>
              </a:spcAft>
              <a:defRPr sz="1200">
                <a:solidFill>
                  <a:schemeClr val="tx1"/>
                </a:solidFill>
                <a:latin typeface="GE Inspira" panose="020F0603030400020203" pitchFamily="34" charset="0"/>
              </a:defRPr>
            </a:lvl6pPr>
            <a:lvl7pPr marL="4386263" indent="-609600" eaLnBrk="0" fontAlgn="base" hangingPunct="0">
              <a:spcBef>
                <a:spcPct val="0"/>
              </a:spcBef>
              <a:spcAft>
                <a:spcPct val="0"/>
              </a:spcAft>
              <a:defRPr sz="1200">
                <a:solidFill>
                  <a:schemeClr val="tx1"/>
                </a:solidFill>
                <a:latin typeface="GE Inspira" panose="020F0603030400020203" pitchFamily="34" charset="0"/>
              </a:defRPr>
            </a:lvl7pPr>
            <a:lvl8pPr marL="4843463" indent="-609600" eaLnBrk="0" fontAlgn="base" hangingPunct="0">
              <a:spcBef>
                <a:spcPct val="0"/>
              </a:spcBef>
              <a:spcAft>
                <a:spcPct val="0"/>
              </a:spcAft>
              <a:defRPr sz="1200">
                <a:solidFill>
                  <a:schemeClr val="tx1"/>
                </a:solidFill>
                <a:latin typeface="GE Inspira" panose="020F0603030400020203" pitchFamily="34" charset="0"/>
              </a:defRPr>
            </a:lvl8pPr>
            <a:lvl9pPr marL="5300663" indent="-609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sz="2000" b="1" dirty="0">
                <a:solidFill>
                  <a:srgbClr val="000000"/>
                </a:solidFill>
              </a:rPr>
              <a:t>Indirect (</a:t>
            </a:r>
            <a:r>
              <a:rPr lang="en-US" altLang="en-US" sz="2000" b="1" dirty="0" err="1">
                <a:solidFill>
                  <a:srgbClr val="000000"/>
                </a:solidFill>
              </a:rPr>
              <a:t>Tx</a:t>
            </a:r>
            <a:r>
              <a:rPr lang="en-US" altLang="en-US" sz="2000" b="1" dirty="0">
                <a:solidFill>
                  <a:srgbClr val="000000"/>
                </a:solidFill>
              </a:rPr>
              <a:t> Space) Boundary Control</a:t>
            </a:r>
          </a:p>
        </p:txBody>
      </p:sp>
      <p:sp>
        <p:nvSpPr>
          <p:cNvPr id="76887" name="Text Box 144"/>
          <p:cNvSpPr txBox="1">
            <a:spLocks noChangeArrowheads="1"/>
          </p:cNvSpPr>
          <p:nvPr/>
        </p:nvSpPr>
        <p:spPr bwMode="auto">
          <a:xfrm>
            <a:off x="3970339" y="3048001"/>
            <a:ext cx="64484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38138" indent="-338138">
              <a:defRPr sz="1200">
                <a:solidFill>
                  <a:schemeClr val="tx1"/>
                </a:solidFill>
                <a:latin typeface="GE Inspira" panose="020F0603030400020203" pitchFamily="34" charset="0"/>
              </a:defRPr>
            </a:lvl1pPr>
            <a:lvl2pPr marL="1300163" indent="-609600">
              <a:defRPr sz="1200">
                <a:solidFill>
                  <a:schemeClr val="tx1"/>
                </a:solidFill>
                <a:latin typeface="GE Inspira" panose="020F0603030400020203" pitchFamily="34" charset="0"/>
              </a:defRPr>
            </a:lvl2pPr>
            <a:lvl3pPr marL="2024063" indent="-609600">
              <a:defRPr sz="1200">
                <a:solidFill>
                  <a:schemeClr val="tx1"/>
                </a:solidFill>
                <a:latin typeface="GE Inspira" panose="020F0603030400020203" pitchFamily="34" charset="0"/>
              </a:defRPr>
            </a:lvl3pPr>
            <a:lvl4pPr marL="2747963" indent="-609600">
              <a:defRPr sz="1200">
                <a:solidFill>
                  <a:schemeClr val="tx1"/>
                </a:solidFill>
                <a:latin typeface="GE Inspira" panose="020F0603030400020203" pitchFamily="34" charset="0"/>
              </a:defRPr>
            </a:lvl4pPr>
            <a:lvl5pPr marL="3471863" indent="-609600">
              <a:defRPr sz="1200">
                <a:solidFill>
                  <a:schemeClr val="tx1"/>
                </a:solidFill>
                <a:latin typeface="GE Inspira" panose="020F0603030400020203" pitchFamily="34" charset="0"/>
              </a:defRPr>
            </a:lvl5pPr>
            <a:lvl6pPr marL="3929063" indent="-609600" eaLnBrk="0" fontAlgn="base" hangingPunct="0">
              <a:spcBef>
                <a:spcPct val="0"/>
              </a:spcBef>
              <a:spcAft>
                <a:spcPct val="0"/>
              </a:spcAft>
              <a:defRPr sz="1200">
                <a:solidFill>
                  <a:schemeClr val="tx1"/>
                </a:solidFill>
                <a:latin typeface="GE Inspira" panose="020F0603030400020203" pitchFamily="34" charset="0"/>
              </a:defRPr>
            </a:lvl6pPr>
            <a:lvl7pPr marL="4386263" indent="-609600" eaLnBrk="0" fontAlgn="base" hangingPunct="0">
              <a:spcBef>
                <a:spcPct val="0"/>
              </a:spcBef>
              <a:spcAft>
                <a:spcPct val="0"/>
              </a:spcAft>
              <a:defRPr sz="1200">
                <a:solidFill>
                  <a:schemeClr val="tx1"/>
                </a:solidFill>
                <a:latin typeface="GE Inspira" panose="020F0603030400020203" pitchFamily="34" charset="0"/>
              </a:defRPr>
            </a:lvl7pPr>
            <a:lvl8pPr marL="4843463" indent="-609600" eaLnBrk="0" fontAlgn="base" hangingPunct="0">
              <a:spcBef>
                <a:spcPct val="0"/>
              </a:spcBef>
              <a:spcAft>
                <a:spcPct val="0"/>
              </a:spcAft>
              <a:defRPr sz="1200">
                <a:solidFill>
                  <a:schemeClr val="tx1"/>
                </a:solidFill>
                <a:latin typeface="GE Inspira" panose="020F0603030400020203" pitchFamily="34" charset="0"/>
              </a:defRPr>
            </a:lvl8pPr>
            <a:lvl9pPr marL="5300663" indent="-609600" eaLnBrk="0" fontAlgn="base" hangingPunct="0">
              <a:spcBef>
                <a:spcPct val="0"/>
              </a:spcBef>
              <a:spcAft>
                <a:spcPct val="0"/>
              </a:spcAft>
              <a:defRPr sz="1200">
                <a:solidFill>
                  <a:schemeClr val="tx1"/>
                </a:solidFill>
                <a:latin typeface="GE Inspira" panose="020F0603030400020203" pitchFamily="34" charset="0"/>
              </a:defRPr>
            </a:lvl9pPr>
          </a:lstStyle>
          <a:p>
            <a:pPr algn="r"/>
            <a:r>
              <a:rPr lang="en-US" altLang="en-US" sz="2000" b="1">
                <a:solidFill>
                  <a:srgbClr val="000000"/>
                </a:solidFill>
              </a:rPr>
              <a:t>MBC : Direct (Boundary Space) Boundary Control</a:t>
            </a:r>
          </a:p>
        </p:txBody>
      </p:sp>
      <p:sp>
        <p:nvSpPr>
          <p:cNvPr id="76888" name="Text Box 145"/>
          <p:cNvSpPr txBox="1">
            <a:spLocks noChangeArrowheads="1"/>
          </p:cNvSpPr>
          <p:nvPr/>
        </p:nvSpPr>
        <p:spPr bwMode="auto">
          <a:xfrm>
            <a:off x="5181601" y="1525589"/>
            <a:ext cx="5048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CPR</a:t>
            </a:r>
          </a:p>
        </p:txBody>
      </p:sp>
      <p:sp>
        <p:nvSpPr>
          <p:cNvPr id="76889" name="Line 146"/>
          <p:cNvSpPr>
            <a:spLocks noChangeShapeType="1"/>
          </p:cNvSpPr>
          <p:nvPr/>
        </p:nvSpPr>
        <p:spPr bwMode="auto">
          <a:xfrm>
            <a:off x="5253039" y="1768475"/>
            <a:ext cx="528637"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90" name="Rectangle 147"/>
          <p:cNvSpPr>
            <a:spLocks noChangeArrowheads="1"/>
          </p:cNvSpPr>
          <p:nvPr/>
        </p:nvSpPr>
        <p:spPr bwMode="auto">
          <a:xfrm>
            <a:off x="5781675" y="1681164"/>
            <a:ext cx="808038" cy="75723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endParaRPr lang="en-US" altLang="en-US"/>
          </a:p>
        </p:txBody>
      </p:sp>
      <p:sp>
        <p:nvSpPr>
          <p:cNvPr id="76891" name="Text Box 148"/>
          <p:cNvSpPr txBox="1">
            <a:spLocks noChangeArrowheads="1"/>
          </p:cNvSpPr>
          <p:nvPr/>
        </p:nvSpPr>
        <p:spPr bwMode="auto">
          <a:xfrm>
            <a:off x="5181600" y="1751014"/>
            <a:ext cx="4968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TCD</a:t>
            </a:r>
          </a:p>
        </p:txBody>
      </p:sp>
      <p:sp>
        <p:nvSpPr>
          <p:cNvPr id="76892" name="Line 149"/>
          <p:cNvSpPr>
            <a:spLocks noChangeShapeType="1"/>
          </p:cNvSpPr>
          <p:nvPr/>
        </p:nvSpPr>
        <p:spPr bwMode="auto">
          <a:xfrm>
            <a:off x="5253039" y="1993900"/>
            <a:ext cx="528637"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93" name="Text Box 150"/>
          <p:cNvSpPr txBox="1">
            <a:spLocks noChangeArrowheads="1"/>
          </p:cNvSpPr>
          <p:nvPr/>
        </p:nvSpPr>
        <p:spPr bwMode="auto">
          <a:xfrm>
            <a:off x="5189539" y="1946275"/>
            <a:ext cx="3952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Arial" panose="020B0604020202020204" pitchFamily="34" charset="0"/>
              </a:rPr>
              <a:t>SH</a:t>
            </a:r>
          </a:p>
        </p:txBody>
      </p:sp>
      <p:sp>
        <p:nvSpPr>
          <p:cNvPr id="76894" name="Line 151"/>
          <p:cNvSpPr>
            <a:spLocks noChangeShapeType="1"/>
          </p:cNvSpPr>
          <p:nvPr/>
        </p:nvSpPr>
        <p:spPr bwMode="auto">
          <a:xfrm>
            <a:off x="5260975" y="2189163"/>
            <a:ext cx="528638"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95" name="Text Box 152"/>
          <p:cNvSpPr txBox="1">
            <a:spLocks noChangeArrowheads="1"/>
          </p:cNvSpPr>
          <p:nvPr/>
        </p:nvSpPr>
        <p:spPr bwMode="auto">
          <a:xfrm>
            <a:off x="5184776" y="2147889"/>
            <a:ext cx="4937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r>
              <a:rPr lang="en-US" altLang="en-US" b="1">
                <a:solidFill>
                  <a:schemeClr val="hlink"/>
                </a:solidFill>
                <a:latin typeface="Symbol" panose="05050102010706020507" pitchFamily="18" charset="2"/>
              </a:rPr>
              <a:t>D</a:t>
            </a:r>
            <a:r>
              <a:rPr lang="en-US" altLang="en-US" b="1">
                <a:solidFill>
                  <a:schemeClr val="hlink"/>
                </a:solidFill>
                <a:latin typeface="Arial" panose="020B0604020202020204" pitchFamily="34" charset="0"/>
              </a:rPr>
              <a:t>P</a:t>
            </a:r>
            <a:r>
              <a:rPr lang="en-US" altLang="en-US" b="1" baseline="-25000">
                <a:solidFill>
                  <a:schemeClr val="hlink"/>
                </a:solidFill>
                <a:latin typeface="Arial" panose="020B0604020202020204" pitchFamily="34" charset="0"/>
              </a:rPr>
              <a:t>xx</a:t>
            </a:r>
          </a:p>
        </p:txBody>
      </p:sp>
      <p:sp>
        <p:nvSpPr>
          <p:cNvPr id="76896" name="Line 153"/>
          <p:cNvSpPr>
            <a:spLocks noChangeShapeType="1"/>
          </p:cNvSpPr>
          <p:nvPr/>
        </p:nvSpPr>
        <p:spPr bwMode="auto">
          <a:xfrm>
            <a:off x="5256214" y="2392363"/>
            <a:ext cx="528637"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6897" name="Text Box 154"/>
          <p:cNvSpPr txBox="1">
            <a:spLocks noChangeArrowheads="1"/>
          </p:cNvSpPr>
          <p:nvPr/>
        </p:nvSpPr>
        <p:spPr bwMode="auto">
          <a:xfrm>
            <a:off x="5751513" y="1828800"/>
            <a:ext cx="849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200">
                <a:solidFill>
                  <a:schemeClr val="tx1"/>
                </a:solidFill>
                <a:latin typeface="GE Inspira" panose="020F0603030400020203" pitchFamily="34" charset="0"/>
              </a:defRPr>
            </a:lvl1pPr>
            <a:lvl2pPr marL="742950" indent="-285750">
              <a:defRPr sz="1200">
                <a:solidFill>
                  <a:schemeClr val="tx1"/>
                </a:solidFill>
                <a:latin typeface="GE Inspira" panose="020F0603030400020203" pitchFamily="34" charset="0"/>
              </a:defRPr>
            </a:lvl2pPr>
            <a:lvl3pPr marL="1143000" indent="-228600">
              <a:defRPr sz="1200">
                <a:solidFill>
                  <a:schemeClr val="tx1"/>
                </a:solidFill>
                <a:latin typeface="GE Inspira" panose="020F0603030400020203" pitchFamily="34" charset="0"/>
              </a:defRPr>
            </a:lvl3pPr>
            <a:lvl4pPr marL="1600200" indent="-228600">
              <a:defRPr sz="1200">
                <a:solidFill>
                  <a:schemeClr val="tx1"/>
                </a:solidFill>
                <a:latin typeface="GE Inspira" panose="020F0603030400020203" pitchFamily="34" charset="0"/>
              </a:defRPr>
            </a:lvl4pPr>
            <a:lvl5pPr marL="2057400" indent="-228600">
              <a:defRPr sz="1200">
                <a:solidFill>
                  <a:schemeClr val="tx1"/>
                </a:solidFill>
                <a:latin typeface="GE Inspira" panose="020F0603030400020203" pitchFamily="34" charset="0"/>
              </a:defRPr>
            </a:lvl5pPr>
            <a:lvl6pPr marL="2514600" indent="-228600" eaLnBrk="0" fontAlgn="base" hangingPunct="0">
              <a:spcBef>
                <a:spcPct val="0"/>
              </a:spcBef>
              <a:spcAft>
                <a:spcPct val="0"/>
              </a:spcAft>
              <a:defRPr sz="1200">
                <a:solidFill>
                  <a:schemeClr val="tx1"/>
                </a:solidFill>
                <a:latin typeface="GE Inspira" panose="020F0603030400020203" pitchFamily="34" charset="0"/>
              </a:defRPr>
            </a:lvl6pPr>
            <a:lvl7pPr marL="2971800" indent="-228600" eaLnBrk="0" fontAlgn="base" hangingPunct="0">
              <a:spcBef>
                <a:spcPct val="0"/>
              </a:spcBef>
              <a:spcAft>
                <a:spcPct val="0"/>
              </a:spcAft>
              <a:defRPr sz="1200">
                <a:solidFill>
                  <a:schemeClr val="tx1"/>
                </a:solidFill>
                <a:latin typeface="GE Inspira" panose="020F0603030400020203" pitchFamily="34" charset="0"/>
              </a:defRPr>
            </a:lvl7pPr>
            <a:lvl8pPr marL="3429000" indent="-228600" eaLnBrk="0" fontAlgn="base" hangingPunct="0">
              <a:spcBef>
                <a:spcPct val="0"/>
              </a:spcBef>
              <a:spcAft>
                <a:spcPct val="0"/>
              </a:spcAft>
              <a:defRPr sz="1200">
                <a:solidFill>
                  <a:schemeClr val="tx1"/>
                </a:solidFill>
                <a:latin typeface="GE Inspira" panose="020F0603030400020203" pitchFamily="34" charset="0"/>
              </a:defRPr>
            </a:lvl8pPr>
            <a:lvl9pPr marL="3886200" indent="-228600" eaLnBrk="0" fontAlgn="base" hangingPunct="0">
              <a:spcBef>
                <a:spcPct val="0"/>
              </a:spcBef>
              <a:spcAft>
                <a:spcPct val="0"/>
              </a:spcAft>
              <a:defRPr sz="1200">
                <a:solidFill>
                  <a:schemeClr val="tx1"/>
                </a:solidFill>
                <a:latin typeface="GE Inspira" panose="020F0603030400020203" pitchFamily="34" charset="0"/>
              </a:defRPr>
            </a:lvl9pPr>
          </a:lstStyle>
          <a:p>
            <a:pPr algn="ctr"/>
            <a:r>
              <a:rPr lang="en-US" altLang="en-US" b="1"/>
              <a:t>CPC</a:t>
            </a:r>
          </a:p>
          <a:p>
            <a:pPr algn="ctr"/>
            <a:r>
              <a:rPr lang="en-US" altLang="en-US" b="1"/>
              <a:t>Algorithm</a:t>
            </a:r>
          </a:p>
        </p:txBody>
      </p:sp>
    </p:spTree>
    <p:extLst>
      <p:ext uri="{BB962C8B-B14F-4D97-AF65-F5344CB8AC3E}">
        <p14:creationId xmlns:p14="http://schemas.microsoft.com/office/powerpoint/2010/main" val="162918989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0D66A1-610B-4265-B864-4A40BAAC46C1}" type="datetime3">
              <a:rPr lang="en-US" smtClean="0"/>
              <a:t>7 March 2017</a:t>
            </a:fld>
            <a:endParaRPr lang="en-CA" dirty="0"/>
          </a:p>
        </p:txBody>
      </p:sp>
      <p:sp>
        <p:nvSpPr>
          <p:cNvPr id="3" name="Footer Placeholder 2"/>
          <p:cNvSpPr>
            <a:spLocks noGrp="1"/>
          </p:cNvSpPr>
          <p:nvPr>
            <p:ph type="ftr" sz="quarter" idx="4294967295"/>
          </p:nvPr>
        </p:nvSpPr>
        <p:spPr>
          <a:xfrm>
            <a:off x="1269205" y="6432462"/>
            <a:ext cx="3229587" cy="182880"/>
          </a:xfrm>
          <a:prstGeom prst="rect">
            <a:avLst/>
          </a:prstGeom>
        </p:spPr>
        <p:txBody>
          <a:bodyPr/>
          <a:lstStyle/>
          <a:p>
            <a:r>
              <a:rPr lang="en-US"/>
              <a:t>Edit Presentation Title in [Insert Tab &gt; Header &amp; Footer]   |</a:t>
            </a:r>
            <a:endParaRPr lang="en-US" dirty="0"/>
          </a:p>
        </p:txBody>
      </p:sp>
      <p:sp>
        <p:nvSpPr>
          <p:cNvPr id="4" name="Slide Number Placeholder 3"/>
          <p:cNvSpPr>
            <a:spLocks noGrp="1"/>
          </p:cNvSpPr>
          <p:nvPr>
            <p:ph type="sldNum" sz="quarter" idx="12"/>
          </p:nvPr>
        </p:nvSpPr>
        <p:spPr/>
        <p:txBody>
          <a:bodyPr/>
          <a:lstStyle/>
          <a:p>
            <a:fld id="{00E6A5BD-C011-4A45-AA3A-201790FB7F2B}" type="slidenum">
              <a:rPr lang="en-CA" smtClean="0"/>
              <a:pPr/>
              <a:t>17</a:t>
            </a:fld>
            <a:endParaRPr lang="en-CA" dirty="0"/>
          </a:p>
        </p:txBody>
      </p:sp>
      <p:sp>
        <p:nvSpPr>
          <p:cNvPr id="5" name="Title 4"/>
          <p:cNvSpPr>
            <a:spLocks noGrp="1"/>
          </p:cNvSpPr>
          <p:nvPr>
            <p:ph type="title"/>
          </p:nvPr>
        </p:nvSpPr>
        <p:spPr>
          <a:xfrm>
            <a:off x="169632" y="191591"/>
            <a:ext cx="11201400" cy="470438"/>
          </a:xfrm>
        </p:spPr>
        <p:txBody>
          <a:bodyPr/>
          <a:lstStyle/>
          <a:p>
            <a:r>
              <a:rPr lang="en-US" dirty="0"/>
              <a:t>Load Path to Variable Load Path</a:t>
            </a:r>
          </a:p>
        </p:txBody>
      </p:sp>
      <p:cxnSp>
        <p:nvCxnSpPr>
          <p:cNvPr id="7" name="Straight Arrow Connector 6"/>
          <p:cNvCxnSpPr/>
          <p:nvPr/>
        </p:nvCxnSpPr>
        <p:spPr bwMode="auto">
          <a:xfrm>
            <a:off x="1371341" y="3725609"/>
            <a:ext cx="3683748" cy="0"/>
          </a:xfrm>
          <a:prstGeom prst="straightConnector1">
            <a:avLst/>
          </a:prstGeom>
          <a:ln>
            <a:solidFill>
              <a:srgbClr val="C00000"/>
            </a:solidFill>
            <a:headEnd type="none" w="med" len="med"/>
            <a:tailEnd type="arrow"/>
          </a:ln>
          <a:extLst/>
        </p:spPr>
        <p:style>
          <a:lnRef idx="3">
            <a:schemeClr val="accent4"/>
          </a:lnRef>
          <a:fillRef idx="0">
            <a:schemeClr val="accent4"/>
          </a:fillRef>
          <a:effectRef idx="2">
            <a:schemeClr val="accent4"/>
          </a:effectRef>
          <a:fontRef idx="minor">
            <a:schemeClr val="tx1"/>
          </a:fontRef>
        </p:style>
      </p:cxnSp>
      <p:cxnSp>
        <p:nvCxnSpPr>
          <p:cNvPr id="8" name="Straight Connector 7"/>
          <p:cNvCxnSpPr/>
          <p:nvPr/>
        </p:nvCxnSpPr>
        <p:spPr bwMode="auto">
          <a:xfrm flipV="1">
            <a:off x="1422450" y="1506857"/>
            <a:ext cx="1008412" cy="1193536"/>
          </a:xfrm>
          <a:prstGeom prst="line">
            <a:avLst/>
          </a:prstGeom>
          <a:ln w="25400">
            <a:solidFill>
              <a:srgbClr val="33CC33"/>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9" name="Straight Connector 8"/>
          <p:cNvCxnSpPr/>
          <p:nvPr/>
        </p:nvCxnSpPr>
        <p:spPr bwMode="auto">
          <a:xfrm flipH="1">
            <a:off x="1514839" y="2602845"/>
            <a:ext cx="13760" cy="895152"/>
          </a:xfrm>
          <a:prstGeom prst="line">
            <a:avLst/>
          </a:prstGeom>
          <a:ln w="25400">
            <a:solidFill>
              <a:srgbClr val="33CC33"/>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11" name="Straight Connector 10"/>
          <p:cNvCxnSpPr/>
          <p:nvPr/>
        </p:nvCxnSpPr>
        <p:spPr bwMode="auto">
          <a:xfrm>
            <a:off x="3944461" y="1501120"/>
            <a:ext cx="511086" cy="384456"/>
          </a:xfrm>
          <a:prstGeom prst="line">
            <a:avLst/>
          </a:prstGeom>
          <a:ln w="114300">
            <a:solidFill>
              <a:schemeClr val="accent1"/>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sp>
        <p:nvSpPr>
          <p:cNvPr id="13" name="TextBox 93"/>
          <p:cNvSpPr txBox="1">
            <a:spLocks noChangeArrowheads="1"/>
          </p:cNvSpPr>
          <p:nvPr/>
        </p:nvSpPr>
        <p:spPr bwMode="auto">
          <a:xfrm rot="16200000">
            <a:off x="863819" y="2099905"/>
            <a:ext cx="673277" cy="344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200"/>
              <a:t>T-Exh</a:t>
            </a:r>
          </a:p>
        </p:txBody>
      </p:sp>
      <p:cxnSp>
        <p:nvCxnSpPr>
          <p:cNvPr id="14" name="Straight Connector 4127"/>
          <p:cNvCxnSpPr>
            <a:cxnSpLocks noChangeShapeType="1"/>
          </p:cNvCxnSpPr>
          <p:nvPr/>
        </p:nvCxnSpPr>
        <p:spPr bwMode="auto">
          <a:xfrm flipH="1">
            <a:off x="1421648" y="1501120"/>
            <a:ext cx="981108" cy="0"/>
          </a:xfrm>
          <a:prstGeom prst="line">
            <a:avLst/>
          </a:prstGeom>
          <a:noFill/>
          <a:ln w="952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51"/>
          <p:cNvCxnSpPr>
            <a:cxnSpLocks noChangeShapeType="1"/>
          </p:cNvCxnSpPr>
          <p:nvPr/>
        </p:nvCxnSpPr>
        <p:spPr bwMode="auto">
          <a:xfrm flipV="1">
            <a:off x="4447550" y="1870273"/>
            <a:ext cx="25559" cy="1832383"/>
          </a:xfrm>
          <a:prstGeom prst="line">
            <a:avLst/>
          </a:prstGeom>
          <a:noFill/>
          <a:ln w="952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154"/>
          <p:cNvCxnSpPr>
            <a:cxnSpLocks noChangeShapeType="1"/>
          </p:cNvCxnSpPr>
          <p:nvPr/>
        </p:nvCxnSpPr>
        <p:spPr bwMode="auto">
          <a:xfrm flipH="1">
            <a:off x="1372495" y="3486520"/>
            <a:ext cx="141563" cy="0"/>
          </a:xfrm>
          <a:prstGeom prst="line">
            <a:avLst/>
          </a:prstGeom>
          <a:noFill/>
          <a:ln w="952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Arrow Connector 16"/>
          <p:cNvCxnSpPr/>
          <p:nvPr/>
        </p:nvCxnSpPr>
        <p:spPr bwMode="auto">
          <a:xfrm flipV="1">
            <a:off x="1390998" y="1065020"/>
            <a:ext cx="31451" cy="2672066"/>
          </a:xfrm>
          <a:prstGeom prst="straightConnector1">
            <a:avLst/>
          </a:prstGeom>
          <a:ln>
            <a:solidFill>
              <a:srgbClr val="C00000"/>
            </a:solidFill>
            <a:headEnd type="none" w="med" len="med"/>
            <a:tailEnd type="arrow"/>
          </a:ln>
          <a:extLst/>
        </p:spPr>
        <p:style>
          <a:lnRef idx="3">
            <a:schemeClr val="accent4"/>
          </a:lnRef>
          <a:fillRef idx="0">
            <a:schemeClr val="accent4"/>
          </a:fillRef>
          <a:effectRef idx="2">
            <a:schemeClr val="accent4"/>
          </a:effectRef>
          <a:fontRef idx="minor">
            <a:schemeClr val="tx1"/>
          </a:fontRef>
        </p:style>
      </p:cxnSp>
      <p:sp>
        <p:nvSpPr>
          <p:cNvPr id="18" name="TextBox 156"/>
          <p:cNvSpPr txBox="1">
            <a:spLocks noChangeArrowheads="1"/>
          </p:cNvSpPr>
          <p:nvPr/>
        </p:nvSpPr>
        <p:spPr bwMode="auto">
          <a:xfrm>
            <a:off x="2540386" y="3758126"/>
            <a:ext cx="902461" cy="33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200"/>
              <a:t>GT Load</a:t>
            </a:r>
          </a:p>
        </p:txBody>
      </p:sp>
      <p:sp>
        <p:nvSpPr>
          <p:cNvPr id="19" name="TextBox 157"/>
          <p:cNvSpPr txBox="1">
            <a:spLocks noChangeArrowheads="1"/>
          </p:cNvSpPr>
          <p:nvPr/>
        </p:nvSpPr>
        <p:spPr bwMode="auto">
          <a:xfrm rot="16200000">
            <a:off x="3868616" y="3107994"/>
            <a:ext cx="921930" cy="267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GT base load</a:t>
            </a:r>
          </a:p>
        </p:txBody>
      </p:sp>
      <p:sp>
        <p:nvSpPr>
          <p:cNvPr id="20" name="TextBox 158"/>
          <p:cNvSpPr txBox="1">
            <a:spLocks noChangeArrowheads="1"/>
          </p:cNvSpPr>
          <p:nvPr/>
        </p:nvSpPr>
        <p:spPr bwMode="auto">
          <a:xfrm>
            <a:off x="1398054" y="1311760"/>
            <a:ext cx="812020" cy="258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Max. T exh</a:t>
            </a:r>
          </a:p>
        </p:txBody>
      </p:sp>
      <p:grpSp>
        <p:nvGrpSpPr>
          <p:cNvPr id="41" name="Group 40"/>
          <p:cNvGrpSpPr/>
          <p:nvPr/>
        </p:nvGrpSpPr>
        <p:grpSpPr>
          <a:xfrm>
            <a:off x="1514839" y="1904702"/>
            <a:ext cx="2958399" cy="1593294"/>
            <a:chOff x="4546131" y="2361816"/>
            <a:chExt cx="2958399" cy="1593294"/>
          </a:xfrm>
        </p:grpSpPr>
        <p:cxnSp>
          <p:nvCxnSpPr>
            <p:cNvPr id="10" name="Straight Connector 9"/>
            <p:cNvCxnSpPr/>
            <p:nvPr/>
          </p:nvCxnSpPr>
          <p:spPr bwMode="auto">
            <a:xfrm>
              <a:off x="4546131" y="3955110"/>
              <a:ext cx="1197120" cy="0"/>
            </a:xfrm>
            <a:prstGeom prst="line">
              <a:avLst/>
            </a:prstGeom>
            <a:ln w="25400">
              <a:solidFill>
                <a:srgbClr val="EB15DC"/>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12" name="Straight Connector 11"/>
            <p:cNvCxnSpPr/>
            <p:nvPr/>
          </p:nvCxnSpPr>
          <p:spPr bwMode="auto">
            <a:xfrm flipV="1">
              <a:off x="5737354" y="2361816"/>
              <a:ext cx="1767176" cy="1593294"/>
            </a:xfrm>
            <a:prstGeom prst="line">
              <a:avLst/>
            </a:prstGeom>
            <a:ln w="25400">
              <a:solidFill>
                <a:srgbClr val="EB15DC"/>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sp>
          <p:nvSpPr>
            <p:cNvPr id="21" name="TextBox 20"/>
            <p:cNvSpPr txBox="1"/>
            <p:nvPr/>
          </p:nvSpPr>
          <p:spPr bwMode="auto">
            <a:xfrm rot="19038548">
              <a:off x="5519159" y="3132642"/>
              <a:ext cx="1533257" cy="315598"/>
            </a:xfrm>
            <a:prstGeom prst="rect">
              <a:avLst/>
            </a:prstGeom>
            <a:noFill/>
            <a:ln>
              <a:noFill/>
            </a:ln>
          </p:spPr>
          <p:txBody>
            <a:bodyPr wrap="none">
              <a:spAutoFit/>
            </a:bodyPr>
            <a:lstStyle/>
            <a:p>
              <a:pPr>
                <a:defRPr/>
              </a:pPr>
              <a:r>
                <a:rPr lang="en-US" sz="1050" b="0" dirty="0">
                  <a:solidFill>
                    <a:srgbClr val="EB15DC"/>
                  </a:solidFill>
                </a:rPr>
                <a:t>Simple Cycle Path</a:t>
              </a:r>
            </a:p>
          </p:txBody>
        </p:sp>
      </p:grpSp>
      <p:sp>
        <p:nvSpPr>
          <p:cNvPr id="22" name="TextBox 21"/>
          <p:cNvSpPr txBox="1"/>
          <p:nvPr/>
        </p:nvSpPr>
        <p:spPr bwMode="auto">
          <a:xfrm rot="18624898">
            <a:off x="1240801" y="2008531"/>
            <a:ext cx="1715708" cy="314514"/>
          </a:xfrm>
          <a:prstGeom prst="rect">
            <a:avLst/>
          </a:prstGeom>
          <a:noFill/>
        </p:spPr>
        <p:txBody>
          <a:bodyPr wrap="none">
            <a:spAutoFit/>
          </a:bodyPr>
          <a:lstStyle/>
          <a:p>
            <a:pPr>
              <a:defRPr/>
            </a:pPr>
            <a:r>
              <a:rPr lang="en-US" sz="1050" b="0" dirty="0">
                <a:solidFill>
                  <a:srgbClr val="33CC33"/>
                </a:solidFill>
              </a:rPr>
              <a:t>Combined  Cycle Path</a:t>
            </a:r>
          </a:p>
        </p:txBody>
      </p:sp>
      <p:cxnSp>
        <p:nvCxnSpPr>
          <p:cNvPr id="23" name="Straight Connector 22"/>
          <p:cNvCxnSpPr/>
          <p:nvPr/>
        </p:nvCxnSpPr>
        <p:spPr bwMode="auto">
          <a:xfrm>
            <a:off x="2529147" y="1518333"/>
            <a:ext cx="1448731" cy="1913"/>
          </a:xfrm>
          <a:prstGeom prst="line">
            <a:avLst/>
          </a:prstGeom>
          <a:ln w="127000">
            <a:solidFill>
              <a:schemeClr val="accent1"/>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sp>
        <p:nvSpPr>
          <p:cNvPr id="24" name="TextBox 23"/>
          <p:cNvSpPr txBox="1"/>
          <p:nvPr/>
        </p:nvSpPr>
        <p:spPr bwMode="auto">
          <a:xfrm>
            <a:off x="2674610" y="1210387"/>
            <a:ext cx="1592228" cy="304121"/>
          </a:xfrm>
          <a:prstGeom prst="rect">
            <a:avLst/>
          </a:prstGeom>
          <a:noFill/>
        </p:spPr>
        <p:txBody>
          <a:bodyPr wrap="none">
            <a:spAutoFit/>
          </a:bodyPr>
          <a:lstStyle/>
          <a:p>
            <a:pPr>
              <a:defRPr/>
            </a:pPr>
            <a:r>
              <a:rPr lang="en-US" sz="1050" dirty="0"/>
              <a:t>Auto-tune Enabled</a:t>
            </a:r>
          </a:p>
        </p:txBody>
      </p:sp>
      <p:sp>
        <p:nvSpPr>
          <p:cNvPr id="25" name="TextBox 24"/>
          <p:cNvSpPr txBox="1"/>
          <p:nvPr/>
        </p:nvSpPr>
        <p:spPr bwMode="auto">
          <a:xfrm>
            <a:off x="2453210" y="1091505"/>
            <a:ext cx="1910915" cy="253916"/>
          </a:xfrm>
          <a:prstGeom prst="rect">
            <a:avLst/>
          </a:prstGeom>
          <a:noFill/>
        </p:spPr>
        <p:txBody>
          <a:bodyPr wrap="square">
            <a:spAutoFit/>
          </a:bodyPr>
          <a:lstStyle/>
          <a:p>
            <a:pPr>
              <a:defRPr/>
            </a:pPr>
            <a:r>
              <a:rPr lang="en-US" sz="1050" b="0" dirty="0"/>
              <a:t>Mode 6,  Emission Compliant</a:t>
            </a:r>
          </a:p>
        </p:txBody>
      </p:sp>
      <p:sp>
        <p:nvSpPr>
          <p:cNvPr id="26" name="TextBox 158"/>
          <p:cNvSpPr txBox="1">
            <a:spLocks noChangeArrowheads="1"/>
          </p:cNvSpPr>
          <p:nvPr/>
        </p:nvSpPr>
        <p:spPr bwMode="auto">
          <a:xfrm>
            <a:off x="606679" y="3360425"/>
            <a:ext cx="828288" cy="259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Min. T- exh</a:t>
            </a:r>
          </a:p>
        </p:txBody>
      </p:sp>
      <p:cxnSp>
        <p:nvCxnSpPr>
          <p:cNvPr id="27" name="Straight Connector 26"/>
          <p:cNvCxnSpPr/>
          <p:nvPr/>
        </p:nvCxnSpPr>
        <p:spPr bwMode="auto">
          <a:xfrm flipV="1">
            <a:off x="2440689" y="1506857"/>
            <a:ext cx="1521463" cy="5739"/>
          </a:xfrm>
          <a:prstGeom prst="line">
            <a:avLst/>
          </a:prstGeom>
          <a:ln w="25400">
            <a:solidFill>
              <a:srgbClr val="33CC33"/>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28" name="Straight Connector 27"/>
          <p:cNvCxnSpPr/>
          <p:nvPr/>
        </p:nvCxnSpPr>
        <p:spPr bwMode="auto">
          <a:xfrm>
            <a:off x="3962152" y="1506857"/>
            <a:ext cx="536640" cy="409322"/>
          </a:xfrm>
          <a:prstGeom prst="line">
            <a:avLst/>
          </a:prstGeom>
          <a:ln w="25400">
            <a:solidFill>
              <a:srgbClr val="33CC33"/>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sp>
        <p:nvSpPr>
          <p:cNvPr id="38" name="TextBox 37"/>
          <p:cNvSpPr txBox="1"/>
          <p:nvPr/>
        </p:nvSpPr>
        <p:spPr bwMode="auto">
          <a:xfrm rot="2975481">
            <a:off x="2655621" y="1907360"/>
            <a:ext cx="939681" cy="253916"/>
          </a:xfrm>
          <a:prstGeom prst="rect">
            <a:avLst/>
          </a:prstGeom>
          <a:noFill/>
        </p:spPr>
        <p:txBody>
          <a:bodyPr wrap="none">
            <a:spAutoFit/>
          </a:bodyPr>
          <a:lstStyle/>
          <a:p>
            <a:pPr>
              <a:defRPr/>
            </a:pPr>
            <a:r>
              <a:rPr lang="en-US" sz="1050" dirty="0"/>
              <a:t>Constant CRT</a:t>
            </a:r>
          </a:p>
        </p:txBody>
      </p:sp>
      <p:sp>
        <p:nvSpPr>
          <p:cNvPr id="39" name="TextBox 38"/>
          <p:cNvSpPr txBox="1"/>
          <p:nvPr/>
        </p:nvSpPr>
        <p:spPr bwMode="auto">
          <a:xfrm rot="2975481">
            <a:off x="2034856" y="2459478"/>
            <a:ext cx="939681" cy="253916"/>
          </a:xfrm>
          <a:prstGeom prst="rect">
            <a:avLst/>
          </a:prstGeom>
          <a:noFill/>
        </p:spPr>
        <p:txBody>
          <a:bodyPr wrap="none">
            <a:spAutoFit/>
          </a:bodyPr>
          <a:lstStyle/>
          <a:p>
            <a:pPr>
              <a:defRPr/>
            </a:pPr>
            <a:r>
              <a:rPr lang="en-US" sz="1050" dirty="0"/>
              <a:t>Constant CRT</a:t>
            </a:r>
          </a:p>
        </p:txBody>
      </p:sp>
      <p:cxnSp>
        <p:nvCxnSpPr>
          <p:cNvPr id="30" name="Straight Connector 29"/>
          <p:cNvCxnSpPr/>
          <p:nvPr/>
        </p:nvCxnSpPr>
        <p:spPr>
          <a:xfrm>
            <a:off x="2453081" y="1499425"/>
            <a:ext cx="1155244" cy="1248786"/>
          </a:xfrm>
          <a:prstGeom prst="line">
            <a:avLst/>
          </a:prstGeom>
          <a:noFill/>
          <a:ln w="6350">
            <a:solidFill>
              <a:schemeClr val="accent2"/>
            </a:solidFill>
            <a:prstDash val="dash"/>
            <a:miter lim="800000"/>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p:cNvCxnSpPr/>
          <p:nvPr/>
        </p:nvCxnSpPr>
        <p:spPr>
          <a:xfrm>
            <a:off x="1869226" y="2147088"/>
            <a:ext cx="1034697" cy="1163463"/>
          </a:xfrm>
          <a:prstGeom prst="line">
            <a:avLst/>
          </a:prstGeom>
          <a:noFill/>
          <a:ln w="6350">
            <a:solidFill>
              <a:schemeClr val="accent2"/>
            </a:solidFill>
            <a:prstDash val="dash"/>
            <a:miter lim="800000"/>
          </a:ln>
        </p:spPr>
        <p:style>
          <a:lnRef idx="2">
            <a:schemeClr val="accent1">
              <a:shade val="50000"/>
            </a:schemeClr>
          </a:lnRef>
          <a:fillRef idx="1">
            <a:schemeClr val="accent1"/>
          </a:fillRef>
          <a:effectRef idx="0">
            <a:schemeClr val="accent1"/>
          </a:effectRef>
          <a:fontRef idx="minor">
            <a:schemeClr val="lt1"/>
          </a:fontRef>
        </p:style>
      </p:cxnSp>
      <p:sp>
        <p:nvSpPr>
          <p:cNvPr id="45" name="Freeform: Shape 44"/>
          <p:cNvSpPr/>
          <p:nvPr/>
        </p:nvSpPr>
        <p:spPr>
          <a:xfrm>
            <a:off x="1520830" y="1510834"/>
            <a:ext cx="2930055" cy="1975899"/>
          </a:xfrm>
          <a:custGeom>
            <a:avLst/>
            <a:gdLst>
              <a:gd name="connsiteX0" fmla="*/ 0 w 2930055"/>
              <a:gd name="connsiteY0" fmla="*/ 1093304 h 1975899"/>
              <a:gd name="connsiteX1" fmla="*/ 910424 w 2930055"/>
              <a:gd name="connsiteY1" fmla="*/ 0 h 1975899"/>
              <a:gd name="connsiteX2" fmla="*/ 2437075 w 2930055"/>
              <a:gd name="connsiteY2" fmla="*/ 7951 h 1975899"/>
              <a:gd name="connsiteX3" fmla="*/ 2930055 w 2930055"/>
              <a:gd name="connsiteY3" fmla="*/ 389614 h 1975899"/>
              <a:gd name="connsiteX4" fmla="*/ 1176793 w 2930055"/>
              <a:gd name="connsiteY4" fmla="*/ 1971923 h 1975899"/>
              <a:gd name="connsiteX5" fmla="*/ 0 w 2930055"/>
              <a:gd name="connsiteY5" fmla="*/ 1975899 h 1975899"/>
              <a:gd name="connsiteX6" fmla="*/ 0 w 2930055"/>
              <a:gd name="connsiteY6" fmla="*/ 1093304 h 1975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0055" h="1975899">
                <a:moveTo>
                  <a:pt x="0" y="1093304"/>
                </a:moveTo>
                <a:lnTo>
                  <a:pt x="910424" y="0"/>
                </a:lnTo>
                <a:lnTo>
                  <a:pt x="2437075" y="7951"/>
                </a:lnTo>
                <a:lnTo>
                  <a:pt x="2930055" y="389614"/>
                </a:lnTo>
                <a:lnTo>
                  <a:pt x="1176793" y="1971923"/>
                </a:lnTo>
                <a:lnTo>
                  <a:pt x="0" y="1975899"/>
                </a:lnTo>
                <a:lnTo>
                  <a:pt x="0" y="1093304"/>
                </a:lnTo>
                <a:close/>
              </a:path>
            </a:pathLst>
          </a:custGeom>
          <a:solidFill>
            <a:srgbClr val="0F85FF">
              <a:alpha val="3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p:cNvSpPr txBox="1"/>
          <p:nvPr/>
        </p:nvSpPr>
        <p:spPr>
          <a:xfrm>
            <a:off x="1007897" y="4534260"/>
            <a:ext cx="3135474" cy="1107996"/>
          </a:xfrm>
          <a:prstGeom prst="rect">
            <a:avLst/>
          </a:prstGeom>
          <a:noFill/>
        </p:spPr>
        <p:txBody>
          <a:bodyPr wrap="none" lIns="0" tIns="0" rIns="0" bIns="0" rtlCol="0">
            <a:spAutoFit/>
          </a:bodyPr>
          <a:lstStyle/>
          <a:p>
            <a:r>
              <a:rPr lang="en-US" b="1" dirty="0">
                <a:solidFill>
                  <a:schemeClr val="accent2"/>
                </a:solidFill>
              </a:rPr>
              <a:t>Key Enablers for VLP</a:t>
            </a:r>
          </a:p>
          <a:p>
            <a:pPr marL="285750" indent="-285750">
              <a:buFont typeface="Arial" panose="020B0604020202020204" pitchFamily="34" charset="0"/>
              <a:buChar char="•"/>
            </a:pPr>
            <a:r>
              <a:rPr lang="en-US" dirty="0">
                <a:solidFill>
                  <a:schemeClr val="accent2"/>
                </a:solidFill>
              </a:rPr>
              <a:t>All Load Auto tune</a:t>
            </a:r>
          </a:p>
          <a:p>
            <a:pPr marL="285750" indent="-285750">
              <a:buFont typeface="Arial" panose="020B0604020202020204" pitchFamily="34" charset="0"/>
              <a:buChar char="•"/>
            </a:pPr>
            <a:r>
              <a:rPr lang="en-US" dirty="0">
                <a:solidFill>
                  <a:schemeClr val="accent2"/>
                </a:solidFill>
              </a:rPr>
              <a:t>Feed Forward CAF</a:t>
            </a:r>
          </a:p>
          <a:p>
            <a:pPr marL="285750" indent="-285750">
              <a:buFont typeface="Arial" panose="020B0604020202020204" pitchFamily="34" charset="0"/>
              <a:buChar char="•"/>
            </a:pPr>
            <a:r>
              <a:rPr lang="en-US" dirty="0">
                <a:solidFill>
                  <a:schemeClr val="accent2"/>
                </a:solidFill>
              </a:rPr>
              <a:t>Schedule Less Mode Transfers</a:t>
            </a:r>
          </a:p>
        </p:txBody>
      </p:sp>
      <p:grpSp>
        <p:nvGrpSpPr>
          <p:cNvPr id="68" name="Group 67"/>
          <p:cNvGrpSpPr/>
          <p:nvPr/>
        </p:nvGrpSpPr>
        <p:grpSpPr>
          <a:xfrm>
            <a:off x="6934122" y="1311306"/>
            <a:ext cx="3433763" cy="2260361"/>
            <a:chOff x="6934122" y="1311306"/>
            <a:chExt cx="3433763" cy="2260361"/>
          </a:xfrm>
        </p:grpSpPr>
        <p:sp>
          <p:nvSpPr>
            <p:cNvPr id="57" name="Rounded Rectangle 6"/>
            <p:cNvSpPr/>
            <p:nvPr/>
          </p:nvSpPr>
          <p:spPr bwMode="auto">
            <a:xfrm>
              <a:off x="6934122" y="1311306"/>
              <a:ext cx="1493248" cy="481985"/>
            </a:xfrm>
            <a:prstGeom prst="roundRect">
              <a:avLst/>
            </a:prstGeom>
            <a:gradFill rotWithShape="1">
              <a:gsLst>
                <a:gs pos="0">
                  <a:srgbClr val="B9CAFD">
                    <a:shade val="51000"/>
                    <a:satMod val="130000"/>
                  </a:srgbClr>
                </a:gs>
                <a:gs pos="80000">
                  <a:srgbClr val="B9CAFD">
                    <a:shade val="93000"/>
                    <a:satMod val="130000"/>
                  </a:srgbClr>
                </a:gs>
                <a:gs pos="100000">
                  <a:srgbClr val="B9CAFD">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740800"/>
                  </a:solidFill>
                  <a:effectLst>
                    <a:outerShdw blurRad="38100" dist="38100" dir="2700000" algn="tl">
                      <a:srgbClr val="000000">
                        <a:alpha val="43137"/>
                      </a:srgbClr>
                    </a:outerShdw>
                  </a:effectLst>
                  <a:uLnTx/>
                  <a:uFillTx/>
                  <a:latin typeface="GE Inspira"/>
                  <a:ea typeface="+mn-ea"/>
                  <a:cs typeface="+mn-cs"/>
                </a:rPr>
                <a:t>ALAT</a:t>
              </a:r>
            </a:p>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srgbClr val="4157AD"/>
                </a:solidFill>
                <a:effectLst/>
                <a:uLnTx/>
                <a:uFillTx/>
                <a:latin typeface="GE Inspira"/>
                <a:ea typeface="+mn-ea"/>
                <a:cs typeface="+mn-cs"/>
              </a:endParaRPr>
            </a:p>
          </p:txBody>
        </p:sp>
        <p:sp>
          <p:nvSpPr>
            <p:cNvPr id="58" name="Down Arrow 9"/>
            <p:cNvSpPr/>
            <p:nvPr/>
          </p:nvSpPr>
          <p:spPr bwMode="auto">
            <a:xfrm>
              <a:off x="7020641" y="1810824"/>
              <a:ext cx="1313875" cy="344858"/>
            </a:xfrm>
            <a:prstGeom prst="downArrow">
              <a:avLst>
                <a:gd name="adj1" fmla="val 50000"/>
                <a:gd name="adj2" fmla="val 100000"/>
              </a:avLst>
            </a:prstGeom>
            <a:gradFill rotWithShape="1">
              <a:gsLst>
                <a:gs pos="0">
                  <a:srgbClr val="A7B7E5">
                    <a:shade val="51000"/>
                    <a:satMod val="130000"/>
                  </a:srgbClr>
                </a:gs>
                <a:gs pos="80000">
                  <a:srgbClr val="A7B7E5">
                    <a:shade val="93000"/>
                    <a:satMod val="130000"/>
                  </a:srgbClr>
                </a:gs>
                <a:gs pos="100000">
                  <a:srgbClr val="A7B7E5">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800" b="1" i="0" u="none" strike="noStrike" kern="0" cap="none" spc="0" normalizeH="0" baseline="0" noProof="0">
                <a:ln>
                  <a:noFill/>
                </a:ln>
                <a:solidFill>
                  <a:srgbClr val="4157AD"/>
                </a:solidFill>
                <a:effectLst/>
                <a:uLnTx/>
                <a:uFillTx/>
                <a:latin typeface="GE Inspira"/>
                <a:ea typeface="+mn-ea"/>
                <a:cs typeface="+mn-cs"/>
              </a:endParaRPr>
            </a:p>
          </p:txBody>
        </p:sp>
        <p:sp>
          <p:nvSpPr>
            <p:cNvPr id="59" name="Rounded Rectangle 63"/>
            <p:cNvSpPr/>
            <p:nvPr/>
          </p:nvSpPr>
          <p:spPr bwMode="auto">
            <a:xfrm>
              <a:off x="6934122" y="2192758"/>
              <a:ext cx="1493248" cy="481985"/>
            </a:xfrm>
            <a:prstGeom prst="roundRect">
              <a:avLst/>
            </a:prstGeom>
            <a:gradFill rotWithShape="1">
              <a:gsLst>
                <a:gs pos="0">
                  <a:srgbClr val="B9CAFD">
                    <a:shade val="51000"/>
                    <a:satMod val="130000"/>
                  </a:srgbClr>
                </a:gs>
                <a:gs pos="80000">
                  <a:srgbClr val="B9CAFD">
                    <a:shade val="93000"/>
                    <a:satMod val="130000"/>
                  </a:srgbClr>
                </a:gs>
                <a:gs pos="100000">
                  <a:srgbClr val="B9CAFD">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a:noFill/>
                  </a:ln>
                  <a:solidFill>
                    <a:srgbClr val="740800"/>
                  </a:solidFill>
                  <a:effectLst>
                    <a:outerShdw blurRad="38100" dist="38100" dir="2700000" algn="tl">
                      <a:srgbClr val="000000">
                        <a:alpha val="43137"/>
                      </a:srgbClr>
                    </a:outerShdw>
                  </a:effectLst>
                  <a:uLnTx/>
                  <a:uFillTx/>
                  <a:latin typeface="GE Inspira"/>
                  <a:ea typeface="+mn-ea"/>
                  <a:cs typeface="+mn-cs"/>
                </a:rPr>
                <a:t>FLP</a:t>
              </a:r>
            </a:p>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srgbClr val="4157AD"/>
                </a:solidFill>
                <a:effectLst/>
                <a:uLnTx/>
                <a:uFillTx/>
                <a:latin typeface="GE Inspira"/>
                <a:ea typeface="+mn-ea"/>
                <a:cs typeface="+mn-cs"/>
              </a:endParaRPr>
            </a:p>
          </p:txBody>
        </p:sp>
        <p:sp>
          <p:nvSpPr>
            <p:cNvPr id="60" name="Rounded Rectangle 67"/>
            <p:cNvSpPr/>
            <p:nvPr/>
          </p:nvSpPr>
          <p:spPr bwMode="auto">
            <a:xfrm>
              <a:off x="6941062" y="3069046"/>
              <a:ext cx="1493248" cy="481985"/>
            </a:xfrm>
            <a:prstGeom prst="roundRect">
              <a:avLst/>
            </a:prstGeom>
            <a:gradFill rotWithShape="1">
              <a:gsLst>
                <a:gs pos="0">
                  <a:srgbClr val="B9CAFD">
                    <a:shade val="51000"/>
                    <a:satMod val="130000"/>
                  </a:srgbClr>
                </a:gs>
                <a:gs pos="80000">
                  <a:srgbClr val="B9CAFD">
                    <a:shade val="93000"/>
                    <a:satMod val="130000"/>
                  </a:srgbClr>
                </a:gs>
                <a:gs pos="100000">
                  <a:srgbClr val="B9CAFD">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xtLst/>
          </p:spPr>
          <p:txBody>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srgbClr val="740800"/>
                  </a:solidFill>
                  <a:effectLst>
                    <a:outerShdw blurRad="38100" dist="38100" dir="2700000" algn="tl">
                      <a:srgbClr val="000000">
                        <a:alpha val="43137"/>
                      </a:srgbClr>
                    </a:outerShdw>
                  </a:effectLst>
                  <a:uLnTx/>
                  <a:uFillTx/>
                  <a:latin typeface="GE Inspira"/>
                  <a:ea typeface="+mn-ea"/>
                  <a:cs typeface="+mn-cs"/>
                </a:rPr>
                <a:t>Next Gen Plant</a:t>
              </a:r>
              <a:r>
                <a:rPr kumimoji="0" lang="en-US" sz="1050" b="1" i="0" u="none" strike="noStrike" kern="0" cap="none" spc="0" normalizeH="0" baseline="0" noProof="0" dirty="0">
                  <a:ln>
                    <a:noFill/>
                  </a:ln>
                  <a:solidFill>
                    <a:srgbClr val="4157AD"/>
                  </a:solidFill>
                  <a:effectLst>
                    <a:outerShdw blurRad="38100" dist="38100" dir="2700000" algn="tl">
                      <a:srgbClr val="000000">
                        <a:alpha val="43137"/>
                      </a:srgbClr>
                    </a:outerShdw>
                  </a:effectLst>
                  <a:uLnTx/>
                  <a:uFillTx/>
                  <a:latin typeface="GE Inspira"/>
                  <a:ea typeface="+mn-ea"/>
                  <a:cs typeface="+mn-cs"/>
                </a:rPr>
                <a:t> </a:t>
              </a:r>
              <a:r>
                <a:rPr kumimoji="0" lang="en-US" sz="1200" b="1" i="0" u="none" strike="noStrike" kern="0" cap="none" spc="0" normalizeH="0" baseline="0" noProof="0" dirty="0">
                  <a:ln>
                    <a:noFill/>
                  </a:ln>
                  <a:solidFill>
                    <a:srgbClr val="740800"/>
                  </a:solidFill>
                  <a:effectLst>
                    <a:outerShdw blurRad="38100" dist="38100" dir="2700000" algn="tl">
                      <a:srgbClr val="000000">
                        <a:alpha val="43137"/>
                      </a:srgbClr>
                    </a:outerShdw>
                  </a:effectLst>
                  <a:uLnTx/>
                  <a:uFillTx/>
                  <a:latin typeface="GE Inspira"/>
                  <a:ea typeface="+mn-ea"/>
                  <a:cs typeface="+mn-cs"/>
                </a:rPr>
                <a:t>optimization</a:t>
              </a:r>
            </a:p>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srgbClr val="4157AD"/>
                </a:solidFill>
                <a:effectLst/>
                <a:uLnTx/>
                <a:uFillTx/>
                <a:latin typeface="GE Inspira"/>
                <a:ea typeface="+mn-ea"/>
                <a:cs typeface="+mn-cs"/>
              </a:endParaRPr>
            </a:p>
          </p:txBody>
        </p:sp>
        <p:sp>
          <p:nvSpPr>
            <p:cNvPr id="61" name="Down Arrow 70"/>
            <p:cNvSpPr/>
            <p:nvPr/>
          </p:nvSpPr>
          <p:spPr bwMode="auto">
            <a:xfrm>
              <a:off x="7023808" y="2687102"/>
              <a:ext cx="1313875" cy="344858"/>
            </a:xfrm>
            <a:prstGeom prst="downArrow">
              <a:avLst>
                <a:gd name="adj1" fmla="val 50000"/>
                <a:gd name="adj2" fmla="val 100000"/>
              </a:avLst>
            </a:prstGeom>
            <a:gradFill rotWithShape="1">
              <a:gsLst>
                <a:gs pos="0">
                  <a:srgbClr val="A7B7E5">
                    <a:shade val="51000"/>
                    <a:satMod val="130000"/>
                  </a:srgbClr>
                </a:gs>
                <a:gs pos="80000">
                  <a:srgbClr val="A7B7E5">
                    <a:shade val="93000"/>
                    <a:satMod val="130000"/>
                  </a:srgbClr>
                </a:gs>
                <a:gs pos="100000">
                  <a:srgbClr val="A7B7E5">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800" b="1" i="0" u="none" strike="noStrike" kern="0" cap="none" spc="0" normalizeH="0" baseline="0" noProof="0">
                <a:ln>
                  <a:noFill/>
                </a:ln>
                <a:solidFill>
                  <a:srgbClr val="4157AD"/>
                </a:solidFill>
                <a:effectLst/>
                <a:uLnTx/>
                <a:uFillTx/>
                <a:latin typeface="GE Inspira"/>
                <a:ea typeface="+mn-ea"/>
                <a:cs typeface="+mn-cs"/>
              </a:endParaRPr>
            </a:p>
          </p:txBody>
        </p:sp>
        <p:sp>
          <p:nvSpPr>
            <p:cNvPr id="62" name="TextBox 15"/>
            <p:cNvSpPr txBox="1">
              <a:spLocks noChangeArrowheads="1"/>
            </p:cNvSpPr>
            <p:nvPr/>
          </p:nvSpPr>
          <p:spPr bwMode="auto">
            <a:xfrm>
              <a:off x="8794672" y="1384323"/>
              <a:ext cx="1333500" cy="522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a:ln>
                    <a:noFill/>
                  </a:ln>
                  <a:solidFill>
                    <a:srgbClr val="4157AD"/>
                  </a:solidFill>
                  <a:effectLst/>
                  <a:uLnTx/>
                  <a:uFillTx/>
                  <a:latin typeface="GE Inspira" panose="020F0603030400020203" pitchFamily="34" charset="0"/>
                </a:rPr>
                <a:t>Increased fuel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a:ln>
                    <a:noFill/>
                  </a:ln>
                  <a:solidFill>
                    <a:srgbClr val="4157AD"/>
                  </a:solidFill>
                  <a:effectLst/>
                  <a:uLnTx/>
                  <a:uFillTx/>
                  <a:latin typeface="GE Inspira" panose="020F0603030400020203" pitchFamily="34" charset="0"/>
                </a:rPr>
                <a:t>flexibility</a:t>
              </a:r>
            </a:p>
          </p:txBody>
        </p:sp>
        <p:sp>
          <p:nvSpPr>
            <p:cNvPr id="63" name="TextBox 74"/>
            <p:cNvSpPr txBox="1">
              <a:spLocks noChangeArrowheads="1"/>
            </p:cNvSpPr>
            <p:nvPr/>
          </p:nvSpPr>
          <p:spPr bwMode="auto">
            <a:xfrm>
              <a:off x="8781972" y="2193863"/>
              <a:ext cx="1096963" cy="738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a:ln>
                    <a:noFill/>
                  </a:ln>
                  <a:solidFill>
                    <a:srgbClr val="4157AD"/>
                  </a:solidFill>
                  <a:effectLst/>
                  <a:uLnTx/>
                  <a:uFillTx/>
                  <a:latin typeface="GE Inspira" panose="020F0603030400020203" pitchFamily="34" charset="0"/>
                </a:rPr>
                <a:t>Increased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a:ln>
                    <a:noFill/>
                  </a:ln>
                  <a:solidFill>
                    <a:srgbClr val="4157AD"/>
                  </a:solidFill>
                  <a:effectLst/>
                  <a:uLnTx/>
                  <a:uFillTx/>
                  <a:latin typeface="GE Inspira" panose="020F0603030400020203" pitchFamily="34" charset="0"/>
                </a:rPr>
                <a:t>operational</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a:ln>
                    <a:noFill/>
                  </a:ln>
                  <a:solidFill>
                    <a:srgbClr val="4157AD"/>
                  </a:solidFill>
                  <a:effectLst/>
                  <a:uLnTx/>
                  <a:uFillTx/>
                  <a:latin typeface="GE Inspira" panose="020F0603030400020203" pitchFamily="34" charset="0"/>
                </a:rPr>
                <a:t>flexibility</a:t>
              </a:r>
            </a:p>
          </p:txBody>
        </p:sp>
        <p:sp>
          <p:nvSpPr>
            <p:cNvPr id="64" name="Right Brace 63"/>
            <p:cNvSpPr/>
            <p:nvPr/>
          </p:nvSpPr>
          <p:spPr bwMode="auto">
            <a:xfrm>
              <a:off x="8634335" y="1338055"/>
              <a:ext cx="146050" cy="1404937"/>
            </a:xfrm>
            <a:prstGeom prst="rightBrace">
              <a:avLst>
                <a:gd name="adj1" fmla="val 8333"/>
                <a:gd name="adj2" fmla="val 77262"/>
              </a:avLst>
            </a:prstGeom>
            <a:noFill/>
            <a:ln w="9525" cap="flat" cmpd="sng" algn="ctr">
              <a:solidFill>
                <a:srgbClr val="B9CAFD">
                  <a:shade val="95000"/>
                  <a:satMod val="105000"/>
                </a:srgbClr>
              </a:solidFill>
              <a:prstDash val="solid"/>
              <a:headEnd type="none" w="med" len="med"/>
              <a:tailEnd type="none" w="med" len="med"/>
            </a:ln>
            <a:effectLs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800" b="1" i="0" u="none" strike="noStrike" kern="0" cap="none" spc="0" normalizeH="0" baseline="0" noProof="0">
                <a:ln>
                  <a:noFill/>
                </a:ln>
                <a:solidFill>
                  <a:srgbClr val="4157AD"/>
                </a:solidFill>
                <a:effectLst/>
                <a:uLnTx/>
                <a:uFillTx/>
                <a:latin typeface="GE Inspira"/>
                <a:ea typeface="+mn-ea"/>
                <a:cs typeface="+mn-cs"/>
              </a:endParaRPr>
            </a:p>
          </p:txBody>
        </p:sp>
        <p:sp>
          <p:nvSpPr>
            <p:cNvPr id="65" name="Right Brace 64"/>
            <p:cNvSpPr/>
            <p:nvPr/>
          </p:nvSpPr>
          <p:spPr bwMode="auto">
            <a:xfrm>
              <a:off x="8515272" y="1338055"/>
              <a:ext cx="120650" cy="2192337"/>
            </a:xfrm>
            <a:prstGeom prst="rightBrace">
              <a:avLst>
                <a:gd name="adj1" fmla="val 8333"/>
                <a:gd name="adj2" fmla="val 90030"/>
              </a:avLst>
            </a:prstGeom>
            <a:noFill/>
            <a:ln w="9525" cap="flat" cmpd="sng" algn="ctr">
              <a:solidFill>
                <a:srgbClr val="B9CAFD">
                  <a:shade val="95000"/>
                  <a:satMod val="105000"/>
                </a:srgbClr>
              </a:solidFill>
              <a:prstDash val="solid"/>
              <a:headEnd type="none" w="med" len="med"/>
              <a:tailEnd type="none" w="med" len="med"/>
            </a:ln>
            <a:effectLs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800" b="1" i="0" u="none" strike="noStrike" kern="0" cap="none" spc="0" normalizeH="0" baseline="0" noProof="0">
                <a:ln>
                  <a:noFill/>
                </a:ln>
                <a:solidFill>
                  <a:srgbClr val="4157AD"/>
                </a:solidFill>
                <a:effectLst/>
                <a:uLnTx/>
                <a:uFillTx/>
                <a:latin typeface="GE Inspira"/>
                <a:ea typeface="+mn-ea"/>
                <a:cs typeface="+mn-cs"/>
              </a:endParaRPr>
            </a:p>
          </p:txBody>
        </p:sp>
        <p:sp>
          <p:nvSpPr>
            <p:cNvPr id="66" name="TextBox 80"/>
            <p:cNvSpPr txBox="1">
              <a:spLocks noChangeArrowheads="1"/>
            </p:cNvSpPr>
            <p:nvPr/>
          </p:nvSpPr>
          <p:spPr bwMode="auto">
            <a:xfrm>
              <a:off x="8721647" y="3049434"/>
              <a:ext cx="1646238" cy="522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a:ln>
                    <a:noFill/>
                  </a:ln>
                  <a:solidFill>
                    <a:srgbClr val="4157AD"/>
                  </a:solidFill>
                  <a:effectLst/>
                  <a:uLnTx/>
                  <a:uFillTx/>
                  <a:latin typeface="GE Inspira" panose="020F0603030400020203" pitchFamily="34" charset="0"/>
                </a:rPr>
                <a:t>Optimized plant </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n-US" sz="1400" b="1" i="0" u="none" strike="noStrike" kern="0" cap="none" spc="0" normalizeH="0" baseline="0" noProof="0">
                  <a:ln>
                    <a:noFill/>
                  </a:ln>
                  <a:solidFill>
                    <a:srgbClr val="4157AD"/>
                  </a:solidFill>
                  <a:effectLst/>
                  <a:uLnTx/>
                  <a:uFillTx/>
                  <a:latin typeface="GE Inspira" panose="020F0603030400020203" pitchFamily="34" charset="0"/>
                </a:rPr>
                <a:t>startup/ operation</a:t>
              </a:r>
            </a:p>
          </p:txBody>
        </p:sp>
        <p:sp>
          <p:nvSpPr>
            <p:cNvPr id="67" name="Right Brace 66"/>
            <p:cNvSpPr/>
            <p:nvPr/>
          </p:nvSpPr>
          <p:spPr bwMode="auto">
            <a:xfrm>
              <a:off x="8794672" y="1389475"/>
              <a:ext cx="85725" cy="409575"/>
            </a:xfrm>
            <a:prstGeom prst="rightBrace">
              <a:avLst/>
            </a:prstGeom>
            <a:noFill/>
            <a:ln w="9525" cap="flat" cmpd="sng" algn="ctr">
              <a:solidFill>
                <a:srgbClr val="B9CAFD">
                  <a:shade val="95000"/>
                  <a:satMod val="105000"/>
                </a:srgbClr>
              </a:solidFill>
              <a:prstDash val="solid"/>
              <a:headEnd type="none" w="med" len="med"/>
              <a:tailEnd type="none" w="med" len="med"/>
            </a:ln>
            <a:effectLst/>
            <a:extLst/>
          </p:spPr>
          <p:txBody>
            <a:bodyPr/>
            <a:lstStyle/>
            <a:p>
              <a:pPr eaLnBrk="0" fontAlgn="base" hangingPunct="0">
                <a:spcBef>
                  <a:spcPct val="0"/>
                </a:spcBef>
                <a:spcAft>
                  <a:spcPct val="0"/>
                </a:spcAft>
              </a:pPr>
              <a:endParaRPr lang="en-US" sz="2800" b="1" kern="0">
                <a:solidFill>
                  <a:srgbClr val="4157AD"/>
                </a:solidFill>
                <a:latin typeface="GE Inspira"/>
              </a:endParaRPr>
            </a:p>
          </p:txBody>
        </p:sp>
      </p:grpSp>
    </p:spTree>
    <p:extLst>
      <p:ext uri="{BB962C8B-B14F-4D97-AF65-F5344CB8AC3E}">
        <p14:creationId xmlns:p14="http://schemas.microsoft.com/office/powerpoint/2010/main" val="1287739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5"/>
                                        </p:tgtEl>
                                        <p:attrNameLst>
                                          <p:attrName>style.visibility</p:attrName>
                                        </p:attrNameLst>
                                      </p:cBhvr>
                                      <p:to>
                                        <p:strVal val="visible"/>
                                      </p:to>
                                    </p:set>
                                    <p:animEffect transition="in" filter="fade">
                                      <p:cBhvr>
                                        <p:cTn id="14" dur="1000"/>
                                        <p:tgtEl>
                                          <p:spTgt spid="45"/>
                                        </p:tgtEl>
                                      </p:cBhvr>
                                    </p:animEffect>
                                    <p:anim calcmode="lin" valueType="num">
                                      <p:cBhvr>
                                        <p:cTn id="15" dur="1000" fill="hold"/>
                                        <p:tgtEl>
                                          <p:spTgt spid="45"/>
                                        </p:tgtEl>
                                        <p:attrNameLst>
                                          <p:attrName>ppt_x</p:attrName>
                                        </p:attrNameLst>
                                      </p:cBhvr>
                                      <p:tavLst>
                                        <p:tav tm="0">
                                          <p:val>
                                            <p:strVal val="#ppt_x"/>
                                          </p:val>
                                        </p:tav>
                                        <p:tav tm="100000">
                                          <p:val>
                                            <p:strVal val="#ppt_x"/>
                                          </p:val>
                                        </p:tav>
                                      </p:tavLst>
                                    </p:anim>
                                    <p:anim calcmode="lin" valueType="num">
                                      <p:cBhvr>
                                        <p:cTn id="16"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1000"/>
                                        <p:tgtEl>
                                          <p:spTgt spid="46"/>
                                        </p:tgtEl>
                                      </p:cBhvr>
                                    </p:animEffect>
                                    <p:anim calcmode="lin" valueType="num">
                                      <p:cBhvr>
                                        <p:cTn id="22" dur="1000" fill="hold"/>
                                        <p:tgtEl>
                                          <p:spTgt spid="46"/>
                                        </p:tgtEl>
                                        <p:attrNameLst>
                                          <p:attrName>ppt_x</p:attrName>
                                        </p:attrNameLst>
                                      </p:cBhvr>
                                      <p:tavLst>
                                        <p:tav tm="0">
                                          <p:val>
                                            <p:strVal val="#ppt_x"/>
                                          </p:val>
                                        </p:tav>
                                        <p:tav tm="100000">
                                          <p:val>
                                            <p:strVal val="#ppt_x"/>
                                          </p:val>
                                        </p:tav>
                                      </p:tavLst>
                                    </p:anim>
                                    <p:anim calcmode="lin" valueType="num">
                                      <p:cBhvr>
                                        <p:cTn id="23"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fade">
                                      <p:cBhvr>
                                        <p:cTn id="28" dur="1000"/>
                                        <p:tgtEl>
                                          <p:spTgt spid="68"/>
                                        </p:tgtEl>
                                      </p:cBhvr>
                                    </p:animEffect>
                                    <p:anim calcmode="lin" valueType="num">
                                      <p:cBhvr>
                                        <p:cTn id="29" dur="1000" fill="hold"/>
                                        <p:tgtEl>
                                          <p:spTgt spid="68"/>
                                        </p:tgtEl>
                                        <p:attrNameLst>
                                          <p:attrName>ppt_x</p:attrName>
                                        </p:attrNameLst>
                                      </p:cBhvr>
                                      <p:tavLst>
                                        <p:tav tm="0">
                                          <p:val>
                                            <p:strVal val="#ppt_x"/>
                                          </p:val>
                                        </p:tav>
                                        <p:tav tm="100000">
                                          <p:val>
                                            <p:strVal val="#ppt_x"/>
                                          </p:val>
                                        </p:tav>
                                      </p:tavLst>
                                    </p:anim>
                                    <p:anim calcmode="lin" valueType="num">
                                      <p:cBhvr>
                                        <p:cTn id="30"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11" name="Text Box 307"/>
          <p:cNvSpPr txBox="1">
            <a:spLocks noChangeArrowheads="1"/>
          </p:cNvSpPr>
          <p:nvPr/>
        </p:nvSpPr>
        <p:spPr bwMode="auto">
          <a:xfrm>
            <a:off x="252139" y="24037"/>
            <a:ext cx="8670925" cy="590931"/>
          </a:xfrm>
          <a:prstGeom prst="rect">
            <a:avLst/>
          </a:prstGeom>
          <a:extLst/>
        </p:spPr>
        <p:txBody>
          <a:bodyPr vert="horz" lIns="0" tIns="0" rIns="0" bIns="0" rtlCol="0" anchor="t" anchorCtr="0">
            <a:noAutofit/>
          </a:bodyPr>
          <a:lstStyle>
            <a:lvl1pPr>
              <a:lnSpc>
                <a:spcPct val="90000"/>
              </a:lnSpc>
              <a:spcBef>
                <a:spcPct val="0"/>
              </a:spcBef>
              <a:buNone/>
              <a:defRPr sz="3600">
                <a:solidFill>
                  <a:schemeClr val="accent2"/>
                </a:solidFill>
                <a:latin typeface="+mj-lt"/>
                <a:ea typeface="+mj-ea"/>
                <a:cs typeface="+mj-cs"/>
              </a:defRPr>
            </a:lvl1pPr>
          </a:lstStyle>
          <a:p>
            <a:r>
              <a:rPr lang="en-US" dirty="0"/>
              <a:t>All-load Autotune </a:t>
            </a:r>
          </a:p>
        </p:txBody>
      </p:sp>
      <p:grpSp>
        <p:nvGrpSpPr>
          <p:cNvPr id="4100" name="Group 10"/>
          <p:cNvGrpSpPr>
            <a:grpSpLocks/>
          </p:cNvGrpSpPr>
          <p:nvPr/>
        </p:nvGrpSpPr>
        <p:grpSpPr bwMode="auto">
          <a:xfrm>
            <a:off x="6932613" y="720726"/>
            <a:ext cx="3592512" cy="2720975"/>
            <a:chOff x="4837906" y="596900"/>
            <a:chExt cx="3591719" cy="2720975"/>
          </a:xfrm>
        </p:grpSpPr>
        <p:cxnSp>
          <p:nvCxnSpPr>
            <p:cNvPr id="37" name="Straight Arrow Connector 36"/>
            <p:cNvCxnSpPr/>
            <p:nvPr/>
          </p:nvCxnSpPr>
          <p:spPr bwMode="auto">
            <a:xfrm>
              <a:off x="5455307" y="3013075"/>
              <a:ext cx="2974318" cy="0"/>
            </a:xfrm>
            <a:prstGeom prst="straightConnector1">
              <a:avLst/>
            </a:prstGeom>
            <a:ln>
              <a:solidFill>
                <a:srgbClr val="C00000"/>
              </a:solidFill>
              <a:headEnd type="none" w="med" len="med"/>
              <a:tailEnd type="arrow"/>
            </a:ln>
            <a:extLst/>
          </p:spPr>
          <p:style>
            <a:lnRef idx="3">
              <a:schemeClr val="accent4"/>
            </a:lnRef>
            <a:fillRef idx="0">
              <a:schemeClr val="accent4"/>
            </a:fillRef>
            <a:effectRef idx="2">
              <a:schemeClr val="accent4"/>
            </a:effectRef>
            <a:fontRef idx="minor">
              <a:schemeClr val="tx1"/>
            </a:fontRef>
          </p:style>
        </p:cxnSp>
        <p:cxnSp>
          <p:nvCxnSpPr>
            <p:cNvPr id="39" name="Straight Connector 38"/>
            <p:cNvCxnSpPr/>
            <p:nvPr/>
          </p:nvCxnSpPr>
          <p:spPr bwMode="auto">
            <a:xfrm flipV="1">
              <a:off x="5496573" y="1171575"/>
              <a:ext cx="814208" cy="990600"/>
            </a:xfrm>
            <a:prstGeom prst="line">
              <a:avLst/>
            </a:prstGeom>
            <a:ln w="25400">
              <a:solidFill>
                <a:srgbClr val="33CC33"/>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48" name="Straight Connector 47"/>
            <p:cNvCxnSpPr/>
            <p:nvPr/>
          </p:nvCxnSpPr>
          <p:spPr bwMode="auto">
            <a:xfrm flipH="1">
              <a:off x="5571169" y="2081213"/>
              <a:ext cx="11110" cy="742950"/>
            </a:xfrm>
            <a:prstGeom prst="line">
              <a:avLst/>
            </a:prstGeom>
            <a:ln w="25400">
              <a:solidFill>
                <a:srgbClr val="33CC33"/>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50" name="Straight Connector 49"/>
            <p:cNvCxnSpPr/>
            <p:nvPr/>
          </p:nvCxnSpPr>
          <p:spPr bwMode="auto">
            <a:xfrm>
              <a:off x="5571169" y="2824163"/>
              <a:ext cx="966574" cy="0"/>
            </a:xfrm>
            <a:prstGeom prst="line">
              <a:avLst/>
            </a:prstGeom>
            <a:ln w="25400">
              <a:solidFill>
                <a:srgbClr val="EB15DC"/>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44" name="Straight Connector 43"/>
            <p:cNvCxnSpPr/>
            <p:nvPr/>
          </p:nvCxnSpPr>
          <p:spPr bwMode="auto">
            <a:xfrm>
              <a:off x="7532886" y="1166813"/>
              <a:ext cx="412659" cy="319087"/>
            </a:xfrm>
            <a:prstGeom prst="line">
              <a:avLst/>
            </a:prstGeom>
            <a:ln w="114300">
              <a:solidFill>
                <a:schemeClr val="accent1"/>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53" name="Straight Connector 52"/>
            <p:cNvCxnSpPr/>
            <p:nvPr/>
          </p:nvCxnSpPr>
          <p:spPr bwMode="auto">
            <a:xfrm flipV="1">
              <a:off x="6532982" y="1501775"/>
              <a:ext cx="1426847" cy="1322388"/>
            </a:xfrm>
            <a:prstGeom prst="line">
              <a:avLst/>
            </a:prstGeom>
            <a:ln w="25400">
              <a:solidFill>
                <a:srgbClr val="EB15DC"/>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sp>
          <p:nvSpPr>
            <p:cNvPr id="4159" name="TextBox 93"/>
            <p:cNvSpPr txBox="1">
              <a:spLocks noChangeArrowheads="1"/>
            </p:cNvSpPr>
            <p:nvPr/>
          </p:nvSpPr>
          <p:spPr bwMode="auto">
            <a:xfrm rot="-5400000">
              <a:off x="5037932" y="1667668"/>
              <a:ext cx="5588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200"/>
                <a:t>T-Exh</a:t>
              </a:r>
            </a:p>
          </p:txBody>
        </p:sp>
        <p:cxnSp>
          <p:nvCxnSpPr>
            <p:cNvPr id="4160" name="Straight Connector 4127"/>
            <p:cNvCxnSpPr>
              <a:cxnSpLocks noChangeShapeType="1"/>
            </p:cNvCxnSpPr>
            <p:nvPr/>
          </p:nvCxnSpPr>
          <p:spPr bwMode="auto">
            <a:xfrm flipH="1">
              <a:off x="5495925" y="1166813"/>
              <a:ext cx="792163" cy="0"/>
            </a:xfrm>
            <a:prstGeom prst="line">
              <a:avLst/>
            </a:prstGeom>
            <a:noFill/>
            <a:ln w="952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61" name="Straight Connector 151"/>
            <p:cNvCxnSpPr>
              <a:cxnSpLocks noChangeShapeType="1"/>
            </p:cNvCxnSpPr>
            <p:nvPr/>
          </p:nvCxnSpPr>
          <p:spPr bwMode="auto">
            <a:xfrm flipV="1">
              <a:off x="7939088" y="1473200"/>
              <a:ext cx="20637" cy="1520825"/>
            </a:xfrm>
            <a:prstGeom prst="line">
              <a:avLst/>
            </a:prstGeom>
            <a:noFill/>
            <a:ln w="952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62" name="Straight Connector 154"/>
            <p:cNvCxnSpPr>
              <a:cxnSpLocks noChangeShapeType="1"/>
            </p:cNvCxnSpPr>
            <p:nvPr/>
          </p:nvCxnSpPr>
          <p:spPr bwMode="auto">
            <a:xfrm flipH="1">
              <a:off x="5456238" y="2814638"/>
              <a:ext cx="114300" cy="0"/>
            </a:xfrm>
            <a:prstGeom prst="line">
              <a:avLst/>
            </a:prstGeom>
            <a:noFill/>
            <a:ln w="952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Arrow Connector 34"/>
            <p:cNvCxnSpPr/>
            <p:nvPr/>
          </p:nvCxnSpPr>
          <p:spPr bwMode="auto">
            <a:xfrm flipV="1">
              <a:off x="5471178" y="804863"/>
              <a:ext cx="25394" cy="2217737"/>
            </a:xfrm>
            <a:prstGeom prst="straightConnector1">
              <a:avLst/>
            </a:prstGeom>
            <a:ln>
              <a:solidFill>
                <a:srgbClr val="C00000"/>
              </a:solidFill>
              <a:headEnd type="none" w="med" len="med"/>
              <a:tailEnd type="arrow"/>
            </a:ln>
            <a:extLst/>
          </p:spPr>
          <p:style>
            <a:lnRef idx="3">
              <a:schemeClr val="accent4"/>
            </a:lnRef>
            <a:fillRef idx="0">
              <a:schemeClr val="accent4"/>
            </a:fillRef>
            <a:effectRef idx="2">
              <a:schemeClr val="accent4"/>
            </a:effectRef>
            <a:fontRef idx="minor">
              <a:schemeClr val="tx1"/>
            </a:fontRef>
          </p:style>
        </p:cxnSp>
        <p:sp>
          <p:nvSpPr>
            <p:cNvPr id="4164" name="TextBox 156"/>
            <p:cNvSpPr txBox="1">
              <a:spLocks noChangeArrowheads="1"/>
            </p:cNvSpPr>
            <p:nvPr/>
          </p:nvSpPr>
          <p:spPr bwMode="auto">
            <a:xfrm>
              <a:off x="6399213" y="3040063"/>
              <a:ext cx="728662"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200"/>
                <a:t>GT Load</a:t>
              </a:r>
            </a:p>
          </p:txBody>
        </p:sp>
        <p:sp>
          <p:nvSpPr>
            <p:cNvPr id="4165" name="TextBox 157"/>
            <p:cNvSpPr txBox="1">
              <a:spLocks noChangeArrowheads="1"/>
            </p:cNvSpPr>
            <p:nvPr/>
          </p:nvSpPr>
          <p:spPr bwMode="auto">
            <a:xfrm rot="-5400000">
              <a:off x="7461250" y="2503488"/>
              <a:ext cx="7651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GT base load</a:t>
              </a:r>
            </a:p>
          </p:txBody>
        </p:sp>
        <p:sp>
          <p:nvSpPr>
            <p:cNvPr id="4166" name="TextBox 158"/>
            <p:cNvSpPr txBox="1">
              <a:spLocks noChangeArrowheads="1"/>
            </p:cNvSpPr>
            <p:nvPr/>
          </p:nvSpPr>
          <p:spPr bwMode="auto">
            <a:xfrm>
              <a:off x="5476875" y="1009650"/>
              <a:ext cx="65563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Max. T exh</a:t>
              </a:r>
            </a:p>
          </p:txBody>
        </p:sp>
        <p:sp>
          <p:nvSpPr>
            <p:cNvPr id="9" name="TextBox 8"/>
            <p:cNvSpPr txBox="1"/>
            <p:nvPr/>
          </p:nvSpPr>
          <p:spPr>
            <a:xfrm rot="19038548">
              <a:off x="6390668" y="2145548"/>
              <a:ext cx="1170255" cy="253916"/>
            </a:xfrm>
            <a:prstGeom prst="rect">
              <a:avLst/>
            </a:prstGeom>
            <a:noFill/>
            <a:ln>
              <a:noFill/>
            </a:ln>
          </p:spPr>
          <p:txBody>
            <a:bodyPr wrap="none">
              <a:spAutoFit/>
            </a:bodyPr>
            <a:lstStyle/>
            <a:p>
              <a:pPr>
                <a:defRPr/>
              </a:pPr>
              <a:r>
                <a:rPr lang="en-US" sz="1050" dirty="0">
                  <a:solidFill>
                    <a:srgbClr val="EB15DC"/>
                  </a:solidFill>
                </a:rPr>
                <a:t>Simple Cycle Path</a:t>
              </a:r>
            </a:p>
          </p:txBody>
        </p:sp>
        <p:sp>
          <p:nvSpPr>
            <p:cNvPr id="98" name="TextBox 97"/>
            <p:cNvSpPr txBox="1"/>
            <p:nvPr/>
          </p:nvSpPr>
          <p:spPr>
            <a:xfrm rot="18624898">
              <a:off x="5330558" y="1591497"/>
              <a:ext cx="1423988" cy="253944"/>
            </a:xfrm>
            <a:prstGeom prst="rect">
              <a:avLst/>
            </a:prstGeom>
            <a:noFill/>
          </p:spPr>
          <p:txBody>
            <a:bodyPr wrap="none">
              <a:spAutoFit/>
            </a:bodyPr>
            <a:lstStyle/>
            <a:p>
              <a:pPr>
                <a:defRPr/>
              </a:pPr>
              <a:r>
                <a:rPr lang="en-US" sz="1050" dirty="0">
                  <a:solidFill>
                    <a:srgbClr val="33CC33"/>
                  </a:solidFill>
                </a:rPr>
                <a:t>Combined  Cycle Path</a:t>
              </a:r>
            </a:p>
          </p:txBody>
        </p:sp>
        <p:cxnSp>
          <p:nvCxnSpPr>
            <p:cNvPr id="58" name="Straight Connector 57"/>
            <p:cNvCxnSpPr/>
            <p:nvPr/>
          </p:nvCxnSpPr>
          <p:spPr bwMode="auto">
            <a:xfrm>
              <a:off x="6390138" y="1181100"/>
              <a:ext cx="1169729" cy="1588"/>
            </a:xfrm>
            <a:prstGeom prst="line">
              <a:avLst/>
            </a:prstGeom>
            <a:ln w="127000">
              <a:solidFill>
                <a:schemeClr val="accent1"/>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sp>
          <p:nvSpPr>
            <p:cNvPr id="102" name="TextBox 101"/>
            <p:cNvSpPr txBox="1"/>
            <p:nvPr/>
          </p:nvSpPr>
          <p:spPr>
            <a:xfrm>
              <a:off x="6507587" y="925513"/>
              <a:ext cx="1223142" cy="253916"/>
            </a:xfrm>
            <a:prstGeom prst="rect">
              <a:avLst/>
            </a:prstGeom>
            <a:noFill/>
          </p:spPr>
          <p:txBody>
            <a:bodyPr wrap="none">
              <a:spAutoFit/>
            </a:bodyPr>
            <a:lstStyle/>
            <a:p>
              <a:pPr>
                <a:defRPr/>
              </a:pPr>
              <a:r>
                <a:rPr lang="en-US" sz="1050" dirty="0"/>
                <a:t>Auto-tune Enabled</a:t>
              </a:r>
            </a:p>
          </p:txBody>
        </p:sp>
        <p:sp>
          <p:nvSpPr>
            <p:cNvPr id="103" name="TextBox 102"/>
            <p:cNvSpPr txBox="1"/>
            <p:nvPr/>
          </p:nvSpPr>
          <p:spPr>
            <a:xfrm>
              <a:off x="6528220" y="596900"/>
              <a:ext cx="1322096" cy="415925"/>
            </a:xfrm>
            <a:prstGeom prst="rect">
              <a:avLst/>
            </a:prstGeom>
            <a:noFill/>
          </p:spPr>
          <p:txBody>
            <a:bodyPr>
              <a:spAutoFit/>
            </a:bodyPr>
            <a:lstStyle/>
            <a:p>
              <a:pPr>
                <a:defRPr/>
              </a:pPr>
              <a:r>
                <a:rPr lang="en-US" sz="1050" dirty="0"/>
                <a:t>Mode 6,  </a:t>
              </a:r>
            </a:p>
            <a:p>
              <a:pPr>
                <a:defRPr/>
              </a:pPr>
              <a:r>
                <a:rPr lang="en-US" sz="1050" dirty="0"/>
                <a:t>Emission Compliant</a:t>
              </a:r>
            </a:p>
          </p:txBody>
        </p:sp>
        <p:sp>
          <p:nvSpPr>
            <p:cNvPr id="4172" name="TextBox 158"/>
            <p:cNvSpPr txBox="1">
              <a:spLocks noChangeArrowheads="1"/>
            </p:cNvSpPr>
            <p:nvPr/>
          </p:nvSpPr>
          <p:spPr bwMode="auto">
            <a:xfrm>
              <a:off x="4837906" y="2709983"/>
              <a:ext cx="66877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Min. T- exh</a:t>
              </a:r>
            </a:p>
          </p:txBody>
        </p:sp>
        <p:cxnSp>
          <p:nvCxnSpPr>
            <p:cNvPr id="4138" name="Straight Connector 4137"/>
            <p:cNvCxnSpPr/>
            <p:nvPr/>
          </p:nvCxnSpPr>
          <p:spPr bwMode="auto">
            <a:xfrm flipV="1">
              <a:off x="6318716" y="1171575"/>
              <a:ext cx="1228454" cy="4763"/>
            </a:xfrm>
            <a:prstGeom prst="line">
              <a:avLst/>
            </a:prstGeom>
            <a:ln w="25400">
              <a:solidFill>
                <a:srgbClr val="33CC33"/>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46" name="Straight Connector 45"/>
            <p:cNvCxnSpPr/>
            <p:nvPr/>
          </p:nvCxnSpPr>
          <p:spPr bwMode="auto">
            <a:xfrm>
              <a:off x="7547170" y="1171575"/>
              <a:ext cx="433292" cy="339725"/>
            </a:xfrm>
            <a:prstGeom prst="line">
              <a:avLst/>
            </a:prstGeom>
            <a:ln w="25400">
              <a:solidFill>
                <a:srgbClr val="33CC33"/>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grpSp>
      <p:grpSp>
        <p:nvGrpSpPr>
          <p:cNvPr id="4101" name="Group 12"/>
          <p:cNvGrpSpPr>
            <a:grpSpLocks/>
          </p:cNvGrpSpPr>
          <p:nvPr/>
        </p:nvGrpSpPr>
        <p:grpSpPr bwMode="auto">
          <a:xfrm>
            <a:off x="6873875" y="3505200"/>
            <a:ext cx="3651250" cy="2522538"/>
            <a:chOff x="5092266" y="3762375"/>
            <a:chExt cx="3651684" cy="2522538"/>
          </a:xfrm>
        </p:grpSpPr>
        <p:grpSp>
          <p:nvGrpSpPr>
            <p:cNvPr id="4133" name="Group 11"/>
            <p:cNvGrpSpPr>
              <a:grpSpLocks/>
            </p:cNvGrpSpPr>
            <p:nvPr/>
          </p:nvGrpSpPr>
          <p:grpSpPr bwMode="auto">
            <a:xfrm>
              <a:off x="5483225" y="3762375"/>
              <a:ext cx="3260725" cy="2522538"/>
              <a:chOff x="5168900" y="3762375"/>
              <a:chExt cx="3260725" cy="2522538"/>
            </a:xfrm>
          </p:grpSpPr>
          <p:cxnSp>
            <p:nvCxnSpPr>
              <p:cNvPr id="75" name="Straight Arrow Connector 74"/>
              <p:cNvCxnSpPr/>
              <p:nvPr/>
            </p:nvCxnSpPr>
            <p:spPr bwMode="auto">
              <a:xfrm>
                <a:off x="5444770" y="5970588"/>
                <a:ext cx="2984855" cy="0"/>
              </a:xfrm>
              <a:prstGeom prst="straightConnector1">
                <a:avLst/>
              </a:prstGeom>
              <a:ln>
                <a:solidFill>
                  <a:srgbClr val="C00000"/>
                </a:solidFill>
                <a:headEnd type="none" w="med" len="med"/>
                <a:tailEnd type="arrow"/>
              </a:ln>
              <a:extLst/>
            </p:spPr>
            <p:style>
              <a:lnRef idx="3">
                <a:schemeClr val="accent4"/>
              </a:lnRef>
              <a:fillRef idx="0">
                <a:schemeClr val="accent4"/>
              </a:fillRef>
              <a:effectRef idx="2">
                <a:schemeClr val="accent4"/>
              </a:effectRef>
              <a:fontRef idx="minor">
                <a:schemeClr val="tx1"/>
              </a:fontRef>
            </p:style>
          </p:cxnSp>
          <p:cxnSp>
            <p:nvCxnSpPr>
              <p:cNvPr id="76" name="Straight Connector 75"/>
              <p:cNvCxnSpPr/>
              <p:nvPr/>
            </p:nvCxnSpPr>
            <p:spPr bwMode="auto">
              <a:xfrm flipV="1">
                <a:off x="5460647" y="4129088"/>
                <a:ext cx="839888" cy="1035050"/>
              </a:xfrm>
              <a:prstGeom prst="line">
                <a:avLst/>
              </a:prstGeom>
              <a:ln>
                <a:solidFill>
                  <a:srgbClr val="00B050"/>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77" name="Straight Connector 76"/>
              <p:cNvCxnSpPr/>
              <p:nvPr/>
            </p:nvCxnSpPr>
            <p:spPr bwMode="auto">
              <a:xfrm flipH="1">
                <a:off x="5560672" y="5038725"/>
                <a:ext cx="11113" cy="742950"/>
              </a:xfrm>
              <a:prstGeom prst="line">
                <a:avLst/>
              </a:prstGeom>
              <a:ln>
                <a:solidFill>
                  <a:srgbClr val="00B050"/>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78" name="Straight Connector 77"/>
              <p:cNvCxnSpPr/>
              <p:nvPr/>
            </p:nvCxnSpPr>
            <p:spPr bwMode="auto">
              <a:xfrm>
                <a:off x="5560672" y="5781675"/>
                <a:ext cx="966902" cy="0"/>
              </a:xfrm>
              <a:prstGeom prst="line">
                <a:avLst/>
              </a:prstGeom>
              <a:ln w="25400">
                <a:solidFill>
                  <a:srgbClr val="EB15DC"/>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81" name="Straight Connector 80"/>
              <p:cNvCxnSpPr/>
              <p:nvPr/>
            </p:nvCxnSpPr>
            <p:spPr bwMode="auto">
              <a:xfrm>
                <a:off x="7548458" y="4114800"/>
                <a:ext cx="412799" cy="319088"/>
              </a:xfrm>
              <a:prstGeom prst="line">
                <a:avLst/>
              </a:prstGeom>
              <a:ln>
                <a:solidFill>
                  <a:srgbClr val="00B050"/>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82" name="Straight Connector 81"/>
              <p:cNvCxnSpPr/>
              <p:nvPr/>
            </p:nvCxnSpPr>
            <p:spPr bwMode="auto">
              <a:xfrm flipV="1">
                <a:off x="6532337" y="4459288"/>
                <a:ext cx="1427332" cy="1322387"/>
              </a:xfrm>
              <a:prstGeom prst="line">
                <a:avLst/>
              </a:prstGeom>
              <a:ln w="25400">
                <a:solidFill>
                  <a:srgbClr val="EB15DC"/>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83" name="Straight Connector 82"/>
              <p:cNvCxnSpPr/>
              <p:nvPr/>
            </p:nvCxnSpPr>
            <p:spPr bwMode="auto">
              <a:xfrm>
                <a:off x="6360867" y="4124325"/>
                <a:ext cx="1189179" cy="1588"/>
              </a:xfrm>
              <a:prstGeom prst="line">
                <a:avLst/>
              </a:prstGeom>
              <a:ln>
                <a:solidFill>
                  <a:srgbClr val="00B050"/>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sp>
            <p:nvSpPr>
              <p:cNvPr id="4142" name="TextBox 93"/>
              <p:cNvSpPr txBox="1">
                <a:spLocks noChangeArrowheads="1"/>
              </p:cNvSpPr>
              <p:nvPr/>
            </p:nvSpPr>
            <p:spPr bwMode="auto">
              <a:xfrm rot="-5400000">
                <a:off x="5028407" y="4625181"/>
                <a:ext cx="5588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200"/>
                  <a:t>T-Exh</a:t>
                </a:r>
              </a:p>
            </p:txBody>
          </p:sp>
          <p:cxnSp>
            <p:nvCxnSpPr>
              <p:cNvPr id="4143" name="Straight Connector 4127"/>
              <p:cNvCxnSpPr>
                <a:cxnSpLocks noChangeShapeType="1"/>
              </p:cNvCxnSpPr>
              <p:nvPr/>
            </p:nvCxnSpPr>
            <p:spPr bwMode="auto">
              <a:xfrm flipH="1">
                <a:off x="5486400" y="4124325"/>
                <a:ext cx="792163" cy="0"/>
              </a:xfrm>
              <a:prstGeom prst="line">
                <a:avLst/>
              </a:prstGeom>
              <a:noFill/>
              <a:ln w="952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Straight Connector 87"/>
              <p:cNvCxnSpPr/>
              <p:nvPr/>
            </p:nvCxnSpPr>
            <p:spPr bwMode="auto">
              <a:xfrm flipV="1">
                <a:off x="6279894" y="4127500"/>
                <a:ext cx="142892" cy="1588"/>
              </a:xfrm>
              <a:prstGeom prst="line">
                <a:avLst/>
              </a:prstGeom>
              <a:ln>
                <a:solidFill>
                  <a:srgbClr val="00B050"/>
                </a:solidFill>
                <a:headEnd type="none" w="med" len="med"/>
                <a:tailEnd type="none" w="med" len="med"/>
              </a:ln>
              <a:extLst/>
            </p:spPr>
            <p:style>
              <a:lnRef idx="3">
                <a:schemeClr val="accent4"/>
              </a:lnRef>
              <a:fillRef idx="0">
                <a:schemeClr val="accent4"/>
              </a:fillRef>
              <a:effectRef idx="2">
                <a:schemeClr val="accent4"/>
              </a:effectRef>
              <a:fontRef idx="minor">
                <a:schemeClr val="tx1"/>
              </a:fontRef>
            </p:style>
          </p:cxnSp>
          <p:cxnSp>
            <p:nvCxnSpPr>
              <p:cNvPr id="4145" name="Straight Connector 151"/>
              <p:cNvCxnSpPr>
                <a:cxnSpLocks noChangeShapeType="1"/>
              </p:cNvCxnSpPr>
              <p:nvPr/>
            </p:nvCxnSpPr>
            <p:spPr bwMode="auto">
              <a:xfrm flipV="1">
                <a:off x="7929563" y="4430713"/>
                <a:ext cx="20637" cy="1520825"/>
              </a:xfrm>
              <a:prstGeom prst="line">
                <a:avLst/>
              </a:prstGeom>
              <a:noFill/>
              <a:ln w="952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6" name="Straight Connector 154"/>
              <p:cNvCxnSpPr>
                <a:cxnSpLocks noChangeShapeType="1"/>
              </p:cNvCxnSpPr>
              <p:nvPr/>
            </p:nvCxnSpPr>
            <p:spPr bwMode="auto">
              <a:xfrm flipH="1">
                <a:off x="5446713" y="5772150"/>
                <a:ext cx="114300" cy="0"/>
              </a:xfrm>
              <a:prstGeom prst="line">
                <a:avLst/>
              </a:prstGeom>
              <a:noFill/>
              <a:ln w="9525" algn="ctr">
                <a:solidFill>
                  <a:schemeClr val="tx1"/>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Straight Arrow Connector 90"/>
              <p:cNvCxnSpPr/>
              <p:nvPr/>
            </p:nvCxnSpPr>
            <p:spPr bwMode="auto">
              <a:xfrm flipV="1">
                <a:off x="5460647" y="3762375"/>
                <a:ext cx="25403" cy="2217738"/>
              </a:xfrm>
              <a:prstGeom prst="straightConnector1">
                <a:avLst/>
              </a:prstGeom>
              <a:ln>
                <a:solidFill>
                  <a:srgbClr val="C00000"/>
                </a:solidFill>
                <a:headEnd type="none" w="med" len="med"/>
                <a:tailEnd type="arrow"/>
              </a:ln>
              <a:extLst/>
            </p:spPr>
            <p:style>
              <a:lnRef idx="3">
                <a:schemeClr val="accent4"/>
              </a:lnRef>
              <a:fillRef idx="0">
                <a:schemeClr val="accent4"/>
              </a:fillRef>
              <a:effectRef idx="2">
                <a:schemeClr val="accent4"/>
              </a:effectRef>
              <a:fontRef idx="minor">
                <a:schemeClr val="tx1"/>
              </a:fontRef>
            </p:style>
          </p:cxnSp>
          <p:sp>
            <p:nvSpPr>
              <p:cNvPr id="4148" name="TextBox 156"/>
              <p:cNvSpPr txBox="1">
                <a:spLocks noChangeArrowheads="1"/>
              </p:cNvSpPr>
              <p:nvPr/>
            </p:nvSpPr>
            <p:spPr bwMode="auto">
              <a:xfrm>
                <a:off x="6389688" y="6007100"/>
                <a:ext cx="7286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200"/>
                  <a:t>GT Load</a:t>
                </a:r>
              </a:p>
            </p:txBody>
          </p:sp>
          <p:sp>
            <p:nvSpPr>
              <p:cNvPr id="4149" name="TextBox 157"/>
              <p:cNvSpPr txBox="1">
                <a:spLocks noChangeArrowheads="1"/>
              </p:cNvSpPr>
              <p:nvPr/>
            </p:nvSpPr>
            <p:spPr bwMode="auto">
              <a:xfrm rot="-5400000">
                <a:off x="7451725" y="5461001"/>
                <a:ext cx="7651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GT base load</a:t>
                </a:r>
              </a:p>
            </p:txBody>
          </p:sp>
          <p:sp>
            <p:nvSpPr>
              <p:cNvPr id="4150" name="TextBox 158"/>
              <p:cNvSpPr txBox="1">
                <a:spLocks noChangeArrowheads="1"/>
              </p:cNvSpPr>
              <p:nvPr/>
            </p:nvSpPr>
            <p:spPr bwMode="auto">
              <a:xfrm>
                <a:off x="5467350" y="3967163"/>
                <a:ext cx="655638"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Max. T exh</a:t>
                </a:r>
              </a:p>
            </p:txBody>
          </p:sp>
          <p:sp>
            <p:nvSpPr>
              <p:cNvPr id="4151" name="Freeform 7"/>
              <p:cNvSpPr>
                <a:spLocks/>
              </p:cNvSpPr>
              <p:nvPr/>
            </p:nvSpPr>
            <p:spPr bwMode="auto">
              <a:xfrm>
                <a:off x="5581650" y="4133850"/>
                <a:ext cx="2371725" cy="1638300"/>
              </a:xfrm>
              <a:custGeom>
                <a:avLst/>
                <a:gdLst>
                  <a:gd name="T0" fmla="*/ 0 w 2371725"/>
                  <a:gd name="T1" fmla="*/ 895350 h 1638300"/>
                  <a:gd name="T2" fmla="*/ 0 w 2371725"/>
                  <a:gd name="T3" fmla="*/ 1619250 h 1638300"/>
                  <a:gd name="T4" fmla="*/ 952500 w 2371725"/>
                  <a:gd name="T5" fmla="*/ 1638300 h 1638300"/>
                  <a:gd name="T6" fmla="*/ 2371725 w 2371725"/>
                  <a:gd name="T7" fmla="*/ 304800 h 1638300"/>
                  <a:gd name="T8" fmla="*/ 1971675 w 2371725"/>
                  <a:gd name="T9" fmla="*/ 0 h 1638300"/>
                  <a:gd name="T10" fmla="*/ 723900 w 2371725"/>
                  <a:gd name="T11" fmla="*/ 0 h 1638300"/>
                  <a:gd name="T12" fmla="*/ 0 w 2371725"/>
                  <a:gd name="T13" fmla="*/ 895350 h 1638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71725" h="1638300">
                    <a:moveTo>
                      <a:pt x="0" y="895350"/>
                    </a:moveTo>
                    <a:lnTo>
                      <a:pt x="0" y="1619250"/>
                    </a:lnTo>
                    <a:lnTo>
                      <a:pt x="952500" y="1638300"/>
                    </a:lnTo>
                    <a:lnTo>
                      <a:pt x="2371725" y="304800"/>
                    </a:lnTo>
                    <a:lnTo>
                      <a:pt x="1971675" y="0"/>
                    </a:lnTo>
                    <a:lnTo>
                      <a:pt x="723900" y="0"/>
                    </a:lnTo>
                    <a:lnTo>
                      <a:pt x="0" y="895350"/>
                    </a:lnTo>
                    <a:close/>
                  </a:path>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52" name="TextBox 11"/>
              <p:cNvSpPr txBox="1">
                <a:spLocks noChangeArrowheads="1"/>
              </p:cNvSpPr>
              <p:nvPr/>
            </p:nvSpPr>
            <p:spPr bwMode="auto">
              <a:xfrm>
                <a:off x="5908962" y="4394190"/>
                <a:ext cx="13620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ctr"/>
                <a:r>
                  <a:rPr lang="en-US" altLang="en-US" sz="1400">
                    <a:solidFill>
                      <a:schemeClr val="bg1"/>
                    </a:solidFill>
                  </a:rPr>
                  <a:t>Auto-tune</a:t>
                </a:r>
              </a:p>
              <a:p>
                <a:pPr algn="ctr"/>
                <a:r>
                  <a:rPr lang="en-US" altLang="en-US" sz="1400">
                    <a:solidFill>
                      <a:schemeClr val="bg1"/>
                    </a:solidFill>
                  </a:rPr>
                  <a:t>Enabled Operating Envelope</a:t>
                </a:r>
              </a:p>
            </p:txBody>
          </p:sp>
        </p:grpSp>
        <p:sp>
          <p:nvSpPr>
            <p:cNvPr id="4134" name="TextBox 158"/>
            <p:cNvSpPr txBox="1">
              <a:spLocks noChangeArrowheads="1"/>
            </p:cNvSpPr>
            <p:nvPr/>
          </p:nvSpPr>
          <p:spPr bwMode="auto">
            <a:xfrm>
              <a:off x="5092266" y="5664428"/>
              <a:ext cx="66877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Min. T- exh</a:t>
              </a:r>
            </a:p>
          </p:txBody>
        </p:sp>
      </p:grpSp>
      <p:grpSp>
        <p:nvGrpSpPr>
          <p:cNvPr id="4102" name="Group 65"/>
          <p:cNvGrpSpPr>
            <a:grpSpLocks/>
          </p:cNvGrpSpPr>
          <p:nvPr/>
        </p:nvGrpSpPr>
        <p:grpSpPr bwMode="auto">
          <a:xfrm>
            <a:off x="1773239" y="1249364"/>
            <a:ext cx="4325937" cy="2460625"/>
            <a:chOff x="285750" y="696352"/>
            <a:chExt cx="4325369" cy="2460392"/>
          </a:xfrm>
        </p:grpSpPr>
        <p:grpSp>
          <p:nvGrpSpPr>
            <p:cNvPr id="4109" name="Group 5170"/>
            <p:cNvGrpSpPr>
              <a:grpSpLocks/>
            </p:cNvGrpSpPr>
            <p:nvPr/>
          </p:nvGrpSpPr>
          <p:grpSpPr bwMode="auto">
            <a:xfrm>
              <a:off x="1157179" y="2027420"/>
              <a:ext cx="2488460" cy="1129324"/>
              <a:chOff x="1389956" y="802344"/>
              <a:chExt cx="3270944" cy="1569260"/>
            </a:xfrm>
          </p:grpSpPr>
          <p:sp>
            <p:nvSpPr>
              <p:cNvPr id="4122" name="TextBox 13"/>
              <p:cNvSpPr txBox="1">
                <a:spLocks noChangeArrowheads="1"/>
              </p:cNvSpPr>
              <p:nvPr/>
            </p:nvSpPr>
            <p:spPr bwMode="auto">
              <a:xfrm>
                <a:off x="1389956" y="885252"/>
                <a:ext cx="819496" cy="70566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700"/>
                  <a:t>       ALCC    </a:t>
                </a:r>
              </a:p>
              <a:p>
                <a:r>
                  <a:rPr lang="en-US" altLang="en-US" sz="700"/>
                  <a:t>    Control     </a:t>
                </a:r>
              </a:p>
              <a:p>
                <a:r>
                  <a:rPr lang="en-US" altLang="en-US" sz="700"/>
                  <a:t>  Structure</a:t>
                </a:r>
              </a:p>
              <a:p>
                <a:endParaRPr lang="en-US" altLang="en-US" sz="600">
                  <a:solidFill>
                    <a:srgbClr val="C00000"/>
                  </a:solidFill>
                </a:endParaRPr>
              </a:p>
            </p:txBody>
          </p:sp>
          <p:cxnSp>
            <p:nvCxnSpPr>
              <p:cNvPr id="16" name="Straight Arrow Connector 15"/>
              <p:cNvCxnSpPr/>
              <p:nvPr/>
            </p:nvCxnSpPr>
            <p:spPr bwMode="auto">
              <a:xfrm>
                <a:off x="2209907" y="1012885"/>
                <a:ext cx="926365" cy="0"/>
              </a:xfrm>
              <a:prstGeom prst="straightConnector1">
                <a:avLst/>
              </a:prstGeom>
              <a:ln>
                <a:headEnd type="none" w="med" len="med"/>
                <a:tailEnd type="arrow"/>
              </a:ln>
              <a:extLst/>
            </p:spPr>
            <p:style>
              <a:lnRef idx="2">
                <a:schemeClr val="dk1"/>
              </a:lnRef>
              <a:fillRef idx="0">
                <a:schemeClr val="dk1"/>
              </a:fillRef>
              <a:effectRef idx="1">
                <a:schemeClr val="dk1"/>
              </a:effectRef>
              <a:fontRef idx="minor">
                <a:schemeClr val="tx1"/>
              </a:fontRef>
            </p:style>
          </p:cxnSp>
          <p:cxnSp>
            <p:nvCxnSpPr>
              <p:cNvPr id="100" name="Straight Arrow Connector 99"/>
              <p:cNvCxnSpPr/>
              <p:nvPr/>
            </p:nvCxnSpPr>
            <p:spPr bwMode="auto">
              <a:xfrm flipV="1">
                <a:off x="2209907" y="1348153"/>
                <a:ext cx="926365" cy="0"/>
              </a:xfrm>
              <a:prstGeom prst="straightConnector1">
                <a:avLst/>
              </a:prstGeom>
              <a:ln>
                <a:headEnd type="none" w="med" len="med"/>
                <a:tailEnd type="arrow"/>
              </a:ln>
              <a:extLst/>
            </p:spPr>
            <p:style>
              <a:lnRef idx="2">
                <a:schemeClr val="dk1"/>
              </a:lnRef>
              <a:fillRef idx="0">
                <a:schemeClr val="dk1"/>
              </a:fillRef>
              <a:effectRef idx="1">
                <a:schemeClr val="dk1"/>
              </a:effectRef>
              <a:fontRef idx="minor">
                <a:schemeClr val="tx1"/>
              </a:fontRef>
            </p:style>
          </p:cxnSp>
          <p:sp>
            <p:nvSpPr>
              <p:cNvPr id="4125" name="TextBox 16"/>
              <p:cNvSpPr txBox="1">
                <a:spLocks noChangeArrowheads="1"/>
              </p:cNvSpPr>
              <p:nvPr/>
            </p:nvSpPr>
            <p:spPr bwMode="auto">
              <a:xfrm>
                <a:off x="2607332" y="802344"/>
                <a:ext cx="413406" cy="2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700" b="0"/>
                  <a:t>IGV</a:t>
                </a:r>
              </a:p>
            </p:txBody>
          </p:sp>
          <p:sp>
            <p:nvSpPr>
              <p:cNvPr id="4126" name="TextBox 100"/>
              <p:cNvSpPr txBox="1">
                <a:spLocks noChangeArrowheads="1"/>
              </p:cNvSpPr>
              <p:nvPr/>
            </p:nvSpPr>
            <p:spPr bwMode="auto">
              <a:xfrm>
                <a:off x="2585286" y="977505"/>
                <a:ext cx="423940" cy="2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700" b="0"/>
                  <a:t>FSR</a:t>
                </a:r>
              </a:p>
            </p:txBody>
          </p:sp>
          <p:sp>
            <p:nvSpPr>
              <p:cNvPr id="4127" name="TextBox 103"/>
              <p:cNvSpPr txBox="1">
                <a:spLocks noChangeArrowheads="1"/>
              </p:cNvSpPr>
              <p:nvPr/>
            </p:nvSpPr>
            <p:spPr bwMode="auto">
              <a:xfrm>
                <a:off x="2585286" y="1148954"/>
                <a:ext cx="417620" cy="2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700" b="0"/>
                  <a:t>IBH</a:t>
                </a:r>
              </a:p>
            </p:txBody>
          </p:sp>
          <p:pic>
            <p:nvPicPr>
              <p:cNvPr id="4128" name="Picture 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1818" y="869950"/>
                <a:ext cx="1446213" cy="7239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21"/>
              <p:cNvSpPr>
                <a:spLocks noChangeArrowheads="1"/>
              </p:cNvSpPr>
              <p:nvPr/>
            </p:nvSpPr>
            <p:spPr bwMode="auto">
              <a:xfrm>
                <a:off x="3028947" y="1881187"/>
                <a:ext cx="1631953" cy="490417"/>
              </a:xfrm>
              <a:prstGeom prst="rect">
                <a:avLst/>
              </a:prstGeom>
              <a:noFill/>
              <a:ln w="952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ARES – GT model</a:t>
                </a:r>
              </a:p>
              <a:p>
                <a:r>
                  <a:rPr lang="en-US" altLang="en-US" sz="800"/>
                  <a:t>Parameter estimation</a:t>
                </a:r>
              </a:p>
            </p:txBody>
          </p:sp>
          <p:sp>
            <p:nvSpPr>
              <p:cNvPr id="4130" name="Down Arrow 22"/>
              <p:cNvSpPr>
                <a:spLocks noChangeArrowheads="1"/>
              </p:cNvSpPr>
              <p:nvPr/>
            </p:nvSpPr>
            <p:spPr bwMode="auto">
              <a:xfrm>
                <a:off x="3676650" y="1593850"/>
                <a:ext cx="266700" cy="295948"/>
              </a:xfrm>
              <a:prstGeom prst="downArrow">
                <a:avLst>
                  <a:gd name="adj1" fmla="val 50000"/>
                  <a:gd name="adj2" fmla="val 50002"/>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endParaRPr lang="en-US" altLang="en-US"/>
              </a:p>
            </p:txBody>
          </p:sp>
          <p:cxnSp>
            <p:nvCxnSpPr>
              <p:cNvPr id="25" name="Elbow Connector 24"/>
              <p:cNvCxnSpPr/>
              <p:nvPr/>
            </p:nvCxnSpPr>
            <p:spPr bwMode="auto">
              <a:xfrm rot="10800000">
                <a:off x="1389948" y="1233456"/>
                <a:ext cx="1639916" cy="992571"/>
              </a:xfrm>
              <a:prstGeom prst="bentConnector3">
                <a:avLst>
                  <a:gd name="adj1" fmla="val 129413"/>
                </a:avLst>
              </a:prstGeom>
              <a:ln>
                <a:headEnd type="none" w="med" len="med"/>
                <a:tailEnd type="arrow"/>
              </a:ln>
              <a:extLst/>
            </p:spPr>
            <p:style>
              <a:lnRef idx="2">
                <a:schemeClr val="dk1"/>
              </a:lnRef>
              <a:fillRef idx="0">
                <a:schemeClr val="dk1"/>
              </a:fillRef>
              <a:effectRef idx="1">
                <a:schemeClr val="dk1"/>
              </a:effectRef>
              <a:fontRef idx="minor">
                <a:schemeClr val="tx1"/>
              </a:fontRef>
            </p:style>
          </p:cxnSp>
          <p:cxnSp>
            <p:nvCxnSpPr>
              <p:cNvPr id="5168" name="Straight Arrow Connector 5167"/>
              <p:cNvCxnSpPr/>
              <p:nvPr/>
            </p:nvCxnSpPr>
            <p:spPr bwMode="auto">
              <a:xfrm flipV="1">
                <a:off x="2205734" y="1184931"/>
                <a:ext cx="913846" cy="4411"/>
              </a:xfrm>
              <a:prstGeom prst="straightConnector1">
                <a:avLst/>
              </a:prstGeom>
              <a:ln>
                <a:headEnd type="none" w="med" len="med"/>
                <a:tailEnd type="arrow"/>
              </a:ln>
              <a:extLst/>
            </p:spPr>
            <p:style>
              <a:lnRef idx="2">
                <a:schemeClr val="dk1"/>
              </a:lnRef>
              <a:fillRef idx="0">
                <a:schemeClr val="dk1"/>
              </a:fillRef>
              <a:effectRef idx="1">
                <a:schemeClr val="dk1"/>
              </a:effectRef>
              <a:fontRef idx="minor">
                <a:schemeClr val="tx1"/>
              </a:fontRef>
            </p:style>
          </p:cxnSp>
        </p:grpSp>
        <p:sp>
          <p:nvSpPr>
            <p:cNvPr id="4110" name="TextBox 146"/>
            <p:cNvSpPr txBox="1">
              <a:spLocks noChangeArrowheads="1"/>
            </p:cNvSpPr>
            <p:nvPr/>
          </p:nvSpPr>
          <p:spPr bwMode="auto">
            <a:xfrm>
              <a:off x="2713135" y="1041569"/>
              <a:ext cx="623454" cy="507831"/>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700" dirty="0">
                  <a:solidFill>
                    <a:srgbClr val="C00000"/>
                  </a:solidFill>
                </a:rPr>
                <a:t>   Autotune</a:t>
              </a:r>
            </a:p>
            <a:p>
              <a:r>
                <a:rPr lang="en-US" altLang="en-US" sz="700" dirty="0">
                  <a:solidFill>
                    <a:srgbClr val="C00000"/>
                  </a:solidFill>
                </a:rPr>
                <a:t>    Control     </a:t>
              </a:r>
            </a:p>
            <a:p>
              <a:r>
                <a:rPr lang="en-US" altLang="en-US" sz="700" dirty="0">
                  <a:solidFill>
                    <a:srgbClr val="C00000"/>
                  </a:solidFill>
                </a:rPr>
                <a:t>  Structure</a:t>
              </a:r>
            </a:p>
            <a:p>
              <a:endParaRPr lang="en-US" altLang="en-US" sz="600" dirty="0">
                <a:solidFill>
                  <a:srgbClr val="C00000"/>
                </a:solidFill>
              </a:endParaRPr>
            </a:p>
          </p:txBody>
        </p:sp>
        <p:cxnSp>
          <p:nvCxnSpPr>
            <p:cNvPr id="148" name="Straight Arrow Connector 147"/>
            <p:cNvCxnSpPr>
              <a:stCxn id="4110" idx="2"/>
              <a:endCxn id="4128" idx="0"/>
            </p:cNvCxnSpPr>
            <p:nvPr/>
          </p:nvCxnSpPr>
          <p:spPr bwMode="auto">
            <a:xfrm>
              <a:off x="3025415" y="1548758"/>
              <a:ext cx="0" cy="527000"/>
            </a:xfrm>
            <a:prstGeom prst="straightConnector1">
              <a:avLst/>
            </a:prstGeom>
            <a:ln>
              <a:solidFill>
                <a:srgbClr val="C00000"/>
              </a:solidFill>
              <a:headEnd type="none" w="med" len="med"/>
              <a:tailEnd type="arrow"/>
            </a:ln>
            <a:extLst/>
          </p:spPr>
          <p:style>
            <a:lnRef idx="2">
              <a:schemeClr val="accent1"/>
            </a:lnRef>
            <a:fillRef idx="0">
              <a:schemeClr val="accent1"/>
            </a:fillRef>
            <a:effectRef idx="1">
              <a:schemeClr val="accent1"/>
            </a:effectRef>
            <a:fontRef idx="minor">
              <a:schemeClr val="tx1"/>
            </a:fontRef>
          </p:style>
        </p:cxnSp>
        <p:sp>
          <p:nvSpPr>
            <p:cNvPr id="4112" name="TextBox 150"/>
            <p:cNvSpPr txBox="1">
              <a:spLocks noChangeArrowheads="1"/>
            </p:cNvSpPr>
            <p:nvPr/>
          </p:nvSpPr>
          <p:spPr bwMode="auto">
            <a:xfrm>
              <a:off x="2494853" y="1713969"/>
              <a:ext cx="583814"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700" b="0">
                  <a:solidFill>
                    <a:srgbClr val="C00000"/>
                  </a:solidFill>
                </a:rPr>
                <a:t>DLN Splits</a:t>
              </a:r>
            </a:p>
          </p:txBody>
        </p:sp>
        <p:pic>
          <p:nvPicPr>
            <p:cNvPr id="4113" name="Picture 147" descr="C:\Documents and Settings\ziminswi\My Documents\NOx CPC\NOxMesh.gif"/>
            <p:cNvPicPr>
              <a:picLocks noChangeAspect="1" noChangeArrowheads="1"/>
            </p:cNvPicPr>
            <p:nvPr/>
          </p:nvPicPr>
          <p:blipFill>
            <a:blip r:embed="rId4" cstate="print">
              <a:extLst>
                <a:ext uri="{28A0092B-C50C-407E-A947-70E740481C1C}">
                  <a14:useLocalDpi xmlns:a14="http://schemas.microsoft.com/office/drawing/2010/main" val="0"/>
                </a:ext>
              </a:extLst>
            </a:blip>
            <a:srcRect l="8012" t="3145" b="2913"/>
            <a:stretch>
              <a:fillRect/>
            </a:stretch>
          </p:blipFill>
          <p:spPr bwMode="auto">
            <a:xfrm>
              <a:off x="3626869" y="888207"/>
              <a:ext cx="984250" cy="819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cxnSp>
          <p:nvCxnSpPr>
            <p:cNvPr id="5178" name="Elbow Connector 5177"/>
            <p:cNvCxnSpPr>
              <a:stCxn id="4128" idx="3"/>
              <a:endCxn id="4113" idx="2"/>
            </p:cNvCxnSpPr>
            <p:nvPr/>
          </p:nvCxnSpPr>
          <p:spPr bwMode="auto">
            <a:xfrm flipV="1">
              <a:off x="3574618" y="1707493"/>
              <a:ext cx="544441" cy="628590"/>
            </a:xfrm>
            <a:prstGeom prst="bentConnector2">
              <a:avLst/>
            </a:prstGeom>
            <a:ln>
              <a:solidFill>
                <a:srgbClr val="C00000"/>
              </a:solidFill>
              <a:headEnd type="none" w="med" len="med"/>
              <a:tailEnd type="arrow"/>
            </a:ln>
            <a:extLst/>
          </p:spPr>
          <p:style>
            <a:lnRef idx="2">
              <a:schemeClr val="accent1"/>
            </a:lnRef>
            <a:fillRef idx="0">
              <a:schemeClr val="accent1"/>
            </a:fillRef>
            <a:effectRef idx="1">
              <a:schemeClr val="accent1"/>
            </a:effectRef>
            <a:fontRef idx="minor">
              <a:schemeClr val="tx1"/>
            </a:fontRef>
          </p:style>
        </p:cxnSp>
        <p:cxnSp>
          <p:nvCxnSpPr>
            <p:cNvPr id="5182" name="Straight Arrow Connector 5181"/>
            <p:cNvCxnSpPr/>
            <p:nvPr/>
          </p:nvCxnSpPr>
          <p:spPr bwMode="auto">
            <a:xfrm>
              <a:off x="428606" y="2178937"/>
              <a:ext cx="728566" cy="0"/>
            </a:xfrm>
            <a:prstGeom prst="straightConnector1">
              <a:avLst/>
            </a:prstGeom>
            <a:ln>
              <a:headEnd type="none" w="med" len="med"/>
              <a:tailEnd type="arrow"/>
            </a:ln>
            <a:extLst/>
          </p:spPr>
          <p:style>
            <a:lnRef idx="2">
              <a:schemeClr val="dk1"/>
            </a:lnRef>
            <a:fillRef idx="0">
              <a:schemeClr val="dk1"/>
            </a:fillRef>
            <a:effectRef idx="1">
              <a:schemeClr val="dk1"/>
            </a:effectRef>
            <a:fontRef idx="minor">
              <a:schemeClr val="tx1"/>
            </a:fontRef>
          </p:style>
        </p:cxnSp>
        <p:cxnSp>
          <p:nvCxnSpPr>
            <p:cNvPr id="33" name="Elbow Connector 32"/>
            <p:cNvCxnSpPr>
              <a:stCxn id="4113" idx="0"/>
              <a:endCxn id="4110" idx="0"/>
            </p:cNvCxnSpPr>
            <p:nvPr/>
          </p:nvCxnSpPr>
          <p:spPr bwMode="auto">
            <a:xfrm rot="16200000" flipH="1" flipV="1">
              <a:off x="3496045" y="417791"/>
              <a:ext cx="152386" cy="1093643"/>
            </a:xfrm>
            <a:prstGeom prst="bentConnector3">
              <a:avLst>
                <a:gd name="adj1" fmla="val -149059"/>
              </a:avLst>
            </a:prstGeom>
            <a:ln>
              <a:solidFill>
                <a:srgbClr val="C00000"/>
              </a:solidFill>
              <a:headEnd type="none" w="med" len="med"/>
              <a:tailEnd type="arrow"/>
            </a:ln>
            <a:extLst/>
          </p:spPr>
          <p:style>
            <a:lnRef idx="2">
              <a:schemeClr val="accent1"/>
            </a:lnRef>
            <a:fillRef idx="0">
              <a:schemeClr val="accent1"/>
            </a:fillRef>
            <a:effectRef idx="1">
              <a:schemeClr val="accent1"/>
            </a:effectRef>
            <a:fontRef idx="minor">
              <a:schemeClr val="tx1"/>
            </a:fontRef>
          </p:style>
        </p:cxnSp>
        <p:sp>
          <p:nvSpPr>
            <p:cNvPr id="4117" name="TextBox 33"/>
            <p:cNvSpPr txBox="1">
              <a:spLocks noChangeArrowheads="1"/>
            </p:cNvSpPr>
            <p:nvPr/>
          </p:nvSpPr>
          <p:spPr bwMode="auto">
            <a:xfrm>
              <a:off x="285750" y="1854669"/>
              <a:ext cx="8418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t>Temperature /</a:t>
              </a:r>
            </a:p>
            <a:p>
              <a:r>
                <a:rPr lang="en-US" altLang="en-US" sz="800"/>
                <a:t>load reference</a:t>
              </a:r>
            </a:p>
          </p:txBody>
        </p:sp>
        <p:cxnSp>
          <p:nvCxnSpPr>
            <p:cNvPr id="43" name="Straight Arrow Connector 42"/>
            <p:cNvCxnSpPr/>
            <p:nvPr/>
          </p:nvCxnSpPr>
          <p:spPr bwMode="auto">
            <a:xfrm>
              <a:off x="2811130" y="720162"/>
              <a:ext cx="0" cy="320645"/>
            </a:xfrm>
            <a:prstGeom prst="straightConnector1">
              <a:avLst/>
            </a:prstGeom>
            <a:ln>
              <a:solidFill>
                <a:srgbClr val="C00000"/>
              </a:solidFill>
              <a:headEnd type="none" w="med" len="med"/>
              <a:tailEnd type="arrow"/>
            </a:ln>
            <a:extLst/>
          </p:spPr>
          <p:style>
            <a:lnRef idx="2">
              <a:schemeClr val="accent1"/>
            </a:lnRef>
            <a:fillRef idx="0">
              <a:schemeClr val="accent1"/>
            </a:fillRef>
            <a:effectRef idx="1">
              <a:schemeClr val="accent1"/>
            </a:effectRef>
            <a:fontRef idx="minor">
              <a:schemeClr val="tx1"/>
            </a:fontRef>
          </p:style>
        </p:cxnSp>
        <p:sp>
          <p:nvSpPr>
            <p:cNvPr id="4119" name="TextBox 170"/>
            <p:cNvSpPr txBox="1">
              <a:spLocks noChangeArrowheads="1"/>
            </p:cNvSpPr>
            <p:nvPr/>
          </p:nvSpPr>
          <p:spPr bwMode="auto">
            <a:xfrm>
              <a:off x="1778355" y="696352"/>
              <a:ext cx="10887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a:solidFill>
                    <a:srgbClr val="C00000"/>
                  </a:solidFill>
                </a:rPr>
                <a:t>Emissions /dynamics</a:t>
              </a:r>
            </a:p>
            <a:p>
              <a:r>
                <a:rPr lang="en-US" altLang="en-US" sz="800" b="0">
                  <a:solidFill>
                    <a:srgbClr val="C00000"/>
                  </a:solidFill>
                </a:rPr>
                <a:t>reference</a:t>
              </a:r>
            </a:p>
          </p:txBody>
        </p:sp>
        <p:sp>
          <p:nvSpPr>
            <p:cNvPr id="4120" name="TextBox 46"/>
            <p:cNvSpPr txBox="1">
              <a:spLocks noChangeArrowheads="1"/>
            </p:cNvSpPr>
            <p:nvPr/>
          </p:nvSpPr>
          <p:spPr bwMode="auto">
            <a:xfrm>
              <a:off x="1018099" y="2705301"/>
              <a:ext cx="120731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400"/>
                <a:t>Cycle control</a:t>
              </a:r>
            </a:p>
          </p:txBody>
        </p:sp>
        <p:sp>
          <p:nvSpPr>
            <p:cNvPr id="4121" name="TextBox 172"/>
            <p:cNvSpPr txBox="1">
              <a:spLocks noChangeArrowheads="1"/>
            </p:cNvSpPr>
            <p:nvPr/>
          </p:nvSpPr>
          <p:spPr bwMode="auto">
            <a:xfrm>
              <a:off x="3099743" y="1673555"/>
              <a:ext cx="10223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600" dirty="0">
                  <a:solidFill>
                    <a:srgbClr val="C00000"/>
                  </a:solidFill>
                </a:rPr>
                <a:t>Autotune</a:t>
              </a:r>
            </a:p>
          </p:txBody>
        </p:sp>
      </p:grpSp>
      <p:sp>
        <p:nvSpPr>
          <p:cNvPr id="4103" name="TextBox 66"/>
          <p:cNvSpPr txBox="1">
            <a:spLocks noChangeArrowheads="1"/>
          </p:cNvSpPr>
          <p:nvPr/>
        </p:nvSpPr>
        <p:spPr bwMode="auto">
          <a:xfrm>
            <a:off x="1596773" y="686622"/>
            <a:ext cx="7921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2400" dirty="0">
                <a:solidFill>
                  <a:srgbClr val="5A0E20"/>
                </a:solidFill>
              </a:rPr>
              <a:t>MBC</a:t>
            </a:r>
          </a:p>
        </p:txBody>
      </p:sp>
      <p:sp>
        <p:nvSpPr>
          <p:cNvPr id="4104" name="Rectangle 4127"/>
          <p:cNvSpPr>
            <a:spLocks noChangeArrowheads="1"/>
          </p:cNvSpPr>
          <p:nvPr/>
        </p:nvSpPr>
        <p:spPr bwMode="auto">
          <a:xfrm>
            <a:off x="1714500" y="1144588"/>
            <a:ext cx="4495800"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endParaRPr lang="en-US" altLang="en-US"/>
          </a:p>
        </p:txBody>
      </p:sp>
      <p:sp>
        <p:nvSpPr>
          <p:cNvPr id="4105" name="TextBox 176"/>
          <p:cNvSpPr txBox="1">
            <a:spLocks noChangeArrowheads="1"/>
          </p:cNvSpPr>
          <p:nvPr/>
        </p:nvSpPr>
        <p:spPr bwMode="auto">
          <a:xfrm>
            <a:off x="1462556" y="3804893"/>
            <a:ext cx="25144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2400" dirty="0">
                <a:solidFill>
                  <a:srgbClr val="5A0E20"/>
                </a:solidFill>
              </a:rPr>
              <a:t>All load Autotune</a:t>
            </a:r>
          </a:p>
        </p:txBody>
      </p:sp>
      <p:sp>
        <p:nvSpPr>
          <p:cNvPr id="4129" name="TextBox 4128"/>
          <p:cNvSpPr txBox="1"/>
          <p:nvPr/>
        </p:nvSpPr>
        <p:spPr>
          <a:xfrm>
            <a:off x="1517708" y="4253962"/>
            <a:ext cx="4366901" cy="1077218"/>
          </a:xfrm>
          <a:prstGeom prst="rect">
            <a:avLst/>
          </a:prstGeom>
          <a:noFill/>
        </p:spPr>
        <p:txBody>
          <a:bodyPr wrap="none">
            <a:spAutoFit/>
          </a:bodyPr>
          <a:lstStyle/>
          <a:p>
            <a:pPr marL="171450" indent="-171450">
              <a:buFont typeface="Arial" pitchFamily="34" charset="0"/>
              <a:buChar char="•"/>
              <a:defRPr/>
            </a:pPr>
            <a:r>
              <a:rPr lang="en-US" sz="1600" dirty="0"/>
              <a:t>Extend scope of DLN split control below mode 6</a:t>
            </a:r>
          </a:p>
          <a:p>
            <a:pPr marL="628650" lvl="1" indent="-171450">
              <a:buFont typeface="Arial" pitchFamily="34" charset="0"/>
              <a:buChar char="•"/>
              <a:defRPr/>
            </a:pPr>
            <a:r>
              <a:rPr lang="en-US" sz="1600" dirty="0"/>
              <a:t>Breaker closure – Base load</a:t>
            </a:r>
          </a:p>
          <a:p>
            <a:pPr marL="628650" lvl="1" indent="-171450">
              <a:buFont typeface="Arial" pitchFamily="34" charset="0"/>
              <a:buChar char="•"/>
              <a:defRPr/>
            </a:pPr>
            <a:r>
              <a:rPr lang="en-US" sz="1600" dirty="0"/>
              <a:t>Envelope between SC and CC paths</a:t>
            </a:r>
          </a:p>
          <a:p>
            <a:pPr>
              <a:defRPr/>
            </a:pPr>
            <a:endParaRPr lang="en-US" sz="1600" dirty="0"/>
          </a:p>
        </p:txBody>
      </p:sp>
      <p:sp>
        <p:nvSpPr>
          <p:cNvPr id="4107" name="Rectangle 4129"/>
          <p:cNvSpPr>
            <a:spLocks noChangeArrowheads="1"/>
          </p:cNvSpPr>
          <p:nvPr/>
        </p:nvSpPr>
        <p:spPr bwMode="auto">
          <a:xfrm>
            <a:off x="5032376" y="1425575"/>
            <a:ext cx="10652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a:solidFill>
                  <a:srgbClr val="C00000"/>
                </a:solidFill>
              </a:rPr>
              <a:t>combustion models</a:t>
            </a:r>
          </a:p>
        </p:txBody>
      </p:sp>
      <p:sp>
        <p:nvSpPr>
          <p:cNvPr id="180" name="TextBox 179"/>
          <p:cNvSpPr txBox="1"/>
          <p:nvPr/>
        </p:nvSpPr>
        <p:spPr>
          <a:xfrm>
            <a:off x="1524001" y="5195886"/>
            <a:ext cx="4657044" cy="1200329"/>
          </a:xfrm>
          <a:prstGeom prst="rect">
            <a:avLst/>
          </a:prstGeom>
          <a:noFill/>
        </p:spPr>
        <p:txBody>
          <a:bodyPr wrap="none">
            <a:spAutoFit/>
          </a:bodyPr>
          <a:lstStyle/>
          <a:p>
            <a:pPr>
              <a:defRPr/>
            </a:pPr>
            <a:r>
              <a:rPr lang="en-US" sz="2400" b="1" dirty="0">
                <a:solidFill>
                  <a:srgbClr val="5A0E20"/>
                </a:solidFill>
              </a:rPr>
              <a:t>Benefits</a:t>
            </a:r>
          </a:p>
          <a:p>
            <a:pPr marL="171450" indent="-171450">
              <a:buFont typeface="Arial" pitchFamily="34" charset="0"/>
              <a:buChar char="•"/>
              <a:defRPr/>
            </a:pPr>
            <a:r>
              <a:rPr lang="en-US" sz="1600" dirty="0"/>
              <a:t>Accommodates gas composition variation</a:t>
            </a:r>
          </a:p>
          <a:p>
            <a:pPr marL="628650" lvl="1" indent="-171450">
              <a:buFont typeface="Arial" pitchFamily="34" charset="0"/>
              <a:buChar char="•"/>
              <a:defRPr/>
            </a:pPr>
            <a:r>
              <a:rPr lang="en-US" sz="1600" dirty="0"/>
              <a:t>Lower cost than variable fuel heater</a:t>
            </a:r>
          </a:p>
          <a:p>
            <a:pPr marL="171450" indent="-171450">
              <a:buFont typeface="Arial" pitchFamily="34" charset="0"/>
              <a:buChar char="•"/>
              <a:defRPr/>
            </a:pPr>
            <a:r>
              <a:rPr lang="en-US" sz="1600" dirty="0"/>
              <a:t>Key enabler for Variable Load Path implementation</a:t>
            </a:r>
          </a:p>
        </p:txBody>
      </p:sp>
    </p:spTree>
    <p:extLst>
      <p:ext uri="{BB962C8B-B14F-4D97-AF65-F5344CB8AC3E}">
        <p14:creationId xmlns:p14="http://schemas.microsoft.com/office/powerpoint/2010/main" val="32134646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26245" y="203201"/>
            <a:ext cx="8459788" cy="613948"/>
          </a:xfrm>
        </p:spPr>
        <p:txBody>
          <a:bodyPr/>
          <a:lstStyle/>
          <a:p>
            <a:r>
              <a:rPr lang="en-US" altLang="en-US" dirty="0"/>
              <a:t>Co-ordinated Air Fuel - CAF</a:t>
            </a:r>
          </a:p>
        </p:txBody>
      </p:sp>
      <p:pic>
        <p:nvPicPr>
          <p:cNvPr id="26627" name="Picture 13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806451"/>
            <a:ext cx="3276600" cy="209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879976" y="1255713"/>
            <a:ext cx="5264583" cy="1477328"/>
          </a:xfrm>
          <a:prstGeom prst="rect">
            <a:avLst/>
          </a:prstGeom>
          <a:noFill/>
        </p:spPr>
        <p:txBody>
          <a:bodyPr wrap="none">
            <a:spAutoFit/>
          </a:bodyPr>
          <a:lstStyle/>
          <a:p>
            <a:pPr>
              <a:defRPr/>
            </a:pPr>
            <a:r>
              <a:rPr lang="en-US" dirty="0"/>
              <a:t>Downsides of Current Model-Based CAF</a:t>
            </a:r>
          </a:p>
          <a:p>
            <a:pPr marL="285750" indent="-285750">
              <a:buFont typeface="Arial" pitchFamily="34" charset="0"/>
              <a:buChar char="•"/>
              <a:defRPr/>
            </a:pPr>
            <a:r>
              <a:rPr lang="en-US" dirty="0"/>
              <a:t>Offline-Generated Path for IGVs (from GTP)</a:t>
            </a:r>
          </a:p>
          <a:p>
            <a:pPr marL="285750" indent="-285750">
              <a:buFont typeface="Arial" pitchFamily="34" charset="0"/>
              <a:buChar char="•"/>
              <a:defRPr/>
            </a:pPr>
            <a:r>
              <a:rPr lang="en-US" dirty="0"/>
              <a:t>Map is path dependent</a:t>
            </a:r>
          </a:p>
          <a:p>
            <a:pPr marL="285750" indent="-285750">
              <a:buFont typeface="Arial" pitchFamily="34" charset="0"/>
              <a:buChar char="•"/>
              <a:defRPr/>
            </a:pPr>
            <a:r>
              <a:rPr lang="en-US" dirty="0"/>
              <a:t>Map does not adjust real-time if temps go high/low</a:t>
            </a:r>
          </a:p>
          <a:p>
            <a:pPr marL="285750" indent="-285750">
              <a:buFont typeface="Arial" pitchFamily="34" charset="0"/>
              <a:buChar char="•"/>
              <a:defRPr/>
            </a:pPr>
            <a:r>
              <a:rPr lang="en-US" dirty="0"/>
              <a:t>Map is based on steady-state data</a:t>
            </a:r>
          </a:p>
        </p:txBody>
      </p:sp>
      <p:sp>
        <p:nvSpPr>
          <p:cNvPr id="26629" name="Text Box 3"/>
          <p:cNvSpPr txBox="1">
            <a:spLocks noChangeArrowheads="1"/>
          </p:cNvSpPr>
          <p:nvPr/>
        </p:nvSpPr>
        <p:spPr bwMode="auto">
          <a:xfrm>
            <a:off x="2743201" y="3355975"/>
            <a:ext cx="931863" cy="1169988"/>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ctr" eaLnBrk="1" hangingPunct="1"/>
            <a:endParaRPr lang="en-US" altLang="en-US" sz="1400">
              <a:solidFill>
                <a:srgbClr val="FF0000"/>
              </a:solidFill>
              <a:latin typeface="Arial" panose="020B0604020202020204" pitchFamily="34" charset="0"/>
            </a:endParaRPr>
          </a:p>
          <a:p>
            <a:pPr algn="ctr" eaLnBrk="1" hangingPunct="1"/>
            <a:r>
              <a:rPr lang="en-US" altLang="en-US" sz="1400">
                <a:solidFill>
                  <a:srgbClr val="FF0000"/>
                </a:solidFill>
                <a:latin typeface="Arial" panose="020B0604020202020204" pitchFamily="34" charset="0"/>
              </a:rPr>
              <a:t>ARES</a:t>
            </a:r>
          </a:p>
          <a:p>
            <a:pPr algn="ctr" eaLnBrk="1" hangingPunct="1"/>
            <a:r>
              <a:rPr lang="en-US" altLang="en-US" sz="1400">
                <a:solidFill>
                  <a:srgbClr val="1E4191"/>
                </a:solidFill>
                <a:latin typeface="Arial" panose="020B0604020202020204" pitchFamily="34" charset="0"/>
              </a:rPr>
              <a:t>Model</a:t>
            </a:r>
          </a:p>
          <a:p>
            <a:pPr algn="ctr" eaLnBrk="1" hangingPunct="1"/>
            <a:endParaRPr lang="en-US" altLang="en-US" sz="1400">
              <a:solidFill>
                <a:srgbClr val="1E4191"/>
              </a:solidFill>
              <a:latin typeface="Arial" panose="020B0604020202020204" pitchFamily="34" charset="0"/>
            </a:endParaRPr>
          </a:p>
          <a:p>
            <a:pPr algn="ctr" eaLnBrk="1" hangingPunct="1"/>
            <a:r>
              <a:rPr lang="en-US" altLang="en-US" sz="1400">
                <a:solidFill>
                  <a:srgbClr val="1E4191"/>
                </a:solidFill>
                <a:latin typeface="Arial" panose="020B0604020202020204" pitchFamily="34" charset="0"/>
              </a:rPr>
              <a:t>mdl</a:t>
            </a:r>
          </a:p>
        </p:txBody>
      </p:sp>
      <p:cxnSp>
        <p:nvCxnSpPr>
          <p:cNvPr id="6" name="Straight Arrow Connector 5"/>
          <p:cNvCxnSpPr/>
          <p:nvPr/>
        </p:nvCxnSpPr>
        <p:spPr>
          <a:xfrm>
            <a:off x="1828800" y="3736975"/>
            <a:ext cx="914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1828800" y="4270375"/>
            <a:ext cx="9144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6632" name="TextBox 7"/>
          <p:cNvSpPr txBox="1">
            <a:spLocks noChangeArrowheads="1"/>
          </p:cNvSpPr>
          <p:nvPr/>
        </p:nvSpPr>
        <p:spPr bwMode="auto">
          <a:xfrm>
            <a:off x="1824039" y="3475038"/>
            <a:ext cx="85414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600"/>
              <a:t>FSR + </a:t>
            </a:r>
            <a:r>
              <a:rPr lang="en-US" altLang="en-US" sz="1600">
                <a:latin typeface="Symbol" panose="05050102010706020507" pitchFamily="18" charset="2"/>
              </a:rPr>
              <a:t>D</a:t>
            </a:r>
          </a:p>
        </p:txBody>
      </p:sp>
      <p:sp>
        <p:nvSpPr>
          <p:cNvPr id="26633" name="TextBox 8"/>
          <p:cNvSpPr txBox="1">
            <a:spLocks noChangeArrowheads="1"/>
          </p:cNvSpPr>
          <p:nvPr/>
        </p:nvSpPr>
        <p:spPr bwMode="auto">
          <a:xfrm>
            <a:off x="1828801" y="4008438"/>
            <a:ext cx="8329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600"/>
              <a:t>IGV + </a:t>
            </a:r>
            <a:r>
              <a:rPr lang="en-US" altLang="en-US" sz="1600">
                <a:latin typeface="Symbol" panose="05050102010706020507" pitchFamily="18" charset="2"/>
              </a:rPr>
              <a:t>D</a:t>
            </a:r>
          </a:p>
        </p:txBody>
      </p:sp>
      <p:cxnSp>
        <p:nvCxnSpPr>
          <p:cNvPr id="10" name="Straight Arrow Connector 9"/>
          <p:cNvCxnSpPr>
            <a:stCxn id="26629" idx="3"/>
            <a:endCxn id="26635" idx="1"/>
          </p:cNvCxnSpPr>
          <p:nvPr/>
        </p:nvCxnSpPr>
        <p:spPr>
          <a:xfrm>
            <a:off x="3675064" y="3941763"/>
            <a:ext cx="981075"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6635" name="Text Box 3"/>
          <p:cNvSpPr txBox="1">
            <a:spLocks noChangeArrowheads="1"/>
          </p:cNvSpPr>
          <p:nvPr/>
        </p:nvSpPr>
        <p:spPr bwMode="auto">
          <a:xfrm>
            <a:off x="4656139" y="3571875"/>
            <a:ext cx="1076325" cy="738188"/>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ctr" eaLnBrk="1" hangingPunct="1"/>
            <a:r>
              <a:rPr lang="en-US" altLang="en-US" sz="1400">
                <a:latin typeface="Arial" panose="020B0604020202020204" pitchFamily="34" charset="0"/>
              </a:rPr>
              <a:t>Partial</a:t>
            </a:r>
          </a:p>
          <a:p>
            <a:pPr algn="ctr" eaLnBrk="1" hangingPunct="1"/>
            <a:r>
              <a:rPr lang="en-US" altLang="en-US" sz="1400">
                <a:latin typeface="Arial" panose="020B0604020202020204" pitchFamily="34" charset="0"/>
              </a:rPr>
              <a:t>Derivative</a:t>
            </a:r>
          </a:p>
          <a:p>
            <a:pPr algn="ctr" eaLnBrk="1" hangingPunct="1"/>
            <a:r>
              <a:rPr lang="en-US" altLang="en-US" sz="1400">
                <a:latin typeface="Arial" panose="020B0604020202020204" pitchFamily="34" charset="0"/>
              </a:rPr>
              <a:t>Calc</a:t>
            </a:r>
          </a:p>
        </p:txBody>
      </p:sp>
      <p:cxnSp>
        <p:nvCxnSpPr>
          <p:cNvPr id="12" name="Straight Arrow Connector 11"/>
          <p:cNvCxnSpPr/>
          <p:nvPr/>
        </p:nvCxnSpPr>
        <p:spPr>
          <a:xfrm>
            <a:off x="5732464" y="3941763"/>
            <a:ext cx="973137"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905000" y="4637089"/>
            <a:ext cx="8305800" cy="1570037"/>
          </a:xfrm>
          <a:prstGeom prst="rect">
            <a:avLst/>
          </a:prstGeom>
          <a:noFill/>
        </p:spPr>
        <p:txBody>
          <a:bodyPr>
            <a:spAutoFit/>
          </a:bodyPr>
          <a:lstStyle/>
          <a:p>
            <a:pPr>
              <a:defRPr/>
            </a:pPr>
            <a:r>
              <a:rPr lang="en-US" sz="1600" dirty="0"/>
              <a:t>Expected Benefits</a:t>
            </a:r>
          </a:p>
          <a:p>
            <a:pPr marL="285750" indent="-285750">
              <a:buFont typeface="Arial" pitchFamily="34" charset="0"/>
              <a:buChar char="•"/>
              <a:defRPr/>
            </a:pPr>
            <a:r>
              <a:rPr lang="en-US" sz="1600" dirty="0" err="1"/>
              <a:t>Feedforward</a:t>
            </a:r>
            <a:r>
              <a:rPr lang="en-US" sz="1600" dirty="0"/>
              <a:t> term independent of load path</a:t>
            </a:r>
          </a:p>
          <a:p>
            <a:pPr marL="285750" indent="-285750">
              <a:buFont typeface="Arial" pitchFamily="34" charset="0"/>
              <a:buChar char="•"/>
              <a:defRPr/>
            </a:pPr>
            <a:r>
              <a:rPr lang="en-US" sz="1600" dirty="0" err="1"/>
              <a:t>Feedforward</a:t>
            </a:r>
            <a:r>
              <a:rPr lang="en-US" sz="1600" dirty="0"/>
              <a:t> term updated real-time based upon actual engine conditions</a:t>
            </a:r>
          </a:p>
          <a:p>
            <a:pPr marL="285750" indent="-285750">
              <a:buFont typeface="Arial" pitchFamily="34" charset="0"/>
              <a:buChar char="•"/>
              <a:defRPr/>
            </a:pPr>
            <a:r>
              <a:rPr lang="en-US" sz="1600" dirty="0"/>
              <a:t>Combining with Temp control feedback loops will allow for real-time adjustment if/when temps vary from targets/boundaries</a:t>
            </a:r>
          </a:p>
          <a:p>
            <a:pPr marL="285750" indent="-285750">
              <a:buFont typeface="Arial" pitchFamily="34" charset="0"/>
              <a:buChar char="•"/>
              <a:defRPr/>
            </a:pPr>
            <a:r>
              <a:rPr lang="en-US" sz="1600" dirty="0"/>
              <a:t>Potential to eliminate triggering logic and improve control during normal operation</a:t>
            </a:r>
          </a:p>
        </p:txBody>
      </p:sp>
      <p:sp>
        <p:nvSpPr>
          <p:cNvPr id="14" name="TextBox 13"/>
          <p:cNvSpPr txBox="1"/>
          <p:nvPr/>
        </p:nvSpPr>
        <p:spPr>
          <a:xfrm>
            <a:off x="3760788" y="3635376"/>
            <a:ext cx="712054" cy="584775"/>
          </a:xfrm>
          <a:prstGeom prst="rect">
            <a:avLst/>
          </a:prstGeom>
          <a:noFill/>
        </p:spPr>
        <p:txBody>
          <a:bodyPr wrap="none">
            <a:spAutoFit/>
          </a:bodyPr>
          <a:lstStyle/>
          <a:p>
            <a:pPr>
              <a:defRPr/>
            </a:pPr>
            <a:r>
              <a:rPr lang="en-US" sz="1600" dirty="0" err="1">
                <a:latin typeface="Symbol" pitchFamily="18" charset="2"/>
              </a:rPr>
              <a:t>D</a:t>
            </a:r>
            <a:r>
              <a:rPr lang="en-US" sz="1600" dirty="0" err="1">
                <a:latin typeface="+mj-lt"/>
              </a:rPr>
              <a:t>Tfire</a:t>
            </a:r>
            <a:endParaRPr lang="en-US" sz="1600" dirty="0">
              <a:latin typeface="+mj-lt"/>
            </a:endParaRPr>
          </a:p>
          <a:p>
            <a:pPr>
              <a:defRPr/>
            </a:pPr>
            <a:r>
              <a:rPr lang="en-US" sz="1600" dirty="0" err="1">
                <a:latin typeface="Symbol" pitchFamily="18" charset="2"/>
              </a:rPr>
              <a:t>D</a:t>
            </a:r>
            <a:r>
              <a:rPr lang="en-US" sz="1600" dirty="0" err="1"/>
              <a:t>Texh</a:t>
            </a:r>
            <a:endParaRPr lang="en-US" sz="1600" dirty="0">
              <a:latin typeface="+mj-lt"/>
            </a:endParaRPr>
          </a:p>
        </p:txBody>
      </p:sp>
      <p:sp>
        <p:nvSpPr>
          <p:cNvPr id="15" name="TextBox 14"/>
          <p:cNvSpPr txBox="1"/>
          <p:nvPr/>
        </p:nvSpPr>
        <p:spPr>
          <a:xfrm>
            <a:off x="6816725" y="3652838"/>
            <a:ext cx="4470400" cy="1077218"/>
          </a:xfrm>
          <a:prstGeom prst="rect">
            <a:avLst/>
          </a:prstGeom>
          <a:noFill/>
        </p:spPr>
        <p:txBody>
          <a:bodyPr wrap="square">
            <a:spAutoFit/>
          </a:bodyPr>
          <a:lstStyle/>
          <a:p>
            <a:pPr marL="228600" indent="-228600">
              <a:buFont typeface="Arial" pitchFamily="34" charset="0"/>
              <a:buChar char="•"/>
              <a:defRPr/>
            </a:pPr>
            <a:r>
              <a:rPr lang="en-US" sz="1600" dirty="0"/>
              <a:t>Feed-forward term to Temp control loops</a:t>
            </a:r>
          </a:p>
          <a:p>
            <a:pPr marL="228600" indent="-228600">
              <a:buFont typeface="Arial" pitchFamily="34" charset="0"/>
              <a:buChar char="•"/>
              <a:defRPr/>
            </a:pPr>
            <a:r>
              <a:rPr lang="en-US" sz="1600" dirty="0"/>
              <a:t>Based on idea to move IGV’s so as to counteract temperature impact of FSR</a:t>
            </a:r>
            <a:endParaRPr lang="en-US" sz="1600" dirty="0">
              <a:latin typeface="Symbol" pitchFamily="18" charset="2"/>
            </a:endParaRPr>
          </a:p>
          <a:p>
            <a:pPr>
              <a:defRPr/>
            </a:pPr>
            <a:endParaRPr lang="en-US" sz="1600" dirty="0">
              <a:latin typeface="Symbol" pitchFamily="18" charset="2"/>
            </a:endParaRPr>
          </a:p>
        </p:txBody>
      </p:sp>
      <p:sp>
        <p:nvSpPr>
          <p:cNvPr id="26640" name="TextBox 15"/>
          <p:cNvSpPr txBox="1">
            <a:spLocks noChangeArrowheads="1"/>
          </p:cNvSpPr>
          <p:nvPr/>
        </p:nvSpPr>
        <p:spPr bwMode="auto">
          <a:xfrm>
            <a:off x="5775326" y="3670300"/>
            <a:ext cx="7704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600"/>
              <a:t>IGV-FF</a:t>
            </a:r>
            <a:endParaRPr lang="en-US" altLang="en-US" sz="1600">
              <a:latin typeface="Symbol" panose="05050102010706020507" pitchFamily="18" charset="2"/>
            </a:endParaRPr>
          </a:p>
        </p:txBody>
      </p:sp>
      <p:sp>
        <p:nvSpPr>
          <p:cNvPr id="26641" name="TextBox 16"/>
          <p:cNvSpPr txBox="1">
            <a:spLocks noChangeArrowheads="1"/>
          </p:cNvSpPr>
          <p:nvPr/>
        </p:nvSpPr>
        <p:spPr bwMode="auto">
          <a:xfrm>
            <a:off x="4049713" y="787400"/>
            <a:ext cx="2646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2000" dirty="0">
                <a:solidFill>
                  <a:srgbClr val="FF9900"/>
                </a:solidFill>
              </a:rPr>
              <a:t>Traditional MBCAF</a:t>
            </a:r>
            <a:endParaRPr lang="en-US" altLang="en-US" sz="2000" dirty="0">
              <a:solidFill>
                <a:srgbClr val="FF9900"/>
              </a:solidFill>
              <a:latin typeface="Symbol" panose="05050102010706020507" pitchFamily="18" charset="2"/>
            </a:endParaRPr>
          </a:p>
        </p:txBody>
      </p:sp>
      <p:sp>
        <p:nvSpPr>
          <p:cNvPr id="26642" name="TextBox 17"/>
          <p:cNvSpPr txBox="1">
            <a:spLocks noChangeArrowheads="1"/>
          </p:cNvSpPr>
          <p:nvPr/>
        </p:nvSpPr>
        <p:spPr bwMode="auto">
          <a:xfrm>
            <a:off x="4408488" y="2898775"/>
            <a:ext cx="4927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2000" dirty="0">
                <a:solidFill>
                  <a:srgbClr val="FF9900"/>
                </a:solidFill>
              </a:rPr>
              <a:t>Next Gen Model-Based FFCAF Concept</a:t>
            </a:r>
          </a:p>
        </p:txBody>
      </p:sp>
    </p:spTree>
    <p:extLst>
      <p:ext uri="{BB962C8B-B14F-4D97-AF65-F5344CB8AC3E}">
        <p14:creationId xmlns:p14="http://schemas.microsoft.com/office/powerpoint/2010/main" val="4015497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357189" y="192164"/>
            <a:ext cx="11201400" cy="914400"/>
          </a:xfrm>
        </p:spPr>
        <p:txBody>
          <a:bodyPr/>
          <a:lstStyle/>
          <a:p>
            <a:r>
              <a:rPr lang="en-US" altLang="en-US" dirty="0"/>
              <a:t>Feed Forward Calculation</a:t>
            </a:r>
          </a:p>
        </p:txBody>
      </p:sp>
      <p:sp>
        <p:nvSpPr>
          <p:cNvPr id="3" name="TextBox 2"/>
          <p:cNvSpPr txBox="1">
            <a:spLocks noRot="1" noChangeAspect="1" noMove="1" noResize="1" noEditPoints="1" noAdjustHandles="1" noChangeArrowheads="1" noChangeShapeType="1" noTextEdit="1"/>
          </p:cNvSpPr>
          <p:nvPr/>
        </p:nvSpPr>
        <p:spPr>
          <a:xfrm>
            <a:off x="2090529" y="1813696"/>
            <a:ext cx="1040348" cy="909223"/>
          </a:xfrm>
          <a:prstGeom prst="rect">
            <a:avLst/>
          </a:prstGeom>
          <a:blipFill rotWithShape="1">
            <a:blip r:embed="rId2"/>
            <a:stretch>
              <a:fillRect/>
            </a:stretch>
          </a:blipFill>
        </p:spPr>
        <p:txBody>
          <a:bodyPr/>
          <a:lstStyle/>
          <a:p>
            <a:r>
              <a:rPr lang="en-US">
                <a:noFill/>
              </a:rPr>
              <a:t> </a:t>
            </a:r>
          </a:p>
        </p:txBody>
      </p:sp>
      <p:sp>
        <p:nvSpPr>
          <p:cNvPr id="4" name="TextBox 3"/>
          <p:cNvSpPr txBox="1">
            <a:spLocks noRot="1" noChangeAspect="1" noMove="1" noResize="1" noEditPoints="1" noAdjustHandles="1" noChangeArrowheads="1" noChangeShapeType="1" noTextEdit="1"/>
          </p:cNvSpPr>
          <p:nvPr/>
        </p:nvSpPr>
        <p:spPr>
          <a:xfrm>
            <a:off x="3430711" y="1813696"/>
            <a:ext cx="1040348" cy="805285"/>
          </a:xfrm>
          <a:prstGeom prst="rect">
            <a:avLst/>
          </a:prstGeom>
          <a:blipFill rotWithShape="1">
            <a:blip r:embed="rId3"/>
            <a:stretch>
              <a:fillRect/>
            </a:stretch>
          </a:blipFill>
        </p:spPr>
        <p:txBody>
          <a:bodyPr/>
          <a:lstStyle/>
          <a:p>
            <a:r>
              <a:rPr lang="en-US">
                <a:noFill/>
              </a:rPr>
              <a:t> </a:t>
            </a:r>
          </a:p>
        </p:txBody>
      </p:sp>
      <p:sp>
        <p:nvSpPr>
          <p:cNvPr id="27653" name="TextBox 4"/>
          <p:cNvSpPr txBox="1">
            <a:spLocks noChangeArrowheads="1"/>
          </p:cNvSpPr>
          <p:nvPr/>
        </p:nvSpPr>
        <p:spPr bwMode="auto">
          <a:xfrm>
            <a:off x="634656" y="938289"/>
            <a:ext cx="79121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2000" dirty="0"/>
              <a:t>Ex: Tfire, can be done for any ARES output</a:t>
            </a:r>
          </a:p>
          <a:p>
            <a:r>
              <a:rPr lang="en-US" altLang="en-US" sz="2000" dirty="0"/>
              <a:t>New </a:t>
            </a:r>
            <a:r>
              <a:rPr lang="en-US" altLang="en-US" sz="2000" dirty="0">
                <a:solidFill>
                  <a:srgbClr val="008000"/>
                </a:solidFill>
              </a:rPr>
              <a:t>ARES model perturbations </a:t>
            </a:r>
            <a:r>
              <a:rPr lang="en-US" altLang="en-US" sz="2000" dirty="0"/>
              <a:t>calculate:</a:t>
            </a:r>
          </a:p>
        </p:txBody>
      </p:sp>
      <p:sp>
        <p:nvSpPr>
          <p:cNvPr id="6" name="TextBox 5"/>
          <p:cNvSpPr txBox="1">
            <a:spLocks noRot="1" noChangeAspect="1" noMove="1" noResize="1" noEditPoints="1" noAdjustHandles="1" noChangeArrowheads="1" noChangeShapeType="1" noTextEdit="1"/>
          </p:cNvSpPr>
          <p:nvPr/>
        </p:nvSpPr>
        <p:spPr>
          <a:xfrm>
            <a:off x="1861928" y="3359425"/>
            <a:ext cx="4539191" cy="1134093"/>
          </a:xfrm>
          <a:prstGeom prst="rect">
            <a:avLst/>
          </a:prstGeom>
          <a:blipFill rotWithShape="1">
            <a:blip r:embed="rId4"/>
            <a:stretch>
              <a:fillRect/>
            </a:stretch>
          </a:blipFill>
        </p:spPr>
        <p:txBody>
          <a:bodyPr/>
          <a:lstStyle/>
          <a:p>
            <a:r>
              <a:rPr lang="en-US">
                <a:noFill/>
              </a:rPr>
              <a:t> </a:t>
            </a:r>
          </a:p>
        </p:txBody>
      </p:sp>
      <p:sp>
        <p:nvSpPr>
          <p:cNvPr id="27655" name="TextBox 6"/>
          <p:cNvSpPr txBox="1">
            <a:spLocks noChangeArrowheads="1"/>
          </p:cNvSpPr>
          <p:nvPr/>
        </p:nvSpPr>
        <p:spPr bwMode="auto">
          <a:xfrm>
            <a:off x="5276619" y="1834981"/>
            <a:ext cx="39195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ctr"/>
            <a:r>
              <a:rPr lang="en-US" altLang="en-US" sz="1600" dirty="0"/>
              <a:t>How much Tfire changes with respect to fuel flow and IGV at current conditions</a:t>
            </a:r>
          </a:p>
        </p:txBody>
      </p:sp>
      <p:sp>
        <p:nvSpPr>
          <p:cNvPr id="27656" name="TextBox 8"/>
          <p:cNvSpPr txBox="1">
            <a:spLocks noChangeArrowheads="1"/>
          </p:cNvSpPr>
          <p:nvPr/>
        </p:nvSpPr>
        <p:spPr bwMode="auto">
          <a:xfrm>
            <a:off x="5409407" y="3432353"/>
            <a:ext cx="40687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pPr algn="ctr"/>
            <a:r>
              <a:rPr lang="en-US" altLang="en-US" sz="1600"/>
              <a:t>How much IGV movement per unit change in fuel flow will keep Tfire constant</a:t>
            </a:r>
          </a:p>
        </p:txBody>
      </p:sp>
      <p:sp>
        <p:nvSpPr>
          <p:cNvPr id="27658" name="TextBox 10"/>
          <p:cNvSpPr txBox="1">
            <a:spLocks noChangeArrowheads="1"/>
          </p:cNvSpPr>
          <p:nvPr/>
        </p:nvSpPr>
        <p:spPr bwMode="auto">
          <a:xfrm>
            <a:off x="4417688" y="5165228"/>
            <a:ext cx="26939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600" dirty="0">
                <a:solidFill>
                  <a:srgbClr val="FF0000"/>
                </a:solidFill>
              </a:rPr>
              <a:t>Feed Forward Term</a:t>
            </a:r>
          </a:p>
        </p:txBody>
      </p:sp>
      <p:cxnSp>
        <p:nvCxnSpPr>
          <p:cNvPr id="14" name="Straight Arrow Connector 13"/>
          <p:cNvCxnSpPr/>
          <p:nvPr/>
        </p:nvCxnSpPr>
        <p:spPr>
          <a:xfrm flipH="1">
            <a:off x="3372645" y="5334297"/>
            <a:ext cx="1001713"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660" name="TextBox 20"/>
          <p:cNvSpPr txBox="1">
            <a:spLocks noChangeArrowheads="1"/>
          </p:cNvSpPr>
          <p:nvPr/>
        </p:nvSpPr>
        <p:spPr bwMode="auto">
          <a:xfrm>
            <a:off x="702469" y="2848153"/>
            <a:ext cx="6337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2000"/>
              <a:t>ARES derivatives used to calculate feed forward:</a:t>
            </a:r>
          </a:p>
        </p:txBody>
      </p:sp>
      <p:sp>
        <p:nvSpPr>
          <p:cNvPr id="13" name="Line 6"/>
          <p:cNvSpPr>
            <a:spLocks noChangeShapeType="1"/>
          </p:cNvSpPr>
          <p:nvPr/>
        </p:nvSpPr>
        <p:spPr bwMode="auto">
          <a:xfrm>
            <a:off x="10682288" y="5543825"/>
            <a:ext cx="800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0"/>
          <p:cNvSpPr>
            <a:spLocks noChangeShapeType="1"/>
          </p:cNvSpPr>
          <p:nvPr/>
        </p:nvSpPr>
        <p:spPr bwMode="auto">
          <a:xfrm>
            <a:off x="7443789" y="5543825"/>
            <a:ext cx="800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2"/>
          <p:cNvSpPr>
            <a:spLocks noChangeShapeType="1"/>
          </p:cNvSpPr>
          <p:nvPr/>
        </p:nvSpPr>
        <p:spPr bwMode="auto">
          <a:xfrm flipV="1">
            <a:off x="9983787" y="5543824"/>
            <a:ext cx="190502" cy="15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4"/>
          <p:cNvSpPr>
            <a:spLocks noChangeShapeType="1"/>
          </p:cNvSpPr>
          <p:nvPr/>
        </p:nvSpPr>
        <p:spPr bwMode="auto">
          <a:xfrm>
            <a:off x="8523289" y="5543825"/>
            <a:ext cx="482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AutoShape 17"/>
          <p:cNvSpPr>
            <a:spLocks noChangeArrowheads="1"/>
          </p:cNvSpPr>
          <p:nvPr/>
        </p:nvSpPr>
        <p:spPr bwMode="auto">
          <a:xfrm>
            <a:off x="9018589" y="5289825"/>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19" name="AutoShape 19"/>
          <p:cNvSpPr>
            <a:spLocks noChangeArrowheads="1"/>
          </p:cNvSpPr>
          <p:nvPr/>
        </p:nvSpPr>
        <p:spPr bwMode="auto">
          <a:xfrm>
            <a:off x="10174288" y="5298970"/>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20" name="Line 23"/>
          <p:cNvSpPr>
            <a:spLocks noChangeShapeType="1"/>
          </p:cNvSpPr>
          <p:nvPr/>
        </p:nvSpPr>
        <p:spPr bwMode="auto">
          <a:xfrm>
            <a:off x="10936289" y="5543825"/>
            <a:ext cx="0" cy="733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4"/>
          <p:cNvSpPr>
            <a:spLocks noChangeShapeType="1"/>
          </p:cNvSpPr>
          <p:nvPr/>
        </p:nvSpPr>
        <p:spPr bwMode="auto">
          <a:xfrm flipV="1">
            <a:off x="8370889" y="6287738"/>
            <a:ext cx="2565400" cy="180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25"/>
          <p:cNvSpPr>
            <a:spLocks noChangeShapeType="1"/>
          </p:cNvSpPr>
          <p:nvPr/>
        </p:nvSpPr>
        <p:spPr bwMode="auto">
          <a:xfrm flipV="1">
            <a:off x="8370889" y="5670825"/>
            <a:ext cx="0" cy="641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Text Box 26"/>
          <p:cNvSpPr txBox="1">
            <a:spLocks noChangeArrowheads="1"/>
          </p:cNvSpPr>
          <p:nvPr/>
        </p:nvSpPr>
        <p:spPr bwMode="auto">
          <a:xfrm>
            <a:off x="9043989" y="5378725"/>
            <a:ext cx="495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dirty="0"/>
              <a:t>C</a:t>
            </a:r>
            <a:endParaRPr lang="en-US" altLang="en-US" u="none" baseline="-25000" dirty="0"/>
          </a:p>
        </p:txBody>
      </p:sp>
      <p:sp>
        <p:nvSpPr>
          <p:cNvPr id="24" name="Text Box 30"/>
          <p:cNvSpPr txBox="1">
            <a:spLocks noChangeArrowheads="1"/>
          </p:cNvSpPr>
          <p:nvPr/>
        </p:nvSpPr>
        <p:spPr bwMode="auto">
          <a:xfrm>
            <a:off x="10161588" y="5375170"/>
            <a:ext cx="596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dirty="0"/>
              <a:t> G</a:t>
            </a:r>
            <a:endParaRPr lang="en-US" altLang="en-US" u="none" baseline="-25000" dirty="0"/>
          </a:p>
        </p:txBody>
      </p:sp>
      <p:sp>
        <p:nvSpPr>
          <p:cNvPr id="25" name="Oval 35"/>
          <p:cNvSpPr>
            <a:spLocks noChangeArrowheads="1"/>
          </p:cNvSpPr>
          <p:nvPr/>
        </p:nvSpPr>
        <p:spPr bwMode="auto">
          <a:xfrm>
            <a:off x="8231189" y="5413650"/>
            <a:ext cx="285750" cy="2667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26" name="Rectangle 37"/>
          <p:cNvSpPr>
            <a:spLocks noChangeArrowheads="1"/>
          </p:cNvSpPr>
          <p:nvPr/>
        </p:nvSpPr>
        <p:spPr bwMode="auto">
          <a:xfrm>
            <a:off x="8056564" y="5254900"/>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a:solidFill>
                  <a:srgbClr val="1E4191"/>
                </a:solidFill>
              </a:rPr>
              <a:t>+</a:t>
            </a:r>
          </a:p>
        </p:txBody>
      </p:sp>
      <p:sp>
        <p:nvSpPr>
          <p:cNvPr id="27" name="Rectangle 38"/>
          <p:cNvSpPr>
            <a:spLocks noChangeArrowheads="1"/>
          </p:cNvSpPr>
          <p:nvPr/>
        </p:nvSpPr>
        <p:spPr bwMode="auto">
          <a:xfrm>
            <a:off x="8094664" y="5559700"/>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a:solidFill>
                  <a:srgbClr val="1E4191"/>
                </a:solidFill>
              </a:rPr>
              <a:t>-</a:t>
            </a:r>
          </a:p>
        </p:txBody>
      </p:sp>
      <p:sp>
        <p:nvSpPr>
          <p:cNvPr id="28" name="Line 25"/>
          <p:cNvSpPr>
            <a:spLocks noChangeShapeType="1"/>
          </p:cNvSpPr>
          <p:nvPr/>
        </p:nvSpPr>
        <p:spPr bwMode="auto">
          <a:xfrm>
            <a:off x="9819621" y="4792569"/>
            <a:ext cx="4078" cy="6061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Oval 35"/>
          <p:cNvSpPr>
            <a:spLocks noChangeArrowheads="1"/>
          </p:cNvSpPr>
          <p:nvPr/>
        </p:nvSpPr>
        <p:spPr bwMode="auto">
          <a:xfrm>
            <a:off x="9676746" y="5404125"/>
            <a:ext cx="285750" cy="2667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cxnSp>
        <p:nvCxnSpPr>
          <p:cNvPr id="30" name="Straight Connector 29"/>
          <p:cNvCxnSpPr/>
          <p:nvPr/>
        </p:nvCxnSpPr>
        <p:spPr>
          <a:xfrm flipH="1">
            <a:off x="9063340" y="4791008"/>
            <a:ext cx="754965" cy="143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p:cNvCxnSpPr>
            <a:stCxn id="29" idx="2"/>
            <a:endCxn id="23" idx="3"/>
          </p:cNvCxnSpPr>
          <p:nvPr/>
        </p:nvCxnSpPr>
        <p:spPr>
          <a:xfrm flipH="1">
            <a:off x="9539289" y="5537475"/>
            <a:ext cx="137457" cy="95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AutoShape 19"/>
          <p:cNvSpPr>
            <a:spLocks noChangeArrowheads="1"/>
          </p:cNvSpPr>
          <p:nvPr/>
        </p:nvSpPr>
        <p:spPr bwMode="auto">
          <a:xfrm>
            <a:off x="8554682" y="4557670"/>
            <a:ext cx="508000" cy="4953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rgbClr val="FFFF99"/>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endParaRPr lang="en-US" altLang="en-US"/>
          </a:p>
        </p:txBody>
      </p:sp>
      <p:sp>
        <p:nvSpPr>
          <p:cNvPr id="33" name="Text Box 30"/>
          <p:cNvSpPr txBox="1">
            <a:spLocks noChangeArrowheads="1"/>
          </p:cNvSpPr>
          <p:nvPr/>
        </p:nvSpPr>
        <p:spPr bwMode="auto">
          <a:xfrm>
            <a:off x="8592440" y="4655654"/>
            <a:ext cx="5969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pPr>
              <a:spcBef>
                <a:spcPct val="50000"/>
              </a:spcBef>
            </a:pPr>
            <a:r>
              <a:rPr lang="en-US" altLang="en-US" u="none" dirty="0"/>
              <a:t>FF</a:t>
            </a:r>
            <a:endParaRPr lang="en-US" altLang="en-US" u="none" baseline="-25000" dirty="0"/>
          </a:p>
        </p:txBody>
      </p:sp>
      <p:sp>
        <p:nvSpPr>
          <p:cNvPr id="34" name="Rectangle 37"/>
          <p:cNvSpPr>
            <a:spLocks noChangeArrowheads="1"/>
          </p:cNvSpPr>
          <p:nvPr/>
        </p:nvSpPr>
        <p:spPr bwMode="auto">
          <a:xfrm>
            <a:off x="9669959" y="5341603"/>
            <a:ext cx="2555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u="sng">
                <a:solidFill>
                  <a:schemeClr val="tx1"/>
                </a:solidFill>
                <a:latin typeface="GE Inspira" panose="020F0603030400020203" pitchFamily="34" charset="0"/>
                <a:cs typeface="Times New Roman" panose="02020603050405020304" pitchFamily="18" charset="0"/>
              </a:defRPr>
            </a:lvl1pPr>
            <a:lvl2pPr marL="742950" indent="-285750">
              <a:defRPr sz="1600" u="sng">
                <a:solidFill>
                  <a:schemeClr val="tx1"/>
                </a:solidFill>
                <a:latin typeface="GE Inspira" panose="020F0603030400020203" pitchFamily="34" charset="0"/>
                <a:cs typeface="Times New Roman" panose="02020603050405020304" pitchFamily="18" charset="0"/>
              </a:defRPr>
            </a:lvl2pPr>
            <a:lvl3pPr marL="1143000" indent="-228600">
              <a:defRPr sz="1600" u="sng">
                <a:solidFill>
                  <a:schemeClr val="tx1"/>
                </a:solidFill>
                <a:latin typeface="GE Inspira" panose="020F0603030400020203" pitchFamily="34" charset="0"/>
                <a:cs typeface="Times New Roman" panose="02020603050405020304" pitchFamily="18" charset="0"/>
              </a:defRPr>
            </a:lvl3pPr>
            <a:lvl4pPr marL="1600200" indent="-228600">
              <a:defRPr sz="1600" u="sng">
                <a:solidFill>
                  <a:schemeClr val="tx1"/>
                </a:solidFill>
                <a:latin typeface="GE Inspira" panose="020F0603030400020203" pitchFamily="34" charset="0"/>
                <a:cs typeface="Times New Roman" panose="02020603050405020304" pitchFamily="18" charset="0"/>
              </a:defRPr>
            </a:lvl4pPr>
            <a:lvl5pPr marL="2057400" indent="-228600">
              <a:defRPr sz="1600" u="sng">
                <a:solidFill>
                  <a:schemeClr val="tx1"/>
                </a:solidFill>
                <a:latin typeface="GE Inspira" panose="020F0603030400020203" pitchFamily="34" charset="0"/>
                <a:cs typeface="Times New Roman" panose="02020603050405020304" pitchFamily="18" charset="0"/>
              </a:defRPr>
            </a:lvl5pPr>
            <a:lvl6pPr marL="25146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6pPr>
            <a:lvl7pPr marL="29718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7pPr>
            <a:lvl8pPr marL="34290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8pPr>
            <a:lvl9pPr marL="3886200" indent="-228600" eaLnBrk="0" fontAlgn="base" hangingPunct="0">
              <a:spcBef>
                <a:spcPct val="0"/>
              </a:spcBef>
              <a:spcAft>
                <a:spcPct val="0"/>
              </a:spcAft>
              <a:defRPr sz="1600" u="sng">
                <a:solidFill>
                  <a:schemeClr val="tx1"/>
                </a:solidFill>
                <a:latin typeface="GE Inspira" panose="020F0603030400020203" pitchFamily="34" charset="0"/>
                <a:cs typeface="Times New Roman" panose="02020603050405020304" pitchFamily="18" charset="0"/>
              </a:defRPr>
            </a:lvl9pPr>
          </a:lstStyle>
          <a:p>
            <a:r>
              <a:rPr lang="en-US" altLang="en-US" u="none" dirty="0">
                <a:solidFill>
                  <a:srgbClr val="1E4191"/>
                </a:solidFill>
              </a:rPr>
              <a:t>+</a:t>
            </a:r>
          </a:p>
        </p:txBody>
      </p:sp>
      <p:sp>
        <p:nvSpPr>
          <p:cNvPr id="35" name="TextBox 34"/>
          <p:cNvSpPr txBox="1"/>
          <p:nvPr/>
        </p:nvSpPr>
        <p:spPr>
          <a:xfrm>
            <a:off x="7054499" y="5658156"/>
            <a:ext cx="1057982" cy="169277"/>
          </a:xfrm>
          <a:prstGeom prst="rect">
            <a:avLst/>
          </a:prstGeom>
          <a:noFill/>
          <a:ln>
            <a:solidFill>
              <a:schemeClr val="tx1"/>
            </a:solidFill>
          </a:ln>
        </p:spPr>
        <p:txBody>
          <a:bodyPr wrap="none" lIns="0" tIns="0" rIns="0" bIns="0" rtlCol="0">
            <a:spAutoFit/>
          </a:bodyPr>
          <a:lstStyle/>
          <a:p>
            <a:pPr algn="ctr"/>
            <a:r>
              <a:rPr lang="en-US" sz="1100" dirty="0">
                <a:solidFill>
                  <a:schemeClr val="accent2"/>
                </a:solidFill>
              </a:rPr>
              <a:t>Targets/ Boundary</a:t>
            </a:r>
          </a:p>
        </p:txBody>
      </p:sp>
      <p:sp>
        <p:nvSpPr>
          <p:cNvPr id="36" name="TextBox 35"/>
          <p:cNvSpPr txBox="1"/>
          <p:nvPr/>
        </p:nvSpPr>
        <p:spPr>
          <a:xfrm>
            <a:off x="11040761" y="5645426"/>
            <a:ext cx="883254" cy="507831"/>
          </a:xfrm>
          <a:prstGeom prst="rect">
            <a:avLst/>
          </a:prstGeom>
          <a:noFill/>
          <a:ln>
            <a:solidFill>
              <a:schemeClr val="tx1"/>
            </a:solidFill>
          </a:ln>
        </p:spPr>
        <p:txBody>
          <a:bodyPr wrap="none" lIns="0" tIns="0" rIns="0" bIns="0" rtlCol="0">
            <a:spAutoFit/>
          </a:bodyPr>
          <a:lstStyle/>
          <a:p>
            <a:pPr algn="ctr"/>
            <a:r>
              <a:rPr lang="en-US" sz="1100" dirty="0">
                <a:solidFill>
                  <a:schemeClr val="accent2"/>
                </a:solidFill>
              </a:rPr>
              <a:t>Sensor outputs</a:t>
            </a:r>
          </a:p>
          <a:p>
            <a:pPr algn="ctr"/>
            <a:r>
              <a:rPr lang="en-US" sz="1100" dirty="0">
                <a:solidFill>
                  <a:schemeClr val="accent2"/>
                </a:solidFill>
              </a:rPr>
              <a:t>OR</a:t>
            </a:r>
          </a:p>
          <a:p>
            <a:pPr algn="ctr"/>
            <a:r>
              <a:rPr lang="en-US" sz="1100" dirty="0">
                <a:solidFill>
                  <a:schemeClr val="accent2"/>
                </a:solidFill>
              </a:rPr>
              <a:t>Model outputs</a:t>
            </a:r>
          </a:p>
        </p:txBody>
      </p:sp>
      <p:sp>
        <p:nvSpPr>
          <p:cNvPr id="37" name="TextBox 36"/>
          <p:cNvSpPr txBox="1"/>
          <p:nvPr/>
        </p:nvSpPr>
        <p:spPr>
          <a:xfrm>
            <a:off x="10089540" y="4495383"/>
            <a:ext cx="1006687" cy="507831"/>
          </a:xfrm>
          <a:prstGeom prst="rect">
            <a:avLst/>
          </a:prstGeom>
          <a:noFill/>
          <a:ln>
            <a:solidFill>
              <a:schemeClr val="tx1"/>
            </a:solidFill>
          </a:ln>
        </p:spPr>
        <p:txBody>
          <a:bodyPr wrap="none" lIns="0" tIns="0" rIns="0" bIns="0" rtlCol="0">
            <a:spAutoFit/>
          </a:bodyPr>
          <a:lstStyle/>
          <a:p>
            <a:pPr algn="ctr"/>
            <a:r>
              <a:rPr lang="en-US" sz="1100" dirty="0">
                <a:solidFill>
                  <a:schemeClr val="accent2"/>
                </a:solidFill>
              </a:rPr>
              <a:t>FF output</a:t>
            </a:r>
          </a:p>
          <a:p>
            <a:pPr algn="ctr"/>
            <a:r>
              <a:rPr lang="en-US" sz="1100" dirty="0">
                <a:solidFill>
                  <a:schemeClr val="accent2"/>
                </a:solidFill>
              </a:rPr>
              <a:t>+</a:t>
            </a:r>
          </a:p>
          <a:p>
            <a:pPr algn="ctr"/>
            <a:r>
              <a:rPr lang="en-US" sz="1100" dirty="0">
                <a:solidFill>
                  <a:schemeClr val="accent2"/>
                </a:solidFill>
              </a:rPr>
              <a:t>Controller output</a:t>
            </a:r>
          </a:p>
        </p:txBody>
      </p:sp>
      <p:sp>
        <p:nvSpPr>
          <p:cNvPr id="38" name="Line 14"/>
          <p:cNvSpPr>
            <a:spLocks noChangeShapeType="1"/>
          </p:cNvSpPr>
          <p:nvPr/>
        </p:nvSpPr>
        <p:spPr bwMode="auto">
          <a:xfrm flipV="1">
            <a:off x="9925547" y="5086148"/>
            <a:ext cx="248741" cy="28108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2" name="Picture 1"/>
          <p:cNvPicPr>
            <a:picLocks noChangeAspect="1"/>
          </p:cNvPicPr>
          <p:nvPr/>
        </p:nvPicPr>
        <p:blipFill>
          <a:blip r:embed="rId5"/>
          <a:stretch>
            <a:fillRect/>
          </a:stretch>
        </p:blipFill>
        <p:spPr>
          <a:xfrm>
            <a:off x="572295" y="4839303"/>
            <a:ext cx="2800350" cy="895350"/>
          </a:xfrm>
          <a:prstGeom prst="rect">
            <a:avLst/>
          </a:prstGeom>
        </p:spPr>
      </p:pic>
      <p:cxnSp>
        <p:nvCxnSpPr>
          <p:cNvPr id="7" name="Straight Arrow Connector 6"/>
          <p:cNvCxnSpPr/>
          <p:nvPr/>
        </p:nvCxnSpPr>
        <p:spPr>
          <a:xfrm flipV="1">
            <a:off x="6254750" y="4846858"/>
            <a:ext cx="2181029" cy="49474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0391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506776" y="178087"/>
            <a:ext cx="8459788" cy="442913"/>
          </a:xfrm>
        </p:spPr>
        <p:txBody>
          <a:bodyPr vert="horz" lIns="0" tIns="0" rIns="0" bIns="0" rtlCol="0" anchor="t" anchorCtr="0">
            <a:noAutofit/>
          </a:bodyPr>
          <a:lstStyle/>
          <a:p>
            <a:r>
              <a:rPr lang="en-US" altLang="en-US" sz="3200" kern="1200" dirty="0">
                <a:solidFill>
                  <a:schemeClr val="accent2"/>
                </a:solidFill>
              </a:rPr>
              <a:t>Mode Transfer Strategy</a:t>
            </a:r>
          </a:p>
        </p:txBody>
      </p:sp>
      <p:sp>
        <p:nvSpPr>
          <p:cNvPr id="3" name="Content Placeholder 2"/>
          <p:cNvSpPr>
            <a:spLocks noGrp="1"/>
          </p:cNvSpPr>
          <p:nvPr>
            <p:ph idx="1"/>
          </p:nvPr>
        </p:nvSpPr>
        <p:spPr>
          <a:xfrm>
            <a:off x="948368" y="1188903"/>
            <a:ext cx="8686800" cy="3151743"/>
          </a:xfrm>
        </p:spPr>
        <p:txBody>
          <a:bodyPr/>
          <a:lstStyle/>
          <a:p>
            <a:pPr marL="455613" lvl="2" indent="0">
              <a:buNone/>
              <a:defRPr/>
            </a:pPr>
            <a:r>
              <a:rPr lang="en-US" sz="2400" b="1" dirty="0"/>
              <a:t>When To Transfer?</a:t>
            </a:r>
          </a:p>
          <a:p>
            <a:pPr lvl="2">
              <a:defRPr/>
            </a:pPr>
            <a:r>
              <a:rPr lang="en-US" sz="2000" dirty="0"/>
              <a:t>Option 1: Fixed CRT</a:t>
            </a:r>
            <a:r>
              <a:rPr lang="en-US" sz="2000" dirty="0">
                <a:sym typeface="Wingdings" pitchFamily="2" charset="2"/>
              </a:rPr>
              <a:t> </a:t>
            </a:r>
          </a:p>
          <a:p>
            <a:pPr lvl="3">
              <a:defRPr/>
            </a:pPr>
            <a:r>
              <a:rPr lang="en-US" sz="2000" dirty="0"/>
              <a:t>Transfer? = f (CRT) 			</a:t>
            </a:r>
            <a:r>
              <a:rPr lang="en-US" sz="2000" dirty="0">
                <a:sym typeface="Wingdings" pitchFamily="2" charset="2"/>
              </a:rPr>
              <a:t>	  </a:t>
            </a:r>
            <a:r>
              <a:rPr lang="en-US" sz="2000" dirty="0"/>
              <a:t>Current method</a:t>
            </a:r>
          </a:p>
          <a:p>
            <a:pPr marL="455613" lvl="2" indent="0">
              <a:buNone/>
              <a:defRPr/>
            </a:pPr>
            <a:endParaRPr lang="en-US" sz="2000" b="1" dirty="0">
              <a:sym typeface="Wingdings" pitchFamily="2" charset="2"/>
            </a:endParaRPr>
          </a:p>
          <a:p>
            <a:pPr marL="455613" lvl="2" indent="0">
              <a:buNone/>
              <a:defRPr/>
            </a:pPr>
            <a:endParaRPr lang="en-US" sz="2000" b="1" dirty="0">
              <a:sym typeface="Wingdings" pitchFamily="2" charset="2"/>
            </a:endParaRPr>
          </a:p>
          <a:p>
            <a:pPr marL="455613" lvl="2" indent="0">
              <a:buNone/>
              <a:defRPr/>
            </a:pPr>
            <a:r>
              <a:rPr lang="en-US" sz="2400" b="1" dirty="0"/>
              <a:t>How To Transfer?</a:t>
            </a:r>
          </a:p>
          <a:p>
            <a:pPr lvl="2">
              <a:defRPr/>
            </a:pPr>
            <a:r>
              <a:rPr lang="en-US" sz="2000" dirty="0"/>
              <a:t>Option 1: Autotune </a:t>
            </a:r>
            <a:r>
              <a:rPr lang="en-US" sz="2000" dirty="0">
                <a:sym typeface="Wingdings" pitchFamily="2" charset="2"/>
              </a:rPr>
              <a:t> Split schedule  Autotune 	  Current method</a:t>
            </a:r>
          </a:p>
          <a:p>
            <a:pPr lvl="2">
              <a:defRPr/>
            </a:pPr>
            <a:r>
              <a:rPr lang="en-US" sz="2000" dirty="0">
                <a:solidFill>
                  <a:schemeClr val="bg2">
                    <a:lumMod val="75000"/>
                  </a:schemeClr>
                </a:solidFill>
                <a:sym typeface="Wingdings" pitchFamily="2" charset="2"/>
              </a:rPr>
              <a:t>Option 3: Autotune  Steady State Sol.  Autotune	  ALAT method</a:t>
            </a:r>
            <a:r>
              <a:rPr lang="en-US" sz="2000" dirty="0">
                <a:sym typeface="Wingdings" pitchFamily="2" charset="2"/>
              </a:rPr>
              <a:t>		  			</a:t>
            </a:r>
            <a:endParaRPr lang="en-US" sz="2000" dirty="0"/>
          </a:p>
        </p:txBody>
      </p:sp>
      <p:cxnSp>
        <p:nvCxnSpPr>
          <p:cNvPr id="5" name="Straight Arrow Connector 4"/>
          <p:cNvCxnSpPr/>
          <p:nvPr/>
        </p:nvCxnSpPr>
        <p:spPr bwMode="auto">
          <a:xfrm>
            <a:off x="4203853" y="2027103"/>
            <a:ext cx="3124200" cy="0"/>
          </a:xfrm>
          <a:prstGeom prst="straightConnector1">
            <a:avLst/>
          </a:prstGeom>
          <a:gradFill rotWithShape="0">
            <a:gsLst>
              <a:gs pos="0">
                <a:schemeClr val="accent2"/>
              </a:gs>
              <a:gs pos="100000">
                <a:schemeClr val="accent2">
                  <a:gamma/>
                  <a:tint val="0"/>
                  <a:invGamma/>
                </a:schemeClr>
              </a:gs>
            </a:gsLst>
            <a:lin ang="0" scaled="1"/>
          </a:gradFill>
          <a:ln w="28575"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71171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Rectangle 153"/>
          <p:cNvSpPr/>
          <p:nvPr/>
        </p:nvSpPr>
        <p:spPr>
          <a:xfrm>
            <a:off x="2879726" y="3548063"/>
            <a:ext cx="4811713" cy="2114550"/>
          </a:xfrm>
          <a:prstGeom prst="rect">
            <a:avLst/>
          </a:prstGeom>
          <a:pattFill prst="pct5">
            <a:fgClr>
              <a:schemeClr val="bg1">
                <a:lumMod val="75000"/>
              </a:schemeClr>
            </a:fgClr>
            <a:bgClr>
              <a:schemeClr val="bg1"/>
            </a:bgClr>
          </a:pattFill>
          <a:ln w="3175">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kern="0" dirty="0">
              <a:solidFill>
                <a:srgbClr val="FFFFFF"/>
              </a:solidFill>
            </a:endParaRPr>
          </a:p>
        </p:txBody>
      </p:sp>
      <p:sp>
        <p:nvSpPr>
          <p:cNvPr id="155" name="TextBox 154"/>
          <p:cNvSpPr txBox="1"/>
          <p:nvPr/>
        </p:nvSpPr>
        <p:spPr>
          <a:xfrm>
            <a:off x="6064250" y="4810125"/>
            <a:ext cx="984250" cy="400050"/>
          </a:xfrm>
          <a:prstGeom prst="rect">
            <a:avLst/>
          </a:prstGeom>
          <a:noFill/>
        </p:spPr>
        <p:txBody>
          <a:bodyPr wrap="none">
            <a:spAutoFit/>
          </a:bodyPr>
          <a:lstStyle/>
          <a:p>
            <a:pPr>
              <a:defRPr/>
            </a:pPr>
            <a:r>
              <a:rPr lang="en-US" sz="2000" kern="0" dirty="0">
                <a:solidFill>
                  <a:srgbClr val="FF6600">
                    <a:lumMod val="75000"/>
                  </a:srgbClr>
                </a:solidFill>
                <a:effectLst>
                  <a:outerShdw blurRad="38100" dist="38100" dir="2700000" algn="tl">
                    <a:srgbClr val="000000">
                      <a:alpha val="43137"/>
                    </a:srgbClr>
                  </a:outerShdw>
                </a:effectLst>
                <a:latin typeface="GE Inspira Pitch" pitchFamily="34" charset="0"/>
              </a:rPr>
              <a:t>Mode Y</a:t>
            </a:r>
          </a:p>
        </p:txBody>
      </p:sp>
      <p:sp>
        <p:nvSpPr>
          <p:cNvPr id="152" name="Rectangle 151"/>
          <p:cNvSpPr/>
          <p:nvPr/>
        </p:nvSpPr>
        <p:spPr>
          <a:xfrm>
            <a:off x="3003551" y="923925"/>
            <a:ext cx="4733925" cy="1936750"/>
          </a:xfrm>
          <a:prstGeom prst="rect">
            <a:avLst/>
          </a:prstGeom>
          <a:pattFill prst="pct5">
            <a:fgClr>
              <a:schemeClr val="bg1">
                <a:lumMod val="75000"/>
              </a:schemeClr>
            </a:fgClr>
            <a:bgClr>
              <a:schemeClr val="bg1"/>
            </a:bgClr>
          </a:pattFill>
          <a:ln w="3175">
            <a:prstDash val="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kern="0" dirty="0">
              <a:solidFill>
                <a:srgbClr val="FFFFFF"/>
              </a:solidFill>
            </a:endParaRPr>
          </a:p>
        </p:txBody>
      </p:sp>
      <p:sp>
        <p:nvSpPr>
          <p:cNvPr id="29701" name="Title 1"/>
          <p:cNvSpPr>
            <a:spLocks noGrp="1"/>
          </p:cNvSpPr>
          <p:nvPr>
            <p:ph type="title"/>
          </p:nvPr>
        </p:nvSpPr>
        <p:spPr>
          <a:xfrm>
            <a:off x="510381" y="240507"/>
            <a:ext cx="8459787" cy="528637"/>
          </a:xfrm>
        </p:spPr>
        <p:txBody>
          <a:bodyPr vert="horz" lIns="0" tIns="0" rIns="0" bIns="0" rtlCol="0" anchor="t" anchorCtr="0">
            <a:noAutofit/>
          </a:bodyPr>
          <a:lstStyle/>
          <a:p>
            <a:r>
              <a:rPr lang="en-US" altLang="en-US" sz="3600" kern="1200" dirty="0">
                <a:solidFill>
                  <a:schemeClr val="accent2"/>
                </a:solidFill>
              </a:rPr>
              <a:t>Mode Transfer in All Load Autotune</a:t>
            </a:r>
          </a:p>
        </p:txBody>
      </p:sp>
      <p:sp>
        <p:nvSpPr>
          <p:cNvPr id="3" name="Rectangle 2"/>
          <p:cNvSpPr/>
          <p:nvPr/>
        </p:nvSpPr>
        <p:spPr>
          <a:xfrm>
            <a:off x="3781425" y="1047750"/>
            <a:ext cx="704850" cy="1333500"/>
          </a:xfrm>
          <a:prstGeom prst="rect">
            <a:avLst/>
          </a:prstGeom>
          <a:noFill/>
          <a:ln>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800" kern="0" dirty="0">
                <a:solidFill>
                  <a:srgbClr val="1E4191"/>
                </a:solidFill>
              </a:rPr>
              <a:t>Comb.  transfer function</a:t>
            </a:r>
          </a:p>
          <a:p>
            <a:pPr algn="ctr">
              <a:defRPr/>
            </a:pPr>
            <a:r>
              <a:rPr lang="en-US" sz="800" kern="0" dirty="0">
                <a:solidFill>
                  <a:srgbClr val="1E4191"/>
                </a:solidFill>
              </a:rPr>
              <a:t>MODE X</a:t>
            </a:r>
          </a:p>
        </p:txBody>
      </p:sp>
      <p:sp>
        <p:nvSpPr>
          <p:cNvPr id="6" name="Rounded Rectangle 5"/>
          <p:cNvSpPr/>
          <p:nvPr/>
        </p:nvSpPr>
        <p:spPr>
          <a:xfrm>
            <a:off x="1871664" y="3095625"/>
            <a:ext cx="860425" cy="400050"/>
          </a:xfrm>
          <a:prstGeom prst="roundRect">
            <a:avLst/>
          </a:prstGeom>
          <a:pattFill prst="ltDnDiag">
            <a:fgClr>
              <a:schemeClr val="tx1">
                <a:lumMod val="60000"/>
                <a:lumOff val="4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800" kern="0" dirty="0">
                <a:solidFill>
                  <a:srgbClr val="1E4191"/>
                </a:solidFill>
              </a:rPr>
              <a:t>Fuel system Model</a:t>
            </a:r>
          </a:p>
        </p:txBody>
      </p:sp>
      <p:grpSp>
        <p:nvGrpSpPr>
          <p:cNvPr id="29704" name="Group 17"/>
          <p:cNvGrpSpPr>
            <a:grpSpLocks/>
          </p:cNvGrpSpPr>
          <p:nvPr/>
        </p:nvGrpSpPr>
        <p:grpSpPr bwMode="auto">
          <a:xfrm>
            <a:off x="3067050" y="1847851"/>
            <a:ext cx="304800" cy="295275"/>
            <a:chOff x="1543050" y="1847850"/>
            <a:chExt cx="304800" cy="295275"/>
          </a:xfrm>
        </p:grpSpPr>
        <p:sp>
          <p:nvSpPr>
            <p:cNvPr id="7" name="Rectangle 6"/>
            <p:cNvSpPr/>
            <p:nvPr/>
          </p:nvSpPr>
          <p:spPr>
            <a:xfrm>
              <a:off x="1543050" y="1847850"/>
              <a:ext cx="304800" cy="295275"/>
            </a:xfrm>
            <a:prstGeom prst="rect">
              <a:avLst/>
            </a:prstGeom>
            <a:no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kern="0">
                <a:solidFill>
                  <a:srgbClr val="FFFFFF"/>
                </a:solidFill>
              </a:endParaRPr>
            </a:p>
          </p:txBody>
        </p:sp>
        <p:sp>
          <p:nvSpPr>
            <p:cNvPr id="9" name="Oval 8"/>
            <p:cNvSpPr/>
            <p:nvPr/>
          </p:nvSpPr>
          <p:spPr>
            <a:xfrm>
              <a:off x="1673225" y="1847850"/>
              <a:ext cx="46038" cy="460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kern="0">
                <a:solidFill>
                  <a:srgbClr val="FFFFFF"/>
                </a:solidFill>
              </a:endParaRPr>
            </a:p>
          </p:txBody>
        </p:sp>
        <p:sp>
          <p:nvSpPr>
            <p:cNvPr id="10" name="Oval 9"/>
            <p:cNvSpPr/>
            <p:nvPr/>
          </p:nvSpPr>
          <p:spPr>
            <a:xfrm>
              <a:off x="1665288" y="2097088"/>
              <a:ext cx="44450" cy="460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3200" kern="0">
                <a:solidFill>
                  <a:srgbClr val="FFFFFF"/>
                </a:solidFill>
              </a:endParaRPr>
            </a:p>
          </p:txBody>
        </p:sp>
        <p:cxnSp>
          <p:nvCxnSpPr>
            <p:cNvPr id="13" name="Straight Connector 12"/>
            <p:cNvCxnSpPr>
              <a:stCxn id="7" idx="3"/>
              <a:endCxn id="9" idx="5"/>
            </p:cNvCxnSpPr>
            <p:nvPr/>
          </p:nvCxnSpPr>
          <p:spPr>
            <a:xfrm flipH="1" flipV="1">
              <a:off x="1712913" y="1887538"/>
              <a:ext cx="134937" cy="107950"/>
            </a:xfrm>
            <a:prstGeom prst="line">
              <a:avLst/>
            </a:prstGeom>
            <a:ln>
              <a:headEnd type="oval"/>
              <a:tailEnd type="oval"/>
            </a:ln>
          </p:spPr>
          <p:style>
            <a:lnRef idx="2">
              <a:schemeClr val="accent4"/>
            </a:lnRef>
            <a:fillRef idx="0">
              <a:schemeClr val="accent4"/>
            </a:fillRef>
            <a:effectRef idx="1">
              <a:schemeClr val="accent4"/>
            </a:effectRef>
            <a:fontRef idx="minor">
              <a:schemeClr val="tx1"/>
            </a:fontRef>
          </p:style>
        </p:cxnSp>
      </p:grpSp>
      <p:cxnSp>
        <p:nvCxnSpPr>
          <p:cNvPr id="15" name="Straight Connector 14"/>
          <p:cNvCxnSpPr>
            <a:stCxn id="7" idx="3"/>
          </p:cNvCxnSpPr>
          <p:nvPr/>
        </p:nvCxnSpPr>
        <p:spPr>
          <a:xfrm>
            <a:off x="3371850" y="1995488"/>
            <a:ext cx="438150" cy="0"/>
          </a:xfrm>
          <a:prstGeom prst="line">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7" name="Elbow Connector 16"/>
          <p:cNvCxnSpPr>
            <a:stCxn id="6" idx="0"/>
            <a:endCxn id="7" idx="0"/>
          </p:cNvCxnSpPr>
          <p:nvPr/>
        </p:nvCxnSpPr>
        <p:spPr>
          <a:xfrm rot="5400000" flipH="1" flipV="1">
            <a:off x="2136776" y="2012951"/>
            <a:ext cx="1247775" cy="917575"/>
          </a:xfrm>
          <a:prstGeom prst="bentConnector3">
            <a:avLst>
              <a:gd name="adj1" fmla="val 11832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37" name="Elbow Connector 36"/>
          <p:cNvCxnSpPr>
            <a:stCxn id="6" idx="0"/>
            <a:endCxn id="106" idx="0"/>
          </p:cNvCxnSpPr>
          <p:nvPr/>
        </p:nvCxnSpPr>
        <p:spPr>
          <a:xfrm rot="16200000" flipH="1">
            <a:off x="2045494" y="3352007"/>
            <a:ext cx="1366838" cy="854075"/>
          </a:xfrm>
          <a:prstGeom prst="bentConnector3">
            <a:avLst>
              <a:gd name="adj1" fmla="val -16725"/>
            </a:avLst>
          </a:prstGeom>
          <a:ln>
            <a:tailEnd type="triangle"/>
          </a:ln>
        </p:spPr>
        <p:style>
          <a:lnRef idx="2">
            <a:schemeClr val="accent4"/>
          </a:lnRef>
          <a:fillRef idx="0">
            <a:schemeClr val="accent4"/>
          </a:fillRef>
          <a:effectRef idx="1">
            <a:schemeClr val="accent4"/>
          </a:effectRef>
          <a:fontRef idx="minor">
            <a:schemeClr val="tx1"/>
          </a:fontRef>
        </p:style>
      </p:cxnSp>
      <p:sp>
        <p:nvSpPr>
          <p:cNvPr id="29708" name="TextBox 47"/>
          <p:cNvSpPr txBox="1">
            <a:spLocks noChangeArrowheads="1"/>
          </p:cNvSpPr>
          <p:nvPr/>
        </p:nvSpPr>
        <p:spPr bwMode="auto">
          <a:xfrm>
            <a:off x="1577975" y="3733800"/>
            <a:ext cx="11001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1E4191"/>
                </a:solidFill>
                <a:latin typeface="GE Inspira Pitch" panose="020F0603030400020203" pitchFamily="34" charset="0"/>
              </a:rPr>
              <a:t>Manifold differential </a:t>
            </a:r>
          </a:p>
          <a:p>
            <a:r>
              <a:rPr lang="en-US" altLang="en-US" sz="800" b="0" kern="0">
                <a:solidFill>
                  <a:srgbClr val="1E4191"/>
                </a:solidFill>
                <a:latin typeface="GE Inspira Pitch" panose="020F0603030400020203" pitchFamily="34" charset="0"/>
              </a:rPr>
              <a:t>pressure transducer</a:t>
            </a:r>
          </a:p>
        </p:txBody>
      </p:sp>
      <p:sp>
        <p:nvSpPr>
          <p:cNvPr id="50" name="Rectangle 49"/>
          <p:cNvSpPr/>
          <p:nvPr/>
        </p:nvSpPr>
        <p:spPr>
          <a:xfrm>
            <a:off x="5057776" y="1181100"/>
            <a:ext cx="1038225" cy="814388"/>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800" kern="0" dirty="0">
                <a:solidFill>
                  <a:srgbClr val="1E4191"/>
                </a:solidFill>
                <a:effectLst>
                  <a:outerShdw blurRad="38100" dist="38100" dir="2700000" algn="tl">
                    <a:srgbClr val="000000">
                      <a:alpha val="43137"/>
                    </a:srgbClr>
                  </a:outerShdw>
                </a:effectLst>
              </a:rPr>
              <a:t>PI  REG</a:t>
            </a:r>
          </a:p>
        </p:txBody>
      </p:sp>
      <p:sp>
        <p:nvSpPr>
          <p:cNvPr id="56" name="Rectangle 55"/>
          <p:cNvSpPr/>
          <p:nvPr/>
        </p:nvSpPr>
        <p:spPr>
          <a:xfrm>
            <a:off x="6296025" y="1181100"/>
            <a:ext cx="647700" cy="814388"/>
          </a:xfrm>
          <a:prstGeom prst="rect">
            <a:avLst/>
          </a:prstGeom>
          <a:no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800" kern="0" dirty="0">
                <a:solidFill>
                  <a:srgbClr val="1E4191"/>
                </a:solidFill>
              </a:rPr>
              <a:t>Priority Selection logic</a:t>
            </a:r>
          </a:p>
        </p:txBody>
      </p:sp>
      <p:cxnSp>
        <p:nvCxnSpPr>
          <p:cNvPr id="64" name="Straight Arrow Connector 63"/>
          <p:cNvCxnSpPr>
            <a:endCxn id="50" idx="1"/>
          </p:cNvCxnSpPr>
          <p:nvPr/>
        </p:nvCxnSpPr>
        <p:spPr>
          <a:xfrm>
            <a:off x="4514851" y="1589088"/>
            <a:ext cx="542925"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66" name="Straight Arrow Connector 65"/>
          <p:cNvCxnSpPr>
            <a:stCxn id="50" idx="3"/>
            <a:endCxn id="56" idx="1"/>
          </p:cNvCxnSpPr>
          <p:nvPr/>
        </p:nvCxnSpPr>
        <p:spPr>
          <a:xfrm>
            <a:off x="6096001" y="1589088"/>
            <a:ext cx="200025"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68" name="Elbow Connector 67"/>
          <p:cNvCxnSpPr>
            <a:stCxn id="56" idx="3"/>
            <a:endCxn id="7" idx="2"/>
          </p:cNvCxnSpPr>
          <p:nvPr/>
        </p:nvCxnSpPr>
        <p:spPr>
          <a:xfrm flipH="1">
            <a:off x="3219451" y="1589089"/>
            <a:ext cx="3724275" cy="554037"/>
          </a:xfrm>
          <a:prstGeom prst="bentConnector4">
            <a:avLst>
              <a:gd name="adj1" fmla="val -6138"/>
              <a:gd name="adj2" fmla="val 190987"/>
            </a:avLst>
          </a:prstGeom>
          <a:ln>
            <a:prstDash val="sysDash"/>
            <a:tailEnd type="triangle"/>
          </a:ln>
        </p:spPr>
        <p:style>
          <a:lnRef idx="2">
            <a:schemeClr val="accent2"/>
          </a:lnRef>
          <a:fillRef idx="0">
            <a:schemeClr val="accent2"/>
          </a:fillRef>
          <a:effectRef idx="1">
            <a:schemeClr val="accent2"/>
          </a:effectRef>
          <a:fontRef idx="minor">
            <a:schemeClr val="tx1"/>
          </a:fontRef>
        </p:style>
      </p:cxnSp>
      <p:cxnSp>
        <p:nvCxnSpPr>
          <p:cNvPr id="80" name="Straight Connector 79"/>
          <p:cNvCxnSpPr/>
          <p:nvPr/>
        </p:nvCxnSpPr>
        <p:spPr>
          <a:xfrm>
            <a:off x="3579813" y="1995488"/>
            <a:ext cx="0" cy="476250"/>
          </a:xfrm>
          <a:prstGeom prst="line">
            <a:avLst/>
          </a:prstGeom>
        </p:spPr>
        <p:style>
          <a:lnRef idx="2">
            <a:schemeClr val="accent4"/>
          </a:lnRef>
          <a:fillRef idx="0">
            <a:schemeClr val="accent4"/>
          </a:fillRef>
          <a:effectRef idx="1">
            <a:schemeClr val="accent4"/>
          </a:effectRef>
          <a:fontRef idx="minor">
            <a:schemeClr val="tx1"/>
          </a:fontRef>
        </p:style>
      </p:cxnSp>
      <p:cxnSp>
        <p:nvCxnSpPr>
          <p:cNvPr id="82" name="Straight Connector 81"/>
          <p:cNvCxnSpPr/>
          <p:nvPr/>
        </p:nvCxnSpPr>
        <p:spPr>
          <a:xfrm>
            <a:off x="3587751" y="2471738"/>
            <a:ext cx="1484313"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84" name="Straight Arrow Connector 83"/>
          <p:cNvCxnSpPr/>
          <p:nvPr/>
        </p:nvCxnSpPr>
        <p:spPr>
          <a:xfrm flipV="1">
            <a:off x="5081588" y="1995488"/>
            <a:ext cx="0" cy="47625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04" name="Rectangle 103"/>
          <p:cNvSpPr/>
          <p:nvPr/>
        </p:nvSpPr>
        <p:spPr>
          <a:xfrm>
            <a:off x="3775075" y="3662363"/>
            <a:ext cx="704850" cy="1333500"/>
          </a:xfrm>
          <a:prstGeom prst="rect">
            <a:avLst/>
          </a:prstGeom>
          <a:noFill/>
          <a:ln>
            <a:solidFill>
              <a:schemeClr val="tx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800" kern="0" dirty="0">
                <a:solidFill>
                  <a:srgbClr val="1E4191"/>
                </a:solidFill>
              </a:rPr>
              <a:t>Comb.  transfer function</a:t>
            </a:r>
          </a:p>
          <a:p>
            <a:pPr algn="ctr">
              <a:defRPr/>
            </a:pPr>
            <a:r>
              <a:rPr lang="en-US" sz="800" kern="0" dirty="0">
                <a:solidFill>
                  <a:srgbClr val="1E4191"/>
                </a:solidFill>
              </a:rPr>
              <a:t>MODE Y</a:t>
            </a:r>
          </a:p>
          <a:p>
            <a:pPr algn="ctr">
              <a:defRPr/>
            </a:pPr>
            <a:endParaRPr lang="en-US" sz="800" kern="0" dirty="0">
              <a:solidFill>
                <a:srgbClr val="1E4191"/>
              </a:solidFill>
            </a:endParaRPr>
          </a:p>
        </p:txBody>
      </p:sp>
      <p:grpSp>
        <p:nvGrpSpPr>
          <p:cNvPr id="29718" name="Group 104"/>
          <p:cNvGrpSpPr>
            <a:grpSpLocks/>
          </p:cNvGrpSpPr>
          <p:nvPr/>
        </p:nvGrpSpPr>
        <p:grpSpPr bwMode="auto">
          <a:xfrm>
            <a:off x="3003550" y="4462464"/>
            <a:ext cx="304800" cy="295275"/>
            <a:chOff x="1543050" y="1847850"/>
            <a:chExt cx="304800" cy="295275"/>
          </a:xfrm>
        </p:grpSpPr>
        <p:sp>
          <p:nvSpPr>
            <p:cNvPr id="106" name="Rectangle 105"/>
            <p:cNvSpPr/>
            <p:nvPr/>
          </p:nvSpPr>
          <p:spPr>
            <a:xfrm>
              <a:off x="1543050" y="1847850"/>
              <a:ext cx="304800" cy="295275"/>
            </a:xfrm>
            <a:prstGeom prst="rect">
              <a:avLst/>
            </a:prstGeom>
            <a:ln>
              <a:prstDash val="sysDash"/>
              <a:tailEnd type="triangle"/>
            </a:ln>
          </p:spPr>
          <p:style>
            <a:lnRef idx="2">
              <a:schemeClr val="accent2"/>
            </a:lnRef>
            <a:fillRef idx="0">
              <a:schemeClr val="accent2"/>
            </a:fillRef>
            <a:effectRef idx="1">
              <a:schemeClr val="accent2"/>
            </a:effectRef>
            <a:fontRef idx="minor">
              <a:schemeClr val="tx1"/>
            </a:fontRef>
          </p:style>
          <p:txBody>
            <a:bodyPr anchor="ctr"/>
            <a:lstStyle/>
            <a:p>
              <a:pPr algn="ctr">
                <a:defRPr/>
              </a:pPr>
              <a:endParaRPr lang="en-US" sz="3200" kern="0">
                <a:solidFill>
                  <a:srgbClr val="1E4191"/>
                </a:solidFill>
              </a:endParaRPr>
            </a:p>
          </p:txBody>
        </p:sp>
        <p:sp>
          <p:nvSpPr>
            <p:cNvPr id="107" name="Oval 106"/>
            <p:cNvSpPr/>
            <p:nvPr/>
          </p:nvSpPr>
          <p:spPr>
            <a:xfrm>
              <a:off x="1673225" y="1847850"/>
              <a:ext cx="46038" cy="46037"/>
            </a:xfrm>
            <a:prstGeom prst="ellipse">
              <a:avLst/>
            </a:prstGeom>
            <a:ln>
              <a:prstDash val="sysDash"/>
              <a:tailEnd type="triangle"/>
            </a:ln>
          </p:spPr>
          <p:style>
            <a:lnRef idx="2">
              <a:schemeClr val="accent2"/>
            </a:lnRef>
            <a:fillRef idx="0">
              <a:schemeClr val="accent2"/>
            </a:fillRef>
            <a:effectRef idx="1">
              <a:schemeClr val="accent2"/>
            </a:effectRef>
            <a:fontRef idx="minor">
              <a:schemeClr val="tx1"/>
            </a:fontRef>
          </p:style>
          <p:txBody>
            <a:bodyPr anchor="ctr"/>
            <a:lstStyle/>
            <a:p>
              <a:pPr algn="ctr">
                <a:defRPr/>
              </a:pPr>
              <a:endParaRPr lang="en-US" sz="3200" kern="0">
                <a:solidFill>
                  <a:srgbClr val="1E4191"/>
                </a:solidFill>
              </a:endParaRPr>
            </a:p>
          </p:txBody>
        </p:sp>
        <p:sp>
          <p:nvSpPr>
            <p:cNvPr id="108" name="Oval 107"/>
            <p:cNvSpPr/>
            <p:nvPr/>
          </p:nvSpPr>
          <p:spPr>
            <a:xfrm>
              <a:off x="1665288" y="2097087"/>
              <a:ext cx="44450" cy="46038"/>
            </a:xfrm>
            <a:prstGeom prst="ellipse">
              <a:avLst/>
            </a:prstGeom>
            <a:ln>
              <a:prstDash val="sysDash"/>
              <a:tailEnd type="triangle"/>
            </a:ln>
          </p:spPr>
          <p:style>
            <a:lnRef idx="2">
              <a:schemeClr val="accent2"/>
            </a:lnRef>
            <a:fillRef idx="0">
              <a:schemeClr val="accent2"/>
            </a:fillRef>
            <a:effectRef idx="1">
              <a:schemeClr val="accent2"/>
            </a:effectRef>
            <a:fontRef idx="minor">
              <a:schemeClr val="tx1"/>
            </a:fontRef>
          </p:style>
          <p:txBody>
            <a:bodyPr anchor="ctr"/>
            <a:lstStyle/>
            <a:p>
              <a:pPr algn="ctr">
                <a:defRPr/>
              </a:pPr>
              <a:endParaRPr lang="en-US" sz="3200" kern="0">
                <a:solidFill>
                  <a:srgbClr val="1E4191"/>
                </a:solidFill>
              </a:endParaRPr>
            </a:p>
          </p:txBody>
        </p:sp>
        <p:cxnSp>
          <p:nvCxnSpPr>
            <p:cNvPr id="109" name="Straight Connector 108"/>
            <p:cNvCxnSpPr>
              <a:stCxn id="106" idx="3"/>
              <a:endCxn id="108" idx="7"/>
            </p:cNvCxnSpPr>
            <p:nvPr/>
          </p:nvCxnSpPr>
          <p:spPr>
            <a:xfrm flipH="1">
              <a:off x="1703388" y="1995487"/>
              <a:ext cx="144462" cy="107950"/>
            </a:xfrm>
            <a:prstGeom prst="line">
              <a:avLst/>
            </a:prstGeom>
            <a:ln>
              <a:prstDash val="sysDash"/>
              <a:tailEnd type="triangle"/>
            </a:ln>
          </p:spPr>
          <p:style>
            <a:lnRef idx="2">
              <a:schemeClr val="accent2"/>
            </a:lnRef>
            <a:fillRef idx="0">
              <a:schemeClr val="accent2"/>
            </a:fillRef>
            <a:effectRef idx="1">
              <a:schemeClr val="accent2"/>
            </a:effectRef>
            <a:fontRef idx="minor">
              <a:schemeClr val="tx1"/>
            </a:fontRef>
          </p:style>
        </p:cxnSp>
      </p:grpSp>
      <p:cxnSp>
        <p:nvCxnSpPr>
          <p:cNvPr id="110" name="Straight Connector 109"/>
          <p:cNvCxnSpPr>
            <a:stCxn id="106" idx="3"/>
          </p:cNvCxnSpPr>
          <p:nvPr/>
        </p:nvCxnSpPr>
        <p:spPr>
          <a:xfrm>
            <a:off x="3308350" y="4610100"/>
            <a:ext cx="438150" cy="0"/>
          </a:xfrm>
          <a:prstGeom prst="line">
            <a:avLst/>
          </a:prstGeom>
          <a:ln>
            <a:prstDash val="sysDash"/>
            <a:tailEnd type="triangle"/>
          </a:ln>
        </p:spPr>
        <p:style>
          <a:lnRef idx="2">
            <a:schemeClr val="accent2"/>
          </a:lnRef>
          <a:fillRef idx="0">
            <a:schemeClr val="accent2"/>
          </a:fillRef>
          <a:effectRef idx="1">
            <a:schemeClr val="accent2"/>
          </a:effectRef>
          <a:fontRef idx="minor">
            <a:schemeClr val="tx1"/>
          </a:fontRef>
        </p:style>
      </p:cxnSp>
      <p:sp>
        <p:nvSpPr>
          <p:cNvPr id="111" name="Rectangle 110"/>
          <p:cNvSpPr/>
          <p:nvPr/>
        </p:nvSpPr>
        <p:spPr>
          <a:xfrm>
            <a:off x="4994276" y="3795714"/>
            <a:ext cx="1038225" cy="814387"/>
          </a:xfrm>
          <a:prstGeom prst="rect">
            <a:avLst/>
          </a:prstGeom>
          <a:noFill/>
          <a:ln>
            <a:solidFill>
              <a:schemeClr val="tx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800" kern="0" dirty="0">
                <a:solidFill>
                  <a:srgbClr val="1E4191"/>
                </a:solidFill>
                <a:effectLst>
                  <a:outerShdw blurRad="38100" dist="38100" dir="2700000" algn="tl">
                    <a:srgbClr val="000000">
                      <a:alpha val="43137"/>
                    </a:srgbClr>
                  </a:outerShdw>
                </a:effectLst>
              </a:rPr>
              <a:t>PI  REG</a:t>
            </a:r>
          </a:p>
        </p:txBody>
      </p:sp>
      <p:sp>
        <p:nvSpPr>
          <p:cNvPr id="112" name="Rectangle 111"/>
          <p:cNvSpPr/>
          <p:nvPr/>
        </p:nvSpPr>
        <p:spPr>
          <a:xfrm>
            <a:off x="6232525" y="3795714"/>
            <a:ext cx="647700" cy="814387"/>
          </a:xfrm>
          <a:prstGeom prst="rect">
            <a:avLst/>
          </a:prstGeom>
          <a:noFill/>
          <a:ln>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800" kern="0" dirty="0">
                <a:solidFill>
                  <a:srgbClr val="1E4191"/>
                </a:solidFill>
              </a:rPr>
              <a:t>Priority Selection logic</a:t>
            </a:r>
          </a:p>
        </p:txBody>
      </p:sp>
      <p:cxnSp>
        <p:nvCxnSpPr>
          <p:cNvPr id="113" name="Straight Arrow Connector 112"/>
          <p:cNvCxnSpPr>
            <a:endCxn id="111" idx="1"/>
          </p:cNvCxnSpPr>
          <p:nvPr/>
        </p:nvCxnSpPr>
        <p:spPr>
          <a:xfrm>
            <a:off x="4486275" y="4202113"/>
            <a:ext cx="508000" cy="0"/>
          </a:xfrm>
          <a:prstGeom prst="straightConnector1">
            <a:avLst/>
          </a:prstGeom>
          <a:ln>
            <a:prstDash val="sysDash"/>
            <a:tailEnd type="triangle"/>
          </a:ln>
        </p:spPr>
        <p:style>
          <a:lnRef idx="2">
            <a:schemeClr val="accent2"/>
          </a:lnRef>
          <a:fillRef idx="0">
            <a:schemeClr val="accent2"/>
          </a:fillRef>
          <a:effectRef idx="1">
            <a:schemeClr val="accent2"/>
          </a:effectRef>
          <a:fontRef idx="minor">
            <a:schemeClr val="tx1"/>
          </a:fontRef>
        </p:style>
      </p:cxnSp>
      <p:cxnSp>
        <p:nvCxnSpPr>
          <p:cNvPr id="114" name="Straight Arrow Connector 113"/>
          <p:cNvCxnSpPr>
            <a:stCxn id="111" idx="3"/>
            <a:endCxn id="112" idx="1"/>
          </p:cNvCxnSpPr>
          <p:nvPr/>
        </p:nvCxnSpPr>
        <p:spPr>
          <a:xfrm>
            <a:off x="6032501" y="4202113"/>
            <a:ext cx="200025" cy="0"/>
          </a:xfrm>
          <a:prstGeom prst="straightConnector1">
            <a:avLst/>
          </a:prstGeom>
          <a:ln>
            <a:prstDash val="sysDash"/>
            <a:tailEnd type="triangle"/>
          </a:ln>
        </p:spPr>
        <p:style>
          <a:lnRef idx="2">
            <a:schemeClr val="accent2"/>
          </a:lnRef>
          <a:fillRef idx="0">
            <a:schemeClr val="accent2"/>
          </a:fillRef>
          <a:effectRef idx="1">
            <a:schemeClr val="accent2"/>
          </a:effectRef>
          <a:fontRef idx="minor">
            <a:schemeClr val="tx1"/>
          </a:fontRef>
        </p:style>
      </p:cxnSp>
      <p:cxnSp>
        <p:nvCxnSpPr>
          <p:cNvPr id="115" name="Elbow Connector 114"/>
          <p:cNvCxnSpPr>
            <a:stCxn id="112" idx="3"/>
            <a:endCxn id="106" idx="2"/>
          </p:cNvCxnSpPr>
          <p:nvPr/>
        </p:nvCxnSpPr>
        <p:spPr>
          <a:xfrm flipH="1">
            <a:off x="3155951" y="4202114"/>
            <a:ext cx="3724275" cy="555625"/>
          </a:xfrm>
          <a:prstGeom prst="bentConnector4">
            <a:avLst>
              <a:gd name="adj1" fmla="val -6138"/>
              <a:gd name="adj2" fmla="val 190987"/>
            </a:avLst>
          </a:prstGeom>
          <a:ln>
            <a:prstDash val="sysDash"/>
            <a:tailEnd type="triangle"/>
          </a:ln>
        </p:spPr>
        <p:style>
          <a:lnRef idx="2">
            <a:schemeClr val="accent2"/>
          </a:lnRef>
          <a:fillRef idx="0">
            <a:schemeClr val="accent2"/>
          </a:fillRef>
          <a:effectRef idx="1">
            <a:schemeClr val="accent2"/>
          </a:effectRef>
          <a:fontRef idx="minor">
            <a:schemeClr val="tx1"/>
          </a:fontRef>
        </p:style>
      </p:cxnSp>
      <p:cxnSp>
        <p:nvCxnSpPr>
          <p:cNvPr id="116" name="Straight Connector 115"/>
          <p:cNvCxnSpPr/>
          <p:nvPr/>
        </p:nvCxnSpPr>
        <p:spPr>
          <a:xfrm>
            <a:off x="3514725" y="4610100"/>
            <a:ext cx="0" cy="476250"/>
          </a:xfrm>
          <a:prstGeom prst="line">
            <a:avLst/>
          </a:prstGeom>
          <a:ln>
            <a:prstDash val="sysDash"/>
            <a:tailEnd type="triangle"/>
          </a:ln>
        </p:spPr>
        <p:style>
          <a:lnRef idx="2">
            <a:schemeClr val="accent2"/>
          </a:lnRef>
          <a:fillRef idx="0">
            <a:schemeClr val="accent2"/>
          </a:fillRef>
          <a:effectRef idx="1">
            <a:schemeClr val="accent2"/>
          </a:effectRef>
          <a:fontRef idx="minor">
            <a:schemeClr val="tx1"/>
          </a:fontRef>
        </p:style>
      </p:cxnSp>
      <p:cxnSp>
        <p:nvCxnSpPr>
          <p:cNvPr id="117" name="Straight Connector 116"/>
          <p:cNvCxnSpPr/>
          <p:nvPr/>
        </p:nvCxnSpPr>
        <p:spPr>
          <a:xfrm>
            <a:off x="3524251" y="5086350"/>
            <a:ext cx="1484313" cy="0"/>
          </a:xfrm>
          <a:prstGeom prst="line">
            <a:avLst/>
          </a:prstGeom>
          <a:ln>
            <a:prstDash val="sysDash"/>
            <a:tailEnd type="triangle"/>
          </a:ln>
        </p:spPr>
        <p:style>
          <a:lnRef idx="2">
            <a:schemeClr val="accent2"/>
          </a:lnRef>
          <a:fillRef idx="0">
            <a:schemeClr val="accent2"/>
          </a:fillRef>
          <a:effectRef idx="1">
            <a:schemeClr val="accent2"/>
          </a:effectRef>
          <a:fontRef idx="minor">
            <a:schemeClr val="tx1"/>
          </a:fontRef>
        </p:style>
      </p:cxnSp>
      <p:cxnSp>
        <p:nvCxnSpPr>
          <p:cNvPr id="118" name="Straight Arrow Connector 117"/>
          <p:cNvCxnSpPr/>
          <p:nvPr/>
        </p:nvCxnSpPr>
        <p:spPr>
          <a:xfrm flipV="1">
            <a:off x="5018088" y="4610100"/>
            <a:ext cx="0" cy="476250"/>
          </a:xfrm>
          <a:prstGeom prst="straightConnector1">
            <a:avLst/>
          </a:prstGeom>
          <a:ln>
            <a:prstDash val="sysDash"/>
            <a:tailEnd type="triangle"/>
          </a:ln>
        </p:spPr>
        <p:style>
          <a:lnRef idx="2">
            <a:schemeClr val="accent2"/>
          </a:lnRef>
          <a:fillRef idx="0">
            <a:schemeClr val="accent2"/>
          </a:fillRef>
          <a:effectRef idx="1">
            <a:schemeClr val="accent2"/>
          </a:effectRef>
          <a:fontRef idx="minor">
            <a:schemeClr val="tx1"/>
          </a:fontRef>
        </p:style>
      </p:cxnSp>
      <p:sp>
        <p:nvSpPr>
          <p:cNvPr id="141" name="Rounded Rectangle 140"/>
          <p:cNvSpPr/>
          <p:nvPr/>
        </p:nvSpPr>
        <p:spPr>
          <a:xfrm>
            <a:off x="8324850" y="1941514"/>
            <a:ext cx="838200" cy="1006475"/>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a:defRPr/>
            </a:pPr>
            <a:r>
              <a:rPr lang="en-US" sz="1000" kern="0" dirty="0">
                <a:solidFill>
                  <a:srgbClr val="1E4191"/>
                </a:solidFill>
              </a:rPr>
              <a:t>SLEW LOGIC</a:t>
            </a:r>
          </a:p>
        </p:txBody>
      </p:sp>
      <p:cxnSp>
        <p:nvCxnSpPr>
          <p:cNvPr id="144" name="Elbow Connector 143"/>
          <p:cNvCxnSpPr>
            <a:stCxn id="56" idx="3"/>
          </p:cNvCxnSpPr>
          <p:nvPr/>
        </p:nvCxnSpPr>
        <p:spPr>
          <a:xfrm>
            <a:off x="6943726" y="1589089"/>
            <a:ext cx="1381125" cy="644525"/>
          </a:xfrm>
          <a:prstGeom prst="bentConnector3">
            <a:avLst/>
          </a:prstGeom>
          <a:ln>
            <a:tailEnd type="arrow"/>
          </a:ln>
        </p:spPr>
        <p:style>
          <a:lnRef idx="2">
            <a:schemeClr val="accent4"/>
          </a:lnRef>
          <a:fillRef idx="0">
            <a:schemeClr val="accent4"/>
          </a:fillRef>
          <a:effectRef idx="1">
            <a:schemeClr val="accent4"/>
          </a:effectRef>
          <a:fontRef idx="minor">
            <a:schemeClr val="tx1"/>
          </a:fontRef>
        </p:style>
      </p:cxnSp>
      <p:sp>
        <p:nvSpPr>
          <p:cNvPr id="153" name="TextBox 152"/>
          <p:cNvSpPr txBox="1"/>
          <p:nvPr/>
        </p:nvSpPr>
        <p:spPr>
          <a:xfrm>
            <a:off x="6096001" y="2157413"/>
            <a:ext cx="993775" cy="400050"/>
          </a:xfrm>
          <a:prstGeom prst="rect">
            <a:avLst/>
          </a:prstGeom>
          <a:noFill/>
        </p:spPr>
        <p:txBody>
          <a:bodyPr wrap="none">
            <a:spAutoFit/>
          </a:bodyPr>
          <a:lstStyle/>
          <a:p>
            <a:pPr>
              <a:defRPr/>
            </a:pPr>
            <a:r>
              <a:rPr lang="en-US" sz="2000" kern="0" dirty="0">
                <a:solidFill>
                  <a:srgbClr val="FF6600">
                    <a:lumMod val="75000"/>
                  </a:srgbClr>
                </a:solidFill>
                <a:effectLst>
                  <a:outerShdw blurRad="38100" dist="38100" dir="2700000" algn="tl">
                    <a:srgbClr val="000000">
                      <a:alpha val="43137"/>
                    </a:srgbClr>
                  </a:outerShdw>
                </a:effectLst>
                <a:latin typeface="GE Inspira Pitch" pitchFamily="34" charset="0"/>
              </a:rPr>
              <a:t>Mode X</a:t>
            </a:r>
          </a:p>
        </p:txBody>
      </p:sp>
      <p:cxnSp>
        <p:nvCxnSpPr>
          <p:cNvPr id="21" name="Elbow Connector 20"/>
          <p:cNvCxnSpPr>
            <a:stCxn id="112" idx="3"/>
          </p:cNvCxnSpPr>
          <p:nvPr/>
        </p:nvCxnSpPr>
        <p:spPr>
          <a:xfrm flipV="1">
            <a:off x="6880226" y="2771775"/>
            <a:ext cx="1444625" cy="1430338"/>
          </a:xfrm>
          <a:prstGeom prst="bentConnector3">
            <a:avLst>
              <a:gd name="adj1" fmla="val 64500"/>
            </a:avLst>
          </a:prstGeom>
          <a:ln>
            <a:prstDash val="sysDash"/>
            <a:tailEnd type="triangle"/>
          </a:ln>
        </p:spPr>
        <p:style>
          <a:lnRef idx="2">
            <a:schemeClr val="accent2"/>
          </a:lnRef>
          <a:fillRef idx="0">
            <a:schemeClr val="accent2"/>
          </a:fillRef>
          <a:effectRef idx="1">
            <a:schemeClr val="accent2"/>
          </a:effectRef>
          <a:fontRef idx="minor">
            <a:schemeClr val="tx1"/>
          </a:fontRef>
        </p:style>
      </p:cxnSp>
      <p:cxnSp>
        <p:nvCxnSpPr>
          <p:cNvPr id="32" name="Straight Arrow Connector 31"/>
          <p:cNvCxnSpPr>
            <a:stCxn id="141" idx="3"/>
          </p:cNvCxnSpPr>
          <p:nvPr/>
        </p:nvCxnSpPr>
        <p:spPr>
          <a:xfrm>
            <a:off x="9163051" y="2444750"/>
            <a:ext cx="638175" cy="0"/>
          </a:xfrm>
          <a:prstGeom prst="straightConnector1">
            <a:avLst/>
          </a:prstGeom>
          <a:ln>
            <a:tailEnd type="arrow"/>
          </a:ln>
        </p:spPr>
        <p:style>
          <a:lnRef idx="2">
            <a:schemeClr val="accent3"/>
          </a:lnRef>
          <a:fillRef idx="0">
            <a:schemeClr val="accent3"/>
          </a:fillRef>
          <a:effectRef idx="1">
            <a:schemeClr val="accent3"/>
          </a:effectRef>
          <a:fontRef idx="minor">
            <a:schemeClr val="tx1"/>
          </a:fontRef>
        </p:style>
      </p:cxnSp>
      <p:sp>
        <p:nvSpPr>
          <p:cNvPr id="29733" name="TextBox 33"/>
          <p:cNvSpPr txBox="1">
            <a:spLocks noChangeArrowheads="1"/>
          </p:cNvSpPr>
          <p:nvPr/>
        </p:nvSpPr>
        <p:spPr bwMode="auto">
          <a:xfrm>
            <a:off x="9239251" y="2198688"/>
            <a:ext cx="4857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1000" b="0" kern="0">
                <a:solidFill>
                  <a:srgbClr val="1E4191"/>
                </a:solidFill>
                <a:latin typeface="GE Inspira Pitch" panose="020F0603030400020203" pitchFamily="34" charset="0"/>
              </a:rPr>
              <a:t>Splits</a:t>
            </a:r>
          </a:p>
        </p:txBody>
      </p:sp>
      <p:sp>
        <p:nvSpPr>
          <p:cNvPr id="35" name="Rectangle 34"/>
          <p:cNvSpPr/>
          <p:nvPr/>
        </p:nvSpPr>
        <p:spPr>
          <a:xfrm>
            <a:off x="3681414" y="2971801"/>
            <a:ext cx="892175" cy="3921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200" kern="0" dirty="0">
                <a:solidFill>
                  <a:srgbClr val="FF6600">
                    <a:lumMod val="75000"/>
                  </a:srgbClr>
                </a:solidFill>
              </a:rPr>
              <a:t>GT model</a:t>
            </a:r>
          </a:p>
        </p:txBody>
      </p:sp>
      <p:cxnSp>
        <p:nvCxnSpPr>
          <p:cNvPr id="40" name="Straight Arrow Connector 39"/>
          <p:cNvCxnSpPr>
            <a:stCxn id="35" idx="0"/>
            <a:endCxn id="3" idx="2"/>
          </p:cNvCxnSpPr>
          <p:nvPr/>
        </p:nvCxnSpPr>
        <p:spPr>
          <a:xfrm flipV="1">
            <a:off x="4127500" y="2381250"/>
            <a:ext cx="6350" cy="5905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5" idx="2"/>
            <a:endCxn id="104" idx="0"/>
          </p:cNvCxnSpPr>
          <p:nvPr/>
        </p:nvCxnSpPr>
        <p:spPr>
          <a:xfrm flipH="1">
            <a:off x="4127500" y="3363913"/>
            <a:ext cx="0" cy="2984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737" name="TextBox 51"/>
          <p:cNvSpPr txBox="1">
            <a:spLocks noChangeArrowheads="1"/>
          </p:cNvSpPr>
          <p:nvPr/>
        </p:nvSpPr>
        <p:spPr bwMode="auto">
          <a:xfrm rot="16200000">
            <a:off x="2021682" y="2380457"/>
            <a:ext cx="6619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1E4191"/>
                </a:solidFill>
                <a:latin typeface="GE Inspira Pitch" panose="020F0603030400020203" pitchFamily="34" charset="0"/>
              </a:rPr>
              <a:t>Corr. Splits</a:t>
            </a:r>
          </a:p>
        </p:txBody>
      </p:sp>
      <p:sp>
        <p:nvSpPr>
          <p:cNvPr id="29738" name="TextBox 102"/>
          <p:cNvSpPr txBox="1">
            <a:spLocks noChangeArrowheads="1"/>
          </p:cNvSpPr>
          <p:nvPr/>
        </p:nvSpPr>
        <p:spPr bwMode="auto">
          <a:xfrm rot="16200000">
            <a:off x="2685257" y="3987007"/>
            <a:ext cx="6619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1E4191"/>
                </a:solidFill>
                <a:latin typeface="GE Inspira Pitch" panose="020F0603030400020203" pitchFamily="34" charset="0"/>
              </a:rPr>
              <a:t>Corr. Splits</a:t>
            </a:r>
          </a:p>
        </p:txBody>
      </p:sp>
      <p:sp>
        <p:nvSpPr>
          <p:cNvPr id="29739" name="TextBox 118"/>
          <p:cNvSpPr txBox="1">
            <a:spLocks noChangeArrowheads="1"/>
          </p:cNvSpPr>
          <p:nvPr/>
        </p:nvSpPr>
        <p:spPr bwMode="auto">
          <a:xfrm>
            <a:off x="6950075" y="1373188"/>
            <a:ext cx="941388"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1E4191"/>
                </a:solidFill>
                <a:latin typeface="GE Inspira Pitch" panose="020F0603030400020203" pitchFamily="34" charset="0"/>
              </a:rPr>
              <a:t>Splits ( in control)</a:t>
            </a:r>
          </a:p>
        </p:txBody>
      </p:sp>
      <p:sp>
        <p:nvSpPr>
          <p:cNvPr id="29740" name="TextBox 119"/>
          <p:cNvSpPr txBox="1">
            <a:spLocks noChangeArrowheads="1"/>
          </p:cNvSpPr>
          <p:nvPr/>
        </p:nvSpPr>
        <p:spPr bwMode="auto">
          <a:xfrm>
            <a:off x="6851650" y="3987801"/>
            <a:ext cx="113665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1E4191"/>
                </a:solidFill>
                <a:latin typeface="GE Inspira Pitch" panose="020F0603030400020203" pitchFamily="34" charset="0"/>
              </a:rPr>
              <a:t>Splits (Not in Control)</a:t>
            </a:r>
          </a:p>
        </p:txBody>
      </p:sp>
      <p:cxnSp>
        <p:nvCxnSpPr>
          <p:cNvPr id="54" name="Straight Arrow Connector 53"/>
          <p:cNvCxnSpPr>
            <a:endCxn id="141" idx="0"/>
          </p:cNvCxnSpPr>
          <p:nvPr/>
        </p:nvCxnSpPr>
        <p:spPr>
          <a:xfrm>
            <a:off x="8743950" y="1373189"/>
            <a:ext cx="0" cy="5683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742" name="TextBox 120"/>
          <p:cNvSpPr txBox="1">
            <a:spLocks noChangeArrowheads="1"/>
          </p:cNvSpPr>
          <p:nvPr/>
        </p:nvSpPr>
        <p:spPr bwMode="auto">
          <a:xfrm>
            <a:off x="8266114" y="1154113"/>
            <a:ext cx="97313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1E4191"/>
                </a:solidFill>
                <a:latin typeface="GE Inspira Pitch" panose="020F0603030400020203" pitchFamily="34" charset="0"/>
              </a:rPr>
              <a:t>Mode select logic</a:t>
            </a:r>
          </a:p>
        </p:txBody>
      </p:sp>
      <p:sp>
        <p:nvSpPr>
          <p:cNvPr id="29743" name="TextBox 137"/>
          <p:cNvSpPr txBox="1">
            <a:spLocks noChangeArrowheads="1"/>
          </p:cNvSpPr>
          <p:nvPr/>
        </p:nvSpPr>
        <p:spPr bwMode="auto">
          <a:xfrm>
            <a:off x="1577975" y="4497388"/>
            <a:ext cx="9731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1E4191"/>
                </a:solidFill>
                <a:latin typeface="GE Inspira Pitch" panose="020F0603030400020203" pitchFamily="34" charset="0"/>
              </a:rPr>
              <a:t>Mode select logic</a:t>
            </a:r>
          </a:p>
        </p:txBody>
      </p:sp>
      <p:cxnSp>
        <p:nvCxnSpPr>
          <p:cNvPr id="57" name="Straight Arrow Connector 56"/>
          <p:cNvCxnSpPr>
            <a:stCxn id="29743" idx="3"/>
            <a:endCxn id="106" idx="1"/>
          </p:cNvCxnSpPr>
          <p:nvPr/>
        </p:nvCxnSpPr>
        <p:spPr>
          <a:xfrm>
            <a:off x="2551114" y="4605338"/>
            <a:ext cx="452437" cy="47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3" name="Elbow Connector 62"/>
          <p:cNvCxnSpPr>
            <a:endCxn id="7" idx="1"/>
          </p:cNvCxnSpPr>
          <p:nvPr/>
        </p:nvCxnSpPr>
        <p:spPr>
          <a:xfrm rot="5400000" flipH="1" flipV="1">
            <a:off x="1614488" y="3157538"/>
            <a:ext cx="2614612" cy="29051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29746" name="TextBox 139"/>
          <p:cNvSpPr txBox="1">
            <a:spLocks noChangeArrowheads="1"/>
          </p:cNvSpPr>
          <p:nvPr/>
        </p:nvSpPr>
        <p:spPr bwMode="auto">
          <a:xfrm>
            <a:off x="5008564" y="1790700"/>
            <a:ext cx="45243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7F130A"/>
                </a:solidFill>
                <a:latin typeface="GE Inspira Pitch" panose="020F0603030400020203" pitchFamily="34" charset="0"/>
              </a:rPr>
              <a:t>Int_IN</a:t>
            </a:r>
          </a:p>
        </p:txBody>
      </p:sp>
      <p:sp>
        <p:nvSpPr>
          <p:cNvPr id="29747" name="TextBox 144"/>
          <p:cNvSpPr txBox="1">
            <a:spLocks noChangeArrowheads="1"/>
          </p:cNvSpPr>
          <p:nvPr/>
        </p:nvSpPr>
        <p:spPr bwMode="auto">
          <a:xfrm rot="16200000">
            <a:off x="5002213" y="2219326"/>
            <a:ext cx="4222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1E4191"/>
                </a:solidFill>
                <a:latin typeface="GE Inspira Pitch" panose="020F0603030400020203" pitchFamily="34" charset="0"/>
              </a:rPr>
              <a:t>Splits</a:t>
            </a:r>
          </a:p>
        </p:txBody>
      </p:sp>
      <p:sp>
        <p:nvSpPr>
          <p:cNvPr id="29748" name="TextBox 146"/>
          <p:cNvSpPr txBox="1">
            <a:spLocks noChangeArrowheads="1"/>
          </p:cNvSpPr>
          <p:nvPr/>
        </p:nvSpPr>
        <p:spPr bwMode="auto">
          <a:xfrm rot="16200000">
            <a:off x="5016501" y="4800601"/>
            <a:ext cx="4222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1E4191"/>
                </a:solidFill>
                <a:latin typeface="GE Inspira Pitch" panose="020F0603030400020203" pitchFamily="34" charset="0"/>
              </a:rPr>
              <a:t>Splits</a:t>
            </a:r>
          </a:p>
        </p:txBody>
      </p:sp>
      <p:sp>
        <p:nvSpPr>
          <p:cNvPr id="29749" name="TextBox 147"/>
          <p:cNvSpPr txBox="1">
            <a:spLocks noChangeArrowheads="1"/>
          </p:cNvSpPr>
          <p:nvPr/>
        </p:nvSpPr>
        <p:spPr bwMode="auto">
          <a:xfrm>
            <a:off x="3133725" y="5273676"/>
            <a:ext cx="113665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1E4191"/>
                </a:solidFill>
                <a:latin typeface="GE Inspira Pitch" panose="020F0603030400020203" pitchFamily="34" charset="0"/>
              </a:rPr>
              <a:t>Splits (Not in Control)</a:t>
            </a:r>
          </a:p>
        </p:txBody>
      </p:sp>
      <p:sp>
        <p:nvSpPr>
          <p:cNvPr id="29750" name="TextBox 149"/>
          <p:cNvSpPr txBox="1">
            <a:spLocks noChangeArrowheads="1"/>
          </p:cNvSpPr>
          <p:nvPr/>
        </p:nvSpPr>
        <p:spPr bwMode="auto">
          <a:xfrm>
            <a:off x="4989513" y="1498600"/>
            <a:ext cx="495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7F130A"/>
                </a:solidFill>
                <a:latin typeface="GE Inspira Pitch" panose="020F0603030400020203" pitchFamily="34" charset="0"/>
              </a:rPr>
              <a:t>Fd.Bck.</a:t>
            </a:r>
          </a:p>
        </p:txBody>
      </p:sp>
      <p:cxnSp>
        <p:nvCxnSpPr>
          <p:cNvPr id="75" name="Elbow Connector 74"/>
          <p:cNvCxnSpPr/>
          <p:nvPr/>
        </p:nvCxnSpPr>
        <p:spPr>
          <a:xfrm>
            <a:off x="4722814" y="1047751"/>
            <a:ext cx="358775" cy="214313"/>
          </a:xfrm>
          <a:prstGeom prst="bentConnector3">
            <a:avLst>
              <a:gd name="adj1" fmla="val -3023"/>
            </a:avLst>
          </a:prstGeom>
          <a:ln>
            <a:tailEnd type="triangle"/>
          </a:ln>
        </p:spPr>
        <p:style>
          <a:lnRef idx="2">
            <a:schemeClr val="accent4"/>
          </a:lnRef>
          <a:fillRef idx="0">
            <a:schemeClr val="accent4"/>
          </a:fillRef>
          <a:effectRef idx="1">
            <a:schemeClr val="accent4"/>
          </a:effectRef>
          <a:fontRef idx="minor">
            <a:schemeClr val="tx1"/>
          </a:fontRef>
        </p:style>
      </p:cxnSp>
      <p:sp>
        <p:nvSpPr>
          <p:cNvPr id="29752" name="TextBox 157"/>
          <p:cNvSpPr txBox="1">
            <a:spLocks noChangeArrowheads="1"/>
          </p:cNvSpPr>
          <p:nvPr/>
        </p:nvSpPr>
        <p:spPr bwMode="auto">
          <a:xfrm>
            <a:off x="5013326" y="1189038"/>
            <a:ext cx="32861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7F130A"/>
                </a:solidFill>
                <a:latin typeface="GE Inspira Pitch" panose="020F0603030400020203" pitchFamily="34" charset="0"/>
              </a:rPr>
              <a:t>Ref</a:t>
            </a:r>
          </a:p>
        </p:txBody>
      </p:sp>
      <p:sp>
        <p:nvSpPr>
          <p:cNvPr id="29753" name="TextBox 158"/>
          <p:cNvSpPr txBox="1">
            <a:spLocks noChangeArrowheads="1"/>
          </p:cNvSpPr>
          <p:nvPr/>
        </p:nvSpPr>
        <p:spPr bwMode="auto">
          <a:xfrm>
            <a:off x="4953000" y="4400550"/>
            <a:ext cx="4524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7F130A"/>
                </a:solidFill>
                <a:latin typeface="GE Inspira Pitch" panose="020F0603030400020203" pitchFamily="34" charset="0"/>
              </a:rPr>
              <a:t>Int_IN</a:t>
            </a:r>
          </a:p>
        </p:txBody>
      </p:sp>
      <p:sp>
        <p:nvSpPr>
          <p:cNvPr id="29754" name="TextBox 159"/>
          <p:cNvSpPr txBox="1">
            <a:spLocks noChangeArrowheads="1"/>
          </p:cNvSpPr>
          <p:nvPr/>
        </p:nvSpPr>
        <p:spPr bwMode="auto">
          <a:xfrm>
            <a:off x="4933950" y="4108450"/>
            <a:ext cx="4953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7F130A"/>
                </a:solidFill>
                <a:latin typeface="GE Inspira Pitch" panose="020F0603030400020203" pitchFamily="34" charset="0"/>
              </a:rPr>
              <a:t>Fd.Bck.</a:t>
            </a:r>
          </a:p>
        </p:txBody>
      </p:sp>
      <p:sp>
        <p:nvSpPr>
          <p:cNvPr id="29755" name="TextBox 160"/>
          <p:cNvSpPr txBox="1">
            <a:spLocks noChangeArrowheads="1"/>
          </p:cNvSpPr>
          <p:nvPr/>
        </p:nvSpPr>
        <p:spPr bwMode="auto">
          <a:xfrm>
            <a:off x="4957764" y="3798888"/>
            <a:ext cx="3270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GE Inspira" panose="020F0603030400020203" pitchFamily="34" charset="0"/>
              </a:defRPr>
            </a:lvl1pPr>
            <a:lvl2pPr marL="742950" indent="-285750">
              <a:defRPr sz="2800" b="1">
                <a:solidFill>
                  <a:schemeClr val="tx1"/>
                </a:solidFill>
                <a:latin typeface="GE Inspira" panose="020F0603030400020203" pitchFamily="34" charset="0"/>
              </a:defRPr>
            </a:lvl2pPr>
            <a:lvl3pPr marL="1143000" indent="-228600">
              <a:defRPr sz="2800" b="1">
                <a:solidFill>
                  <a:schemeClr val="tx1"/>
                </a:solidFill>
                <a:latin typeface="GE Inspira" panose="020F0603030400020203" pitchFamily="34" charset="0"/>
              </a:defRPr>
            </a:lvl3pPr>
            <a:lvl4pPr marL="1600200" indent="-228600">
              <a:defRPr sz="2800" b="1">
                <a:solidFill>
                  <a:schemeClr val="tx1"/>
                </a:solidFill>
                <a:latin typeface="GE Inspira" panose="020F0603030400020203" pitchFamily="34" charset="0"/>
              </a:defRPr>
            </a:lvl4pPr>
            <a:lvl5pPr marL="2057400" indent="-228600">
              <a:defRPr sz="2800" b="1">
                <a:solidFill>
                  <a:schemeClr val="tx1"/>
                </a:solidFill>
                <a:latin typeface="GE Inspira" panose="020F0603030400020203" pitchFamily="34" charset="0"/>
              </a:defRPr>
            </a:lvl5pPr>
            <a:lvl6pPr marL="2514600" indent="-228600" eaLnBrk="0" fontAlgn="base" hangingPunct="0">
              <a:spcBef>
                <a:spcPct val="0"/>
              </a:spcBef>
              <a:spcAft>
                <a:spcPct val="0"/>
              </a:spcAft>
              <a:defRPr sz="2800" b="1">
                <a:solidFill>
                  <a:schemeClr val="tx1"/>
                </a:solidFill>
                <a:latin typeface="GE Inspira" panose="020F0603030400020203" pitchFamily="34" charset="0"/>
              </a:defRPr>
            </a:lvl6pPr>
            <a:lvl7pPr marL="2971800" indent="-228600" eaLnBrk="0" fontAlgn="base" hangingPunct="0">
              <a:spcBef>
                <a:spcPct val="0"/>
              </a:spcBef>
              <a:spcAft>
                <a:spcPct val="0"/>
              </a:spcAft>
              <a:defRPr sz="2800" b="1">
                <a:solidFill>
                  <a:schemeClr val="tx1"/>
                </a:solidFill>
                <a:latin typeface="GE Inspira" panose="020F0603030400020203" pitchFamily="34" charset="0"/>
              </a:defRPr>
            </a:lvl7pPr>
            <a:lvl8pPr marL="3429000" indent="-228600" eaLnBrk="0" fontAlgn="base" hangingPunct="0">
              <a:spcBef>
                <a:spcPct val="0"/>
              </a:spcBef>
              <a:spcAft>
                <a:spcPct val="0"/>
              </a:spcAft>
              <a:defRPr sz="2800" b="1">
                <a:solidFill>
                  <a:schemeClr val="tx1"/>
                </a:solidFill>
                <a:latin typeface="GE Inspira" panose="020F0603030400020203" pitchFamily="34" charset="0"/>
              </a:defRPr>
            </a:lvl8pPr>
            <a:lvl9pPr marL="3886200" indent="-228600" eaLnBrk="0" fontAlgn="base" hangingPunct="0">
              <a:spcBef>
                <a:spcPct val="0"/>
              </a:spcBef>
              <a:spcAft>
                <a:spcPct val="0"/>
              </a:spcAft>
              <a:defRPr sz="2800" b="1">
                <a:solidFill>
                  <a:schemeClr val="tx1"/>
                </a:solidFill>
                <a:latin typeface="GE Inspira" panose="020F0603030400020203" pitchFamily="34" charset="0"/>
              </a:defRPr>
            </a:lvl9pPr>
          </a:lstStyle>
          <a:p>
            <a:r>
              <a:rPr lang="en-US" altLang="en-US" sz="800" b="0" kern="0">
                <a:solidFill>
                  <a:srgbClr val="7F130A"/>
                </a:solidFill>
                <a:latin typeface="GE Inspira Pitch" panose="020F0603030400020203" pitchFamily="34" charset="0"/>
              </a:rPr>
              <a:t>Ref</a:t>
            </a:r>
          </a:p>
        </p:txBody>
      </p:sp>
      <p:cxnSp>
        <p:nvCxnSpPr>
          <p:cNvPr id="162" name="Elbow Connector 161"/>
          <p:cNvCxnSpPr/>
          <p:nvPr/>
        </p:nvCxnSpPr>
        <p:spPr>
          <a:xfrm>
            <a:off x="4648201" y="3689351"/>
            <a:ext cx="360363" cy="212725"/>
          </a:xfrm>
          <a:prstGeom prst="bentConnector3">
            <a:avLst>
              <a:gd name="adj1" fmla="val -3023"/>
            </a:avLst>
          </a:prstGeom>
          <a:ln>
            <a:prstDash val="sysDash"/>
            <a:tailEnd type="triangle"/>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p:nvPr/>
        </p:nvCxnSpPr>
        <p:spPr>
          <a:xfrm flipV="1">
            <a:off x="2065338" y="3495676"/>
            <a:ext cx="0" cy="1936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9221108"/>
      </p:ext>
    </p:extLst>
  </p:cSld>
  <p:clrMapOvr>
    <a:masterClrMapping/>
  </p:clrMapOvr>
</p:sld>
</file>

<file path=ppt/theme/theme1.xml><?xml version="1.0" encoding="utf-8"?>
<a:theme xmlns:a="http://schemas.openxmlformats.org/drawingml/2006/main" name="GE">
  <a:themeElements>
    <a:clrScheme name="GE Office Colors">
      <a:dk1>
        <a:srgbClr val="63666A"/>
      </a:dk1>
      <a:lt1>
        <a:sysClr val="window" lastClr="FFFFFF"/>
      </a:lt1>
      <a:dk2>
        <a:srgbClr val="B1B3B3"/>
      </a:dk2>
      <a:lt2>
        <a:srgbClr val="F0F0F0"/>
      </a:lt2>
      <a:accent1>
        <a:srgbClr val="005EB8"/>
      </a:accent1>
      <a:accent2>
        <a:srgbClr val="63666A"/>
      </a:accent2>
      <a:accent3>
        <a:srgbClr val="00B5E2"/>
      </a:accent3>
      <a:accent4>
        <a:srgbClr val="13294B"/>
      </a:accent4>
      <a:accent5>
        <a:srgbClr val="B1B3B3"/>
      </a:accent5>
      <a:accent6>
        <a:srgbClr val="00BF6F"/>
      </a:accent6>
      <a:hlink>
        <a:srgbClr val="005CB9"/>
      </a:hlink>
      <a:folHlink>
        <a:srgbClr val="00B5E2"/>
      </a:folHlink>
    </a:clrScheme>
    <a:fontScheme name="GE Office Fonts">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noFill/>
        <a:ln w="28575">
          <a:solidFill>
            <a:schemeClr val="accent2"/>
          </a:solidFill>
          <a:miter lim="800000"/>
        </a:ln>
      </a:spPr>
      <a:bodyPr/>
      <a:lstStyle/>
      <a:style>
        <a:lnRef idx="2">
          <a:schemeClr val="accent1">
            <a:shade val="50000"/>
          </a:schemeClr>
        </a:lnRef>
        <a:fillRef idx="1">
          <a:schemeClr val="accent1"/>
        </a:fillRef>
        <a:effectRef idx="0">
          <a:schemeClr val="accent1"/>
        </a:effectRef>
        <a:fontRef idx="minor">
          <a:schemeClr val="lt1"/>
        </a:fontRef>
      </a:style>
    </a:ln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LAN078_GE PPT Template_20170209.potx" id="{8CA604AB-6D9E-4A19-B7A7-661F739B82EA}" vid="{4E0DEC38-8374-4557-A90F-AE3637968592}"/>
    </a:ext>
  </a:extLst>
</a:theme>
</file>

<file path=ppt/theme/theme2.xml><?xml version="1.0" encoding="utf-8"?>
<a:theme xmlns:a="http://schemas.openxmlformats.org/drawingml/2006/main" name="blank">
  <a:themeElements>
    <a:clrScheme name="GE Colour Palette">
      <a:dk1>
        <a:srgbClr val="1E4191"/>
      </a:dk1>
      <a:lt1>
        <a:srgbClr val="FFFFFF"/>
      </a:lt1>
      <a:dk2>
        <a:srgbClr val="FF6600"/>
      </a:dk2>
      <a:lt2>
        <a:srgbClr val="EE3324"/>
      </a:lt2>
      <a:accent1>
        <a:srgbClr val="711371"/>
      </a:accent1>
      <a:accent2>
        <a:srgbClr val="28B9F5"/>
      </a:accent2>
      <a:accent3>
        <a:srgbClr val="00AA50"/>
      </a:accent3>
      <a:accent4>
        <a:srgbClr val="CD0078"/>
      </a:accent4>
      <a:accent5>
        <a:srgbClr val="76B900"/>
      </a:accent5>
      <a:accent6>
        <a:srgbClr val="EBD70A"/>
      </a:accent6>
      <a:hlink>
        <a:srgbClr val="EE3324"/>
      </a:hlink>
      <a:folHlink>
        <a:srgbClr val="EE3324"/>
      </a:folHlink>
    </a:clrScheme>
    <a:fontScheme name="GE Fonts">
      <a:majorFont>
        <a:latin typeface="GE Inspira Pitch"/>
        <a:ea typeface=""/>
        <a:cs typeface=""/>
      </a:majorFont>
      <a:minorFont>
        <a:latin typeface="GE Inspira Pitch"/>
        <a:ea typeface=""/>
        <a:cs typeface=""/>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GE Colors">
      <a:dk1>
        <a:sysClr val="windowText" lastClr="000000"/>
      </a:dk1>
      <a:lt1>
        <a:sysClr val="window" lastClr="FFFFFF"/>
      </a:lt1>
      <a:dk2>
        <a:srgbClr val="B1B3B3"/>
      </a:dk2>
      <a:lt2>
        <a:srgbClr val="F0F0F0"/>
      </a:lt2>
      <a:accent1>
        <a:srgbClr val="005CB9"/>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GE Colors">
      <a:dk1>
        <a:sysClr val="windowText" lastClr="000000"/>
      </a:dk1>
      <a:lt1>
        <a:sysClr val="window" lastClr="FFFFFF"/>
      </a:lt1>
      <a:dk2>
        <a:srgbClr val="B1B3B3"/>
      </a:dk2>
      <a:lt2>
        <a:srgbClr val="F0F0F0"/>
      </a:lt2>
      <a:accent1>
        <a:srgbClr val="005CB9"/>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Template_v2 (wide)_02092017</Template>
  <TotalTime>1473</TotalTime>
  <Words>1846</Words>
  <Application>Microsoft Office PowerPoint</Application>
  <PresentationFormat>Widescreen</PresentationFormat>
  <Paragraphs>566</Paragraphs>
  <Slides>22</Slides>
  <Notes>12</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2" baseType="lpstr">
      <vt:lpstr>Arial</vt:lpstr>
      <vt:lpstr>GE Inspira</vt:lpstr>
      <vt:lpstr>GE Inspira Pitch</vt:lpstr>
      <vt:lpstr>GE Inspira Sans</vt:lpstr>
      <vt:lpstr>Symbol</vt:lpstr>
      <vt:lpstr>Times New Roman</vt:lpstr>
      <vt:lpstr>Wingdings</vt:lpstr>
      <vt:lpstr>GE</vt:lpstr>
      <vt:lpstr>blank</vt:lpstr>
      <vt:lpstr>Equation</vt:lpstr>
      <vt:lpstr>Gas Turbine Model Based Controls</vt:lpstr>
      <vt:lpstr>Objectives</vt:lpstr>
      <vt:lpstr>PowerPoint Presentation</vt:lpstr>
      <vt:lpstr>PowerPoint Presentation</vt:lpstr>
      <vt:lpstr>PowerPoint Presentation</vt:lpstr>
      <vt:lpstr>PowerPoint Presentation</vt:lpstr>
      <vt:lpstr>MBC in GT Controls</vt:lpstr>
      <vt:lpstr>Commonly used GT control loop structure</vt:lpstr>
      <vt:lpstr>PowerPoint Presentation</vt:lpstr>
      <vt:lpstr>PowerPoint Presentation</vt:lpstr>
      <vt:lpstr>Quiz - 1</vt:lpstr>
      <vt:lpstr>Nominal Operation Effector – Loop Sequence Cycle Control</vt:lpstr>
      <vt:lpstr>Quiz - 2</vt:lpstr>
      <vt:lpstr>Model-Reference Adaptive Control</vt:lpstr>
      <vt:lpstr>PowerPoint Presentation</vt:lpstr>
      <vt:lpstr>Model-Based Control v/s CPC</vt:lpstr>
      <vt:lpstr>Load Path to Variable Load Path</vt:lpstr>
      <vt:lpstr>PowerPoint Presentation</vt:lpstr>
      <vt:lpstr>Co-ordinated Air Fuel - CAF</vt:lpstr>
      <vt:lpstr>Feed Forward Calculation</vt:lpstr>
      <vt:lpstr>Mode Transfer Strategy</vt:lpstr>
      <vt:lpstr>Mode Transfer in All Load Autotune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 Turbine Model Based Controls</dc:title>
  <dc:creator>Kalya, Prabhanjana (GE Power)</dc:creator>
  <dc:description>Version 1.08
Job 1437
August 25, 2016</dc:description>
  <cp:lastModifiedBy>Lavigne, Nadine K (GE Power)</cp:lastModifiedBy>
  <cp:revision>54</cp:revision>
  <dcterms:created xsi:type="dcterms:W3CDTF">2017-03-06T08:49:51Z</dcterms:created>
  <dcterms:modified xsi:type="dcterms:W3CDTF">2017-03-07T15:26:56Z</dcterms:modified>
</cp:coreProperties>
</file>