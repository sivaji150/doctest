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1" r:id="rId2"/>
  </p:sldMasterIdLst>
  <p:notesMasterIdLst>
    <p:notesMasterId r:id="rId47"/>
  </p:notesMasterIdLst>
  <p:handoutMasterIdLst>
    <p:handoutMasterId r:id="rId48"/>
  </p:handoutMasterIdLst>
  <p:sldIdLst>
    <p:sldId id="474" r:id="rId3"/>
    <p:sldId id="582" r:id="rId4"/>
    <p:sldId id="583" r:id="rId5"/>
    <p:sldId id="283" r:id="rId6"/>
    <p:sldId id="584" r:id="rId7"/>
    <p:sldId id="586" r:id="rId8"/>
    <p:sldId id="587" r:id="rId9"/>
    <p:sldId id="731" r:id="rId10"/>
    <p:sldId id="590" r:id="rId11"/>
    <p:sldId id="626" r:id="rId12"/>
    <p:sldId id="591" r:id="rId13"/>
    <p:sldId id="592" r:id="rId14"/>
    <p:sldId id="568" r:id="rId15"/>
    <p:sldId id="595" r:id="rId16"/>
    <p:sldId id="581" r:id="rId17"/>
    <p:sldId id="603" r:id="rId18"/>
    <p:sldId id="598" r:id="rId19"/>
    <p:sldId id="599" r:id="rId20"/>
    <p:sldId id="594" r:id="rId21"/>
    <p:sldId id="619" r:id="rId22"/>
    <p:sldId id="605" r:id="rId23"/>
    <p:sldId id="621" r:id="rId24"/>
    <p:sldId id="608" r:id="rId25"/>
    <p:sldId id="622" r:id="rId26"/>
    <p:sldId id="623" r:id="rId27"/>
    <p:sldId id="615" r:id="rId28"/>
    <p:sldId id="624" r:id="rId29"/>
    <p:sldId id="625" r:id="rId30"/>
    <p:sldId id="616" r:id="rId31"/>
    <p:sldId id="617" r:id="rId32"/>
    <p:sldId id="596" r:id="rId33"/>
    <p:sldId id="629" r:id="rId34"/>
    <p:sldId id="733" r:id="rId35"/>
    <p:sldId id="761" r:id="rId36"/>
    <p:sldId id="760" r:id="rId37"/>
    <p:sldId id="628" r:id="rId38"/>
    <p:sldId id="557" r:id="rId39"/>
    <p:sldId id="614" r:id="rId40"/>
    <p:sldId id="627" r:id="rId41"/>
    <p:sldId id="734" r:id="rId42"/>
    <p:sldId id="630" r:id="rId43"/>
    <p:sldId id="558" r:id="rId44"/>
    <p:sldId id="732" r:id="rId45"/>
    <p:sldId id="299" r:id="rId4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8">
          <p15:clr>
            <a:srgbClr val="A4A3A4"/>
          </p15:clr>
        </p15:guide>
        <p15:guide id="2" orient="horz" pos="839">
          <p15:clr>
            <a:srgbClr val="A4A3A4"/>
          </p15:clr>
        </p15:guide>
        <p15:guide id="3" orient="horz" pos="3813">
          <p15:clr>
            <a:srgbClr val="A4A3A4"/>
          </p15:clr>
        </p15:guide>
        <p15:guide id="4" orient="horz" pos="1089">
          <p15:clr>
            <a:srgbClr val="A4A3A4"/>
          </p15:clr>
        </p15:guide>
        <p15:guide id="5" orient="horz" pos="1204">
          <p15:clr>
            <a:srgbClr val="A4A3A4"/>
          </p15:clr>
        </p15:guide>
        <p15:guide id="6" orient="horz" pos="390">
          <p15:clr>
            <a:srgbClr val="A4A3A4"/>
          </p15:clr>
        </p15:guide>
        <p15:guide id="7" orient="horz" pos="4069">
          <p15:clr>
            <a:srgbClr val="A4A3A4"/>
          </p15:clr>
        </p15:guide>
        <p15:guide id="8" orient="horz" pos="4200">
          <p15:clr>
            <a:srgbClr val="A4A3A4"/>
          </p15:clr>
        </p15:guide>
        <p15:guide id="9" pos="2880">
          <p15:clr>
            <a:srgbClr val="A4A3A4"/>
          </p15:clr>
        </p15:guide>
        <p15:guide id="10" pos="260">
          <p15:clr>
            <a:srgbClr val="A4A3A4"/>
          </p15:clr>
        </p15:guide>
        <p15:guide id="11" pos="5500">
          <p15:clr>
            <a:srgbClr val="A4A3A4"/>
          </p15:clr>
        </p15:guide>
        <p15:guide id="12" pos="2926">
          <p15:clr>
            <a:srgbClr val="A4A3A4"/>
          </p15:clr>
        </p15:guide>
        <p15:guide id="13" pos="2833">
          <p15:clr>
            <a:srgbClr val="A4A3A4"/>
          </p15:clr>
        </p15:guide>
        <p15:guide id="14" pos="2706">
          <p15:clr>
            <a:srgbClr val="A4A3A4"/>
          </p15:clr>
        </p15:guide>
        <p15:guide id="15" pos="3053">
          <p15:clr>
            <a:srgbClr val="A4A3A4"/>
          </p15:clr>
        </p15:guide>
        <p15:guide id="16" pos="2567">
          <p15:clr>
            <a:srgbClr val="A4A3A4"/>
          </p15:clr>
        </p15:guide>
        <p15:guide id="17" pos="3192">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2533"/>
    <a:srgbClr val="FF9900"/>
    <a:srgbClr val="FFCC99"/>
    <a:srgbClr val="FF5C5C"/>
    <a:srgbClr val="9C97FF"/>
    <a:srgbClr val="005CB9"/>
    <a:srgbClr val="FF9821"/>
    <a:srgbClr val="898989"/>
    <a:srgbClr val="8669FF"/>
    <a:srgbClr val="5951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60" autoAdjust="0"/>
    <p:restoredTop sz="84944" autoAdjust="0"/>
  </p:normalViewPr>
  <p:slideViewPr>
    <p:cSldViewPr snapToGrid="0" snapToObjects="1" showGuides="1">
      <p:cViewPr varScale="1">
        <p:scale>
          <a:sx n="93" d="100"/>
          <a:sy n="93" d="100"/>
        </p:scale>
        <p:origin x="2286" y="96"/>
      </p:cViewPr>
      <p:guideLst>
        <p:guide orient="horz" pos="168"/>
        <p:guide orient="horz" pos="839"/>
        <p:guide orient="horz" pos="3813"/>
        <p:guide orient="horz" pos="1089"/>
        <p:guide orient="horz" pos="1204"/>
        <p:guide orient="horz" pos="390"/>
        <p:guide orient="horz" pos="4069"/>
        <p:guide orient="horz" pos="4200"/>
        <p:guide pos="2880"/>
        <p:guide pos="260"/>
        <p:guide pos="5500"/>
        <p:guide pos="2926"/>
        <p:guide pos="2833"/>
        <p:guide pos="2706"/>
        <p:guide pos="3053"/>
        <p:guide pos="2567"/>
        <p:guide pos="3192"/>
      </p:guideLst>
    </p:cSldViewPr>
  </p:slideViewPr>
  <p:outlineViewPr>
    <p:cViewPr>
      <p:scale>
        <a:sx n="33" d="100"/>
        <a:sy n="33" d="100"/>
      </p:scale>
      <p:origin x="0" y="16378"/>
    </p:cViewPr>
    <p:sldLst>
      <p:sld r:id="rId1" collapse="1"/>
    </p:sldLst>
  </p:outlineViewPr>
  <p:notesTextViewPr>
    <p:cViewPr>
      <p:scale>
        <a:sx n="100" d="100"/>
        <a:sy n="100" d="100"/>
      </p:scale>
      <p:origin x="0" y="0"/>
    </p:cViewPr>
  </p:notesTextViewPr>
  <p:sorterViewPr>
    <p:cViewPr>
      <p:scale>
        <a:sx n="50" d="100"/>
        <a:sy n="50" d="100"/>
      </p:scale>
      <p:origin x="0" y="0"/>
    </p:cViewPr>
  </p:sorterViewPr>
  <p:notesViewPr>
    <p:cSldViewPr snapToGrid="0" snapToObjects="1" showGuides="1">
      <p:cViewPr>
        <p:scale>
          <a:sx n="150" d="100"/>
          <a:sy n="150" d="100"/>
        </p:scale>
        <p:origin x="2496" y="-2046"/>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theme" Target="theme/theme1.xml"/></Relationships>
</file>

<file path=ppt/_rels/viewProps.xml.rels><?xml version="1.0" encoding="UTF-8" standalone="yes"?>
<Relationships xmlns="http://schemas.openxmlformats.org/package/2006/relationships"><Relationship Id="rId1"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93DC3E89-CDC9-40B8-A177-697B01EC3FE7}" type="datetimeFigureOut">
              <a:rPr lang="en-US" smtClean="0">
                <a:solidFill>
                  <a:srgbClr val="898989"/>
                </a:solidFill>
              </a:rPr>
              <a:t>3/18/2021</a:t>
            </a:fld>
            <a:endParaRPr lang="en-US">
              <a:solidFill>
                <a:srgbClr val="898989"/>
              </a:solidFill>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a:solidFill>
                <a:srgbClr val="898989"/>
              </a:solidFill>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378EDC2-A989-4428-AAC6-FEBE43932169}" type="slidenum">
              <a:rPr lang="en-US" smtClean="0">
                <a:solidFill>
                  <a:srgbClr val="898989"/>
                </a:solidFill>
              </a:rPr>
              <a:t>‹N°›</a:t>
            </a:fld>
            <a:endParaRPr lang="en-US">
              <a:solidFill>
                <a:srgbClr val="898989"/>
              </a:solidFill>
            </a:endParaRPr>
          </a:p>
        </p:txBody>
      </p:sp>
    </p:spTree>
    <p:extLst>
      <p:ext uri="{BB962C8B-B14F-4D97-AF65-F5344CB8AC3E}">
        <p14:creationId xmlns:p14="http://schemas.microsoft.com/office/powerpoint/2010/main" val="1101932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solidFill>
                  <a:srgbClr val="898989"/>
                </a:solidFill>
              </a:defRPr>
            </a:lvl1pPr>
          </a:lstStyle>
          <a:p>
            <a:fld id="{23C0586E-364E-4372-80AA-1C929B9BCABF}" type="datetimeFigureOut">
              <a:rPr lang="en-US" smtClean="0"/>
              <a:pPr/>
              <a:t>3/18/2021</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solidFill>
                  <a:srgbClr val="898989"/>
                </a:solidFill>
              </a:defRPr>
            </a:lvl1pPr>
          </a:lstStyle>
          <a:p>
            <a:endParaRPr lang="en-US"/>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solidFill>
                  <a:srgbClr val="898989"/>
                </a:solidFill>
              </a:defRPr>
            </a:lvl1pPr>
          </a:lstStyle>
          <a:p>
            <a:fld id="{4A55B9BF-99C7-425D-A1C7-4E0B8871658A}" type="slidenum">
              <a:rPr lang="en-US" smtClean="0"/>
              <a:pPr/>
              <a:t>‹N°›</a:t>
            </a:fld>
            <a:endParaRPr lang="en-US"/>
          </a:p>
        </p:txBody>
      </p:sp>
    </p:spTree>
    <p:extLst>
      <p:ext uri="{BB962C8B-B14F-4D97-AF65-F5344CB8AC3E}">
        <p14:creationId xmlns:p14="http://schemas.microsoft.com/office/powerpoint/2010/main" val="215953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71450" indent="-17145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344488" indent="-171450" algn="l" defTabSz="914400" rtl="0" eaLnBrk="1" latinLnBrk="0" hangingPunct="1">
      <a:buFont typeface="GE Inspira Pitch" panose="020F0603030400020203" pitchFamily="34" charset="0"/>
      <a:buChar char="–"/>
      <a:tabLst>
        <a:tab pos="403225" algn="l"/>
      </a:tabLst>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Functional Safety – SIL General awareness training. </a:t>
            </a:r>
          </a:p>
        </p:txBody>
      </p:sp>
      <p:sp>
        <p:nvSpPr>
          <p:cNvPr id="4" name="Slide Number Placeholder 3"/>
          <p:cNvSpPr>
            <a:spLocks noGrp="1"/>
          </p:cNvSpPr>
          <p:nvPr>
            <p:ph type="sldNum" sz="quarter" idx="10"/>
          </p:nvPr>
        </p:nvSpPr>
        <p:spPr/>
        <p:txBody>
          <a:bodyPr/>
          <a:lstStyle/>
          <a:p>
            <a:fld id="{4A55B9BF-99C7-425D-A1C7-4E0B8871658A}" type="slidenum">
              <a:rPr lang="en-US" smtClean="0"/>
              <a:pPr/>
              <a:t>1</a:t>
            </a:fld>
            <a:endParaRPr lang="en-US"/>
          </a:p>
        </p:txBody>
      </p:sp>
    </p:spTree>
    <p:extLst>
      <p:ext uri="{BB962C8B-B14F-4D97-AF65-F5344CB8AC3E}">
        <p14:creationId xmlns:p14="http://schemas.microsoft.com/office/powerpoint/2010/main" val="3723022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audience for this training is any GE Power person involved in product and/or projects with Functional Safety – SIL scope. </a:t>
            </a:r>
          </a:p>
          <a:p>
            <a:r>
              <a:rPr lang="en-US" dirty="0"/>
              <a:t>After this training, you will understand – </a:t>
            </a:r>
          </a:p>
          <a:p>
            <a:pPr marL="342900" indent="-342900">
              <a:buFontTx/>
              <a:buChar char="-"/>
            </a:pPr>
            <a:r>
              <a:rPr lang="en-US" sz="1200" dirty="0"/>
              <a:t>The term Functional safety and it’s significance</a:t>
            </a:r>
          </a:p>
          <a:p>
            <a:pPr marL="342900" indent="-342900">
              <a:buFontTx/>
              <a:buChar char="-"/>
            </a:pPr>
            <a:r>
              <a:rPr lang="en-US" sz="1200" dirty="0"/>
              <a:t>Basic concepts of functional safety</a:t>
            </a:r>
          </a:p>
          <a:p>
            <a:pPr marL="342900" indent="-342900">
              <a:buFontTx/>
              <a:buChar char="-"/>
            </a:pPr>
            <a:r>
              <a:rPr lang="en-US" sz="1200" dirty="0"/>
              <a:t>GE Power Functional Safety process (High level)</a:t>
            </a:r>
          </a:p>
          <a:p>
            <a:pPr marL="342900" indent="-342900">
              <a:buFontTx/>
              <a:buChar char="-"/>
            </a:pPr>
            <a:r>
              <a:rPr lang="en-US" sz="1200" dirty="0"/>
              <a:t>Risks and opportunities with respect to functional safety</a:t>
            </a:r>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2</a:t>
            </a:fld>
            <a:endParaRPr lang="en-US"/>
          </a:p>
        </p:txBody>
      </p:sp>
    </p:spTree>
    <p:extLst>
      <p:ext uri="{BB962C8B-B14F-4D97-AF65-F5344CB8AC3E}">
        <p14:creationId xmlns:p14="http://schemas.microsoft.com/office/powerpoint/2010/main" val="2503234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which will be covered by the training are – </a:t>
            </a:r>
          </a:p>
          <a:p>
            <a:pPr marL="342900" indent="-342900">
              <a:buFontTx/>
              <a:buChar char="-"/>
            </a:pPr>
            <a:r>
              <a:rPr lang="en-US" sz="1200" b="1" dirty="0"/>
              <a:t>Introduction to Safety and Functional Safety</a:t>
            </a:r>
          </a:p>
          <a:p>
            <a:pPr marL="342900" indent="-342900">
              <a:buFontTx/>
              <a:buChar char="-"/>
            </a:pPr>
            <a:r>
              <a:rPr lang="en-US" sz="1200" b="1" dirty="0"/>
              <a:t>Understanding of Functional Safety Standards</a:t>
            </a:r>
          </a:p>
          <a:p>
            <a:pPr marL="342900" indent="-342900">
              <a:buFontTx/>
              <a:buChar char="-"/>
            </a:pPr>
            <a:r>
              <a:rPr lang="en-US" sz="1200" b="1" dirty="0"/>
              <a:t>Explanation of What is SIL , SIL Process</a:t>
            </a:r>
          </a:p>
          <a:p>
            <a:pPr marL="342900" indent="-342900">
              <a:buFontTx/>
              <a:buChar char="-"/>
            </a:pPr>
            <a:r>
              <a:rPr lang="en-US" sz="1200" b="1" dirty="0"/>
              <a:t>Concept on Risk Analysis and SIL assignment</a:t>
            </a:r>
            <a:r>
              <a:rPr lang="en-US" sz="1200" b="1" i="1" dirty="0"/>
              <a:t> (Targeting </a:t>
            </a:r>
            <a:r>
              <a:rPr lang="en-US" sz="1200" b="1" dirty="0"/>
              <a:t>)</a:t>
            </a:r>
          </a:p>
          <a:p>
            <a:pPr marL="342900" indent="-342900">
              <a:buFontTx/>
              <a:buChar char="-"/>
            </a:pPr>
            <a:r>
              <a:rPr lang="en-US" sz="1200" b="1" dirty="0"/>
              <a:t>Definition &amp; explanation on : Design &amp; design  verification</a:t>
            </a:r>
          </a:p>
          <a:p>
            <a:pPr marL="342900" indent="-342900">
              <a:buFontTx/>
              <a:buChar char="-"/>
            </a:pPr>
            <a:r>
              <a:rPr lang="en-US" sz="1200" b="1" dirty="0"/>
              <a:t>Validation of Safety functions.</a:t>
            </a:r>
          </a:p>
          <a:p>
            <a:pPr marL="342900" indent="-342900">
              <a:buFontTx/>
              <a:buChar char="-"/>
            </a:pPr>
            <a:r>
              <a:rPr lang="en-US" sz="1200" b="1" dirty="0"/>
              <a:t>Organization of Functional Safety in GE Power</a:t>
            </a:r>
          </a:p>
          <a:p>
            <a:pPr marL="342900" indent="-342900">
              <a:buFontTx/>
              <a:buChar char="-"/>
            </a:pPr>
            <a:r>
              <a:rPr lang="en-US" sz="1200" b="1" dirty="0"/>
              <a:t>&amp; overview of functional safety Customer Deliverables</a:t>
            </a:r>
          </a:p>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3</a:t>
            </a:fld>
            <a:endParaRPr lang="en-US"/>
          </a:p>
        </p:txBody>
      </p:sp>
    </p:spTree>
    <p:extLst>
      <p:ext uri="{BB962C8B-B14F-4D97-AF65-F5344CB8AC3E}">
        <p14:creationId xmlns:p14="http://schemas.microsoft.com/office/powerpoint/2010/main" val="2692626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4</a:t>
            </a:fld>
            <a:endParaRPr lang="en-US"/>
          </a:p>
        </p:txBody>
      </p:sp>
    </p:spTree>
    <p:extLst>
      <p:ext uri="{BB962C8B-B14F-4D97-AF65-F5344CB8AC3E}">
        <p14:creationId xmlns:p14="http://schemas.microsoft.com/office/powerpoint/2010/main" val="1770306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definition of Safety &amp; functional safety in general :</a:t>
            </a:r>
          </a:p>
          <a:p>
            <a:r>
              <a:rPr lang="en-US" dirty="0"/>
              <a:t>Safety can be defined as functionality of a product such as : Product capacity, Efficiency, Emissions. It can be defined as a subject of Customer expectations, Contractual requirements, Driven by codes &amp; standards and by permitting procedures. </a:t>
            </a:r>
          </a:p>
          <a:p>
            <a:endParaRPr lang="en-US" dirty="0"/>
          </a:p>
          <a:p>
            <a:r>
              <a:rPr lang="en-US" dirty="0"/>
              <a:t>Safety is achieved or made by the basic design of a product , supported by defined assessment procedures &amp; verified , validated by assessment &amp; results.</a:t>
            </a:r>
          </a:p>
          <a:p>
            <a:endParaRPr lang="en-US" dirty="0"/>
          </a:p>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5</a:t>
            </a:fld>
            <a:endParaRPr lang="en-US"/>
          </a:p>
        </p:txBody>
      </p:sp>
    </p:spTree>
    <p:extLst>
      <p:ext uri="{BB962C8B-B14F-4D97-AF65-F5344CB8AC3E}">
        <p14:creationId xmlns:p14="http://schemas.microsoft.com/office/powerpoint/2010/main" val="1429295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r>
              <a:rPr lang="en-GB" altLang="en-US"/>
              <a:t>Last edit: </a:t>
            </a:r>
            <a:r>
              <a:rPr lang="en-US" altLang="en-US"/>
              <a:t>00/00/2009</a:t>
            </a:r>
            <a:endParaRPr lang="en-GB" altLang="en-US"/>
          </a:p>
        </p:txBody>
      </p:sp>
      <p:sp>
        <p:nvSpPr>
          <p:cNvPr id="7" name="Rectangle 7"/>
          <p:cNvSpPr>
            <a:spLocks noGrp="1" noChangeArrowheads="1"/>
          </p:cNvSpPr>
          <p:nvPr>
            <p:ph type="sldNum" sz="quarter" idx="5"/>
          </p:nvPr>
        </p:nvSpPr>
        <p:spPr>
          <a:ln/>
        </p:spPr>
        <p:txBody>
          <a:bodyPr/>
          <a:lstStyle/>
          <a:p>
            <a:fld id="{A9A8FD7A-E981-4CFA-9069-AB6B9A47774D}" type="slidenum">
              <a:rPr lang="en-GB" altLang="en-US"/>
              <a:pPr/>
              <a:t>6</a:t>
            </a:fld>
            <a:endParaRPr lang="en-GB" altLang="en-US"/>
          </a:p>
        </p:txBody>
      </p:sp>
      <p:sp>
        <p:nvSpPr>
          <p:cNvPr id="580610" name="Rectangle 2"/>
          <p:cNvSpPr>
            <a:spLocks noGrp="1" noRot="1" noChangeAspect="1" noChangeArrowheads="1" noTextEdit="1"/>
          </p:cNvSpPr>
          <p:nvPr>
            <p:ph type="sldImg"/>
          </p:nvPr>
        </p:nvSpPr>
        <p:spPr>
          <a:xfrm>
            <a:off x="808038" y="706438"/>
            <a:ext cx="3352800" cy="2514600"/>
          </a:xfrm>
          <a:ln/>
        </p:spPr>
      </p:sp>
      <p:sp>
        <p:nvSpPr>
          <p:cNvPr id="580611" name="Rectangle 3"/>
          <p:cNvSpPr>
            <a:spLocks noGrp="1" noChangeArrowheads="1"/>
          </p:cNvSpPr>
          <p:nvPr>
            <p:ph type="body" idx="1"/>
          </p:nvPr>
        </p:nvSpPr>
        <p:spPr>
          <a:xfrm>
            <a:off x="445312" y="3553599"/>
            <a:ext cx="6176128" cy="6722885"/>
          </a:xfrm>
        </p:spPr>
        <p:txBody>
          <a:bodyPr/>
          <a:lstStyle/>
          <a:p>
            <a:r>
              <a:rPr lang="en-US" altLang="en-US" dirty="0"/>
              <a:t>This is graphic representation of different layers of Technology &amp; intrinsic risks associated with equipment &amp; personnel safety. Each layers shows the risks &amp; it’s impact on engineering process, equipment &amp; personnel. For ex: Good Engineering practices &amp; design rules , Codes &amp; Standards driven by regulations, &amp; the most stringent safety functions protecting against disturbances – Functional Safety.</a:t>
            </a:r>
          </a:p>
        </p:txBody>
      </p:sp>
    </p:spTree>
    <p:extLst>
      <p:ext uri="{BB962C8B-B14F-4D97-AF65-F5344CB8AC3E}">
        <p14:creationId xmlns:p14="http://schemas.microsoft.com/office/powerpoint/2010/main" val="725073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55B9BF-99C7-425D-A1C7-4E0B8871658A}" type="slidenum">
              <a:rPr lang="en-US" smtClean="0"/>
              <a:pPr/>
              <a:t>7</a:t>
            </a:fld>
            <a:endParaRPr lang="en-US"/>
          </a:p>
        </p:txBody>
      </p:sp>
    </p:spTree>
    <p:extLst>
      <p:ext uri="{BB962C8B-B14F-4D97-AF65-F5344CB8AC3E}">
        <p14:creationId xmlns:p14="http://schemas.microsoft.com/office/powerpoint/2010/main" val="1616089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solidFill>
                  <a:srgbClr val="FF0000"/>
                </a:solidFill>
              </a:rPr>
              <a:t>Animated slide!!</a:t>
            </a:r>
          </a:p>
          <a:p>
            <a:pPr marL="171450" indent="-171450">
              <a:buFontTx/>
              <a:buChar char="-"/>
            </a:pPr>
            <a:r>
              <a:rPr lang="en-US" dirty="0"/>
              <a:t>Risk is described by the frequency and severity.</a:t>
            </a:r>
          </a:p>
          <a:p>
            <a:pPr marL="171450" indent="-171450">
              <a:buFontTx/>
              <a:buChar char="-"/>
            </a:pPr>
            <a:r>
              <a:rPr lang="en-US" dirty="0"/>
              <a:t>GE defines an tolerable risk criteria and if the risk is above this line it means that the design is not acceptable from a safety point of view. </a:t>
            </a:r>
          </a:p>
          <a:p>
            <a:pPr marL="171450" indent="-171450">
              <a:buFontTx/>
              <a:buChar char="-"/>
            </a:pPr>
            <a:r>
              <a:rPr lang="en-US" dirty="0"/>
              <a:t>Let’s start with a risk identified for example human hurt by a projectile due to a piping breach (overpressure). </a:t>
            </a:r>
          </a:p>
          <a:p>
            <a:pPr marL="171450" indent="-171450">
              <a:buFontTx/>
              <a:buChar char="-"/>
            </a:pPr>
            <a:r>
              <a:rPr lang="en-US" dirty="0"/>
              <a:t>For this risk we can identify several barriers as prevention plan, passive barrier such safety relief valve, control of the process.</a:t>
            </a:r>
          </a:p>
          <a:p>
            <a:pPr marL="171450" indent="-171450">
              <a:buFontTx/>
              <a:buChar char="-"/>
            </a:pPr>
            <a:r>
              <a:rPr lang="en-US" dirty="0"/>
              <a:t>By implementing Safety Instrumented Function, we are able to meet the tolerable risk. By definition a SIF is composed of sensors (to detect deviation), a safety controller and final elements.</a:t>
            </a:r>
          </a:p>
          <a:p>
            <a:endParaRPr lang="en-US"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C85B37A-C182-4EA1-8C76-2772AB3F8EE0}" type="slidenum">
              <a:rPr kumimoji="0" lang="en-US" sz="1200" b="0" i="0" u="none" strike="noStrike" kern="1200" cap="none" spc="0" normalizeH="0" baseline="0" noProof="0" smtClean="0">
                <a:ln>
                  <a:noFill/>
                </a:ln>
                <a:solidFill>
                  <a:srgbClr val="000000"/>
                </a:solidFill>
                <a:effectLst/>
                <a:uLnTx/>
                <a:uFillTx/>
                <a:latin typeface="GE Inspira Pitch"/>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GE Inspira Pitch"/>
              <a:ea typeface="+mn-ea"/>
              <a:cs typeface="+mn-cs"/>
            </a:endParaRPr>
          </a:p>
        </p:txBody>
      </p:sp>
    </p:spTree>
    <p:extLst>
      <p:ext uri="{BB962C8B-B14F-4D97-AF65-F5344CB8AC3E}">
        <p14:creationId xmlns:p14="http://schemas.microsoft.com/office/powerpoint/2010/main" val="654010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9</a:t>
            </a:fld>
            <a:endParaRPr lang="en-US"/>
          </a:p>
        </p:txBody>
      </p:sp>
    </p:spTree>
    <p:extLst>
      <p:ext uri="{BB962C8B-B14F-4D97-AF65-F5344CB8AC3E}">
        <p14:creationId xmlns:p14="http://schemas.microsoft.com/office/powerpoint/2010/main" val="3731005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There are various industry standards around Functional Safety. The application for these Industry standards varies on type of process or the industry represented. IEC 61508 is standalone FS standard for Electrical/electronic/programmable electronic safety related systems </a:t>
            </a:r>
            <a:r>
              <a:rPr lang="en-US" sz="1200" dirty="0">
                <a:highlight>
                  <a:srgbClr val="FFFF00"/>
                </a:highlight>
              </a:rPr>
              <a:t>or another term – basic process control system</a:t>
            </a:r>
            <a:r>
              <a:rPr lang="en-US" sz="1200" dirty="0"/>
              <a:t>. This standard was first published in 1998 &amp; provides the hardware &amp; software design requirements of Safety related systems.</a:t>
            </a:r>
          </a:p>
          <a:p>
            <a:endParaRPr lang="en-US" sz="1200" dirty="0"/>
          </a:p>
          <a:p>
            <a:r>
              <a:rPr lang="en-US" sz="1200" dirty="0"/>
              <a:t>IEC 61513 is the process industry standard for Nuclear applications. </a:t>
            </a:r>
          </a:p>
          <a:p>
            <a:endParaRPr lang="en-US" sz="1200" dirty="0"/>
          </a:p>
          <a:p>
            <a:r>
              <a:rPr lang="en-US" sz="1200" dirty="0"/>
              <a:t>IEC 62061 is the FS standard for manufacturing &amp; machinery. </a:t>
            </a:r>
          </a:p>
          <a:p>
            <a:endParaRPr lang="en-US" sz="1200" dirty="0"/>
          </a:p>
          <a:p>
            <a:r>
              <a:rPr lang="en-US" sz="1200" dirty="0"/>
              <a:t>For GE Gas Power projects, our application falls under IEC 61511  for SIL execution. ANSI/ISA 84.00.01 mirrors IEC 61511, therefore, projects executed in USA with SIL requirements also follows IEC 61511. This approach is reviewed &amp; validated by accredited 3</a:t>
            </a:r>
            <a:r>
              <a:rPr lang="en-US" sz="1200" baseline="30000" dirty="0"/>
              <a:t>rd</a:t>
            </a:r>
            <a:r>
              <a:rPr lang="en-US" sz="1200" dirty="0"/>
              <a:t> parties for Functional safety.</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55B9BF-99C7-425D-A1C7-4E0B8871658A}" type="slidenum">
              <a:rPr kumimoji="0" lang="en-US" sz="1200" b="0" i="0" u="none" strike="noStrike" kern="1200" cap="none" spc="0" normalizeH="0" baseline="0" noProof="0" smtClean="0">
                <a:ln>
                  <a:noFill/>
                </a:ln>
                <a:solidFill>
                  <a:srgbClr val="898989"/>
                </a:solidFill>
                <a:effectLst/>
                <a:uLnTx/>
                <a:uFillTx/>
                <a:latin typeface="GE Inspira Pitch"/>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898989"/>
              </a:solidFill>
              <a:effectLst/>
              <a:uLnTx/>
              <a:uFillTx/>
              <a:latin typeface="GE Inspira Pitch"/>
              <a:ea typeface="+mn-ea"/>
              <a:cs typeface="+mn-cs"/>
            </a:endParaRPr>
          </a:p>
        </p:txBody>
      </p:sp>
    </p:spTree>
    <p:extLst>
      <p:ext uri="{BB962C8B-B14F-4D97-AF65-F5344CB8AC3E}">
        <p14:creationId xmlns:p14="http://schemas.microsoft.com/office/powerpoint/2010/main" val="19385031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Safety compliance is mainly driven </a:t>
            </a:r>
            <a:r>
              <a:rPr lang="en-US" dirty="0">
                <a:highlight>
                  <a:srgbClr val="FFFF00"/>
                </a:highlight>
              </a:rPr>
              <a:t>by the </a:t>
            </a:r>
            <a:r>
              <a:rPr lang="en-US" dirty="0"/>
              <a:t>following points :</a:t>
            </a:r>
          </a:p>
          <a:p>
            <a:pPr marL="171450" indent="-171450">
              <a:buFontTx/>
              <a:buChar char="-"/>
            </a:pPr>
            <a:r>
              <a:rPr lang="en-US" dirty="0"/>
              <a:t>By regulations : For example, In Australia, as per Local Gas regulations act of 2012, all Power plant installations shall be SIL certified as per IEC 61511. Similarly, there are other regions in the world slowly evolving with new regulations around functional Safety. </a:t>
            </a:r>
          </a:p>
          <a:p>
            <a:pPr marL="0" indent="0">
              <a:buFontTx/>
              <a:buNone/>
            </a:pPr>
            <a:endParaRPr lang="en-US" dirty="0"/>
          </a:p>
          <a:p>
            <a:pPr marL="171450" indent="-171450">
              <a:buFontTx/>
              <a:buChar char="-"/>
            </a:pPr>
            <a:r>
              <a:rPr lang="en-US" dirty="0"/>
              <a:t>Second driver for FS compliance is : State of </a:t>
            </a:r>
            <a:r>
              <a:rPr lang="en-US" dirty="0">
                <a:highlight>
                  <a:srgbClr val="FFFF00"/>
                </a:highlight>
              </a:rPr>
              <a:t>the</a:t>
            </a:r>
            <a:r>
              <a:rPr lang="en-US" dirty="0"/>
              <a:t> art design. Compliance with SIL designs benchmark of Safe design considered by different standard institutions such as VGB, VDMA, UDT etc. These are evaluated by local authorities for permitting &amp; supports organizations in legal litigations in case of accidents. </a:t>
            </a:r>
          </a:p>
          <a:p>
            <a:pPr marL="171450" indent="-171450">
              <a:buFontTx/>
              <a:buChar char="-"/>
            </a:pPr>
            <a:endParaRPr lang="en-US" dirty="0"/>
          </a:p>
          <a:p>
            <a:pPr marL="171450" indent="-171450">
              <a:buFontTx/>
              <a:buChar char="-"/>
            </a:pPr>
            <a:r>
              <a:rPr lang="en-US" dirty="0"/>
              <a:t>Which leads to our 3</a:t>
            </a:r>
            <a:r>
              <a:rPr lang="en-US" baseline="30000" dirty="0"/>
              <a:t>rd</a:t>
            </a:r>
            <a:r>
              <a:rPr lang="en-US" dirty="0"/>
              <a:t> driver which is contractual obligations. With regulatory framework developing &amp; changing around the world for functional safety, many customers are asking for SIL compliance on contracts. Based on experience, we have noticed almost all petroleum companies requires SIL compliance. There are many end customers like Exxon </a:t>
            </a:r>
            <a:r>
              <a:rPr lang="en-US" dirty="0" err="1"/>
              <a:t>mobil</a:t>
            </a:r>
            <a:r>
              <a:rPr lang="en-US" dirty="0"/>
              <a:t>, KEPCO S Korea, Hyundai, </a:t>
            </a:r>
            <a:r>
              <a:rPr lang="en-US" dirty="0" err="1"/>
              <a:t>Sonelgaz</a:t>
            </a:r>
            <a:r>
              <a:rPr lang="en-US" dirty="0"/>
              <a:t> to name few, where almost every project requires the compliance with SIL.</a:t>
            </a:r>
          </a:p>
          <a:p>
            <a:pPr marL="0" indent="0">
              <a:buFontTx/>
              <a:buNone/>
            </a:pPr>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11</a:t>
            </a:fld>
            <a:endParaRPr lang="en-US"/>
          </a:p>
        </p:txBody>
      </p:sp>
    </p:spTree>
    <p:extLst>
      <p:ext uri="{BB962C8B-B14F-4D97-AF65-F5344CB8AC3E}">
        <p14:creationId xmlns:p14="http://schemas.microsoft.com/office/powerpoint/2010/main" val="984084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12</a:t>
            </a:fld>
            <a:endParaRPr lang="en-US"/>
          </a:p>
        </p:txBody>
      </p:sp>
    </p:spTree>
    <p:extLst>
      <p:ext uri="{BB962C8B-B14F-4D97-AF65-F5344CB8AC3E}">
        <p14:creationId xmlns:p14="http://schemas.microsoft.com/office/powerpoint/2010/main" val="920635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 is an acronym for Safety Integrity Level. It is a discrete level (from 1 to 4) that specifies the required reliability of the safety instrumented function. </a:t>
            </a:r>
          </a:p>
          <a:p>
            <a:endParaRPr lang="en-US" dirty="0"/>
          </a:p>
          <a:p>
            <a:r>
              <a:rPr lang="en-US" dirty="0"/>
              <a:t>Safety Integrity is reached by following measures:</a:t>
            </a:r>
          </a:p>
          <a:p>
            <a:r>
              <a:rPr lang="en-US" dirty="0"/>
              <a:t>- Reliable system design (reliable components)</a:t>
            </a:r>
          </a:p>
          <a:p>
            <a:r>
              <a:rPr lang="en-US" dirty="0"/>
              <a:t>- Reliable system architecture (redundancies)</a:t>
            </a:r>
          </a:p>
          <a:p>
            <a:r>
              <a:rPr lang="en-US" dirty="0"/>
              <a:t>- Measures taken against systematic errors (for example human error)</a:t>
            </a:r>
          </a:p>
          <a:p>
            <a:endParaRPr lang="en-US" i="1" dirty="0"/>
          </a:p>
          <a:p>
            <a:r>
              <a:rPr lang="en-US" dirty="0"/>
              <a:t>As an example, SIL2 means the Safety Instrumented Function reduces the risk by a factor between 100 and 1000, and has a Probability of Failure on Demand (or PFD) comprised between 10</a:t>
            </a:r>
            <a:r>
              <a:rPr lang="en-US" baseline="30000" dirty="0"/>
              <a:t>-2</a:t>
            </a:r>
            <a:r>
              <a:rPr lang="en-US" dirty="0"/>
              <a:t> and 10</a:t>
            </a:r>
            <a:r>
              <a:rPr lang="en-US" baseline="30000" dirty="0"/>
              <a:t>-3.</a:t>
            </a:r>
          </a:p>
          <a:p>
            <a:endParaRPr lang="en-US" baseline="30000" dirty="0"/>
          </a:p>
          <a:p>
            <a:r>
              <a:rPr lang="en-US" dirty="0"/>
              <a:t>Also, the higher the SIL, the more redundancies you may have to introduce in the design.</a:t>
            </a:r>
          </a:p>
          <a:p>
            <a:endParaRPr lang="en-US" dirty="0"/>
          </a:p>
          <a:p>
            <a:r>
              <a:rPr lang="en-US" dirty="0"/>
              <a:t>Be careful, focusing on reliability of the safety function could increase the spurious trip rate, thus decreasing the availability of the unit.</a:t>
            </a:r>
          </a:p>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13</a:t>
            </a:fld>
            <a:endParaRPr lang="en-US"/>
          </a:p>
        </p:txBody>
      </p:sp>
    </p:spTree>
    <p:extLst>
      <p:ext uri="{BB962C8B-B14F-4D97-AF65-F5344CB8AC3E}">
        <p14:creationId xmlns:p14="http://schemas.microsoft.com/office/powerpoint/2010/main" val="246623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14</a:t>
            </a:fld>
            <a:endParaRPr lang="en-US"/>
          </a:p>
        </p:txBody>
      </p:sp>
    </p:spTree>
    <p:extLst>
      <p:ext uri="{BB962C8B-B14F-4D97-AF65-F5344CB8AC3E}">
        <p14:creationId xmlns:p14="http://schemas.microsoft.com/office/powerpoint/2010/main" val="28981859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This standard addresses the complete functional safety lifecycle from ITO to the decommissioning of the product/plant.</a:t>
            </a:r>
          </a:p>
          <a:p>
            <a:endParaRPr lang="en-US" dirty="0"/>
          </a:p>
          <a:p>
            <a:r>
              <a:rPr lang="en-US" dirty="0"/>
              <a:t>This lifecycle consists in the following steps:</a:t>
            </a:r>
          </a:p>
          <a:p>
            <a:r>
              <a:rPr lang="en-US" dirty="0"/>
              <a:t>1. Safety analysis (definition of CTQs for Safety Instrumented Function design)</a:t>
            </a:r>
          </a:p>
          <a:p>
            <a:r>
              <a:rPr lang="en-US" dirty="0"/>
              <a:t>2. Design of the Safety Instrumented Function (conception and realization)</a:t>
            </a:r>
          </a:p>
          <a:p>
            <a:r>
              <a:rPr lang="en-US" dirty="0"/>
              <a:t>3. Installation, validation that safety functions are in place and functional</a:t>
            </a:r>
          </a:p>
          <a:p>
            <a:r>
              <a:rPr lang="en-US" dirty="0"/>
              <a:t>4. Operation of unit and maintenance of the SIF to maintain integrity of Safety Instrumented Function</a:t>
            </a:r>
          </a:p>
          <a:p>
            <a:r>
              <a:rPr lang="en-US" dirty="0"/>
              <a:t>5. Modifications brought during the life of the machine (applicable to CM&amp;U)</a:t>
            </a:r>
          </a:p>
          <a:p>
            <a:r>
              <a:rPr lang="en-US" dirty="0"/>
              <a:t>During this step, any modification must be analyzed to evaluate the impact on Safety and the Safety Instrumented Functions</a:t>
            </a:r>
          </a:p>
          <a:p>
            <a:r>
              <a:rPr lang="en-US" dirty="0"/>
              <a:t>6. Decommissioning (when and how a Safety Instrumented Function shall be decommissioned)</a:t>
            </a:r>
          </a:p>
          <a:p>
            <a:endParaRPr lang="fr-FR" dirty="0"/>
          </a:p>
          <a:p>
            <a:r>
              <a:rPr lang="fr-FR" dirty="0"/>
              <a:t>In </a:t>
            </a:r>
            <a:r>
              <a:rPr lang="fr-FR" dirty="0" err="1"/>
              <a:t>parallel</a:t>
            </a:r>
            <a:r>
              <a:rPr lang="fr-FR" dirty="0"/>
              <a:t> the standard </a:t>
            </a:r>
            <a:r>
              <a:rPr lang="fr-FR" dirty="0" err="1"/>
              <a:t>requires</a:t>
            </a:r>
            <a:r>
              <a:rPr lang="fr-FR" dirty="0"/>
              <a:t> the </a:t>
            </a:r>
            <a:r>
              <a:rPr lang="fr-FR" dirty="0" err="1"/>
              <a:t>whole</a:t>
            </a:r>
            <a:r>
              <a:rPr lang="fr-FR" dirty="0"/>
              <a:t> </a:t>
            </a:r>
            <a:r>
              <a:rPr lang="fr-FR" dirty="0" err="1"/>
              <a:t>functional</a:t>
            </a:r>
            <a:r>
              <a:rPr lang="fr-FR" dirty="0"/>
              <a:t> </a:t>
            </a:r>
            <a:r>
              <a:rPr lang="fr-FR" dirty="0" err="1"/>
              <a:t>safety</a:t>
            </a:r>
            <a:r>
              <a:rPr lang="fr-FR" dirty="0"/>
              <a:t> </a:t>
            </a:r>
            <a:r>
              <a:rPr lang="fr-FR" dirty="0" err="1"/>
              <a:t>lifecycle</a:t>
            </a:r>
            <a:r>
              <a:rPr lang="fr-FR" dirty="0"/>
              <a:t> </a:t>
            </a:r>
            <a:r>
              <a:rPr lang="fr-FR" dirty="0" err="1"/>
              <a:t>is</a:t>
            </a:r>
            <a:r>
              <a:rPr lang="fr-FR" dirty="0"/>
              <a:t> </a:t>
            </a:r>
            <a:r>
              <a:rPr lang="fr-FR" dirty="0" err="1"/>
              <a:t>covered</a:t>
            </a:r>
            <a:r>
              <a:rPr lang="fr-FR" dirty="0"/>
              <a:t> by </a:t>
            </a:r>
            <a:r>
              <a:rPr lang="fr-FR" dirty="0" err="1"/>
              <a:t>verification</a:t>
            </a:r>
            <a:r>
              <a:rPr lang="fr-FR" dirty="0"/>
              <a:t> </a:t>
            </a:r>
            <a:r>
              <a:rPr lang="fr-FR" dirty="0" err="1"/>
              <a:t>steps</a:t>
            </a:r>
            <a:r>
              <a:rPr lang="fr-FR" dirty="0"/>
              <a:t> and audits, and a full management process </a:t>
            </a:r>
            <a:r>
              <a:rPr lang="fr-FR" dirty="0" err="1"/>
              <a:t>is</a:t>
            </a:r>
            <a:r>
              <a:rPr lang="fr-FR" dirty="0"/>
              <a:t> in place.</a:t>
            </a:r>
          </a:p>
        </p:txBody>
      </p:sp>
      <p:sp>
        <p:nvSpPr>
          <p:cNvPr id="4" name="Espace réservé du numéro de diapositive 3"/>
          <p:cNvSpPr>
            <a:spLocks noGrp="1"/>
          </p:cNvSpPr>
          <p:nvPr>
            <p:ph type="sldNum" sz="quarter" idx="5"/>
          </p:nvPr>
        </p:nvSpPr>
        <p:spPr/>
        <p:txBody>
          <a:bodyPr/>
          <a:lstStyle/>
          <a:p>
            <a:fld id="{4A55B9BF-99C7-425D-A1C7-4E0B8871658A}" type="slidenum">
              <a:rPr lang="en-US" smtClean="0"/>
              <a:pPr/>
              <a:t>15</a:t>
            </a:fld>
            <a:endParaRPr lang="en-US"/>
          </a:p>
        </p:txBody>
      </p:sp>
    </p:spTree>
    <p:extLst>
      <p:ext uri="{BB962C8B-B14F-4D97-AF65-F5344CB8AC3E}">
        <p14:creationId xmlns:p14="http://schemas.microsoft.com/office/powerpoint/2010/main" val="3494839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16</a:t>
            </a:fld>
            <a:endParaRPr lang="en-US"/>
          </a:p>
        </p:txBody>
      </p:sp>
    </p:spTree>
    <p:extLst>
      <p:ext uri="{BB962C8B-B14F-4D97-AF65-F5344CB8AC3E}">
        <p14:creationId xmlns:p14="http://schemas.microsoft.com/office/powerpoint/2010/main" val="1750869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3458">
              <a:defRPr sz="2000">
                <a:solidFill>
                  <a:schemeClr val="tx1"/>
                </a:solidFill>
                <a:latin typeface="GE Inspira Pitch" pitchFamily="34" charset="0"/>
                <a:cs typeface="Times New Roman" pitchFamily="18" charset="0"/>
              </a:defRPr>
            </a:lvl1pPr>
            <a:lvl2pPr marL="742830" indent="-285704" defTabSz="963458">
              <a:defRPr sz="2000">
                <a:solidFill>
                  <a:schemeClr val="tx1"/>
                </a:solidFill>
                <a:latin typeface="GE Inspira Pitch" pitchFamily="34" charset="0"/>
                <a:cs typeface="Times New Roman" pitchFamily="18" charset="0"/>
              </a:defRPr>
            </a:lvl2pPr>
            <a:lvl3pPr marL="1142816" indent="-228563" defTabSz="963458">
              <a:defRPr sz="2000">
                <a:solidFill>
                  <a:schemeClr val="tx1"/>
                </a:solidFill>
                <a:latin typeface="GE Inspira Pitch" pitchFamily="34" charset="0"/>
                <a:cs typeface="Times New Roman" pitchFamily="18" charset="0"/>
              </a:defRPr>
            </a:lvl3pPr>
            <a:lvl4pPr marL="1599942" indent="-228563" defTabSz="963458">
              <a:defRPr sz="2000">
                <a:solidFill>
                  <a:schemeClr val="tx1"/>
                </a:solidFill>
                <a:latin typeface="GE Inspira Pitch" pitchFamily="34" charset="0"/>
                <a:cs typeface="Times New Roman" pitchFamily="18" charset="0"/>
              </a:defRPr>
            </a:lvl4pPr>
            <a:lvl5pPr marL="2057069" indent="-228563" defTabSz="963458">
              <a:defRPr sz="2000">
                <a:solidFill>
                  <a:schemeClr val="tx1"/>
                </a:solidFill>
                <a:latin typeface="GE Inspira Pitch" pitchFamily="34" charset="0"/>
                <a:cs typeface="Times New Roman" pitchFamily="18" charset="0"/>
              </a:defRPr>
            </a:lvl5pPr>
            <a:lvl6pPr marL="2514194" indent="-228563" defTabSz="963458"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321" indent="-228563" defTabSz="963458"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8447" indent="-228563" defTabSz="963458"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5574" indent="-228563" defTabSz="963458"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fld id="{D41709A5-082F-4216-94F4-FF44572A0E7A}" type="slidenum">
              <a:rPr lang="en-US" sz="1200">
                <a:latin typeface="Arial" charset="0"/>
              </a:rPr>
              <a:pPr/>
              <a:t>17</a:t>
            </a:fld>
            <a:endParaRPr lang="en-US" sz="1200">
              <a:latin typeface="Arial" charset="0"/>
            </a:endParaRPr>
          </a:p>
        </p:txBody>
      </p:sp>
      <p:sp>
        <p:nvSpPr>
          <p:cNvPr id="75779" name="Rectangle 2"/>
          <p:cNvSpPr>
            <a:spLocks noGrp="1" noRot="1" noChangeAspect="1" noChangeArrowheads="1" noTextEdit="1"/>
          </p:cNvSpPr>
          <p:nvPr>
            <p:ph type="sldImg"/>
          </p:nvPr>
        </p:nvSpPr>
        <p:spPr>
          <a:xfrm>
            <a:off x="547688" y="236538"/>
            <a:ext cx="5924550" cy="4443412"/>
          </a:xfrm>
          <a:ln/>
        </p:spPr>
      </p:sp>
      <p:sp>
        <p:nvSpPr>
          <p:cNvPr id="75780" name="Rectangle 3"/>
          <p:cNvSpPr>
            <a:spLocks noGrp="1" noChangeArrowheads="1"/>
          </p:cNvSpPr>
          <p:nvPr>
            <p:ph type="body" idx="1"/>
          </p:nvPr>
        </p:nvSpPr>
        <p:spPr>
          <a:xfrm>
            <a:off x="849711" y="4805498"/>
            <a:ext cx="5326265" cy="4442121"/>
          </a:xfrm>
          <a:noFill/>
        </p:spPr>
        <p:txBody>
          <a:bodyPr/>
          <a:lstStyle/>
          <a:p>
            <a:r>
              <a:rPr lang="en-US" sz="1600" dirty="0"/>
              <a:t>This section shows the relationship between safety process and the standard.</a:t>
            </a:r>
          </a:p>
          <a:p>
            <a:r>
              <a:rPr lang="en-US" sz="1600" dirty="0"/>
              <a:t>First, we define the applicable scope of the project.</a:t>
            </a:r>
          </a:p>
          <a:p>
            <a:r>
              <a:rPr lang="en-US" sz="1600" dirty="0"/>
              <a:t>The safety process consists in 4 main steps:</a:t>
            </a:r>
          </a:p>
          <a:p>
            <a:pPr marL="285750" indent="-285750">
              <a:buFontTx/>
              <a:buChar char="-"/>
            </a:pPr>
            <a:r>
              <a:rPr lang="en-US" sz="1600" dirty="0"/>
              <a:t>scope definition</a:t>
            </a:r>
          </a:p>
          <a:p>
            <a:pPr marL="285750" indent="-285750">
              <a:buFontTx/>
              <a:buChar char="-"/>
            </a:pPr>
            <a:r>
              <a:rPr lang="en-US" sz="1600" dirty="0"/>
              <a:t>Preliminary Hazard Assessment</a:t>
            </a:r>
          </a:p>
          <a:p>
            <a:pPr marL="285750" indent="-285750">
              <a:buFontTx/>
              <a:buChar char="-"/>
            </a:pPr>
            <a:r>
              <a:rPr lang="en-US" sz="1600" dirty="0"/>
              <a:t>HAZOP</a:t>
            </a:r>
          </a:p>
          <a:p>
            <a:pPr marL="285750" indent="-285750">
              <a:buFontTx/>
              <a:buChar char="-"/>
            </a:pPr>
            <a:r>
              <a:rPr lang="en-US" sz="1600" dirty="0"/>
              <a:t>and Accident Scenario Review.</a:t>
            </a:r>
          </a:p>
          <a:p>
            <a:endParaRPr lang="en-US" sz="1600" dirty="0"/>
          </a:p>
          <a:p>
            <a:r>
              <a:rPr lang="en-US" sz="1600" dirty="0"/>
              <a:t>The results of this last step will define the list of Safety Instrumented Functions applicable to the scope and the associated Safety Integrity Level targets and specific safety requirements.</a:t>
            </a:r>
          </a:p>
          <a:p>
            <a:pPr eaLnBrk="1" hangingPunct="1"/>
            <a:endParaRPr lang="en-US" sz="1600" dirty="0"/>
          </a:p>
        </p:txBody>
      </p:sp>
    </p:spTree>
    <p:extLst>
      <p:ext uri="{BB962C8B-B14F-4D97-AF65-F5344CB8AC3E}">
        <p14:creationId xmlns:p14="http://schemas.microsoft.com/office/powerpoint/2010/main" val="1307431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The </a:t>
            </a:r>
            <a:r>
              <a:rPr lang="fr-FR" dirty="0" err="1"/>
              <a:t>risk</a:t>
            </a:r>
            <a:r>
              <a:rPr lang="fr-FR" dirty="0"/>
              <a:t> </a:t>
            </a:r>
            <a:r>
              <a:rPr lang="fr-FR" dirty="0" err="1"/>
              <a:t>analysis</a:t>
            </a:r>
            <a:r>
              <a:rPr lang="fr-FR" dirty="0"/>
              <a:t> process </a:t>
            </a:r>
            <a:r>
              <a:rPr lang="fr-FR" dirty="0" err="1"/>
              <a:t>requires</a:t>
            </a:r>
            <a:r>
              <a:rPr lang="fr-FR" dirty="0"/>
              <a:t> the </a:t>
            </a:r>
            <a:r>
              <a:rPr lang="fr-FR" dirty="0" err="1"/>
              <a:t>involvment</a:t>
            </a:r>
            <a:r>
              <a:rPr lang="fr-FR" dirty="0"/>
              <a:t> of design, </a:t>
            </a:r>
            <a:r>
              <a:rPr lang="fr-FR" dirty="0" err="1"/>
              <a:t>controls</a:t>
            </a:r>
            <a:r>
              <a:rPr lang="fr-FR" dirty="0"/>
              <a:t>, </a:t>
            </a:r>
            <a:r>
              <a:rPr lang="fr-FR" dirty="0" err="1"/>
              <a:t>systems</a:t>
            </a:r>
            <a:r>
              <a:rPr lang="fr-FR" dirty="0"/>
              <a:t> and </a:t>
            </a:r>
            <a:r>
              <a:rPr lang="fr-FR" dirty="0" err="1"/>
              <a:t>product</a:t>
            </a:r>
            <a:r>
              <a:rPr lang="fr-FR" dirty="0"/>
              <a:t> </a:t>
            </a:r>
            <a:r>
              <a:rPr lang="fr-FR" dirty="0" err="1"/>
              <a:t>safety</a:t>
            </a:r>
            <a:r>
              <a:rPr lang="fr-FR" dirty="0"/>
              <a:t> teams, </a:t>
            </a:r>
            <a:r>
              <a:rPr lang="fr-FR" dirty="0" err="1"/>
              <a:t>with</a:t>
            </a:r>
            <a:r>
              <a:rPr lang="fr-FR" dirty="0"/>
              <a:t> the support of </a:t>
            </a:r>
            <a:r>
              <a:rPr lang="fr-FR" dirty="0" err="1"/>
              <a:t>other</a:t>
            </a:r>
            <a:r>
              <a:rPr lang="fr-FR" dirty="0"/>
              <a:t> disciplines </a:t>
            </a:r>
            <a:r>
              <a:rPr lang="fr-FR" dirty="0" err="1"/>
              <a:t>when</a:t>
            </a:r>
            <a:r>
              <a:rPr lang="fr-FR" dirty="0"/>
              <a:t> </a:t>
            </a:r>
            <a:r>
              <a:rPr lang="fr-FR" dirty="0" err="1"/>
              <a:t>needed</a:t>
            </a:r>
            <a:r>
              <a:rPr lang="fr-FR" dirty="0"/>
              <a:t> </a:t>
            </a:r>
            <a:r>
              <a:rPr lang="fr-FR" dirty="0" err="1"/>
              <a:t>such</a:t>
            </a:r>
            <a:r>
              <a:rPr lang="fr-FR" dirty="0"/>
              <a:t> as </a:t>
            </a:r>
            <a:r>
              <a:rPr lang="fr-FR" dirty="0" err="1"/>
              <a:t>field</a:t>
            </a:r>
            <a:r>
              <a:rPr lang="fr-FR" dirty="0"/>
              <a:t> teams, EHS or </a:t>
            </a:r>
            <a:r>
              <a:rPr lang="fr-FR" dirty="0" err="1"/>
              <a:t>manufacturing</a:t>
            </a:r>
            <a:r>
              <a:rPr lang="fr-FR" dirty="0"/>
              <a:t>.</a:t>
            </a:r>
          </a:p>
          <a:p>
            <a:endParaRPr lang="fr-FR" dirty="0"/>
          </a:p>
          <a:p>
            <a:r>
              <a:rPr lang="fr-FR" dirty="0"/>
              <a:t>The </a:t>
            </a:r>
            <a:r>
              <a:rPr lang="fr-FR" dirty="0" err="1"/>
              <a:t>complete</a:t>
            </a:r>
            <a:r>
              <a:rPr lang="fr-FR" dirty="0"/>
              <a:t> </a:t>
            </a:r>
            <a:r>
              <a:rPr lang="fr-FR" dirty="0" err="1"/>
              <a:t>study</a:t>
            </a:r>
            <a:r>
              <a:rPr lang="fr-FR" dirty="0"/>
              <a:t> </a:t>
            </a:r>
            <a:r>
              <a:rPr lang="fr-FR" dirty="0" err="1"/>
              <a:t>is</a:t>
            </a:r>
            <a:r>
              <a:rPr lang="fr-FR" dirty="0"/>
              <a:t> GE </a:t>
            </a:r>
            <a:r>
              <a:rPr lang="fr-FR" dirty="0" err="1"/>
              <a:t>proprietary</a:t>
            </a:r>
            <a:r>
              <a:rPr lang="fr-FR" dirty="0"/>
              <a:t> data, but the end user </a:t>
            </a:r>
            <a:r>
              <a:rPr lang="fr-FR" dirty="0" err="1"/>
              <a:t>will</a:t>
            </a:r>
            <a:r>
              <a:rPr lang="fr-FR" dirty="0"/>
              <a:t> </a:t>
            </a:r>
            <a:r>
              <a:rPr lang="fr-FR" dirty="0" err="1"/>
              <a:t>get</a:t>
            </a:r>
            <a:r>
              <a:rPr lang="fr-FR" dirty="0"/>
              <a:t> the </a:t>
            </a:r>
            <a:r>
              <a:rPr lang="fr-FR" dirty="0" err="1"/>
              <a:t>list</a:t>
            </a:r>
            <a:r>
              <a:rPr lang="fr-FR" dirty="0"/>
              <a:t> of </a:t>
            </a:r>
            <a:r>
              <a:rPr lang="en-US" dirty="0"/>
              <a:t>Safety Instrumented Functions included in the Safety Manual.</a:t>
            </a:r>
            <a:endParaRPr lang="fr-FR" dirty="0"/>
          </a:p>
        </p:txBody>
      </p:sp>
      <p:sp>
        <p:nvSpPr>
          <p:cNvPr id="4" name="Espace réservé du numéro de diapositive 3"/>
          <p:cNvSpPr>
            <a:spLocks noGrp="1"/>
          </p:cNvSpPr>
          <p:nvPr>
            <p:ph type="sldNum" sz="quarter" idx="5"/>
          </p:nvPr>
        </p:nvSpPr>
        <p:spPr/>
        <p:txBody>
          <a:bodyPr/>
          <a:lstStyle/>
          <a:p>
            <a:fld id="{4A55B9BF-99C7-425D-A1C7-4E0B8871658A}" type="slidenum">
              <a:rPr lang="en-US" smtClean="0"/>
              <a:pPr/>
              <a:t>18</a:t>
            </a:fld>
            <a:endParaRPr lang="en-US"/>
          </a:p>
        </p:txBody>
      </p:sp>
    </p:spTree>
    <p:extLst>
      <p:ext uri="{BB962C8B-B14F-4D97-AF65-F5344CB8AC3E}">
        <p14:creationId xmlns:p14="http://schemas.microsoft.com/office/powerpoint/2010/main" val="1546813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definition of the Safety Instrumented Functions and their SIL target are recorded in Safety Requirements Specifications issued by Product Safety. This document includes a SIF description, its mode of operation, the safe state of the considered equipment, the Risk Reduction Factor or Probability of Failure targets and the maximum response time of the SIF.</a:t>
            </a:r>
          </a:p>
          <a:p>
            <a:endParaRPr lang="en-US" dirty="0"/>
          </a:p>
          <a:p>
            <a:r>
              <a:rPr lang="en-US" dirty="0"/>
              <a:t>This document doesn’t contain the information on the SIF design. </a:t>
            </a:r>
          </a:p>
          <a:p>
            <a:endParaRPr lang="en-US" dirty="0"/>
          </a:p>
          <a:p>
            <a:r>
              <a:rPr lang="en-US" dirty="0"/>
              <a:t>Warning! “SRS” has a different meaning in the IEC61511 standard (it includes design, validation steps…)</a:t>
            </a:r>
          </a:p>
          <a:p>
            <a:endParaRPr lang="fr-FR" dirty="0"/>
          </a:p>
        </p:txBody>
      </p:sp>
      <p:sp>
        <p:nvSpPr>
          <p:cNvPr id="4" name="Espace réservé du numéro de diapositive 3"/>
          <p:cNvSpPr>
            <a:spLocks noGrp="1"/>
          </p:cNvSpPr>
          <p:nvPr>
            <p:ph type="sldNum" sz="quarter" idx="5"/>
          </p:nvPr>
        </p:nvSpPr>
        <p:spPr/>
        <p:txBody>
          <a:bodyPr/>
          <a:lstStyle/>
          <a:p>
            <a:fld id="{4A55B9BF-99C7-425D-A1C7-4E0B8871658A}" type="slidenum">
              <a:rPr lang="en-US" smtClean="0"/>
              <a:pPr/>
              <a:t>19</a:t>
            </a:fld>
            <a:endParaRPr lang="en-US"/>
          </a:p>
        </p:txBody>
      </p:sp>
    </p:spTree>
    <p:extLst>
      <p:ext uri="{BB962C8B-B14F-4D97-AF65-F5344CB8AC3E}">
        <p14:creationId xmlns:p14="http://schemas.microsoft.com/office/powerpoint/2010/main" val="42349771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the technical requirements to be included in the design of the SIF, we have:</a:t>
            </a:r>
          </a:p>
          <a:p>
            <a:r>
              <a:rPr lang="en-US" dirty="0"/>
              <a:t>- The Safe State, which is the State of the machine or process to be attained in case of malfunction</a:t>
            </a:r>
          </a:p>
          <a:p>
            <a:endParaRPr lang="en-US" dirty="0"/>
          </a:p>
          <a:p>
            <a:r>
              <a:rPr lang="en-US" dirty="0"/>
              <a:t>- The Trigger conditions, which are Process measurements &amp; critical values which indicate that the process is in risk and protective action must be initiated (which is typically a process shutdown)</a:t>
            </a:r>
          </a:p>
          <a:p>
            <a:endParaRPr lang="en-US" dirty="0"/>
          </a:p>
          <a:p>
            <a:r>
              <a:rPr lang="en-US" dirty="0"/>
              <a:t>- Response Time , the Time window for reaching the safe state after trigger conditions have been detected</a:t>
            </a:r>
          </a:p>
          <a:p>
            <a:endParaRPr lang="en-US" dirty="0"/>
          </a:p>
          <a:p>
            <a:r>
              <a:rPr lang="en-US" dirty="0"/>
              <a:t>- Technical boundary conditions of machine or processes – For ex: process parameters like pressure temperatures or standards for mechanical communication interfaces, etc.</a:t>
            </a:r>
          </a:p>
          <a:p>
            <a:endParaRPr lang="en-US" dirty="0"/>
          </a:p>
          <a:p>
            <a:r>
              <a:rPr lang="en-US" dirty="0"/>
              <a:t>- Testing Conditions, which specify allowance from the side of the machine or process for testing SIF or components of the SIFs</a:t>
            </a:r>
          </a:p>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20</a:t>
            </a:fld>
            <a:endParaRPr lang="en-US"/>
          </a:p>
        </p:txBody>
      </p:sp>
    </p:spTree>
    <p:extLst>
      <p:ext uri="{BB962C8B-B14F-4D97-AF65-F5344CB8AC3E}">
        <p14:creationId xmlns:p14="http://schemas.microsoft.com/office/powerpoint/2010/main" val="3629038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21</a:t>
            </a:fld>
            <a:endParaRPr lang="en-US"/>
          </a:p>
        </p:txBody>
      </p:sp>
    </p:spTree>
    <p:extLst>
      <p:ext uri="{BB962C8B-B14F-4D97-AF65-F5344CB8AC3E}">
        <p14:creationId xmlns:p14="http://schemas.microsoft.com/office/powerpoint/2010/main" val="17396512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reach the safety requirements, there are several principles to be considered during the design of the Safety Instrumented Functions, such as:</a:t>
            </a:r>
          </a:p>
          <a:p>
            <a:pPr marL="171450" indent="-171450">
              <a:buFontTx/>
              <a:buChar char="-"/>
            </a:pPr>
            <a:r>
              <a:rPr lang="en-US" sz="1200" dirty="0"/>
              <a:t>The reduction of probability of failure of the protective system, through the choice of a simple structure, adequate redundancy of components, proper measures against systematic errors (for example to prevent human error), and use of high quality components and materials ;</a:t>
            </a:r>
          </a:p>
          <a:p>
            <a:pPr marL="171450" indent="-171450">
              <a:buFontTx/>
              <a:buChar char="-"/>
            </a:pPr>
            <a:r>
              <a:rPr lang="en-US" sz="1200" dirty="0"/>
              <a:t>The proper segregation between the safety system and the basic process control, which is required by the standard: for example, there is a separate safety controller (</a:t>
            </a:r>
            <a:r>
              <a:rPr lang="en-US" sz="1200" dirty="0" err="1"/>
              <a:t>MarkVIeS</a:t>
            </a:r>
            <a:r>
              <a:rPr lang="en-US" sz="1200" dirty="0"/>
              <a:t>) in addition to the basic </a:t>
            </a:r>
            <a:r>
              <a:rPr lang="en-US" sz="1200" dirty="0" err="1"/>
              <a:t>procees</a:t>
            </a:r>
            <a:r>
              <a:rPr lang="en-US" sz="1200" dirty="0"/>
              <a:t> controller </a:t>
            </a:r>
            <a:r>
              <a:rPr lang="en-US" sz="1200" dirty="0" err="1"/>
              <a:t>MarkVIe</a:t>
            </a:r>
            <a:r>
              <a:rPr lang="en-US" sz="1200" dirty="0"/>
              <a:t>, and the basic process cannot influence the safety system in any way.</a:t>
            </a:r>
          </a:p>
        </p:txBody>
      </p:sp>
      <p:sp>
        <p:nvSpPr>
          <p:cNvPr id="4" name="Slide Number Placeholder 3"/>
          <p:cNvSpPr>
            <a:spLocks noGrp="1"/>
          </p:cNvSpPr>
          <p:nvPr>
            <p:ph type="sldNum" sz="quarter" idx="10"/>
          </p:nvPr>
        </p:nvSpPr>
        <p:spPr/>
        <p:txBody>
          <a:bodyPr/>
          <a:lstStyle/>
          <a:p>
            <a:fld id="{4A55B9BF-99C7-425D-A1C7-4E0B8871658A}" type="slidenum">
              <a:rPr lang="en-US" smtClean="0"/>
              <a:t>22</a:t>
            </a:fld>
            <a:endParaRPr lang="en-US"/>
          </a:p>
        </p:txBody>
      </p:sp>
    </p:spTree>
    <p:extLst>
      <p:ext uri="{BB962C8B-B14F-4D97-AF65-F5344CB8AC3E}">
        <p14:creationId xmlns:p14="http://schemas.microsoft.com/office/powerpoint/2010/main" val="32164058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A55B9BF-99C7-425D-A1C7-4E0B8871658A}" type="slidenum">
              <a:rPr lang="en-US" smtClean="0"/>
              <a:t>23</a:t>
            </a:fld>
            <a:endParaRPr lang="en-US"/>
          </a:p>
        </p:txBody>
      </p:sp>
    </p:spTree>
    <p:extLst>
      <p:ext uri="{BB962C8B-B14F-4D97-AF65-F5344CB8AC3E}">
        <p14:creationId xmlns:p14="http://schemas.microsoft.com/office/powerpoint/2010/main" val="2435101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The design is reviewed and validated to make sure the main requirements have been incorporated, </a:t>
            </a:r>
            <a:r>
              <a:rPr lang="en-US" noProof="0" dirty="0"/>
              <a:t>such</a:t>
            </a:r>
            <a:r>
              <a:rPr lang="en-US" dirty="0"/>
              <a:t> as:</a:t>
            </a:r>
          </a:p>
          <a:p>
            <a:pPr marL="171450" indent="-171450">
              <a:buFontTx/>
              <a:buChar char="-"/>
            </a:pPr>
            <a:r>
              <a:rPr lang="en-US" dirty="0"/>
              <a:t>Proper segregation of process control and protection</a:t>
            </a:r>
          </a:p>
          <a:p>
            <a:pPr marL="171450" indent="-171450">
              <a:buFontTx/>
              <a:buChar char="-"/>
            </a:pPr>
            <a:r>
              <a:rPr lang="en-US" dirty="0"/>
              <a:t>Minimum redundancy</a:t>
            </a:r>
          </a:p>
          <a:p>
            <a:pPr marL="171450" indent="-171450">
              <a:buFontTx/>
              <a:buChar char="-"/>
            </a:pPr>
            <a:r>
              <a:rPr lang="en-US" dirty="0"/>
              <a:t>Reliability and response time</a:t>
            </a:r>
          </a:p>
          <a:p>
            <a:pPr marL="171450" indent="-171450">
              <a:buFontTx/>
              <a:buChar char="-"/>
            </a:pPr>
            <a:endParaRPr lang="en-US" dirty="0"/>
          </a:p>
          <a:p>
            <a:pPr marL="0" indent="0">
              <a:buFontTx/>
              <a:buNone/>
            </a:pPr>
            <a:r>
              <a:rPr lang="en-US" dirty="0"/>
              <a:t>Safety controller application software is verified by a systematic test during a dedicated Software Acceptance Test.</a:t>
            </a:r>
          </a:p>
          <a:p>
            <a:pPr marL="171450" indent="-171450">
              <a:buFontTx/>
              <a:buChar char="-"/>
            </a:pPr>
            <a:endParaRPr lang="en-US" dirty="0"/>
          </a:p>
          <a:p>
            <a:pPr marL="0" indent="0">
              <a:buFontTx/>
              <a:buNone/>
            </a:pPr>
            <a:r>
              <a:rPr lang="en-US" dirty="0"/>
              <a:t>During this phase, testing and maintenance requirements are also checked.</a:t>
            </a:r>
          </a:p>
        </p:txBody>
      </p:sp>
      <p:sp>
        <p:nvSpPr>
          <p:cNvPr id="4" name="Espace réservé du numéro de diapositive 3"/>
          <p:cNvSpPr>
            <a:spLocks noGrp="1"/>
          </p:cNvSpPr>
          <p:nvPr>
            <p:ph type="sldNum" sz="quarter" idx="5"/>
          </p:nvPr>
        </p:nvSpPr>
        <p:spPr/>
        <p:txBody>
          <a:bodyPr/>
          <a:lstStyle/>
          <a:p>
            <a:fld id="{4A55B9BF-99C7-425D-A1C7-4E0B8871658A}" type="slidenum">
              <a:rPr lang="en-US" smtClean="0"/>
              <a:pPr/>
              <a:t>24</a:t>
            </a:fld>
            <a:endParaRPr lang="en-US"/>
          </a:p>
        </p:txBody>
      </p:sp>
    </p:spTree>
    <p:extLst>
      <p:ext uri="{BB962C8B-B14F-4D97-AF65-F5344CB8AC3E}">
        <p14:creationId xmlns:p14="http://schemas.microsoft.com/office/powerpoint/2010/main" val="7153000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A55B9BF-99C7-425D-A1C7-4E0B8871658A}" type="slidenum">
              <a:rPr lang="en-US" smtClean="0"/>
              <a:t>25</a:t>
            </a:fld>
            <a:endParaRPr lang="en-US"/>
          </a:p>
        </p:txBody>
      </p:sp>
    </p:spTree>
    <p:extLst>
      <p:ext uri="{BB962C8B-B14F-4D97-AF65-F5344CB8AC3E}">
        <p14:creationId xmlns:p14="http://schemas.microsoft.com/office/powerpoint/2010/main" val="6143877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One of the critical steps of IEC61511 verification steps is hardware &amp; software design of the safety controller.</a:t>
            </a:r>
          </a:p>
          <a:p>
            <a:endParaRPr lang="en-US" sz="1200" dirty="0"/>
          </a:p>
          <a:p>
            <a:r>
              <a:rPr lang="en-US" sz="1200" dirty="0"/>
              <a:t>This phase ensures:</a:t>
            </a:r>
          </a:p>
          <a:p>
            <a:pPr marL="171450" indent="-171450">
              <a:buFontTx/>
              <a:buChar char="-"/>
            </a:pPr>
            <a:r>
              <a:rPr lang="en-US" sz="1200" dirty="0"/>
              <a:t>The hardware configuration includes all necessary inputs/outputs, with the required redundancy ;</a:t>
            </a:r>
          </a:p>
          <a:p>
            <a:pPr marL="171450" indent="-171450">
              <a:buFontTx/>
              <a:buChar char="-"/>
            </a:pPr>
            <a:r>
              <a:rPr lang="en-US" sz="1200" dirty="0"/>
              <a:t>The software is designed according to IEC 61511 requirements, including diagnostics &amp; fault monitoring.</a:t>
            </a:r>
          </a:p>
          <a:p>
            <a:pPr marL="171450" indent="-171450">
              <a:buFontTx/>
              <a:buChar char="-"/>
            </a:pPr>
            <a:endParaRPr lang="en-US" sz="1200" dirty="0"/>
          </a:p>
          <a:p>
            <a:pPr marL="0" indent="0">
              <a:buFontTx/>
              <a:buNone/>
            </a:pPr>
            <a:r>
              <a:rPr lang="en-US" sz="1200" dirty="0"/>
              <a:t>Those validations steps are required by the standard and may be witnessed by third parties, for 61511 certification or for other regulatory requirements (such as European Directives).</a:t>
            </a:r>
          </a:p>
        </p:txBody>
      </p:sp>
      <p:sp>
        <p:nvSpPr>
          <p:cNvPr id="4" name="Slide Number Placeholder 3"/>
          <p:cNvSpPr>
            <a:spLocks noGrp="1"/>
          </p:cNvSpPr>
          <p:nvPr>
            <p:ph type="sldNum" sz="quarter" idx="10"/>
          </p:nvPr>
        </p:nvSpPr>
        <p:spPr/>
        <p:txBody>
          <a:bodyPr/>
          <a:lstStyle/>
          <a:p>
            <a:fld id="{4A55B9BF-99C7-425D-A1C7-4E0B8871658A}" type="slidenum">
              <a:rPr lang="en-US" smtClean="0"/>
              <a:t>26</a:t>
            </a:fld>
            <a:endParaRPr lang="en-US"/>
          </a:p>
        </p:txBody>
      </p:sp>
    </p:spTree>
    <p:extLst>
      <p:ext uri="{BB962C8B-B14F-4D97-AF65-F5344CB8AC3E}">
        <p14:creationId xmlns:p14="http://schemas.microsoft.com/office/powerpoint/2010/main" val="162451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27</a:t>
            </a:fld>
            <a:endParaRPr lang="en-US"/>
          </a:p>
        </p:txBody>
      </p:sp>
    </p:spTree>
    <p:extLst>
      <p:ext uri="{BB962C8B-B14F-4D97-AF65-F5344CB8AC3E}">
        <p14:creationId xmlns:p14="http://schemas.microsoft.com/office/powerpoint/2010/main" val="17388540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Next step is the installation and commissioning of the Safety Instrumented System on site. During this step GE must demonstrate it is properly installed and all Safety Instrumented Functions perform as intended.</a:t>
            </a:r>
          </a:p>
        </p:txBody>
      </p:sp>
      <p:sp>
        <p:nvSpPr>
          <p:cNvPr id="4" name="Slide Number Placeholder 3"/>
          <p:cNvSpPr>
            <a:spLocks noGrp="1"/>
          </p:cNvSpPr>
          <p:nvPr>
            <p:ph type="sldNum" sz="quarter" idx="10"/>
          </p:nvPr>
        </p:nvSpPr>
        <p:spPr/>
        <p:txBody>
          <a:bodyPr/>
          <a:lstStyle/>
          <a:p>
            <a:fld id="{4A55B9BF-99C7-425D-A1C7-4E0B8871658A}" type="slidenum">
              <a:rPr lang="en-US" smtClean="0"/>
              <a:t>28</a:t>
            </a:fld>
            <a:endParaRPr lang="en-US"/>
          </a:p>
        </p:txBody>
      </p:sp>
    </p:spTree>
    <p:extLst>
      <p:ext uri="{BB962C8B-B14F-4D97-AF65-F5344CB8AC3E}">
        <p14:creationId xmlns:p14="http://schemas.microsoft.com/office/powerpoint/2010/main" val="3472058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validate the SIS, we perform a Site Acceptance Tests validation which typically includes 3 types of tests:</a:t>
            </a:r>
          </a:p>
          <a:p>
            <a:pPr marL="171450" indent="-171450">
              <a:buFontTx/>
              <a:buChar char="-"/>
            </a:pPr>
            <a:r>
              <a:rPr lang="en-US" sz="1200" dirty="0"/>
              <a:t>Sensors loop checks to validate the sensors are correctly wired to the safety controller and proper signals are generated ;</a:t>
            </a:r>
          </a:p>
          <a:p>
            <a:pPr marL="171450" indent="-171450">
              <a:buFontTx/>
              <a:buChar char="-"/>
            </a:pPr>
            <a:r>
              <a:rPr lang="en-US" sz="1200" dirty="0"/>
              <a:t>Final elements loop checks, to validate the final elements (e.g. valves) are correctly wired to the safety controller and are properly actuated when needed ;</a:t>
            </a:r>
          </a:p>
          <a:p>
            <a:pPr marL="171450" indent="-171450">
              <a:buFontTx/>
              <a:buChar char="-"/>
            </a:pPr>
            <a:r>
              <a:rPr lang="en-US" sz="1200" dirty="0"/>
              <a:t>And some functional tests, to demonstrate the proper integration of all sub-systems, such as for a gas turbine:</a:t>
            </a:r>
          </a:p>
          <a:p>
            <a:pPr marL="342900" lvl="1" indent="-171450">
              <a:buFontTx/>
              <a:buChar char="-"/>
            </a:pPr>
            <a:r>
              <a:rPr lang="en-US" sz="1200" dirty="0"/>
              <a:t>Calibration check of transmitters, validation of SIS devices</a:t>
            </a:r>
          </a:p>
          <a:p>
            <a:pPr marL="342900" lvl="1" indent="-171450">
              <a:buFontTx/>
              <a:buChar char="-"/>
            </a:pPr>
            <a:r>
              <a:rPr lang="en-US" sz="1200" dirty="0"/>
              <a:t>Measurement of critical response times of devices</a:t>
            </a:r>
          </a:p>
          <a:p>
            <a:pPr marL="342900" lvl="1" indent="-171450">
              <a:buFontTx/>
              <a:buChar char="-"/>
            </a:pPr>
            <a:r>
              <a:rPr lang="en-US" sz="1200" dirty="0"/>
              <a:t>Emergency stop test</a:t>
            </a:r>
          </a:p>
          <a:p>
            <a:pPr marL="342900" lvl="1" indent="-171450">
              <a:buFontTx/>
              <a:buChar char="-"/>
            </a:pPr>
            <a:r>
              <a:rPr lang="en-US" sz="1200" dirty="0"/>
              <a:t>Ignition fault test before firing the unit</a:t>
            </a:r>
          </a:p>
          <a:p>
            <a:pPr marL="342900" lvl="1" indent="-171450">
              <a:buFontTx/>
              <a:buChar char="-"/>
            </a:pPr>
            <a:r>
              <a:rPr lang="en-US" sz="1200" dirty="0"/>
              <a:t>After first fire, demonstrate the overspeed protection is operational.</a:t>
            </a:r>
          </a:p>
          <a:p>
            <a:pPr marL="342900" lvl="1" indent="-171450">
              <a:buFontTx/>
              <a:buChar char="-"/>
            </a:pPr>
            <a:endParaRPr lang="en-US" sz="1200" dirty="0"/>
          </a:p>
          <a:p>
            <a:pPr marL="171450" lvl="1" indent="0">
              <a:buFontTx/>
              <a:buNone/>
            </a:pPr>
            <a:r>
              <a:rPr lang="en-US" sz="1200" dirty="0"/>
              <a:t>Depending on the project requirements, some additional testing may be needed ; in addition, some tests may be witnessed by third parties.</a:t>
            </a:r>
          </a:p>
          <a:p>
            <a:pPr marL="171450" lvl="1" indent="0">
              <a:buFontTx/>
              <a:buNone/>
            </a:pPr>
            <a:endParaRPr lang="en-US" sz="1200" dirty="0"/>
          </a:p>
          <a:p>
            <a:pPr marL="171450" lvl="1" indent="0">
              <a:buFontTx/>
              <a:buNone/>
            </a:pPr>
            <a:r>
              <a:rPr lang="en-US" sz="1200" dirty="0"/>
              <a:t>Similar testing is applied on steam turbines (before &amp; after first roll) and on Water Steam Cycle.</a:t>
            </a:r>
          </a:p>
        </p:txBody>
      </p:sp>
      <p:sp>
        <p:nvSpPr>
          <p:cNvPr id="4" name="Slide Number Placeholder 3"/>
          <p:cNvSpPr>
            <a:spLocks noGrp="1"/>
          </p:cNvSpPr>
          <p:nvPr>
            <p:ph type="sldNum" sz="quarter" idx="10"/>
          </p:nvPr>
        </p:nvSpPr>
        <p:spPr/>
        <p:txBody>
          <a:bodyPr/>
          <a:lstStyle/>
          <a:p>
            <a:fld id="{4A55B9BF-99C7-425D-A1C7-4E0B8871658A}" type="slidenum">
              <a:rPr lang="en-US" smtClean="0"/>
              <a:t>29</a:t>
            </a:fld>
            <a:endParaRPr lang="en-US"/>
          </a:p>
        </p:txBody>
      </p:sp>
    </p:spTree>
    <p:extLst>
      <p:ext uri="{BB962C8B-B14F-4D97-AF65-F5344CB8AC3E}">
        <p14:creationId xmlns:p14="http://schemas.microsoft.com/office/powerpoint/2010/main" val="20339798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GE works with site field engineers to complete the relevant tests as defined by GE SIL tests procedures. This is applicable to GE scope of supply, including gas turbines, steam turbines, Heat Recovery Steam Generators, Water Steam Cycle, and Balance of Plant.</a:t>
            </a:r>
          </a:p>
          <a:p>
            <a:endParaRPr lang="en-US" sz="1200" dirty="0"/>
          </a:p>
          <a:p>
            <a:r>
              <a:rPr lang="en-US" sz="1200" dirty="0"/>
              <a:t>Those field engineers must be trained specifically to understand the requirements of functional safety during installation and commissioning, through a specific training.</a:t>
            </a:r>
          </a:p>
          <a:p>
            <a:endParaRPr lang="en-US" sz="1200" dirty="0"/>
          </a:p>
          <a:p>
            <a:r>
              <a:rPr lang="en-US" sz="1200" dirty="0"/>
              <a:t>In liaison with GE SIL Compliance team, the field engineers perform the Site Acceptance Tests, record results for validation by engineering, and correct any identified issues. All tests results are recorded and validated by the SIL Compliance team.</a:t>
            </a:r>
          </a:p>
          <a:p>
            <a:endParaRPr lang="en-US" sz="1200" dirty="0"/>
          </a:p>
          <a:p>
            <a:r>
              <a:rPr lang="en-US" sz="1200" dirty="0"/>
              <a:t>When working with a third party, witnessing of the tests may be required.</a:t>
            </a:r>
          </a:p>
        </p:txBody>
      </p:sp>
      <p:sp>
        <p:nvSpPr>
          <p:cNvPr id="4" name="Slide Number Placeholder 3"/>
          <p:cNvSpPr>
            <a:spLocks noGrp="1"/>
          </p:cNvSpPr>
          <p:nvPr>
            <p:ph type="sldNum" sz="quarter" idx="10"/>
          </p:nvPr>
        </p:nvSpPr>
        <p:spPr/>
        <p:txBody>
          <a:bodyPr/>
          <a:lstStyle/>
          <a:p>
            <a:fld id="{4A55B9BF-99C7-425D-A1C7-4E0B8871658A}" type="slidenum">
              <a:rPr lang="en-US" smtClean="0"/>
              <a:t>30</a:t>
            </a:fld>
            <a:endParaRPr lang="en-US"/>
          </a:p>
        </p:txBody>
      </p:sp>
    </p:spTree>
    <p:extLst>
      <p:ext uri="{BB962C8B-B14F-4D97-AF65-F5344CB8AC3E}">
        <p14:creationId xmlns:p14="http://schemas.microsoft.com/office/powerpoint/2010/main" val="2896026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31</a:t>
            </a:fld>
            <a:endParaRPr lang="en-US"/>
          </a:p>
        </p:txBody>
      </p:sp>
    </p:spTree>
    <p:extLst>
      <p:ext uri="{BB962C8B-B14F-4D97-AF65-F5344CB8AC3E}">
        <p14:creationId xmlns:p14="http://schemas.microsoft.com/office/powerpoint/2010/main" val="31349137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A55B9BF-99C7-425D-A1C7-4E0B8871658A}" type="slidenum">
              <a:rPr lang="en-US" smtClean="0"/>
              <a:t>32</a:t>
            </a:fld>
            <a:endParaRPr lang="en-US"/>
          </a:p>
        </p:txBody>
      </p:sp>
    </p:spTree>
    <p:extLst>
      <p:ext uri="{BB962C8B-B14F-4D97-AF65-F5344CB8AC3E}">
        <p14:creationId xmlns:p14="http://schemas.microsoft.com/office/powerpoint/2010/main" val="12516626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IEC61511 requires independence throughout the different phases of the functional safety lifecycle. GE maintains this independence by defining roles within the company based on design and functional responsibilities.</a:t>
            </a:r>
          </a:p>
          <a:p>
            <a:endParaRPr lang="en-US" sz="1200" dirty="0"/>
          </a:p>
          <a:p>
            <a:r>
              <a:rPr lang="en-US" sz="1200" dirty="0"/>
              <a:t>The main stakeholders on any functional safety project are SIL Compliance team, Product Safety organization, Design Engineering, Controls Engineering and Field Engineering. SIL Compliance team ensures that all the stakeholders involved in any functional safety project have received the adequate training as per their functions defined in EED-400.</a:t>
            </a:r>
          </a:p>
          <a:p>
            <a:endParaRPr lang="en-US" sz="1200" dirty="0"/>
          </a:p>
          <a:p>
            <a:r>
              <a:rPr lang="en-US" sz="1200" dirty="0"/>
              <a:t>Throughout the project lifecycle, the stakeholders work with Project/Requisition Engineers to drive the project schedules &amp; commitments as needed. The SIL execution team works under the technical guidance of Controlled Title Holders. </a:t>
            </a:r>
          </a:p>
        </p:txBody>
      </p:sp>
      <p:sp>
        <p:nvSpPr>
          <p:cNvPr id="4" name="Slide Number Placeholder 3"/>
          <p:cNvSpPr>
            <a:spLocks noGrp="1"/>
          </p:cNvSpPr>
          <p:nvPr>
            <p:ph type="sldNum" sz="quarter" idx="10"/>
          </p:nvPr>
        </p:nvSpPr>
        <p:spPr/>
        <p:txBody>
          <a:bodyPr/>
          <a:lstStyle/>
          <a:p>
            <a:fld id="{4A55B9BF-99C7-425D-A1C7-4E0B8871658A}" type="slidenum">
              <a:rPr lang="en-US" smtClean="0"/>
              <a:t>33</a:t>
            </a:fld>
            <a:endParaRPr lang="en-US"/>
          </a:p>
        </p:txBody>
      </p:sp>
    </p:spTree>
    <p:extLst>
      <p:ext uri="{BB962C8B-B14F-4D97-AF65-F5344CB8AC3E}">
        <p14:creationId xmlns:p14="http://schemas.microsoft.com/office/powerpoint/2010/main" val="995682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41E74CE-3862-44B6-BC46-6AA2806F512C}"/>
              </a:ext>
            </a:extLst>
          </p:cNvPr>
          <p:cNvSpPr>
            <a:spLocks noGrp="1" noRot="1" noChangeAspect="1" noChangeArrowheads="1" noTextEdit="1"/>
          </p:cNvSpPr>
          <p:nvPr>
            <p:ph type="sldImg"/>
          </p:nvPr>
        </p:nvSpPr>
        <p:spPr>
          <a:xfrm>
            <a:off x="534988" y="234950"/>
            <a:ext cx="5891212" cy="4418013"/>
          </a:xfrm>
          <a:ln/>
        </p:spPr>
      </p:sp>
      <p:sp>
        <p:nvSpPr>
          <p:cNvPr id="15363" name="Rectangle 3">
            <a:extLst>
              <a:ext uri="{FF2B5EF4-FFF2-40B4-BE49-F238E27FC236}">
                <a16:creationId xmlns:a16="http://schemas.microsoft.com/office/drawing/2014/main" id="{781B98EE-349F-4876-9ADA-D9235BD110E4}"/>
              </a:ext>
            </a:extLst>
          </p:cNvPr>
          <p:cNvSpPr>
            <a:spLocks noGrp="1" noChangeArrowheads="1"/>
          </p:cNvSpPr>
          <p:nvPr>
            <p:ph type="body" idx="1"/>
          </p:nvPr>
        </p:nvSpPr>
        <p:spPr>
          <a:xfrm>
            <a:off x="841375" y="4776788"/>
            <a:ext cx="5278438" cy="441483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fr-FR" altLang="fr-FR" sz="1600">
                <a:latin typeface="Arial" panose="020B0604020202020204" pitchFamily="34" charset="0"/>
              </a:rPr>
              <a:t>Exemple de bilan sur Mittelsbueren </a:t>
            </a:r>
            <a:endParaRPr lang="en-US" altLang="fr-FR" sz="1600">
              <a:latin typeface="Arial" panose="020B0604020202020204" pitchFamily="34" charset="0"/>
            </a:endParaRPr>
          </a:p>
        </p:txBody>
      </p:sp>
    </p:spTree>
    <p:extLst>
      <p:ext uri="{BB962C8B-B14F-4D97-AF65-F5344CB8AC3E}">
        <p14:creationId xmlns:p14="http://schemas.microsoft.com/office/powerpoint/2010/main" val="20259311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36</a:t>
            </a:fld>
            <a:endParaRPr lang="en-US"/>
          </a:p>
        </p:txBody>
      </p:sp>
    </p:spTree>
    <p:extLst>
      <p:ext uri="{BB962C8B-B14F-4D97-AF65-F5344CB8AC3E}">
        <p14:creationId xmlns:p14="http://schemas.microsoft.com/office/powerpoint/2010/main" val="2804000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After full satisfactory site validation of the Safety Instrumented Systems, GE provides the necessary information for the end user to safely operate its power plant during its useful life, by properly maintaining its safety functions.</a:t>
            </a:r>
          </a:p>
          <a:p>
            <a:endParaRPr lang="en-US" dirty="0"/>
          </a:p>
          <a:p>
            <a:r>
              <a:rPr lang="en-US" dirty="0"/>
              <a:t>This is included in the Safety Manuals provided with the units. A typical Safety Manual includes:</a:t>
            </a:r>
          </a:p>
          <a:p>
            <a:pPr marL="171450" indent="-171450">
              <a:buFontTx/>
              <a:buChar char="-"/>
            </a:pPr>
            <a:r>
              <a:rPr lang="en-US" dirty="0"/>
              <a:t>Safety precautions to operate the unit</a:t>
            </a:r>
          </a:p>
          <a:p>
            <a:pPr marL="171450" indent="-171450">
              <a:buFontTx/>
              <a:buChar char="-"/>
            </a:pPr>
            <a:r>
              <a:rPr lang="en-US" dirty="0"/>
              <a:t>Description of the Safety Instrumented Functions</a:t>
            </a:r>
          </a:p>
          <a:p>
            <a:pPr marL="171450" indent="-171450">
              <a:buFontTx/>
              <a:buChar char="-"/>
            </a:pPr>
            <a:r>
              <a:rPr lang="en-US" dirty="0"/>
              <a:t>Maintenance requirements</a:t>
            </a:r>
          </a:p>
          <a:p>
            <a:pPr marL="171450" indent="-171450">
              <a:buFontTx/>
              <a:buChar char="-"/>
            </a:pPr>
            <a:r>
              <a:rPr lang="en-US" dirty="0"/>
              <a:t>Responsibilities for the end user to maintain the safety integrity of the SIS.</a:t>
            </a:r>
          </a:p>
          <a:p>
            <a:endParaRPr lang="en-US" sz="1200" dirty="0"/>
          </a:p>
        </p:txBody>
      </p:sp>
      <p:sp>
        <p:nvSpPr>
          <p:cNvPr id="4" name="Slide Number Placeholder 3"/>
          <p:cNvSpPr>
            <a:spLocks noGrp="1"/>
          </p:cNvSpPr>
          <p:nvPr>
            <p:ph type="sldNum" sz="quarter" idx="10"/>
          </p:nvPr>
        </p:nvSpPr>
        <p:spPr/>
        <p:txBody>
          <a:bodyPr/>
          <a:lstStyle/>
          <a:p>
            <a:fld id="{4A55B9BF-99C7-425D-A1C7-4E0B8871658A}" type="slidenum">
              <a:rPr lang="en-US" smtClean="0"/>
              <a:t>37</a:t>
            </a:fld>
            <a:endParaRPr lang="en-US"/>
          </a:p>
        </p:txBody>
      </p:sp>
    </p:spTree>
    <p:extLst>
      <p:ext uri="{BB962C8B-B14F-4D97-AF65-F5344CB8AC3E}">
        <p14:creationId xmlns:p14="http://schemas.microsoft.com/office/powerpoint/2010/main" val="3519917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4A55B9BF-99C7-425D-A1C7-4E0B8871658A}" type="slidenum">
              <a:rPr lang="en-US" smtClean="0"/>
              <a:t>38</a:t>
            </a:fld>
            <a:endParaRPr lang="en-US"/>
          </a:p>
        </p:txBody>
      </p:sp>
    </p:spTree>
    <p:extLst>
      <p:ext uri="{BB962C8B-B14F-4D97-AF65-F5344CB8AC3E}">
        <p14:creationId xmlns:p14="http://schemas.microsoft.com/office/powerpoint/2010/main" val="15851347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GE has been working with several third parties to demonstrate that the products and processes comply with IEC61511 requirements.</a:t>
            </a:r>
          </a:p>
          <a:p>
            <a:endParaRPr lang="en-US" dirty="0"/>
          </a:p>
          <a:p>
            <a:r>
              <a:rPr lang="en-US" sz="1200" dirty="0"/>
              <a:t>Depending on the legal or contractual requirements, GE may provide SIL certification to the end customer.</a:t>
            </a:r>
          </a:p>
        </p:txBody>
      </p:sp>
      <p:sp>
        <p:nvSpPr>
          <p:cNvPr id="4" name="Slide Number Placeholder 3"/>
          <p:cNvSpPr>
            <a:spLocks noGrp="1"/>
          </p:cNvSpPr>
          <p:nvPr>
            <p:ph type="sldNum" sz="quarter" idx="10"/>
          </p:nvPr>
        </p:nvSpPr>
        <p:spPr/>
        <p:txBody>
          <a:bodyPr/>
          <a:lstStyle/>
          <a:p>
            <a:fld id="{4A55B9BF-99C7-425D-A1C7-4E0B8871658A}" type="slidenum">
              <a:rPr lang="en-US" smtClean="0"/>
              <a:t>39</a:t>
            </a:fld>
            <a:endParaRPr lang="en-US"/>
          </a:p>
        </p:txBody>
      </p:sp>
    </p:spTree>
    <p:extLst>
      <p:ext uri="{BB962C8B-B14F-4D97-AF65-F5344CB8AC3E}">
        <p14:creationId xmlns:p14="http://schemas.microsoft.com/office/powerpoint/2010/main" val="15318494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40</a:t>
            </a:fld>
            <a:endParaRPr lang="en-US"/>
          </a:p>
        </p:txBody>
      </p:sp>
    </p:spTree>
    <p:extLst>
      <p:ext uri="{BB962C8B-B14F-4D97-AF65-F5344CB8AC3E}">
        <p14:creationId xmlns:p14="http://schemas.microsoft.com/office/powerpoint/2010/main" val="212917656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Compliance with functional safety lifecycle requirements is covered in GE QMS by several procedures, which are available in Confluence.</a:t>
            </a:r>
          </a:p>
        </p:txBody>
      </p:sp>
      <p:sp>
        <p:nvSpPr>
          <p:cNvPr id="4" name="Slide Number Placeholder 3"/>
          <p:cNvSpPr>
            <a:spLocks noGrp="1"/>
          </p:cNvSpPr>
          <p:nvPr>
            <p:ph type="sldNum" sz="quarter" idx="10"/>
          </p:nvPr>
        </p:nvSpPr>
        <p:spPr/>
        <p:txBody>
          <a:bodyPr/>
          <a:lstStyle/>
          <a:p>
            <a:fld id="{4A55B9BF-99C7-425D-A1C7-4E0B8871658A}" type="slidenum">
              <a:rPr lang="en-US" smtClean="0"/>
              <a:t>42</a:t>
            </a:fld>
            <a:endParaRPr lang="en-US"/>
          </a:p>
        </p:txBody>
      </p:sp>
    </p:spTree>
    <p:extLst>
      <p:ext uri="{BB962C8B-B14F-4D97-AF65-F5344CB8AC3E}">
        <p14:creationId xmlns:p14="http://schemas.microsoft.com/office/powerpoint/2010/main" val="35199172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55B9BF-99C7-425D-A1C7-4E0B8871658A}" type="slidenum">
              <a:rPr lang="en-US" smtClean="0"/>
              <a:pPr/>
              <a:t>44</a:t>
            </a:fld>
            <a:endParaRPr lang="en-US"/>
          </a:p>
        </p:txBody>
      </p:sp>
    </p:spTree>
    <p:extLst>
      <p:ext uri="{BB962C8B-B14F-4D97-AF65-F5344CB8AC3E}">
        <p14:creationId xmlns:p14="http://schemas.microsoft.com/office/powerpoint/2010/main" val="1185064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672585" y="0"/>
            <a:ext cx="4471416" cy="3353774"/>
          </a:xfrm>
          <a:prstGeom prst="rect">
            <a:avLst/>
          </a:prstGeom>
        </p:spPr>
      </p:pic>
      <p:sp>
        <p:nvSpPr>
          <p:cNvPr id="2" name="Title 1"/>
          <p:cNvSpPr>
            <a:spLocks noGrp="1"/>
          </p:cNvSpPr>
          <p:nvPr>
            <p:ph type="ctrTitle" hasCustomPrompt="1"/>
          </p:nvPr>
        </p:nvSpPr>
        <p:spPr>
          <a:xfrm>
            <a:off x="365760" y="3482975"/>
            <a:ext cx="8318500" cy="1470025"/>
          </a:xfrm>
        </p:spPr>
        <p:txBody>
          <a:bodyPr/>
          <a:lstStyle>
            <a:lvl1pPr>
              <a:lnSpc>
                <a:spcPct val="90000"/>
              </a:lnSpc>
              <a:defRPr sz="4800"/>
            </a:lvl1pPr>
          </a:lstStyle>
          <a:p>
            <a:r>
              <a:rPr lang="en-US" dirty="0"/>
              <a:t>Click to add title</a:t>
            </a:r>
            <a:br>
              <a:rPr lang="en-US" dirty="0"/>
            </a:br>
            <a:r>
              <a:rPr lang="en-US" dirty="0"/>
              <a:t>two lines maximum</a:t>
            </a:r>
          </a:p>
        </p:txBody>
      </p:sp>
      <p:sp>
        <p:nvSpPr>
          <p:cNvPr id="3" name="Subtitle 2"/>
          <p:cNvSpPr>
            <a:spLocks noGrp="1"/>
          </p:cNvSpPr>
          <p:nvPr>
            <p:ph type="subTitle" idx="1" hasCustomPrompt="1"/>
          </p:nvPr>
        </p:nvSpPr>
        <p:spPr>
          <a:xfrm>
            <a:off x="384048" y="5001768"/>
            <a:ext cx="6316112" cy="762000"/>
          </a:xfrm>
        </p:spPr>
        <p:txBody>
          <a:bodyPr/>
          <a:lstStyle>
            <a:lvl1pPr marL="0" indent="0" algn="l">
              <a:lnSpc>
                <a:spcPct val="110000"/>
              </a:lnSpc>
              <a:spcBef>
                <a:spcPts val="0"/>
              </a:spcBef>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a:p>
            <a:r>
              <a:rPr lang="en-US" dirty="0"/>
              <a:t>Month XX, 201X</a:t>
            </a:r>
          </a:p>
        </p:txBody>
      </p:sp>
      <p:sp>
        <p:nvSpPr>
          <p:cNvPr id="6" name="TextBox 5"/>
          <p:cNvSpPr txBox="1"/>
          <p:nvPr userDrawn="1"/>
        </p:nvSpPr>
        <p:spPr>
          <a:xfrm>
            <a:off x="397510" y="6175107"/>
            <a:ext cx="2069797" cy="338554"/>
          </a:xfrm>
          <a:prstGeom prst="rect">
            <a:avLst/>
          </a:prstGeom>
          <a:noFill/>
        </p:spPr>
        <p:txBody>
          <a:bodyPr wrap="none" lIns="0" tIns="0" rIns="0" bIns="0" rtlCol="0" anchor="b" anchorCtr="0">
            <a:noAutofit/>
          </a:bodyPr>
          <a:lstStyle/>
          <a:p>
            <a:r>
              <a:rPr lang="en-US" sz="1600" b="1" dirty="0">
                <a:solidFill>
                  <a:schemeClr val="tx2"/>
                </a:solidFill>
              </a:rPr>
              <a:t>Imagination at work</a:t>
            </a:r>
          </a:p>
        </p:txBody>
      </p:sp>
    </p:spTree>
    <p:extLst>
      <p:ext uri="{BB962C8B-B14F-4D97-AF65-F5344CB8AC3E}">
        <p14:creationId xmlns:p14="http://schemas.microsoft.com/office/powerpoint/2010/main" val="380780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bg bwMode="gray">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936702"/>
            <a:ext cx="4382429" cy="1918010"/>
          </a:xfrm>
          <a:prstGeom prst="rect">
            <a:avLst/>
          </a:prstGeom>
        </p:spPr>
      </p:pic>
      <p:sp>
        <p:nvSpPr>
          <p:cNvPr id="2" name="Title 1"/>
          <p:cNvSpPr>
            <a:spLocks noGrp="1"/>
          </p:cNvSpPr>
          <p:nvPr>
            <p:ph type="ctrTitle" hasCustomPrompt="1"/>
          </p:nvPr>
        </p:nvSpPr>
        <p:spPr>
          <a:xfrm>
            <a:off x="365760" y="3482975"/>
            <a:ext cx="8318500" cy="1470025"/>
          </a:xfrm>
        </p:spPr>
        <p:txBody>
          <a:bodyPr/>
          <a:lstStyle>
            <a:lvl1pPr>
              <a:lnSpc>
                <a:spcPct val="90000"/>
              </a:lnSpc>
              <a:defRPr sz="4800"/>
            </a:lvl1pPr>
          </a:lstStyle>
          <a:p>
            <a:r>
              <a:rPr lang="en-US" dirty="0"/>
              <a:t>Click to add title</a:t>
            </a:r>
            <a:br>
              <a:rPr lang="en-US" dirty="0"/>
            </a:br>
            <a:r>
              <a:rPr lang="en-US" dirty="0"/>
              <a:t>two lines maximum</a:t>
            </a:r>
          </a:p>
        </p:txBody>
      </p:sp>
      <p:sp>
        <p:nvSpPr>
          <p:cNvPr id="3" name="Subtitle 2"/>
          <p:cNvSpPr>
            <a:spLocks noGrp="1"/>
          </p:cNvSpPr>
          <p:nvPr>
            <p:ph type="subTitle" idx="1" hasCustomPrompt="1"/>
          </p:nvPr>
        </p:nvSpPr>
        <p:spPr>
          <a:xfrm>
            <a:off x="384048" y="5001768"/>
            <a:ext cx="6316112" cy="762000"/>
          </a:xfrm>
        </p:spPr>
        <p:txBody>
          <a:bodyPr/>
          <a:lstStyle>
            <a:lvl1pPr marL="0" indent="0" algn="l">
              <a:lnSpc>
                <a:spcPct val="110000"/>
              </a:lnSpc>
              <a:spcBef>
                <a:spcPts val="0"/>
              </a:spcBef>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a:p>
            <a:r>
              <a:rPr lang="en-US" dirty="0"/>
              <a:t>Month XX, 201X</a:t>
            </a:r>
          </a:p>
        </p:txBody>
      </p:sp>
      <p:sp>
        <p:nvSpPr>
          <p:cNvPr id="6" name="TextBox 5"/>
          <p:cNvSpPr txBox="1"/>
          <p:nvPr userDrawn="1"/>
        </p:nvSpPr>
        <p:spPr>
          <a:xfrm>
            <a:off x="397510" y="6175107"/>
            <a:ext cx="2069797" cy="338554"/>
          </a:xfrm>
          <a:prstGeom prst="rect">
            <a:avLst/>
          </a:prstGeom>
          <a:noFill/>
        </p:spPr>
        <p:txBody>
          <a:bodyPr wrap="none" lIns="0" tIns="0" rIns="0" bIns="0" rtlCol="0" anchor="b" anchorCtr="0">
            <a:noAutofit/>
          </a:bodyPr>
          <a:lstStyle/>
          <a:p>
            <a:r>
              <a:rPr lang="en-US" sz="1600" b="1" dirty="0">
                <a:solidFill>
                  <a:schemeClr val="tx2"/>
                </a:solidFill>
              </a:rPr>
              <a:t>Imagination at work</a:t>
            </a:r>
          </a:p>
        </p:txBody>
      </p:sp>
    </p:spTree>
    <p:extLst>
      <p:ext uri="{BB962C8B-B14F-4D97-AF65-F5344CB8AC3E}">
        <p14:creationId xmlns:p14="http://schemas.microsoft.com/office/powerpoint/2010/main" val="3151239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3">
    <p:bg bwMode="gray">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2377440"/>
          </a:xfrm>
          <a:prstGeom prst="rect">
            <a:avLst/>
          </a:prstGeom>
        </p:spPr>
      </p:pic>
      <p:sp>
        <p:nvSpPr>
          <p:cNvPr id="2" name="Title 1"/>
          <p:cNvSpPr>
            <a:spLocks noGrp="1"/>
          </p:cNvSpPr>
          <p:nvPr>
            <p:ph type="ctrTitle" hasCustomPrompt="1"/>
          </p:nvPr>
        </p:nvSpPr>
        <p:spPr>
          <a:xfrm>
            <a:off x="365760" y="3482975"/>
            <a:ext cx="8318500" cy="1470025"/>
          </a:xfrm>
        </p:spPr>
        <p:txBody>
          <a:bodyPr/>
          <a:lstStyle>
            <a:lvl1pPr>
              <a:lnSpc>
                <a:spcPct val="90000"/>
              </a:lnSpc>
              <a:defRPr sz="4800"/>
            </a:lvl1pPr>
          </a:lstStyle>
          <a:p>
            <a:r>
              <a:rPr lang="en-US" dirty="0"/>
              <a:t>Click to add title</a:t>
            </a:r>
            <a:br>
              <a:rPr lang="en-US" dirty="0"/>
            </a:br>
            <a:r>
              <a:rPr lang="en-US" dirty="0"/>
              <a:t>two lines maximum</a:t>
            </a:r>
          </a:p>
        </p:txBody>
      </p:sp>
      <p:sp>
        <p:nvSpPr>
          <p:cNvPr id="3" name="Subtitle 2"/>
          <p:cNvSpPr>
            <a:spLocks noGrp="1"/>
          </p:cNvSpPr>
          <p:nvPr>
            <p:ph type="subTitle" idx="1" hasCustomPrompt="1"/>
          </p:nvPr>
        </p:nvSpPr>
        <p:spPr>
          <a:xfrm>
            <a:off x="384048" y="5001768"/>
            <a:ext cx="6316112" cy="762000"/>
          </a:xfrm>
        </p:spPr>
        <p:txBody>
          <a:bodyPr/>
          <a:lstStyle>
            <a:lvl1pPr marL="0" indent="0" algn="l">
              <a:lnSpc>
                <a:spcPct val="110000"/>
              </a:lnSpc>
              <a:spcBef>
                <a:spcPts val="0"/>
              </a:spcBef>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a:p>
            <a:r>
              <a:rPr lang="en-US" dirty="0"/>
              <a:t>Month XX, 201X</a:t>
            </a:r>
          </a:p>
        </p:txBody>
      </p:sp>
      <p:sp>
        <p:nvSpPr>
          <p:cNvPr id="6" name="TextBox 5"/>
          <p:cNvSpPr txBox="1"/>
          <p:nvPr userDrawn="1"/>
        </p:nvSpPr>
        <p:spPr>
          <a:xfrm>
            <a:off x="397510" y="6175107"/>
            <a:ext cx="2069797" cy="338554"/>
          </a:xfrm>
          <a:prstGeom prst="rect">
            <a:avLst/>
          </a:prstGeom>
          <a:noFill/>
        </p:spPr>
        <p:txBody>
          <a:bodyPr wrap="none" lIns="0" tIns="0" rIns="0" bIns="0" rtlCol="0" anchor="b" anchorCtr="0">
            <a:noAutofit/>
          </a:bodyPr>
          <a:lstStyle/>
          <a:p>
            <a:r>
              <a:rPr lang="en-US" sz="1600" b="1" dirty="0">
                <a:solidFill>
                  <a:schemeClr val="tx2"/>
                </a:solidFill>
              </a:rPr>
              <a:t>Imagination at work</a:t>
            </a:r>
          </a:p>
        </p:txBody>
      </p:sp>
    </p:spTree>
    <p:extLst>
      <p:ext uri="{BB962C8B-B14F-4D97-AF65-F5344CB8AC3E}">
        <p14:creationId xmlns:p14="http://schemas.microsoft.com/office/powerpoint/2010/main" val="2132712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4">
    <p:bg bwMode="gray">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9144001" cy="2428298"/>
          </a:xfrm>
          <a:prstGeom prst="rect">
            <a:avLst/>
          </a:prstGeom>
        </p:spPr>
      </p:pic>
      <p:sp>
        <p:nvSpPr>
          <p:cNvPr id="2" name="Title 1"/>
          <p:cNvSpPr>
            <a:spLocks noGrp="1"/>
          </p:cNvSpPr>
          <p:nvPr>
            <p:ph type="ctrTitle" hasCustomPrompt="1"/>
          </p:nvPr>
        </p:nvSpPr>
        <p:spPr>
          <a:xfrm>
            <a:off x="365760" y="3482975"/>
            <a:ext cx="8318500" cy="1470025"/>
          </a:xfrm>
        </p:spPr>
        <p:txBody>
          <a:bodyPr/>
          <a:lstStyle>
            <a:lvl1pPr>
              <a:lnSpc>
                <a:spcPct val="90000"/>
              </a:lnSpc>
              <a:defRPr sz="4800"/>
            </a:lvl1pPr>
          </a:lstStyle>
          <a:p>
            <a:r>
              <a:rPr lang="en-US" dirty="0"/>
              <a:t>Click to add title</a:t>
            </a:r>
            <a:br>
              <a:rPr lang="en-US" dirty="0"/>
            </a:br>
            <a:r>
              <a:rPr lang="en-US" dirty="0"/>
              <a:t>two lines maximum</a:t>
            </a:r>
          </a:p>
        </p:txBody>
      </p:sp>
      <p:sp>
        <p:nvSpPr>
          <p:cNvPr id="3" name="Subtitle 2"/>
          <p:cNvSpPr>
            <a:spLocks noGrp="1"/>
          </p:cNvSpPr>
          <p:nvPr>
            <p:ph type="subTitle" idx="1" hasCustomPrompt="1"/>
          </p:nvPr>
        </p:nvSpPr>
        <p:spPr>
          <a:xfrm>
            <a:off x="384048" y="5001768"/>
            <a:ext cx="6316112" cy="762000"/>
          </a:xfrm>
        </p:spPr>
        <p:txBody>
          <a:bodyPr/>
          <a:lstStyle>
            <a:lvl1pPr marL="0" indent="0" algn="l">
              <a:lnSpc>
                <a:spcPct val="110000"/>
              </a:lnSpc>
              <a:spcBef>
                <a:spcPts val="0"/>
              </a:spcBef>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a:p>
            <a:r>
              <a:rPr lang="en-US" dirty="0"/>
              <a:t>Month XX, 201X</a:t>
            </a:r>
          </a:p>
        </p:txBody>
      </p:sp>
      <p:sp>
        <p:nvSpPr>
          <p:cNvPr id="6" name="TextBox 5"/>
          <p:cNvSpPr txBox="1"/>
          <p:nvPr userDrawn="1"/>
        </p:nvSpPr>
        <p:spPr>
          <a:xfrm>
            <a:off x="397510" y="6175107"/>
            <a:ext cx="2069797" cy="338554"/>
          </a:xfrm>
          <a:prstGeom prst="rect">
            <a:avLst/>
          </a:prstGeom>
          <a:noFill/>
        </p:spPr>
        <p:txBody>
          <a:bodyPr wrap="none" lIns="0" tIns="0" rIns="0" bIns="0" rtlCol="0" anchor="b" anchorCtr="0">
            <a:noAutofit/>
          </a:bodyPr>
          <a:lstStyle/>
          <a:p>
            <a:r>
              <a:rPr lang="en-US" sz="1600" b="1" dirty="0">
                <a:solidFill>
                  <a:schemeClr val="tx2"/>
                </a:solidFill>
              </a:rPr>
              <a:t>Imagination at work</a:t>
            </a:r>
          </a:p>
        </p:txBody>
      </p:sp>
    </p:spTree>
    <p:extLst>
      <p:ext uri="{BB962C8B-B14F-4D97-AF65-F5344CB8AC3E}">
        <p14:creationId xmlns:p14="http://schemas.microsoft.com/office/powerpoint/2010/main" val="322581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Slide 5">
    <p:bg bwMode="gray">
      <p:bgPr>
        <a:solidFill>
          <a:schemeClr val="bg1"/>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977352" y="0"/>
            <a:ext cx="3770721" cy="4257964"/>
          </a:xfrm>
          <a:prstGeom prst="rect">
            <a:avLst/>
          </a:prstGeom>
        </p:spPr>
      </p:pic>
      <p:sp>
        <p:nvSpPr>
          <p:cNvPr id="2" name="Title 1"/>
          <p:cNvSpPr>
            <a:spLocks noGrp="1"/>
          </p:cNvSpPr>
          <p:nvPr>
            <p:ph type="ctrTitle" hasCustomPrompt="1"/>
          </p:nvPr>
        </p:nvSpPr>
        <p:spPr>
          <a:xfrm>
            <a:off x="365760" y="3482975"/>
            <a:ext cx="5811520" cy="1470025"/>
          </a:xfrm>
        </p:spPr>
        <p:txBody>
          <a:bodyPr/>
          <a:lstStyle>
            <a:lvl1pPr>
              <a:lnSpc>
                <a:spcPct val="90000"/>
              </a:lnSpc>
              <a:defRPr sz="4800"/>
            </a:lvl1pPr>
          </a:lstStyle>
          <a:p>
            <a:r>
              <a:rPr lang="en-US" dirty="0"/>
              <a:t>Click to add title</a:t>
            </a:r>
            <a:br>
              <a:rPr lang="en-US" dirty="0"/>
            </a:br>
            <a:r>
              <a:rPr lang="en-US" dirty="0"/>
              <a:t>two lines maximum</a:t>
            </a:r>
          </a:p>
        </p:txBody>
      </p:sp>
      <p:sp>
        <p:nvSpPr>
          <p:cNvPr id="3" name="Subtitle 2"/>
          <p:cNvSpPr>
            <a:spLocks noGrp="1"/>
          </p:cNvSpPr>
          <p:nvPr>
            <p:ph type="subTitle" idx="1" hasCustomPrompt="1"/>
          </p:nvPr>
        </p:nvSpPr>
        <p:spPr>
          <a:xfrm>
            <a:off x="384048" y="5001768"/>
            <a:ext cx="6316112" cy="762000"/>
          </a:xfrm>
        </p:spPr>
        <p:txBody>
          <a:bodyPr/>
          <a:lstStyle>
            <a:lvl1pPr marL="0" indent="0" algn="l">
              <a:lnSpc>
                <a:spcPct val="110000"/>
              </a:lnSpc>
              <a:spcBef>
                <a:spcPts val="0"/>
              </a:spcBef>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a:p>
            <a:r>
              <a:rPr lang="en-US" dirty="0"/>
              <a:t>Month XX, 201X</a:t>
            </a:r>
          </a:p>
        </p:txBody>
      </p:sp>
      <p:sp>
        <p:nvSpPr>
          <p:cNvPr id="6" name="TextBox 5"/>
          <p:cNvSpPr txBox="1"/>
          <p:nvPr userDrawn="1"/>
        </p:nvSpPr>
        <p:spPr>
          <a:xfrm>
            <a:off x="397510" y="6175107"/>
            <a:ext cx="2069797" cy="338554"/>
          </a:xfrm>
          <a:prstGeom prst="rect">
            <a:avLst/>
          </a:prstGeom>
          <a:noFill/>
        </p:spPr>
        <p:txBody>
          <a:bodyPr wrap="none" lIns="0" tIns="0" rIns="0" bIns="0" rtlCol="0" anchor="b" anchorCtr="0">
            <a:noAutofit/>
          </a:bodyPr>
          <a:lstStyle/>
          <a:p>
            <a:r>
              <a:rPr lang="en-US" sz="1600" b="1" dirty="0">
                <a:solidFill>
                  <a:schemeClr val="tx2"/>
                </a:solidFill>
              </a:rPr>
              <a:t>Imagination at work</a:t>
            </a:r>
          </a:p>
        </p:txBody>
      </p:sp>
    </p:spTree>
    <p:extLst>
      <p:ext uri="{BB962C8B-B14F-4D97-AF65-F5344CB8AC3E}">
        <p14:creationId xmlns:p14="http://schemas.microsoft.com/office/powerpoint/2010/main" val="2104427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384048" y="1627632"/>
            <a:ext cx="8347202" cy="4346825"/>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p:cNvSpPr>
            <a:spLocks noGrp="1"/>
          </p:cNvSpPr>
          <p:nvPr>
            <p:ph type="dt" sz="half" idx="10"/>
          </p:nvPr>
        </p:nvSpPr>
        <p:spPr/>
        <p:txBody>
          <a:bodyPr/>
          <a:lstStyle/>
          <a:p>
            <a:r>
              <a:rPr lang="en-US"/>
              <a:t>Title or Job Number | XX Month 201X</a:t>
            </a:r>
            <a:endParaRPr lang="en-US" dirty="0"/>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torytelling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9094" y="551747"/>
            <a:ext cx="8352156" cy="1021002"/>
          </a:xfrm>
        </p:spPr>
        <p:txBody>
          <a:bodyPr/>
          <a:lstStyle/>
          <a:p>
            <a:r>
              <a:rPr lang="en-US"/>
              <a:t>Click to edit Master title style</a:t>
            </a:r>
            <a:endParaRPr lang="en-US" dirty="0"/>
          </a:p>
        </p:txBody>
      </p:sp>
      <p:sp>
        <p:nvSpPr>
          <p:cNvPr id="3" name="Content Placeholder 2"/>
          <p:cNvSpPr>
            <a:spLocks noGrp="1"/>
          </p:cNvSpPr>
          <p:nvPr>
            <p:ph idx="1"/>
          </p:nvPr>
        </p:nvSpPr>
        <p:spPr>
          <a:xfrm>
            <a:off x="379094" y="2395728"/>
            <a:ext cx="8347202" cy="3654997"/>
          </a:xfrm>
        </p:spPr>
        <p:txBody>
          <a:bodyPr/>
          <a:lstStyle>
            <a:lvl1pPr>
              <a:defRPr sz="2800">
                <a:solidFill>
                  <a:schemeClr val="tx2"/>
                </a:solidFill>
              </a:defRPr>
            </a:lvl1pPr>
            <a:lvl2pPr marL="284163" indent="-263525">
              <a:defRPr sz="2800"/>
            </a:lvl2pPr>
          </a:lstStyle>
          <a:p>
            <a:pPr lvl="0"/>
            <a:r>
              <a:rPr lang="en-US"/>
              <a:t>Click to edit Master text styles</a:t>
            </a:r>
          </a:p>
          <a:p>
            <a:pPr lvl="1"/>
            <a:r>
              <a:rPr lang="en-US"/>
              <a:t>Second level</a:t>
            </a:r>
          </a:p>
        </p:txBody>
      </p:sp>
      <p:sp>
        <p:nvSpPr>
          <p:cNvPr id="4" name="Date Placeholder 3"/>
          <p:cNvSpPr>
            <a:spLocks noGrp="1"/>
          </p:cNvSpPr>
          <p:nvPr>
            <p:ph type="dt" sz="half" idx="10"/>
          </p:nvPr>
        </p:nvSpPr>
        <p:spPr/>
        <p:txBody>
          <a:bodyPr/>
          <a:lstStyle/>
          <a:p>
            <a:r>
              <a:rPr lang="en-US"/>
              <a:t>Title or Job Number | XX Month 201X</a:t>
            </a:r>
            <a:endParaRPr lang="en-US" dirty="0"/>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extLst>
      <p:ext uri="{BB962C8B-B14F-4D97-AF65-F5344CB8AC3E}">
        <p14:creationId xmlns:p14="http://schemas.microsoft.com/office/powerpoint/2010/main" val="2415301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384048" y="1627632"/>
            <a:ext cx="8347202" cy="4346825"/>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p:cNvSpPr>
            <a:spLocks noGrp="1"/>
          </p:cNvSpPr>
          <p:nvPr>
            <p:ph type="dt" sz="half" idx="10"/>
          </p:nvPr>
        </p:nvSpPr>
        <p:spPr/>
        <p:txBody>
          <a:bodyPr/>
          <a:lstStyle/>
          <a:p>
            <a:r>
              <a:rPr lang="en-US"/>
              <a:t>Title or Job Number | XX Month 201X</a:t>
            </a:r>
            <a:endParaRPr lang="en-US" dirty="0"/>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extLst>
      <p:ext uri="{BB962C8B-B14F-4D97-AF65-F5344CB8AC3E}">
        <p14:creationId xmlns:p14="http://schemas.microsoft.com/office/powerpoint/2010/main" val="65897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Big Title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8614" y="534983"/>
            <a:ext cx="8312573" cy="1582488"/>
          </a:xfrm>
        </p:spPr>
        <p:txBody>
          <a:bodyPr/>
          <a:lstStyle>
            <a:lvl1pPr>
              <a:lnSpc>
                <a:spcPct val="85000"/>
              </a:lnSpc>
              <a:defRPr sz="6000"/>
            </a:lvl1pPr>
          </a:lstStyle>
          <a:p>
            <a:r>
              <a:rPr lang="en-US" dirty="0" err="1"/>
              <a:t>PClick</a:t>
            </a:r>
            <a:r>
              <a:rPr lang="en-US" dirty="0"/>
              <a:t> to edit Master title style</a:t>
            </a:r>
          </a:p>
        </p:txBody>
      </p:sp>
      <p:sp>
        <p:nvSpPr>
          <p:cNvPr id="3" name="Content Placeholder 2"/>
          <p:cNvSpPr>
            <a:spLocks noGrp="1"/>
          </p:cNvSpPr>
          <p:nvPr>
            <p:ph idx="1"/>
          </p:nvPr>
        </p:nvSpPr>
        <p:spPr>
          <a:xfrm>
            <a:off x="384048" y="2438400"/>
            <a:ext cx="8347202" cy="3587492"/>
          </a:xfrm>
        </p:spPr>
        <p:txBody>
          <a:bodyPr/>
          <a:lstStyle>
            <a:lvl1pPr>
              <a:defRPr>
                <a:solidFill>
                  <a:schemeClr val="tx2"/>
                </a:solidFill>
              </a:defRPr>
            </a:lvl1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p:cNvSpPr>
            <a:spLocks noGrp="1"/>
          </p:cNvSpPr>
          <p:nvPr>
            <p:ph type="dt" sz="half" idx="10"/>
          </p:nvPr>
        </p:nvSpPr>
        <p:spPr/>
        <p:txBody>
          <a:bodyPr/>
          <a:lstStyle/>
          <a:p>
            <a:r>
              <a:rPr lang="en-US"/>
              <a:t>Title or Job Number | XX Month 201X</a:t>
            </a:r>
            <a:endParaRPr lang="en-US" dirty="0"/>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extLst>
      <p:ext uri="{BB962C8B-B14F-4D97-AF65-F5344CB8AC3E}">
        <p14:creationId xmlns:p14="http://schemas.microsoft.com/office/powerpoint/2010/main" val="209060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Text Heav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391668" y="1657668"/>
            <a:ext cx="8347202" cy="4324350"/>
          </a:xfrm>
        </p:spPr>
        <p:txBody>
          <a:bodyPr vert="horz" lIns="0" tIns="0" rIns="0" bIns="0" rtlCol="0">
            <a:noAutofit/>
          </a:bodyPr>
          <a:lstStyle>
            <a:lvl1pPr>
              <a:spcAft>
                <a:spcPts val="0"/>
              </a:spcAft>
              <a:defRPr lang="en-US" sz="2000" dirty="0" smtClean="0"/>
            </a:lvl1pPr>
            <a:lvl2pPr marL="193675" indent="-182563">
              <a:defRPr lang="en-US" dirty="0" smtClean="0"/>
            </a:lvl2pPr>
            <a:lvl3pPr marL="400050" indent="-195263">
              <a:defRPr lang="en-US" sz="1800" dirty="0" smtClean="0"/>
            </a:lvl3p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10"/>
          </p:nvPr>
        </p:nvSpPr>
        <p:spPr/>
        <p:txBody>
          <a:bodyPr/>
          <a:lstStyle/>
          <a:p>
            <a:r>
              <a:rPr lang="en-US"/>
              <a:t>Title or Job Number | XX Month 201X</a:t>
            </a:r>
            <a:endParaRPr lang="en-US" dirty="0"/>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extLst>
      <p:ext uri="{BB962C8B-B14F-4D97-AF65-F5344CB8AC3E}">
        <p14:creationId xmlns:p14="http://schemas.microsoft.com/office/powerpoint/2010/main" val="3155333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Text Heavy 1-Line">
    <p:spTree>
      <p:nvGrpSpPr>
        <p:cNvPr id="1" name=""/>
        <p:cNvGrpSpPr/>
        <p:nvPr/>
      </p:nvGrpSpPr>
      <p:grpSpPr>
        <a:xfrm>
          <a:off x="0" y="0"/>
          <a:ext cx="0" cy="0"/>
          <a:chOff x="0" y="0"/>
          <a:chExt cx="0" cy="0"/>
        </a:xfrm>
      </p:grpSpPr>
      <p:sp>
        <p:nvSpPr>
          <p:cNvPr id="2" name="Title 1"/>
          <p:cNvSpPr>
            <a:spLocks noGrp="1"/>
          </p:cNvSpPr>
          <p:nvPr>
            <p:ph type="title"/>
          </p:nvPr>
        </p:nvSpPr>
        <p:spPr>
          <a:xfrm>
            <a:off x="379094" y="552450"/>
            <a:ext cx="8352156" cy="527753"/>
          </a:xfrm>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391668" y="1080008"/>
            <a:ext cx="8347202" cy="4585145"/>
          </a:xfrm>
        </p:spPr>
        <p:txBody>
          <a:bodyPr vert="horz" lIns="0" tIns="0" rIns="0" bIns="0" rtlCol="0">
            <a:noAutofit/>
          </a:bodyPr>
          <a:lstStyle>
            <a:lvl1pPr>
              <a:spcAft>
                <a:spcPts val="0"/>
              </a:spcAft>
              <a:defRPr lang="en-US" sz="2000" dirty="0" smtClean="0"/>
            </a:lvl1pPr>
            <a:lvl2pPr marL="193675" indent="-182563">
              <a:defRPr lang="en-US" dirty="0" smtClean="0"/>
            </a:lvl2pPr>
            <a:lvl3pPr marL="400050" indent="-195263">
              <a:defRPr lang="en-US" sz="1800" dirty="0" smtClean="0"/>
            </a:lvl3p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dirty="0"/>
          </a:p>
        </p:txBody>
      </p:sp>
    </p:spTree>
    <p:extLst>
      <p:ext uri="{BB962C8B-B14F-4D97-AF65-F5344CB8AC3E}">
        <p14:creationId xmlns:p14="http://schemas.microsoft.com/office/powerpoint/2010/main" val="1030954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91795" y="1656685"/>
            <a:ext cx="3896043" cy="4396453"/>
          </a:xfrm>
        </p:spPr>
        <p:txBody>
          <a:bodyPr vert="horz" lIns="0" tIns="0" rIns="0" bIns="0" rtlCol="0">
            <a:noAutofit/>
          </a:bodyPr>
          <a:lstStyle>
            <a:lvl1pPr>
              <a:spcBef>
                <a:spcPts val="1000"/>
              </a:spcBef>
              <a:defRPr lang="en-US" sz="2000" dirty="0" smtClean="0"/>
            </a:lvl1pPr>
            <a:lvl2pPr>
              <a:spcBef>
                <a:spcPts val="800"/>
              </a:spcBef>
              <a:defRPr lang="en-US" sz="1800" dirty="0" smtClean="0"/>
            </a:lvl2pPr>
            <a:lvl3pPr>
              <a:spcBef>
                <a:spcPts val="600"/>
              </a:spcBef>
              <a:defRPr lang="en-US" sz="1600" dirty="0" smtClean="0"/>
            </a:lvl3pPr>
            <a:lvl4pPr>
              <a:spcBef>
                <a:spcPts val="400"/>
              </a:spcBef>
              <a:defRPr lang="en-US" sz="1400" dirty="0" smtClean="0"/>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831080" y="1656685"/>
            <a:ext cx="3900170" cy="4396453"/>
          </a:xfrm>
        </p:spPr>
        <p:txBody>
          <a:bodyPr vert="horz" lIns="0" tIns="0" rIns="0" bIns="0" rtlCol="0">
            <a:noAutofit/>
          </a:bodyPr>
          <a:lstStyle>
            <a:lvl1pPr>
              <a:defRPr lang="en-US" sz="2000" dirty="0" smtClean="0"/>
            </a:lvl1pPr>
            <a:lvl2pPr>
              <a:defRPr lang="en-US" sz="1800" dirty="0" smtClean="0"/>
            </a:lvl2pPr>
            <a:lvl3pPr>
              <a:defRPr lang="en-US" sz="1600" dirty="0" smtClean="0"/>
            </a:lvl3pPr>
            <a:lvl4pPr>
              <a:defRPr lang="en-US" sz="1400" dirty="0" smtClean="0"/>
            </a:lvl4pPr>
          </a:lstStyle>
          <a:p>
            <a:pPr lvl="0">
              <a:spcBef>
                <a:spcPts val="1000"/>
              </a:spcBef>
            </a:pPr>
            <a:r>
              <a:rPr lang="en-US"/>
              <a:t>Click to edit Master text styles</a:t>
            </a:r>
          </a:p>
          <a:p>
            <a:pPr lvl="1">
              <a:spcBef>
                <a:spcPts val="1000"/>
              </a:spcBef>
            </a:pPr>
            <a:r>
              <a:rPr lang="en-US"/>
              <a:t>Second level</a:t>
            </a:r>
          </a:p>
          <a:p>
            <a:pPr lvl="2">
              <a:spcBef>
                <a:spcPts val="1000"/>
              </a:spcBef>
            </a:pPr>
            <a:r>
              <a:rPr lang="en-US"/>
              <a:t>Third level</a:t>
            </a:r>
          </a:p>
          <a:p>
            <a:pPr lvl="3">
              <a:spcBef>
                <a:spcPts val="1000"/>
              </a:spcBef>
            </a:pPr>
            <a:r>
              <a:rPr lang="en-US"/>
              <a:t>Fourth level</a:t>
            </a:r>
          </a:p>
        </p:txBody>
      </p:sp>
      <p:sp>
        <p:nvSpPr>
          <p:cNvPr id="5" name="Date Placeholder 4"/>
          <p:cNvSpPr>
            <a:spLocks noGrp="1"/>
          </p:cNvSpPr>
          <p:nvPr>
            <p:ph type="dt" sz="half" idx="10"/>
          </p:nvPr>
        </p:nvSpPr>
        <p:spPr/>
        <p:txBody>
          <a:bodyPr/>
          <a:lstStyle/>
          <a:p>
            <a:r>
              <a:rPr lang="en-US"/>
              <a:t>Title or Job Number | XX Month 201X</a:t>
            </a:r>
            <a:endParaRPr lang="en-US" dirty="0"/>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391795" y="1634490"/>
            <a:ext cx="3904488" cy="373062"/>
          </a:xfrm>
        </p:spPr>
        <p:txBody>
          <a:bodyPr rIns="182880"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PClick</a:t>
            </a:r>
            <a:r>
              <a:rPr lang="en-US" dirty="0"/>
              <a:t> to edit Master text</a:t>
            </a:r>
          </a:p>
        </p:txBody>
      </p:sp>
      <p:sp>
        <p:nvSpPr>
          <p:cNvPr id="4" name="Content Placeholder 3"/>
          <p:cNvSpPr>
            <a:spLocks noGrp="1"/>
          </p:cNvSpPr>
          <p:nvPr>
            <p:ph sz="half" idx="2"/>
          </p:nvPr>
        </p:nvSpPr>
        <p:spPr>
          <a:xfrm>
            <a:off x="391795" y="2071639"/>
            <a:ext cx="3904488" cy="3811319"/>
          </a:xfrm>
        </p:spPr>
        <p:txBody>
          <a:bodyPr vert="horz" lIns="0" tIns="0" rIns="0" bIns="0" rtlCol="0">
            <a:noAutofit/>
          </a:bodyPr>
          <a:lstStyle>
            <a:lvl1pPr>
              <a:defRPr lang="en-US" sz="2000" dirty="0" smtClean="0"/>
            </a:lvl1pPr>
            <a:lvl2pPr>
              <a:defRPr lang="en-US" sz="1800" dirty="0" smtClean="0"/>
            </a:lvl2pPr>
            <a:lvl3pPr>
              <a:defRPr lang="en-US" sz="1600" dirty="0" smtClean="0"/>
            </a:lvl3pPr>
            <a:lvl4pPr>
              <a:defRPr lang="en-US" sz="1400" dirty="0" smtClean="0"/>
            </a:lvl4pPr>
          </a:lstStyle>
          <a:p>
            <a:pPr lvl="0">
              <a:spcBef>
                <a:spcPts val="1000"/>
              </a:spcBef>
            </a:pPr>
            <a:r>
              <a:rPr lang="en-US"/>
              <a:t>Click to edit Master text styles</a:t>
            </a:r>
          </a:p>
          <a:p>
            <a:pPr lvl="1">
              <a:spcBef>
                <a:spcPts val="1000"/>
              </a:spcBef>
            </a:pPr>
            <a:r>
              <a:rPr lang="en-US"/>
              <a:t>Second level</a:t>
            </a:r>
          </a:p>
          <a:p>
            <a:pPr lvl="2">
              <a:spcBef>
                <a:spcPts val="1000"/>
              </a:spcBef>
            </a:pPr>
            <a:r>
              <a:rPr lang="en-US"/>
              <a:t>Third level</a:t>
            </a:r>
          </a:p>
          <a:p>
            <a:pPr lvl="3">
              <a:spcBef>
                <a:spcPts val="1000"/>
              </a:spcBef>
            </a:pPr>
            <a:r>
              <a:rPr lang="en-US"/>
              <a:t>Fourth level</a:t>
            </a:r>
          </a:p>
        </p:txBody>
      </p:sp>
      <p:sp>
        <p:nvSpPr>
          <p:cNvPr id="5" name="Text Placeholder 4"/>
          <p:cNvSpPr>
            <a:spLocks noGrp="1"/>
          </p:cNvSpPr>
          <p:nvPr>
            <p:ph type="body" sz="quarter" idx="3"/>
          </p:nvPr>
        </p:nvSpPr>
        <p:spPr>
          <a:xfrm>
            <a:off x="4831080" y="1634490"/>
            <a:ext cx="3900170" cy="373062"/>
          </a:xfrm>
        </p:spPr>
        <p:txBody>
          <a:bodyPr rIns="182880"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31080" y="2071639"/>
            <a:ext cx="3900170" cy="3811319"/>
          </a:xfrm>
        </p:spPr>
        <p:txBody>
          <a:bodyPr vert="horz" lIns="0" tIns="0" rIns="0" bIns="0" rtlCol="0">
            <a:noAutofit/>
          </a:bodyPr>
          <a:lstStyle>
            <a:lvl1pPr>
              <a:defRPr lang="en-US" sz="2000" dirty="0" smtClean="0"/>
            </a:lvl1pPr>
            <a:lvl2pPr>
              <a:defRPr lang="en-US" sz="1800" dirty="0" smtClean="0"/>
            </a:lvl2pPr>
            <a:lvl3pPr>
              <a:defRPr lang="en-US" sz="1600" dirty="0" smtClean="0"/>
            </a:lvl3pPr>
            <a:lvl4pPr>
              <a:defRPr lang="en-US" sz="1400" dirty="0" smtClean="0"/>
            </a:lvl4pPr>
          </a:lstStyle>
          <a:p>
            <a:pPr lvl="0">
              <a:spcBef>
                <a:spcPts val="1000"/>
              </a:spcBef>
            </a:pPr>
            <a:r>
              <a:rPr lang="en-US"/>
              <a:t>Click to edit Master text styles</a:t>
            </a:r>
          </a:p>
          <a:p>
            <a:pPr lvl="1">
              <a:spcBef>
                <a:spcPts val="1000"/>
              </a:spcBef>
            </a:pPr>
            <a:r>
              <a:rPr lang="en-US"/>
              <a:t>Second level</a:t>
            </a:r>
          </a:p>
          <a:p>
            <a:pPr lvl="2">
              <a:spcBef>
                <a:spcPts val="1000"/>
              </a:spcBef>
            </a:pPr>
            <a:r>
              <a:rPr lang="en-US"/>
              <a:t>Third level</a:t>
            </a:r>
          </a:p>
          <a:p>
            <a:pPr lvl="3">
              <a:spcBef>
                <a:spcPts val="1000"/>
              </a:spcBef>
            </a:pPr>
            <a:r>
              <a:rPr lang="en-US"/>
              <a:t>Fourth level</a:t>
            </a:r>
          </a:p>
        </p:txBody>
      </p:sp>
      <p:sp>
        <p:nvSpPr>
          <p:cNvPr id="7" name="Date Placeholder 6"/>
          <p:cNvSpPr>
            <a:spLocks noGrp="1"/>
          </p:cNvSpPr>
          <p:nvPr>
            <p:ph type="dt" sz="half" idx="10"/>
          </p:nvPr>
        </p:nvSpPr>
        <p:spPr/>
        <p:txBody>
          <a:bodyPr/>
          <a:lstStyle/>
          <a:p>
            <a:r>
              <a:rPr lang="en-US"/>
              <a:t>Title or Job Number | XX Month 201X</a:t>
            </a:r>
            <a:endParaRPr lang="en-US" dirty="0"/>
          </a:p>
        </p:txBody>
      </p:sp>
      <p:sp>
        <p:nvSpPr>
          <p:cNvPr id="9" name="Slide Number Placeholder 8"/>
          <p:cNvSpPr>
            <a:spLocks noGrp="1"/>
          </p:cNvSpPr>
          <p:nvPr>
            <p:ph type="sldNum" sz="quarter" idx="12"/>
          </p:nvPr>
        </p:nvSpPr>
        <p:spPr/>
        <p:txBody>
          <a:bodyPr/>
          <a:lstStyle/>
          <a:p>
            <a:fld id="{0D558541-60C9-42A2-8392-FF12533A6B7A}" type="slidenum">
              <a:rPr lang="en-US" smtClean="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0" y="1728788"/>
            <a:ext cx="4495800" cy="2084832"/>
          </a:xfrm>
          <a:solidFill>
            <a:schemeClr val="tx2"/>
          </a:solidFill>
        </p:spPr>
        <p:txBody>
          <a:bodyPr lIns="182880" tIns="118872" rIns="182880"/>
          <a:lstStyle>
            <a:lvl1pPr marL="212725" indent="0">
              <a:lnSpc>
                <a:spcPct val="100000"/>
              </a:lnSpc>
              <a:spcBef>
                <a:spcPts val="600"/>
              </a:spcBef>
              <a:spcAft>
                <a:spcPts val="200"/>
              </a:spcAft>
              <a:defRPr lang="en-US" sz="2000" dirty="0" smtClean="0">
                <a:solidFill>
                  <a:schemeClr val="bg1"/>
                </a:solidFill>
              </a:defRPr>
            </a:lvl1pPr>
            <a:lvl2pPr marL="381000" indent="-158750">
              <a:lnSpc>
                <a:spcPct val="100000"/>
              </a:lnSpc>
              <a:spcBef>
                <a:spcPts val="1000"/>
              </a:spcBef>
              <a:defRPr lang="en-US" sz="18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p:txBody>
          <a:bodyPr/>
          <a:lstStyle/>
          <a:p>
            <a:r>
              <a:rPr lang="en-US"/>
              <a:t>Title or Job Number | XX Month 201X</a:t>
            </a:r>
            <a:endParaRPr lang="en-US" dirty="0"/>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dirty="0"/>
          </a:p>
        </p:txBody>
      </p:sp>
      <p:sp>
        <p:nvSpPr>
          <p:cNvPr id="12" name="Content Placeholder 2"/>
          <p:cNvSpPr>
            <a:spLocks noGrp="1"/>
          </p:cNvSpPr>
          <p:nvPr>
            <p:ph sz="half" idx="13"/>
          </p:nvPr>
        </p:nvSpPr>
        <p:spPr>
          <a:xfrm>
            <a:off x="4644390" y="1728788"/>
            <a:ext cx="4498848" cy="2084832"/>
          </a:xfrm>
          <a:solidFill>
            <a:schemeClr val="tx2"/>
          </a:solidFill>
        </p:spPr>
        <p:txBody>
          <a:bodyPr lIns="182880" tIns="118872" rIns="182880"/>
          <a:lstStyle>
            <a:lvl1pPr marL="212725" indent="0">
              <a:lnSpc>
                <a:spcPct val="100000"/>
              </a:lnSpc>
              <a:spcBef>
                <a:spcPts val="600"/>
              </a:spcBef>
              <a:spcAft>
                <a:spcPts val="200"/>
              </a:spcAft>
              <a:defRPr lang="en-US" sz="2000" dirty="0" smtClean="0">
                <a:solidFill>
                  <a:schemeClr val="bg1"/>
                </a:solidFill>
              </a:defRPr>
            </a:lvl1pPr>
            <a:lvl2pPr marL="381000" indent="-158750">
              <a:lnSpc>
                <a:spcPct val="100000"/>
              </a:lnSpc>
              <a:spcBef>
                <a:spcPts val="1000"/>
              </a:spcBef>
              <a:defRPr lang="en-US" sz="18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3" name="Content Placeholder 2"/>
          <p:cNvSpPr>
            <a:spLocks noGrp="1"/>
          </p:cNvSpPr>
          <p:nvPr>
            <p:ph sz="half" idx="14"/>
          </p:nvPr>
        </p:nvSpPr>
        <p:spPr>
          <a:xfrm>
            <a:off x="0" y="3962196"/>
            <a:ext cx="4495800" cy="2084832"/>
          </a:xfrm>
          <a:solidFill>
            <a:schemeClr val="tx2"/>
          </a:solidFill>
        </p:spPr>
        <p:txBody>
          <a:bodyPr lIns="182880" tIns="118872" rIns="182880"/>
          <a:lstStyle>
            <a:lvl1pPr marL="212725" indent="0">
              <a:lnSpc>
                <a:spcPct val="100000"/>
              </a:lnSpc>
              <a:spcBef>
                <a:spcPts val="600"/>
              </a:spcBef>
              <a:spcAft>
                <a:spcPts val="200"/>
              </a:spcAft>
              <a:defRPr lang="en-US" sz="2000" dirty="0" smtClean="0">
                <a:solidFill>
                  <a:schemeClr val="bg1"/>
                </a:solidFill>
              </a:defRPr>
            </a:lvl1pPr>
            <a:lvl2pPr marL="381000" indent="-158750">
              <a:lnSpc>
                <a:spcPct val="100000"/>
              </a:lnSpc>
              <a:spcBef>
                <a:spcPts val="1000"/>
              </a:spcBef>
              <a:defRPr lang="en-US" sz="18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14" name="Content Placeholder 2"/>
          <p:cNvSpPr>
            <a:spLocks noGrp="1"/>
          </p:cNvSpPr>
          <p:nvPr>
            <p:ph sz="half" idx="15"/>
          </p:nvPr>
        </p:nvSpPr>
        <p:spPr>
          <a:xfrm>
            <a:off x="4644390" y="3962196"/>
            <a:ext cx="4498848" cy="2084832"/>
          </a:xfrm>
          <a:solidFill>
            <a:schemeClr val="tx2"/>
          </a:solidFill>
        </p:spPr>
        <p:txBody>
          <a:bodyPr lIns="182880" tIns="118872" rIns="182880"/>
          <a:lstStyle>
            <a:lvl1pPr marL="212725" indent="0">
              <a:lnSpc>
                <a:spcPct val="100000"/>
              </a:lnSpc>
              <a:spcBef>
                <a:spcPts val="600"/>
              </a:spcBef>
              <a:spcAft>
                <a:spcPts val="200"/>
              </a:spcAft>
              <a:defRPr lang="en-US" sz="2000" dirty="0" smtClean="0">
                <a:solidFill>
                  <a:schemeClr val="bg1"/>
                </a:solidFill>
              </a:defRPr>
            </a:lvl1pPr>
            <a:lvl2pPr marL="381000" indent="-158750">
              <a:lnSpc>
                <a:spcPct val="100000"/>
              </a:lnSpc>
              <a:spcBef>
                <a:spcPts val="1000"/>
              </a:spcBef>
              <a:defRPr lang="en-US" sz="18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66657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ertical Quadra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12751" y="1728788"/>
            <a:ext cx="1965960" cy="4324350"/>
          </a:xfrm>
          <a:solidFill>
            <a:schemeClr val="tx2"/>
          </a:solidFill>
        </p:spPr>
        <p:txBody>
          <a:bodyPr lIns="182880" tIns="137160" rIns="182880"/>
          <a:lstStyle>
            <a:lvl1pPr marL="1588" indent="0">
              <a:lnSpc>
                <a:spcPct val="100000"/>
              </a:lnSpc>
              <a:spcBef>
                <a:spcPts val="600"/>
              </a:spcBef>
              <a:spcAft>
                <a:spcPts val="200"/>
              </a:spcAft>
              <a:defRPr lang="en-US" sz="2000" dirty="0" smtClean="0">
                <a:solidFill>
                  <a:schemeClr val="bg1"/>
                </a:solidFill>
              </a:defRPr>
            </a:lvl1pPr>
            <a:lvl2pPr marL="1588" indent="0">
              <a:lnSpc>
                <a:spcPct val="100000"/>
              </a:lnSpc>
              <a:spcBef>
                <a:spcPts val="1000"/>
              </a:spcBef>
              <a:buNone/>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5" name="Date Placeholder 4"/>
          <p:cNvSpPr>
            <a:spLocks noGrp="1"/>
          </p:cNvSpPr>
          <p:nvPr>
            <p:ph type="dt" sz="half" idx="10"/>
          </p:nvPr>
        </p:nvSpPr>
        <p:spPr/>
        <p:txBody>
          <a:bodyPr/>
          <a:lstStyle/>
          <a:p>
            <a:r>
              <a:rPr lang="en-US"/>
              <a:t>Title or Job Number | XX Month 201X</a:t>
            </a:r>
            <a:endParaRPr lang="en-US" dirty="0"/>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dirty="0"/>
          </a:p>
        </p:txBody>
      </p:sp>
      <p:sp>
        <p:nvSpPr>
          <p:cNvPr id="16" name="Content Placeholder 2"/>
          <p:cNvSpPr>
            <a:spLocks noGrp="1"/>
          </p:cNvSpPr>
          <p:nvPr>
            <p:ph sz="half" idx="13"/>
          </p:nvPr>
        </p:nvSpPr>
        <p:spPr>
          <a:xfrm>
            <a:off x="2529840" y="1728788"/>
            <a:ext cx="1965960" cy="4324350"/>
          </a:xfrm>
          <a:solidFill>
            <a:schemeClr val="tx2"/>
          </a:solidFill>
        </p:spPr>
        <p:txBody>
          <a:bodyPr lIns="182880" tIns="137160" rIns="182880"/>
          <a:lstStyle>
            <a:lvl1pPr marL="1588" indent="0">
              <a:lnSpc>
                <a:spcPct val="100000"/>
              </a:lnSpc>
              <a:spcBef>
                <a:spcPts val="600"/>
              </a:spcBef>
              <a:spcAft>
                <a:spcPts val="200"/>
              </a:spcAft>
              <a:defRPr lang="en-US" sz="2000" dirty="0" smtClean="0">
                <a:solidFill>
                  <a:schemeClr val="bg1"/>
                </a:solidFill>
              </a:defRPr>
            </a:lvl1pPr>
            <a:lvl2pPr marL="1588" indent="0">
              <a:lnSpc>
                <a:spcPct val="100000"/>
              </a:lnSpc>
              <a:spcBef>
                <a:spcPts val="1000"/>
              </a:spcBef>
              <a:buNone/>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20" name="Content Placeholder 2"/>
          <p:cNvSpPr>
            <a:spLocks noGrp="1"/>
          </p:cNvSpPr>
          <p:nvPr>
            <p:ph sz="half" idx="14"/>
          </p:nvPr>
        </p:nvSpPr>
        <p:spPr>
          <a:xfrm>
            <a:off x="4644390" y="1728788"/>
            <a:ext cx="1965960" cy="4324350"/>
          </a:xfrm>
          <a:solidFill>
            <a:schemeClr val="tx2"/>
          </a:solidFill>
        </p:spPr>
        <p:txBody>
          <a:bodyPr lIns="182880" tIns="137160" rIns="182880"/>
          <a:lstStyle>
            <a:lvl1pPr marL="1588" indent="0">
              <a:lnSpc>
                <a:spcPct val="100000"/>
              </a:lnSpc>
              <a:spcBef>
                <a:spcPts val="600"/>
              </a:spcBef>
              <a:spcAft>
                <a:spcPts val="200"/>
              </a:spcAft>
              <a:defRPr lang="en-US" sz="2000" dirty="0" smtClean="0">
                <a:solidFill>
                  <a:schemeClr val="bg1"/>
                </a:solidFill>
              </a:defRPr>
            </a:lvl1pPr>
            <a:lvl2pPr marL="1588" indent="0">
              <a:lnSpc>
                <a:spcPct val="100000"/>
              </a:lnSpc>
              <a:spcBef>
                <a:spcPts val="1000"/>
              </a:spcBef>
              <a:buNone/>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22" name="Content Placeholder 2"/>
          <p:cNvSpPr>
            <a:spLocks noGrp="1"/>
          </p:cNvSpPr>
          <p:nvPr>
            <p:ph sz="half" idx="15"/>
          </p:nvPr>
        </p:nvSpPr>
        <p:spPr>
          <a:xfrm>
            <a:off x="6758940" y="1728788"/>
            <a:ext cx="1965960" cy="4324350"/>
          </a:xfrm>
          <a:solidFill>
            <a:schemeClr val="tx2"/>
          </a:solidFill>
        </p:spPr>
        <p:txBody>
          <a:bodyPr lIns="182880" tIns="137160" rIns="182880"/>
          <a:lstStyle>
            <a:lvl1pPr marL="1588" indent="0">
              <a:lnSpc>
                <a:spcPct val="100000"/>
              </a:lnSpc>
              <a:spcBef>
                <a:spcPts val="600"/>
              </a:spcBef>
              <a:spcAft>
                <a:spcPts val="200"/>
              </a:spcAft>
              <a:defRPr lang="en-US" sz="2000" dirty="0" smtClean="0">
                <a:solidFill>
                  <a:schemeClr val="bg1"/>
                </a:solidFill>
              </a:defRPr>
            </a:lvl1pPr>
            <a:lvl2pPr marL="1588" indent="0">
              <a:lnSpc>
                <a:spcPct val="100000"/>
              </a:lnSpc>
              <a:spcBef>
                <a:spcPts val="1000"/>
              </a:spcBef>
              <a:buNone/>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1854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adra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0" y="1727805"/>
            <a:ext cx="4498848" cy="411480"/>
          </a:xfrm>
          <a:solidFill>
            <a:schemeClr val="bg2"/>
          </a:solidFill>
        </p:spPr>
        <p:txBody>
          <a:bodyPr rIns="182880" bIns="27432" anchor="ctr"/>
          <a:lstStyle>
            <a:lvl1pPr marL="398463" indent="0">
              <a:spcBef>
                <a:spcPts val="0"/>
              </a:spcBef>
              <a:buNone/>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97510" y="2263518"/>
            <a:ext cx="3890328" cy="1525992"/>
          </a:xfrm>
        </p:spPr>
        <p:txBody>
          <a:bodyPr vert="horz" lIns="0" tIns="0" rIns="182880" bIns="0" rtlCol="0">
            <a:noAutofit/>
          </a:bodyPr>
          <a:lstStyle>
            <a:lvl1pPr>
              <a:lnSpc>
                <a:spcPct val="110000"/>
              </a:lnSpc>
              <a:spcBef>
                <a:spcPts val="400"/>
              </a:spcBef>
              <a:defRPr lang="en-US" sz="1800" dirty="0" smtClean="0"/>
            </a:lvl1pPr>
            <a:lvl2pPr>
              <a:defRPr lang="en-US" sz="2150" dirty="0" smtClean="0"/>
            </a:lvl2pPr>
            <a:lvl3pPr>
              <a:defRPr lang="en-US" sz="1400" dirty="0" smtClean="0"/>
            </a:lvl3pPr>
            <a:lvl4pPr>
              <a:defRPr lang="en-US" sz="1400" dirty="0" smtClean="0"/>
            </a:lvl4pPr>
          </a:lstStyle>
          <a:p>
            <a:pPr lvl="0"/>
            <a:r>
              <a:rPr lang="en-US"/>
              <a:t>Click to edit Master text styles</a:t>
            </a:r>
          </a:p>
        </p:txBody>
      </p:sp>
      <p:sp>
        <p:nvSpPr>
          <p:cNvPr id="5" name="Text Placeholder 4"/>
          <p:cNvSpPr>
            <a:spLocks noGrp="1"/>
          </p:cNvSpPr>
          <p:nvPr>
            <p:ph type="body" sz="quarter" idx="3"/>
          </p:nvPr>
        </p:nvSpPr>
        <p:spPr>
          <a:xfrm>
            <a:off x="4644390" y="1727805"/>
            <a:ext cx="4498848" cy="411480"/>
          </a:xfrm>
          <a:solidFill>
            <a:schemeClr val="bg2"/>
          </a:solidFill>
        </p:spPr>
        <p:txBody>
          <a:bodyPr rIns="182880" bIns="27432" anchor="ctr"/>
          <a:lstStyle>
            <a:lvl1pPr marL="182563" indent="0">
              <a:spcBef>
                <a:spcPts val="0"/>
              </a:spcBef>
              <a:buNone/>
              <a:tabLst/>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6538" y="2263518"/>
            <a:ext cx="3895344" cy="1525992"/>
          </a:xfrm>
        </p:spPr>
        <p:txBody>
          <a:bodyPr vert="horz" lIns="0" tIns="0" rIns="182880" bIns="0" rtlCol="0">
            <a:noAutofit/>
          </a:bodyPr>
          <a:lstStyle>
            <a:lvl1pPr marL="0" indent="0">
              <a:lnSpc>
                <a:spcPct val="110000"/>
              </a:lnSpc>
              <a:spcBef>
                <a:spcPts val="400"/>
              </a:spcBef>
              <a:defRPr lang="en-US" sz="1800" dirty="0" smtClean="0"/>
            </a:lvl1pPr>
            <a:lvl2pPr>
              <a:defRPr lang="en-US" sz="2150" dirty="0" smtClean="0"/>
            </a:lvl2pPr>
            <a:lvl3pPr>
              <a:defRPr lang="en-US" sz="1400" dirty="0" smtClean="0"/>
            </a:lvl3pPr>
            <a:lvl4pPr>
              <a:defRPr lang="en-US" sz="1400" dirty="0" smtClean="0"/>
            </a:lvl4pPr>
          </a:lstStyle>
          <a:p>
            <a:pPr lvl="0"/>
            <a:r>
              <a:rPr lang="en-US"/>
              <a:t>Click to edit Master text styles</a:t>
            </a:r>
          </a:p>
        </p:txBody>
      </p:sp>
      <p:sp>
        <p:nvSpPr>
          <p:cNvPr id="7" name="Date Placeholder 6"/>
          <p:cNvSpPr>
            <a:spLocks noGrp="1"/>
          </p:cNvSpPr>
          <p:nvPr>
            <p:ph type="dt" sz="half" idx="10"/>
          </p:nvPr>
        </p:nvSpPr>
        <p:spPr/>
        <p:txBody>
          <a:bodyPr/>
          <a:lstStyle/>
          <a:p>
            <a:r>
              <a:rPr lang="en-US"/>
              <a:t>Title or Job Number | XX Month 201X</a:t>
            </a:r>
            <a:endParaRPr lang="en-US" dirty="0"/>
          </a:p>
        </p:txBody>
      </p:sp>
      <p:sp>
        <p:nvSpPr>
          <p:cNvPr id="9" name="Slide Number Placeholder 8"/>
          <p:cNvSpPr>
            <a:spLocks noGrp="1"/>
          </p:cNvSpPr>
          <p:nvPr>
            <p:ph type="sldNum" sz="quarter" idx="12"/>
          </p:nvPr>
        </p:nvSpPr>
        <p:spPr/>
        <p:txBody>
          <a:bodyPr/>
          <a:lstStyle/>
          <a:p>
            <a:fld id="{0D558541-60C9-42A2-8392-FF12533A6B7A}" type="slidenum">
              <a:rPr lang="en-US" smtClean="0"/>
              <a:t>‹N°›</a:t>
            </a:fld>
            <a:endParaRPr lang="en-US" dirty="0"/>
          </a:p>
        </p:txBody>
      </p:sp>
      <p:sp>
        <p:nvSpPr>
          <p:cNvPr id="24" name="Text Placeholder 4"/>
          <p:cNvSpPr>
            <a:spLocks noGrp="1"/>
          </p:cNvSpPr>
          <p:nvPr>
            <p:ph type="body" sz="quarter" idx="14"/>
          </p:nvPr>
        </p:nvSpPr>
        <p:spPr>
          <a:xfrm>
            <a:off x="0" y="3991433"/>
            <a:ext cx="4498848" cy="411480"/>
          </a:xfrm>
          <a:solidFill>
            <a:schemeClr val="bg2"/>
          </a:solidFill>
        </p:spPr>
        <p:txBody>
          <a:bodyPr rIns="182880" bIns="27432" anchor="ctr"/>
          <a:lstStyle>
            <a:lvl1pPr marL="400050" indent="0">
              <a:spcBef>
                <a:spcPts val="0"/>
              </a:spcBef>
              <a:buNone/>
              <a:tabLst/>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p:cNvSpPr>
            <a:spLocks noGrp="1"/>
          </p:cNvSpPr>
          <p:nvPr>
            <p:ph sz="quarter" idx="15"/>
          </p:nvPr>
        </p:nvSpPr>
        <p:spPr>
          <a:xfrm>
            <a:off x="397511" y="4527146"/>
            <a:ext cx="3890328" cy="1525992"/>
          </a:xfrm>
        </p:spPr>
        <p:txBody>
          <a:bodyPr vert="horz" lIns="0" tIns="0" rIns="182880" bIns="0" rtlCol="0">
            <a:noAutofit/>
          </a:bodyPr>
          <a:lstStyle>
            <a:lvl1pPr marL="0" indent="0">
              <a:lnSpc>
                <a:spcPct val="110000"/>
              </a:lnSpc>
              <a:spcBef>
                <a:spcPts val="400"/>
              </a:spcBef>
              <a:defRPr lang="en-US" sz="1800" dirty="0" smtClean="0"/>
            </a:lvl1pPr>
            <a:lvl2pPr>
              <a:defRPr lang="en-US" sz="2150" dirty="0" smtClean="0"/>
            </a:lvl2pPr>
            <a:lvl3pPr>
              <a:defRPr lang="en-US" sz="1400" dirty="0" smtClean="0"/>
            </a:lvl3pPr>
            <a:lvl4pPr>
              <a:defRPr lang="en-US" sz="1400" dirty="0" smtClean="0"/>
            </a:lvl4pPr>
          </a:lstStyle>
          <a:p>
            <a:pPr lvl="0"/>
            <a:r>
              <a:rPr lang="en-US"/>
              <a:t>Click to edit Master text styles</a:t>
            </a:r>
          </a:p>
        </p:txBody>
      </p:sp>
      <p:sp>
        <p:nvSpPr>
          <p:cNvPr id="26" name="Text Placeholder 4"/>
          <p:cNvSpPr>
            <a:spLocks noGrp="1"/>
          </p:cNvSpPr>
          <p:nvPr>
            <p:ph type="body" sz="quarter" idx="16"/>
          </p:nvPr>
        </p:nvSpPr>
        <p:spPr>
          <a:xfrm>
            <a:off x="4644390" y="3991433"/>
            <a:ext cx="4498848" cy="411480"/>
          </a:xfrm>
          <a:solidFill>
            <a:schemeClr val="bg2"/>
          </a:solidFill>
        </p:spPr>
        <p:txBody>
          <a:bodyPr rIns="182880" bIns="27432" anchor="ctr"/>
          <a:lstStyle>
            <a:lvl1pPr marL="180975" indent="0">
              <a:spcBef>
                <a:spcPts val="0"/>
              </a:spcBef>
              <a:buNone/>
              <a:tabLst/>
              <a:defRPr sz="1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5"/>
          <p:cNvSpPr>
            <a:spLocks noGrp="1"/>
          </p:cNvSpPr>
          <p:nvPr>
            <p:ph sz="quarter" idx="17"/>
          </p:nvPr>
        </p:nvSpPr>
        <p:spPr>
          <a:xfrm>
            <a:off x="4826538" y="4527146"/>
            <a:ext cx="3895344" cy="1525992"/>
          </a:xfrm>
        </p:spPr>
        <p:txBody>
          <a:bodyPr vert="horz" lIns="0" tIns="0" rIns="182880" bIns="0" rtlCol="0">
            <a:noAutofit/>
          </a:bodyPr>
          <a:lstStyle>
            <a:lvl1pPr marL="0" indent="0">
              <a:lnSpc>
                <a:spcPct val="110000"/>
              </a:lnSpc>
              <a:spcBef>
                <a:spcPts val="400"/>
              </a:spcBef>
              <a:defRPr lang="en-US" sz="1800" dirty="0" smtClean="0"/>
            </a:lvl1pPr>
            <a:lvl2pPr>
              <a:defRPr lang="en-US" sz="2150" dirty="0" smtClean="0"/>
            </a:lvl2pPr>
            <a:lvl3pPr>
              <a:defRPr lang="en-US" sz="1400" dirty="0" smtClean="0"/>
            </a:lvl3pPr>
            <a:lvl4pPr>
              <a:defRPr lang="en-US" sz="1400" dirty="0" smtClean="0"/>
            </a:lvl4pPr>
          </a:lstStyle>
          <a:p>
            <a:pPr lvl="0"/>
            <a:r>
              <a:rPr lang="en-US"/>
              <a:t>Click to edit Master text styles</a:t>
            </a:r>
          </a:p>
        </p:txBody>
      </p:sp>
    </p:spTree>
    <p:extLst>
      <p:ext uri="{BB962C8B-B14F-4D97-AF65-F5344CB8AC3E}">
        <p14:creationId xmlns:p14="http://schemas.microsoft.com/office/powerpoint/2010/main" val="2018843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Title or Job Number | XX Month 201X</a:t>
            </a:r>
            <a:endParaRPr lang="en-US" dirty="0"/>
          </a:p>
        </p:txBody>
      </p:sp>
      <p:sp>
        <p:nvSpPr>
          <p:cNvPr id="5" name="Slide Number Placeholder 4"/>
          <p:cNvSpPr>
            <a:spLocks noGrp="1"/>
          </p:cNvSpPr>
          <p:nvPr>
            <p:ph type="sldNum" sz="quarter" idx="12"/>
          </p:nvPr>
        </p:nvSpPr>
        <p:spPr/>
        <p:txBody>
          <a:bodyPr/>
          <a:lstStyle/>
          <a:p>
            <a:fld id="{0D558541-60C9-42A2-8392-FF12533A6B7A}" type="slidenum">
              <a:rPr lang="en-US" smtClean="0"/>
              <a:pPr/>
              <a:t>‹N°›</a:t>
            </a:fld>
            <a:endParaRPr lang="en-US" dirty="0"/>
          </a:p>
        </p:txBody>
      </p:sp>
      <p:sp>
        <p:nvSpPr>
          <p:cNvPr id="7" name="Chart Placeholder 6"/>
          <p:cNvSpPr>
            <a:spLocks noGrp="1"/>
          </p:cNvSpPr>
          <p:nvPr>
            <p:ph type="chart" sz="quarter" idx="13"/>
          </p:nvPr>
        </p:nvSpPr>
        <p:spPr>
          <a:xfrm>
            <a:off x="412750" y="1911350"/>
            <a:ext cx="8318500" cy="3803650"/>
          </a:xfrm>
        </p:spPr>
        <p:txBody>
          <a:bodyPr anchor="ctr"/>
          <a:lstStyle>
            <a:lvl1pPr algn="ctr">
              <a:defRPr/>
            </a:lvl1pPr>
          </a:lstStyle>
          <a:p>
            <a:r>
              <a:rPr lang="en-US"/>
              <a:t>Click icon to add chart</a:t>
            </a:r>
          </a:p>
        </p:txBody>
      </p:sp>
    </p:spTree>
    <p:extLst>
      <p:ext uri="{BB962C8B-B14F-4D97-AF65-F5344CB8AC3E}">
        <p14:creationId xmlns:p14="http://schemas.microsoft.com/office/powerpoint/2010/main" val="1265137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Title or Job Number | XX Month 201X</a:t>
            </a:r>
            <a:endParaRPr lang="en-US" dirty="0"/>
          </a:p>
        </p:txBody>
      </p:sp>
      <p:sp>
        <p:nvSpPr>
          <p:cNvPr id="5" name="Slide Number Placeholder 4"/>
          <p:cNvSpPr>
            <a:spLocks noGrp="1"/>
          </p:cNvSpPr>
          <p:nvPr>
            <p:ph type="sldNum" sz="quarter" idx="12"/>
          </p:nvPr>
        </p:nvSpPr>
        <p:spPr/>
        <p:txBody>
          <a:bodyPr/>
          <a:lstStyle/>
          <a:p>
            <a:fld id="{0D558541-60C9-42A2-8392-FF12533A6B7A}" type="slidenum">
              <a:rPr lang="en-US" smtClean="0"/>
              <a:pPr/>
              <a:t>‹N°›</a:t>
            </a:fld>
            <a:endParaRPr lang="en-US" dirty="0"/>
          </a:p>
        </p:txBody>
      </p:sp>
      <p:sp>
        <p:nvSpPr>
          <p:cNvPr id="7" name="Table Placeholder 6"/>
          <p:cNvSpPr>
            <a:spLocks noGrp="1"/>
          </p:cNvSpPr>
          <p:nvPr>
            <p:ph type="tbl" sz="quarter" idx="13"/>
          </p:nvPr>
        </p:nvSpPr>
        <p:spPr>
          <a:xfrm>
            <a:off x="412750" y="1728788"/>
            <a:ext cx="8318500" cy="4324350"/>
          </a:xfrm>
        </p:spPr>
        <p:txBody>
          <a:bodyPr anchor="ctr"/>
          <a:lstStyle>
            <a:lvl1pPr algn="ctr">
              <a:defRPr/>
            </a:lvl1pPr>
          </a:lstStyle>
          <a:p>
            <a:r>
              <a:rPr lang="en-US"/>
              <a:t>Click icon to add table</a:t>
            </a:r>
            <a:endParaRPr lang="en-US" dirty="0"/>
          </a:p>
        </p:txBody>
      </p:sp>
    </p:spTree>
    <p:extLst>
      <p:ext uri="{BB962C8B-B14F-4D97-AF65-F5344CB8AC3E}">
        <p14:creationId xmlns:p14="http://schemas.microsoft.com/office/powerpoint/2010/main" val="41103587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Title or Job Number | XX Month 201X</a:t>
            </a:r>
          </a:p>
        </p:txBody>
      </p:sp>
      <p:sp>
        <p:nvSpPr>
          <p:cNvPr id="5" name="Slide Number Placeholder 4"/>
          <p:cNvSpPr>
            <a:spLocks noGrp="1"/>
          </p:cNvSpPr>
          <p:nvPr>
            <p:ph type="sldNum" sz="quarter" idx="12"/>
          </p:nvPr>
        </p:nvSpPr>
        <p:spPr/>
        <p:txBody>
          <a:bodyPr/>
          <a:lstStyle/>
          <a:p>
            <a:fld id="{0D558541-60C9-42A2-8392-FF12533A6B7A}" type="slidenum">
              <a:rPr lang="en-US" smtClean="0"/>
              <a:t>‹N°›</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Title or Job Number | XX Month 201X</a:t>
            </a:r>
          </a:p>
        </p:txBody>
      </p:sp>
      <p:sp>
        <p:nvSpPr>
          <p:cNvPr id="4" name="Slide Number Placeholder 3"/>
          <p:cNvSpPr>
            <a:spLocks noGrp="1"/>
          </p:cNvSpPr>
          <p:nvPr>
            <p:ph type="sldNum" sz="quarter" idx="12"/>
          </p:nvPr>
        </p:nvSpPr>
        <p:spPr/>
        <p:txBody>
          <a:bodyPr/>
          <a:lstStyle/>
          <a:p>
            <a:fld id="{0D558541-60C9-42A2-8392-FF12533A6B7A}" type="slidenum">
              <a:rPr lang="en-US" smtClean="0"/>
              <a:t>‹N°›</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alf Text - Half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41900" y="1655444"/>
            <a:ext cx="3689350" cy="4397693"/>
          </a:xfrm>
        </p:spPr>
        <p:txBody>
          <a:bodyPr vert="horz" lIns="0" tIns="0" rIns="0" bIns="0" rtlCol="0">
            <a:noAutofit/>
          </a:bodyPr>
          <a:lstStyle>
            <a:lvl1pPr>
              <a:defRPr lang="en-US" sz="2000" dirty="0" smtClean="0"/>
            </a:lvl1pPr>
            <a:lvl2pPr>
              <a:defRPr lang="en-US" sz="1800" dirty="0" smtClean="0"/>
            </a:lvl2pPr>
            <a:lvl3pPr>
              <a:defRPr lang="en-US" sz="1600" dirty="0" smtClean="0"/>
            </a:lvl3pPr>
            <a:lvl4pPr>
              <a:defRPr lang="en-US" sz="1400" dirty="0" smtClean="0"/>
            </a:lvl4pPr>
          </a:lstStyle>
          <a:p>
            <a:pPr lvl="0">
              <a:spcBef>
                <a:spcPts val="1000"/>
              </a:spcBef>
            </a:pPr>
            <a:r>
              <a:rPr lang="en-US"/>
              <a:t>Click to edit Master text styles</a:t>
            </a:r>
          </a:p>
          <a:p>
            <a:pPr lvl="1">
              <a:spcBef>
                <a:spcPts val="1000"/>
              </a:spcBef>
            </a:pPr>
            <a:r>
              <a:rPr lang="en-US"/>
              <a:t>Second level</a:t>
            </a:r>
          </a:p>
          <a:p>
            <a:pPr lvl="2">
              <a:spcBef>
                <a:spcPts val="1000"/>
              </a:spcBef>
            </a:pPr>
            <a:r>
              <a:rPr lang="en-US"/>
              <a:t>Third level</a:t>
            </a:r>
          </a:p>
          <a:p>
            <a:pPr lvl="3">
              <a:spcBef>
                <a:spcPts val="1000"/>
              </a:spcBef>
            </a:pPr>
            <a:r>
              <a:rPr lang="en-US"/>
              <a:t>Fourth level</a:t>
            </a:r>
          </a:p>
        </p:txBody>
      </p:sp>
      <p:sp>
        <p:nvSpPr>
          <p:cNvPr id="5" name="Date Placeholder 4"/>
          <p:cNvSpPr>
            <a:spLocks noGrp="1"/>
          </p:cNvSpPr>
          <p:nvPr>
            <p:ph type="dt" sz="half" idx="10"/>
          </p:nvPr>
        </p:nvSpPr>
        <p:spPr/>
        <p:txBody>
          <a:bodyPr/>
          <a:lstStyle/>
          <a:p>
            <a:r>
              <a:rPr lang="en-US"/>
              <a:t>Title or Job Number | XX Month 201X</a:t>
            </a:r>
            <a:endParaRPr lang="en-US" dirty="0"/>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dirty="0"/>
          </a:p>
        </p:txBody>
      </p:sp>
      <p:sp>
        <p:nvSpPr>
          <p:cNvPr id="11" name="Picture Placeholder 10"/>
          <p:cNvSpPr>
            <a:spLocks noGrp="1"/>
          </p:cNvSpPr>
          <p:nvPr>
            <p:ph type="pic" sz="quarter" idx="13" hasCustomPrompt="1"/>
          </p:nvPr>
        </p:nvSpPr>
        <p:spPr>
          <a:xfrm>
            <a:off x="1" y="1728788"/>
            <a:ext cx="4514850" cy="4324350"/>
          </a:xfrm>
          <a:solidFill>
            <a:schemeClr val="bg1">
              <a:lumMod val="95000"/>
            </a:schemeClr>
          </a:solidFill>
        </p:spPr>
        <p:txBody>
          <a:bodyPr anchor="ctr"/>
          <a:lstStyle>
            <a:lvl1pPr algn="ctr">
              <a:defRPr/>
            </a:lvl1pPr>
          </a:lstStyle>
          <a:p>
            <a:r>
              <a:rPr lang="en-US" dirty="0"/>
              <a:t>Click to add image</a:t>
            </a:r>
          </a:p>
        </p:txBody>
      </p:sp>
    </p:spTree>
    <p:extLst>
      <p:ext uri="{BB962C8B-B14F-4D97-AF65-F5344CB8AC3E}">
        <p14:creationId xmlns:p14="http://schemas.microsoft.com/office/powerpoint/2010/main" val="449740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w/ Title &amp; Footer">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0" y="1728788"/>
            <a:ext cx="9144000" cy="4324350"/>
          </a:xfrm>
          <a:solidFill>
            <a:schemeClr val="bg1">
              <a:lumMod val="95000"/>
            </a:schemeClr>
          </a:solidFill>
        </p:spPr>
        <p:txBody>
          <a:bodyPr anchor="ctr"/>
          <a:lstStyle>
            <a:lvl1pPr algn="ctr">
              <a:defRPr/>
            </a:lvl1pPr>
          </a:lstStyle>
          <a:p>
            <a:r>
              <a:rPr lang="en-US" dirty="0"/>
              <a:t>Click to add image</a:t>
            </a:r>
          </a:p>
        </p:txBody>
      </p:sp>
      <p:sp>
        <p:nvSpPr>
          <p:cNvPr id="2" name="Title 1"/>
          <p:cNvSpPr>
            <a:spLocks noGrp="1"/>
          </p:cNvSpPr>
          <p:nvPr>
            <p:ph type="title"/>
          </p:nvPr>
        </p:nvSpPr>
        <p:spPr>
          <a:xfrm>
            <a:off x="379094" y="552450"/>
            <a:ext cx="8352156" cy="1021002"/>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r>
              <a:rPr lang="en-US"/>
              <a:t>Title or Job Number | XX Month 201X</a:t>
            </a:r>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a:p>
        </p:txBody>
      </p:sp>
      <p:sp>
        <p:nvSpPr>
          <p:cNvPr id="9" name="Text Placeholder 8"/>
          <p:cNvSpPr>
            <a:spLocks noGrp="1"/>
          </p:cNvSpPr>
          <p:nvPr>
            <p:ph type="body" sz="quarter" idx="14" hasCustomPrompt="1"/>
          </p:nvPr>
        </p:nvSpPr>
        <p:spPr bwMode="gray">
          <a:xfrm>
            <a:off x="379094" y="1794739"/>
            <a:ext cx="8318500" cy="1395412"/>
          </a:xfrm>
        </p:spPr>
        <p:txBody>
          <a:bodyPr/>
          <a:lstStyle>
            <a:lvl1pPr>
              <a:defRPr sz="3200" baseline="0"/>
            </a:lvl1pPr>
          </a:lstStyle>
          <a:p>
            <a:pPr lvl="0"/>
            <a:r>
              <a:rPr lang="en-US" dirty="0"/>
              <a:t>Click to add text over image. White or gray only. 32pt flexible positioning. Delete if not needed.</a:t>
            </a:r>
          </a:p>
        </p:txBody>
      </p:sp>
    </p:spTree>
    <p:extLst>
      <p:ext uri="{BB962C8B-B14F-4D97-AF65-F5344CB8AC3E}">
        <p14:creationId xmlns:p14="http://schemas.microsoft.com/office/powerpoint/2010/main" val="29727381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w/ Title">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0" y="1728788"/>
            <a:ext cx="9144000" cy="5129212"/>
          </a:xfrm>
          <a:solidFill>
            <a:schemeClr val="bg1">
              <a:lumMod val="95000"/>
            </a:schemeClr>
          </a:solidFill>
        </p:spPr>
        <p:txBody>
          <a:bodyPr anchor="ctr"/>
          <a:lstStyle>
            <a:lvl1pPr algn="ctr">
              <a:defRPr/>
            </a:lvl1pPr>
          </a:lstStyle>
          <a:p>
            <a:r>
              <a:rPr lang="en-US" dirty="0"/>
              <a:t>Click to add image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lvl1pPr>
              <a:defRPr>
                <a:solidFill>
                  <a:schemeClr val="bg1"/>
                </a:solidFill>
              </a:defRPr>
            </a:lvl1pPr>
          </a:lstStyle>
          <a:p>
            <a:r>
              <a:rPr lang="en-US"/>
              <a:t>Title or Job Number | XX Month 201X</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0D558541-60C9-42A2-8392-FF12533A6B7A}" type="slidenum">
              <a:rPr lang="en-US" smtClean="0"/>
              <a:pPr/>
              <a:t>‹N°›</a:t>
            </a:fld>
            <a:endParaRPr lang="en-US"/>
          </a:p>
        </p:txBody>
      </p:sp>
      <p:sp>
        <p:nvSpPr>
          <p:cNvPr id="9" name="Text Placeholder 8"/>
          <p:cNvSpPr>
            <a:spLocks noGrp="1"/>
          </p:cNvSpPr>
          <p:nvPr>
            <p:ph type="body" sz="quarter" idx="14" hasCustomPrompt="1"/>
          </p:nvPr>
        </p:nvSpPr>
        <p:spPr bwMode="gray">
          <a:xfrm>
            <a:off x="384048" y="1792224"/>
            <a:ext cx="8318500" cy="1395412"/>
          </a:xfrm>
        </p:spPr>
        <p:txBody>
          <a:bodyPr/>
          <a:lstStyle>
            <a:lvl1pPr>
              <a:defRPr sz="3200" baseline="0"/>
            </a:lvl1pPr>
          </a:lstStyle>
          <a:p>
            <a:pPr lvl="0"/>
            <a:r>
              <a:rPr lang="en-US" dirty="0"/>
              <a:t>Click to add text over image. White or gray only. 32pt flexible positioning. Delete if not needed.</a:t>
            </a:r>
          </a:p>
        </p:txBody>
      </p:sp>
    </p:spTree>
    <p:extLst>
      <p:ext uri="{BB962C8B-B14F-4D97-AF65-F5344CB8AC3E}">
        <p14:creationId xmlns:p14="http://schemas.microsoft.com/office/powerpoint/2010/main" val="10996404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0" y="0"/>
            <a:ext cx="9144000" cy="6858000"/>
          </a:xfrm>
          <a:solidFill>
            <a:schemeClr val="bg1">
              <a:lumMod val="95000"/>
            </a:schemeClr>
          </a:solidFill>
        </p:spPr>
        <p:txBody>
          <a:bodyPr anchor="ctr"/>
          <a:lstStyle>
            <a:lvl1pPr algn="ctr">
              <a:defRPr/>
            </a:lvl1pPr>
          </a:lstStyle>
          <a:p>
            <a:r>
              <a:rPr lang="en-US" dirty="0"/>
              <a:t>Click to add image</a:t>
            </a:r>
          </a:p>
        </p:txBody>
      </p:sp>
      <p:sp>
        <p:nvSpPr>
          <p:cNvPr id="2" name="Title 1"/>
          <p:cNvSpPr>
            <a:spLocks noGrp="1"/>
          </p:cNvSpPr>
          <p:nvPr>
            <p:ph type="title" hasCustomPrompt="1"/>
          </p:nvPr>
        </p:nvSpPr>
        <p:spPr bwMode="gray"/>
        <p:txBody>
          <a:bodyPr/>
          <a:lstStyle>
            <a:lvl1pPr>
              <a:defRPr sz="3200" spc="0" baseline="0"/>
            </a:lvl1pPr>
          </a:lstStyle>
          <a:p>
            <a:pPr lvl="0"/>
            <a:r>
              <a:rPr lang="en-US" dirty="0"/>
              <a:t>Click to add text over image. White or gray only. 32pt flexible positioning. Delete if not needed.</a:t>
            </a:r>
          </a:p>
        </p:txBody>
      </p:sp>
      <p:sp>
        <p:nvSpPr>
          <p:cNvPr id="5" name="Date Placeholder 4"/>
          <p:cNvSpPr>
            <a:spLocks noGrp="1"/>
          </p:cNvSpPr>
          <p:nvPr>
            <p:ph type="dt" sz="half" idx="10"/>
          </p:nvPr>
        </p:nvSpPr>
        <p:spPr/>
        <p:txBody>
          <a:bodyPr/>
          <a:lstStyle>
            <a:lvl1pPr>
              <a:defRPr>
                <a:solidFill>
                  <a:schemeClr val="bg1"/>
                </a:solidFill>
              </a:defRPr>
            </a:lvl1pPr>
          </a:lstStyle>
          <a:p>
            <a:r>
              <a:rPr lang="en-US"/>
              <a:t>Title or Job Number | XX Month 201X</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0D558541-60C9-42A2-8392-FF12533A6B7A}" type="slidenum">
              <a:rPr lang="en-US" smtClean="0"/>
              <a:pPr/>
              <a:t>‹N°›</a:t>
            </a:fld>
            <a:endParaRPr lang="en-US"/>
          </a:p>
        </p:txBody>
      </p:sp>
    </p:spTree>
    <p:extLst>
      <p:ext uri="{BB962C8B-B14F-4D97-AF65-F5344CB8AC3E}">
        <p14:creationId xmlns:p14="http://schemas.microsoft.com/office/powerpoint/2010/main" val="42579608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Image Top">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0" y="0"/>
            <a:ext cx="9144000" cy="6053138"/>
          </a:xfrm>
          <a:solidFill>
            <a:schemeClr val="bg1">
              <a:lumMod val="95000"/>
            </a:schemeClr>
          </a:solidFill>
        </p:spPr>
        <p:txBody>
          <a:bodyPr anchor="ctr"/>
          <a:lstStyle>
            <a:lvl1pPr algn="ctr">
              <a:defRPr/>
            </a:lvl1pPr>
          </a:lstStyle>
          <a:p>
            <a:r>
              <a:rPr lang="en-US" dirty="0"/>
              <a:t>Click to add image</a:t>
            </a:r>
          </a:p>
        </p:txBody>
      </p:sp>
      <p:sp>
        <p:nvSpPr>
          <p:cNvPr id="2" name="Title 1"/>
          <p:cNvSpPr>
            <a:spLocks noGrp="1"/>
          </p:cNvSpPr>
          <p:nvPr>
            <p:ph type="title" hasCustomPrompt="1"/>
          </p:nvPr>
        </p:nvSpPr>
        <p:spPr bwMode="gray"/>
        <p:txBody>
          <a:bodyPr/>
          <a:lstStyle>
            <a:lvl1pPr>
              <a:defRPr sz="3200" spc="0" baseline="0"/>
            </a:lvl1pPr>
          </a:lstStyle>
          <a:p>
            <a:pPr lvl="0"/>
            <a:r>
              <a:rPr lang="en-US" dirty="0"/>
              <a:t>Click to add text over image. White or gray only. 32pt flexible positioning. Delete if not needed.</a:t>
            </a:r>
          </a:p>
        </p:txBody>
      </p:sp>
      <p:sp>
        <p:nvSpPr>
          <p:cNvPr id="5" name="Date Placeholder 4"/>
          <p:cNvSpPr>
            <a:spLocks noGrp="1"/>
          </p:cNvSpPr>
          <p:nvPr>
            <p:ph type="dt" sz="half" idx="10"/>
          </p:nvPr>
        </p:nvSpPr>
        <p:spPr/>
        <p:txBody>
          <a:bodyPr/>
          <a:lstStyle/>
          <a:p>
            <a:r>
              <a:rPr lang="en-US"/>
              <a:t>Title or Job Number | XX Month 201X</a:t>
            </a:r>
          </a:p>
        </p:txBody>
      </p:sp>
      <p:sp>
        <p:nvSpPr>
          <p:cNvPr id="7" name="Slide Number Placeholder 6"/>
          <p:cNvSpPr>
            <a:spLocks noGrp="1"/>
          </p:cNvSpPr>
          <p:nvPr>
            <p:ph type="sldNum" sz="quarter" idx="12"/>
          </p:nvPr>
        </p:nvSpPr>
        <p:spPr/>
        <p:txBody>
          <a:bodyPr/>
          <a:lstStyle/>
          <a:p>
            <a:fld id="{0D558541-60C9-42A2-8392-FF12533A6B7A}" type="slidenum">
              <a:rPr lang="en-US" smtClean="0"/>
              <a:t>‹N°›</a:t>
            </a:fld>
            <a:endParaRPr lang="en-US"/>
          </a:p>
        </p:txBody>
      </p:sp>
    </p:spTree>
    <p:extLst>
      <p:ext uri="{BB962C8B-B14F-4D97-AF65-F5344CB8AC3E}">
        <p14:creationId xmlns:p14="http://schemas.microsoft.com/office/powerpoint/2010/main" val="22478364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wo Statements">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auto">
          <a:xfrm>
            <a:off x="365125" y="790743"/>
            <a:ext cx="4149725" cy="4513261"/>
          </a:xfrm>
        </p:spPr>
        <p:txBody>
          <a:bodyPr/>
          <a:lstStyle>
            <a:lvl1pPr>
              <a:lnSpc>
                <a:spcPct val="90000"/>
              </a:lnSpc>
              <a:defRPr sz="4400"/>
            </a:lvl1pPr>
          </a:lstStyle>
          <a:p>
            <a:r>
              <a:rPr lang="en-US" dirty="0"/>
              <a:t>Extra emphasis headline five lines maximum </a:t>
            </a:r>
          </a:p>
        </p:txBody>
      </p:sp>
      <p:sp>
        <p:nvSpPr>
          <p:cNvPr id="3" name="Subtitle 2"/>
          <p:cNvSpPr>
            <a:spLocks noGrp="1"/>
          </p:cNvSpPr>
          <p:nvPr>
            <p:ph type="subTitle" idx="1" hasCustomPrompt="1"/>
          </p:nvPr>
        </p:nvSpPr>
        <p:spPr bwMode="gray">
          <a:xfrm>
            <a:off x="4955540" y="795823"/>
            <a:ext cx="3544570" cy="4528437"/>
          </a:xfrm>
        </p:spPr>
        <p:txBody>
          <a:bodyPr/>
          <a:lstStyle>
            <a:lvl1pPr marL="0" indent="0" algn="l">
              <a:lnSpc>
                <a:spcPct val="100000"/>
              </a:lnSpc>
              <a:buNone/>
              <a:defRPr sz="20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err="1"/>
              <a:t>APdditional</a:t>
            </a:r>
            <a:r>
              <a:rPr lang="en-US" dirty="0"/>
              <a:t> statement goes here</a:t>
            </a:r>
          </a:p>
        </p:txBody>
      </p:sp>
      <p:sp>
        <p:nvSpPr>
          <p:cNvPr id="4" name="Date Placeholder 3"/>
          <p:cNvSpPr>
            <a:spLocks noGrp="1"/>
          </p:cNvSpPr>
          <p:nvPr>
            <p:ph type="dt" sz="half" idx="10"/>
          </p:nvPr>
        </p:nvSpPr>
        <p:spPr/>
        <p:txBody>
          <a:bodyPr/>
          <a:lstStyle/>
          <a:p>
            <a:r>
              <a:rPr lang="en-US"/>
              <a:t>Title or Job Number | XX Month 201X</a:t>
            </a:r>
          </a:p>
        </p:txBody>
      </p:sp>
      <p:sp>
        <p:nvSpPr>
          <p:cNvPr id="6" name="Slide Number Placeholder 5"/>
          <p:cNvSpPr>
            <a:spLocks noGrp="1"/>
          </p:cNvSpPr>
          <p:nvPr>
            <p:ph type="sldNum" sz="quarter" idx="12"/>
          </p:nvPr>
        </p:nvSpPr>
        <p:spPr/>
        <p:txBody>
          <a:bodyPr/>
          <a:lstStyle/>
          <a:p>
            <a:fld id="{0D558541-60C9-42A2-8392-FF12533A6B7A}" type="slidenum">
              <a:rPr lang="en-US" smtClean="0"/>
              <a:t>‹N°›</a:t>
            </a:fld>
            <a:endParaRPr lang="en-US"/>
          </a:p>
        </p:txBody>
      </p:sp>
    </p:spTree>
    <p:extLst>
      <p:ext uri="{BB962C8B-B14F-4D97-AF65-F5344CB8AC3E}">
        <p14:creationId xmlns:p14="http://schemas.microsoft.com/office/powerpoint/2010/main" val="36010756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5600" y="1613535"/>
            <a:ext cx="8375650" cy="2624288"/>
          </a:xfrm>
        </p:spPr>
        <p:txBody>
          <a:bodyPr anchor="t"/>
          <a:lstStyle>
            <a:lvl1pPr algn="l">
              <a:defRPr sz="5400" b="0" cap="none" spc="0" baseline="0">
                <a:solidFill>
                  <a:schemeClr val="tx2"/>
                </a:solidFill>
              </a:defRPr>
            </a:lvl1pPr>
          </a:lstStyle>
          <a:p>
            <a:r>
              <a:rPr lang="en-US" dirty="0"/>
              <a:t>Click to add divider title</a:t>
            </a:r>
            <a:br>
              <a:rPr lang="en-US" dirty="0"/>
            </a:br>
            <a:r>
              <a:rPr lang="en-US" dirty="0"/>
              <a:t>two lines maximum</a:t>
            </a:r>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3861" t="3741" r="3511" b="3000"/>
          <a:stretch/>
        </p:blipFill>
        <p:spPr>
          <a:xfrm>
            <a:off x="396954" y="6206558"/>
            <a:ext cx="491013" cy="483734"/>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18775436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Green">
    <p:bg>
      <p:bgPr>
        <a:solidFill>
          <a:srgbClr val="46AD00"/>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3445647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Orange">
    <p:bg>
      <p:bgPr>
        <a:solidFill>
          <a:srgbClr val="FF982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2036656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Section Header Purple">
    <p:bg>
      <p:bgPr>
        <a:solidFill>
          <a:srgbClr val="595194"/>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3157995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Red">
    <p:bg>
      <p:bgPr>
        <a:solidFill>
          <a:schemeClr val="accent6"/>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31250924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Section Header Gray">
    <p:bg>
      <p:bgPr>
        <a:solidFill>
          <a:srgbClr val="575757"/>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sp>
        <p:nvSpPr>
          <p:cNvPr id="2" name="Title 1"/>
          <p:cNvSpPr>
            <a:spLocks noGrp="1"/>
          </p:cNvSpPr>
          <p:nvPr>
            <p:ph type="title" hasCustomPrompt="1"/>
          </p:nvPr>
        </p:nvSpPr>
        <p:spPr>
          <a:xfrm>
            <a:off x="356616" y="1618488"/>
            <a:ext cx="8318500" cy="2624288"/>
          </a:xfrm>
        </p:spPr>
        <p:txBody>
          <a:bodyPr anchor="t"/>
          <a:lstStyle>
            <a:lvl1pPr algn="l">
              <a:defRPr sz="5400" b="0" cap="none" spc="0" baseline="0">
                <a:solidFill>
                  <a:schemeClr val="bg1"/>
                </a:solidFill>
              </a:defRPr>
            </a:lvl1pPr>
          </a:lstStyle>
          <a:p>
            <a:r>
              <a:rPr lang="en-US" dirty="0"/>
              <a:t>Click to add divider title</a:t>
            </a:r>
            <a:br>
              <a:rPr lang="en-US" dirty="0"/>
            </a:br>
            <a:r>
              <a:rPr lang="en-US" dirty="0"/>
              <a:t>two lines max</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411480" y="6217920"/>
            <a:ext cx="457200" cy="457200"/>
          </a:xfrm>
          <a:prstGeom prst="rect">
            <a:avLst/>
          </a:prstGeom>
        </p:spPr>
      </p:pic>
    </p:spTree>
    <p:extLst>
      <p:ext uri="{BB962C8B-B14F-4D97-AF65-F5344CB8AC3E}">
        <p14:creationId xmlns:p14="http://schemas.microsoft.com/office/powerpoint/2010/main" val="3527567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9144000" cy="6858000"/>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black">
          <a:xfrm>
            <a:off x="3890010" y="2747009"/>
            <a:ext cx="1363980" cy="1363980"/>
          </a:xfrm>
          <a:prstGeom prst="rect">
            <a:avLst/>
          </a:prstGeom>
        </p:spPr>
      </p:pic>
    </p:spTree>
    <p:extLst>
      <p:ext uri="{BB962C8B-B14F-4D97-AF65-F5344CB8AC3E}">
        <p14:creationId xmlns:p14="http://schemas.microsoft.com/office/powerpoint/2010/main" val="12975894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E53FB8AD-A8E2-4C59-BAC0-B66A2320FC4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2855" y="5804031"/>
            <a:ext cx="2485549" cy="780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0615" name="Rectangle 7"/>
          <p:cNvSpPr>
            <a:spLocks noGrp="1" noChangeArrowheads="1"/>
          </p:cNvSpPr>
          <p:nvPr>
            <p:ph type="ctrTitle" sz="quarter"/>
          </p:nvPr>
        </p:nvSpPr>
        <p:spPr>
          <a:xfrm>
            <a:off x="344489" y="263526"/>
            <a:ext cx="8401050" cy="1395413"/>
          </a:xfrm>
        </p:spPr>
        <p:txBody>
          <a:bodyPr/>
          <a:lstStyle>
            <a:lvl1pPr>
              <a:spcBef>
                <a:spcPct val="25000"/>
              </a:spcBef>
              <a:defRPr sz="4874"/>
            </a:lvl1pPr>
          </a:lstStyle>
          <a:p>
            <a:pPr lvl="0"/>
            <a:r>
              <a:rPr lang="en-US" noProof="0"/>
              <a:t>Click to edit Master title style</a:t>
            </a:r>
          </a:p>
        </p:txBody>
      </p:sp>
      <p:sp>
        <p:nvSpPr>
          <p:cNvPr id="580616" name="Rectangle 8"/>
          <p:cNvSpPr>
            <a:spLocks noGrp="1" noChangeArrowheads="1"/>
          </p:cNvSpPr>
          <p:nvPr>
            <p:ph type="subTitle" sz="quarter" idx="1"/>
          </p:nvPr>
        </p:nvSpPr>
        <p:spPr>
          <a:xfrm>
            <a:off x="344489" y="1677988"/>
            <a:ext cx="8396287" cy="1752600"/>
          </a:xfrm>
        </p:spPr>
        <p:txBody>
          <a:bodyPr/>
          <a:lstStyle>
            <a:lvl1pPr>
              <a:spcBef>
                <a:spcPct val="0"/>
              </a:spcBef>
              <a:defRPr sz="4874">
                <a:solidFill>
                  <a:schemeClr val="accent2"/>
                </a:solidFill>
              </a:defRPr>
            </a:lvl1pPr>
          </a:lstStyle>
          <a:p>
            <a:pPr lvl="0"/>
            <a:r>
              <a:rPr lang="en-US" noProof="0"/>
              <a:t>Click to edit Master subtitle style</a:t>
            </a:r>
          </a:p>
        </p:txBody>
      </p:sp>
    </p:spTree>
    <p:extLst>
      <p:ext uri="{BB962C8B-B14F-4D97-AF65-F5344CB8AC3E}">
        <p14:creationId xmlns:p14="http://schemas.microsoft.com/office/powerpoint/2010/main" val="24067664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85339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lstStyle>
            <a:lvl1pPr algn="l">
              <a:defRPr sz="3933"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967"/>
            </a:lvl1pPr>
            <a:lvl2pPr marL="445959" indent="0">
              <a:buNone/>
              <a:defRPr sz="1796"/>
            </a:lvl2pPr>
            <a:lvl3pPr marL="891917" indent="0">
              <a:buNone/>
              <a:defRPr sz="1539"/>
            </a:lvl3pPr>
            <a:lvl4pPr marL="1337876" indent="0">
              <a:buNone/>
              <a:defRPr sz="1368"/>
            </a:lvl4pPr>
            <a:lvl5pPr marL="1783834" indent="0">
              <a:buNone/>
              <a:defRPr sz="1368"/>
            </a:lvl5pPr>
            <a:lvl6pPr marL="2229793" indent="0">
              <a:buNone/>
              <a:defRPr sz="1368"/>
            </a:lvl6pPr>
            <a:lvl7pPr marL="2675752" indent="0">
              <a:buNone/>
              <a:defRPr sz="1368"/>
            </a:lvl7pPr>
            <a:lvl8pPr marL="3121710" indent="0">
              <a:buNone/>
              <a:defRPr sz="1368"/>
            </a:lvl8pPr>
            <a:lvl9pPr marL="3567669" indent="0">
              <a:buNone/>
              <a:defRPr sz="1368"/>
            </a:lvl9pPr>
          </a:lstStyle>
          <a:p>
            <a:pPr lvl="0"/>
            <a:r>
              <a:rPr lang="en-US"/>
              <a:t>Click to edit Master text styles</a:t>
            </a:r>
          </a:p>
        </p:txBody>
      </p:sp>
    </p:spTree>
    <p:extLst>
      <p:ext uri="{BB962C8B-B14F-4D97-AF65-F5344CB8AC3E}">
        <p14:creationId xmlns:p14="http://schemas.microsoft.com/office/powerpoint/2010/main" val="1228032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727200"/>
            <a:ext cx="4152900" cy="4237038"/>
          </a:xfrm>
        </p:spPr>
        <p:txBody>
          <a:bodyPr/>
          <a:lstStyle>
            <a:lvl1pPr>
              <a:defRPr sz="2736"/>
            </a:lvl1pPr>
            <a:lvl2pPr>
              <a:defRPr sz="2309"/>
            </a:lvl2pPr>
            <a:lvl3pPr>
              <a:defRPr sz="1967"/>
            </a:lvl3pPr>
            <a:lvl4pPr>
              <a:defRPr sz="1796"/>
            </a:lvl4pPr>
            <a:lvl5pPr>
              <a:defRPr sz="1796"/>
            </a:lvl5pPr>
            <a:lvl6pPr>
              <a:defRPr sz="1796"/>
            </a:lvl6pPr>
            <a:lvl7pPr>
              <a:defRPr sz="1796"/>
            </a:lvl7pPr>
            <a:lvl8pPr>
              <a:defRPr sz="1796"/>
            </a:lvl8pPr>
            <a:lvl9pPr>
              <a:defRPr sz="17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1" y="1727200"/>
            <a:ext cx="4154488" cy="4237038"/>
          </a:xfrm>
        </p:spPr>
        <p:txBody>
          <a:bodyPr/>
          <a:lstStyle>
            <a:lvl1pPr>
              <a:defRPr sz="2736"/>
            </a:lvl1pPr>
            <a:lvl2pPr>
              <a:defRPr sz="2309"/>
            </a:lvl2pPr>
            <a:lvl3pPr>
              <a:defRPr sz="1967"/>
            </a:lvl3pPr>
            <a:lvl4pPr>
              <a:defRPr sz="1796"/>
            </a:lvl4pPr>
            <a:lvl5pPr>
              <a:defRPr sz="1796"/>
            </a:lvl5pPr>
            <a:lvl6pPr>
              <a:defRPr sz="1796"/>
            </a:lvl6pPr>
            <a:lvl7pPr>
              <a:defRPr sz="1796"/>
            </a:lvl7pPr>
            <a:lvl8pPr>
              <a:defRPr sz="1796"/>
            </a:lvl8pPr>
            <a:lvl9pPr>
              <a:defRPr sz="17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7717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309" b="1"/>
            </a:lvl1pPr>
            <a:lvl2pPr marL="445959" indent="0">
              <a:buNone/>
              <a:defRPr sz="1967" b="1"/>
            </a:lvl2pPr>
            <a:lvl3pPr marL="891917" indent="0">
              <a:buNone/>
              <a:defRPr sz="1796" b="1"/>
            </a:lvl3pPr>
            <a:lvl4pPr marL="1337876" indent="0">
              <a:buNone/>
              <a:defRPr sz="1539" b="1"/>
            </a:lvl4pPr>
            <a:lvl5pPr marL="1783834" indent="0">
              <a:buNone/>
              <a:defRPr sz="1539" b="1"/>
            </a:lvl5pPr>
            <a:lvl6pPr marL="2229793" indent="0">
              <a:buNone/>
              <a:defRPr sz="1539" b="1"/>
            </a:lvl6pPr>
            <a:lvl7pPr marL="2675752" indent="0">
              <a:buNone/>
              <a:defRPr sz="1539" b="1"/>
            </a:lvl7pPr>
            <a:lvl8pPr marL="3121710" indent="0">
              <a:buNone/>
              <a:defRPr sz="1539" b="1"/>
            </a:lvl8pPr>
            <a:lvl9pPr marL="3567669" indent="0">
              <a:buNone/>
              <a:defRPr sz="1539"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309"/>
            </a:lvl1pPr>
            <a:lvl2pPr>
              <a:defRPr sz="1967"/>
            </a:lvl2pPr>
            <a:lvl3pPr>
              <a:defRPr sz="1796"/>
            </a:lvl3pPr>
            <a:lvl4pPr>
              <a:defRPr sz="1539"/>
            </a:lvl4pPr>
            <a:lvl5pPr>
              <a:defRPr sz="1539"/>
            </a:lvl5pPr>
            <a:lvl6pPr>
              <a:defRPr sz="1539"/>
            </a:lvl6pPr>
            <a:lvl7pPr>
              <a:defRPr sz="1539"/>
            </a:lvl7pPr>
            <a:lvl8pPr>
              <a:defRPr sz="1539"/>
            </a:lvl8pPr>
            <a:lvl9pPr>
              <a:defRPr sz="15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309" b="1"/>
            </a:lvl1pPr>
            <a:lvl2pPr marL="445959" indent="0">
              <a:buNone/>
              <a:defRPr sz="1967" b="1"/>
            </a:lvl2pPr>
            <a:lvl3pPr marL="891917" indent="0">
              <a:buNone/>
              <a:defRPr sz="1796" b="1"/>
            </a:lvl3pPr>
            <a:lvl4pPr marL="1337876" indent="0">
              <a:buNone/>
              <a:defRPr sz="1539" b="1"/>
            </a:lvl4pPr>
            <a:lvl5pPr marL="1783834" indent="0">
              <a:buNone/>
              <a:defRPr sz="1539" b="1"/>
            </a:lvl5pPr>
            <a:lvl6pPr marL="2229793" indent="0">
              <a:buNone/>
              <a:defRPr sz="1539" b="1"/>
            </a:lvl6pPr>
            <a:lvl7pPr marL="2675752" indent="0">
              <a:buNone/>
              <a:defRPr sz="1539" b="1"/>
            </a:lvl7pPr>
            <a:lvl8pPr marL="3121710" indent="0">
              <a:buNone/>
              <a:defRPr sz="1539" b="1"/>
            </a:lvl8pPr>
            <a:lvl9pPr marL="3567669" indent="0">
              <a:buNone/>
              <a:defRPr sz="1539"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309"/>
            </a:lvl1pPr>
            <a:lvl2pPr>
              <a:defRPr sz="1967"/>
            </a:lvl2pPr>
            <a:lvl3pPr>
              <a:defRPr sz="1796"/>
            </a:lvl3pPr>
            <a:lvl4pPr>
              <a:defRPr sz="1539"/>
            </a:lvl4pPr>
            <a:lvl5pPr>
              <a:defRPr sz="1539"/>
            </a:lvl5pPr>
            <a:lvl6pPr>
              <a:defRPr sz="1539"/>
            </a:lvl6pPr>
            <a:lvl7pPr>
              <a:defRPr sz="1539"/>
            </a:lvl7pPr>
            <a:lvl8pPr>
              <a:defRPr sz="1539"/>
            </a:lvl8pPr>
            <a:lvl9pPr>
              <a:defRPr sz="15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1406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95375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6392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967"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164"/>
            </a:lvl1pPr>
            <a:lvl2pPr>
              <a:defRPr sz="2736"/>
            </a:lvl2pPr>
            <a:lvl3pPr>
              <a:defRPr sz="2309"/>
            </a:lvl3pPr>
            <a:lvl4pPr>
              <a:defRPr sz="1967"/>
            </a:lvl4pPr>
            <a:lvl5pPr>
              <a:defRPr sz="1967"/>
            </a:lvl5pPr>
            <a:lvl6pPr>
              <a:defRPr sz="1967"/>
            </a:lvl6pPr>
            <a:lvl7pPr>
              <a:defRPr sz="1967"/>
            </a:lvl7pPr>
            <a:lvl8pPr>
              <a:defRPr sz="1967"/>
            </a:lvl8pPr>
            <a:lvl9pPr>
              <a:defRPr sz="19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0"/>
            <a:ext cx="3008313" cy="4691063"/>
          </a:xfrm>
        </p:spPr>
        <p:txBody>
          <a:bodyPr/>
          <a:lstStyle>
            <a:lvl1pPr marL="0" indent="0">
              <a:buNone/>
              <a:defRPr sz="1368"/>
            </a:lvl1pPr>
            <a:lvl2pPr marL="445959" indent="0">
              <a:buNone/>
              <a:defRPr sz="1197"/>
            </a:lvl2pPr>
            <a:lvl3pPr marL="891917" indent="0">
              <a:buNone/>
              <a:defRPr sz="941"/>
            </a:lvl3pPr>
            <a:lvl4pPr marL="1337876" indent="0">
              <a:buNone/>
              <a:defRPr sz="855"/>
            </a:lvl4pPr>
            <a:lvl5pPr marL="1783834" indent="0">
              <a:buNone/>
              <a:defRPr sz="855"/>
            </a:lvl5pPr>
            <a:lvl6pPr marL="2229793" indent="0">
              <a:buNone/>
              <a:defRPr sz="855"/>
            </a:lvl6pPr>
            <a:lvl7pPr marL="2675752" indent="0">
              <a:buNone/>
              <a:defRPr sz="855"/>
            </a:lvl7pPr>
            <a:lvl8pPr marL="3121710" indent="0">
              <a:buNone/>
              <a:defRPr sz="855"/>
            </a:lvl8pPr>
            <a:lvl9pPr marL="3567669" indent="0">
              <a:buNone/>
              <a:defRPr sz="855"/>
            </a:lvl9pPr>
          </a:lstStyle>
          <a:p>
            <a:pPr lvl="0"/>
            <a:r>
              <a:rPr lang="en-US"/>
              <a:t>Click to edit Master text styles</a:t>
            </a:r>
          </a:p>
        </p:txBody>
      </p:sp>
    </p:spTree>
    <p:extLst>
      <p:ext uri="{BB962C8B-B14F-4D97-AF65-F5344CB8AC3E}">
        <p14:creationId xmlns:p14="http://schemas.microsoft.com/office/powerpoint/2010/main" val="39761254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967"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164"/>
            </a:lvl1pPr>
            <a:lvl2pPr marL="445959" indent="0">
              <a:buNone/>
              <a:defRPr sz="2736"/>
            </a:lvl2pPr>
            <a:lvl3pPr marL="891917" indent="0">
              <a:buNone/>
              <a:defRPr sz="2309"/>
            </a:lvl3pPr>
            <a:lvl4pPr marL="1337876" indent="0">
              <a:buNone/>
              <a:defRPr sz="1967"/>
            </a:lvl4pPr>
            <a:lvl5pPr marL="1783834" indent="0">
              <a:buNone/>
              <a:defRPr sz="1967"/>
            </a:lvl5pPr>
            <a:lvl6pPr marL="2229793" indent="0">
              <a:buNone/>
              <a:defRPr sz="1967"/>
            </a:lvl6pPr>
            <a:lvl7pPr marL="2675752" indent="0">
              <a:buNone/>
              <a:defRPr sz="1967"/>
            </a:lvl7pPr>
            <a:lvl8pPr marL="3121710" indent="0">
              <a:buNone/>
              <a:defRPr sz="1967"/>
            </a:lvl8pPr>
            <a:lvl9pPr marL="3567669" indent="0">
              <a:buNone/>
              <a:defRPr sz="1967"/>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368"/>
            </a:lvl1pPr>
            <a:lvl2pPr marL="445959" indent="0">
              <a:buNone/>
              <a:defRPr sz="1197"/>
            </a:lvl2pPr>
            <a:lvl3pPr marL="891917" indent="0">
              <a:buNone/>
              <a:defRPr sz="941"/>
            </a:lvl3pPr>
            <a:lvl4pPr marL="1337876" indent="0">
              <a:buNone/>
              <a:defRPr sz="855"/>
            </a:lvl4pPr>
            <a:lvl5pPr marL="1783834" indent="0">
              <a:buNone/>
              <a:defRPr sz="855"/>
            </a:lvl5pPr>
            <a:lvl6pPr marL="2229793" indent="0">
              <a:buNone/>
              <a:defRPr sz="855"/>
            </a:lvl6pPr>
            <a:lvl7pPr marL="2675752" indent="0">
              <a:buNone/>
              <a:defRPr sz="855"/>
            </a:lvl7pPr>
            <a:lvl8pPr marL="3121710" indent="0">
              <a:buNone/>
              <a:defRPr sz="855"/>
            </a:lvl8pPr>
            <a:lvl9pPr marL="3567669" indent="0">
              <a:buNone/>
              <a:defRPr sz="855"/>
            </a:lvl9pPr>
          </a:lstStyle>
          <a:p>
            <a:pPr lvl="0"/>
            <a:r>
              <a:rPr lang="en-US"/>
              <a:t>Click to edit Master text styles</a:t>
            </a:r>
          </a:p>
        </p:txBody>
      </p:sp>
    </p:spTree>
    <p:extLst>
      <p:ext uri="{BB962C8B-B14F-4D97-AF65-F5344CB8AC3E}">
        <p14:creationId xmlns:p14="http://schemas.microsoft.com/office/powerpoint/2010/main" val="20194388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9934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8139" y="280988"/>
            <a:ext cx="2114550" cy="5683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80988"/>
            <a:ext cx="6192838" cy="5683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64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4.jpe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2.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79094" y="551747"/>
            <a:ext cx="8352156" cy="1021002"/>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381000" y="1630680"/>
            <a:ext cx="8350250" cy="443769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1543050" y="6352302"/>
            <a:ext cx="2971800" cy="135890"/>
          </a:xfrm>
          <a:prstGeom prst="rect">
            <a:avLst/>
          </a:prstGeom>
        </p:spPr>
        <p:txBody>
          <a:bodyPr vert="horz" lIns="0" tIns="0" rIns="0" bIns="0" rtlCol="0" anchor="t" anchorCtr="0"/>
          <a:lstStyle>
            <a:lvl1pPr algn="r">
              <a:defRPr sz="900">
                <a:solidFill>
                  <a:srgbClr val="898989"/>
                </a:solidFill>
                <a:latin typeface="+mn-lt"/>
              </a:defRPr>
            </a:lvl1pPr>
          </a:lstStyle>
          <a:p>
            <a:r>
              <a:rPr lang="en-US"/>
              <a:t>Title or Job Number | XX Month 201X</a:t>
            </a:r>
            <a:endParaRPr lang="en-US" dirty="0"/>
          </a:p>
        </p:txBody>
      </p:sp>
      <p:sp>
        <p:nvSpPr>
          <p:cNvPr id="6" name="Slide Number Placeholder 5"/>
          <p:cNvSpPr>
            <a:spLocks noGrp="1"/>
          </p:cNvSpPr>
          <p:nvPr>
            <p:ph type="sldNum" sz="quarter" idx="4"/>
          </p:nvPr>
        </p:nvSpPr>
        <p:spPr>
          <a:xfrm>
            <a:off x="8456930" y="6343404"/>
            <a:ext cx="274320" cy="135890"/>
          </a:xfrm>
          <a:prstGeom prst="rect">
            <a:avLst/>
          </a:prstGeom>
        </p:spPr>
        <p:txBody>
          <a:bodyPr vert="horz" lIns="0" tIns="0" rIns="0" bIns="0" rtlCol="0" anchor="t" anchorCtr="0"/>
          <a:lstStyle>
            <a:lvl1pPr algn="r">
              <a:defRPr sz="900">
                <a:solidFill>
                  <a:srgbClr val="898989"/>
                </a:solidFill>
                <a:latin typeface="+mn-lt"/>
              </a:defRPr>
            </a:lvl1pPr>
          </a:lstStyle>
          <a:p>
            <a:fld id="{0D558541-60C9-42A2-8392-FF12533A6B7A}" type="slidenum">
              <a:rPr lang="en-US" smtClean="0"/>
              <a:pPr/>
              <a:t>‹N°›</a:t>
            </a:fld>
            <a:endParaRPr lang="en-US" dirty="0"/>
          </a:p>
        </p:txBody>
      </p:sp>
      <p:pic>
        <p:nvPicPr>
          <p:cNvPr id="12" name="Picture 11"/>
          <p:cNvPicPr>
            <a:picLocks noChangeAspect="1"/>
          </p:cNvPicPr>
          <p:nvPr/>
        </p:nvPicPr>
        <p:blipFill rotWithShape="1">
          <a:blip r:embed="rId36">
            <a:extLst>
              <a:ext uri="{28A0092B-C50C-407E-A947-70E740481C1C}">
                <a14:useLocalDpi xmlns:a14="http://schemas.microsoft.com/office/drawing/2010/main" val="0"/>
              </a:ext>
            </a:extLst>
          </a:blip>
          <a:srcRect l="3861" t="3741" r="3511" b="3000"/>
          <a:stretch/>
        </p:blipFill>
        <p:spPr>
          <a:xfrm>
            <a:off x="396954" y="6206558"/>
            <a:ext cx="491013" cy="483734"/>
          </a:xfrm>
          <a:prstGeom prst="rect">
            <a:avLst/>
          </a:prstGeom>
        </p:spPr>
      </p:pic>
    </p:spTree>
  </p:cSld>
  <p:clrMap bg1="lt1" tx1="dk1" bg2="lt2" tx2="dk2" accent1="accent1" accent2="accent2" accent3="accent3" accent4="accent4" accent5="accent5" accent6="accent6" hlink="hlink" folHlink="folHlink"/>
  <p:sldLayoutIdLst>
    <p:sldLayoutId id="2147483686" r:id="rId1"/>
    <p:sldLayoutId id="2147483688" r:id="rId2"/>
    <p:sldLayoutId id="2147483660" r:id="rId3"/>
    <p:sldLayoutId id="2147483662" r:id="rId4"/>
    <p:sldLayoutId id="2147483663" r:id="rId5"/>
    <p:sldLayoutId id="2147483650" r:id="rId6"/>
    <p:sldLayoutId id="2147483690" r:id="rId7"/>
    <p:sldLayoutId id="2147483680" r:id="rId8"/>
    <p:sldLayoutId id="2147483683" r:id="rId9"/>
    <p:sldLayoutId id="2147483684" r:id="rId10"/>
    <p:sldLayoutId id="2147483687" r:id="rId11"/>
    <p:sldLayoutId id="2147483652" r:id="rId12"/>
    <p:sldLayoutId id="2147483653" r:id="rId13"/>
    <p:sldLayoutId id="2147483677" r:id="rId14"/>
    <p:sldLayoutId id="2147483689" r:id="rId15"/>
    <p:sldLayoutId id="2147483678" r:id="rId16"/>
    <p:sldLayoutId id="2147483681" r:id="rId17"/>
    <p:sldLayoutId id="2147483682" r:id="rId18"/>
    <p:sldLayoutId id="2147483654" r:id="rId19"/>
    <p:sldLayoutId id="2147483655" r:id="rId20"/>
    <p:sldLayoutId id="2147483672" r:id="rId21"/>
    <p:sldLayoutId id="2147483673" r:id="rId22"/>
    <p:sldLayoutId id="2147483674" r:id="rId23"/>
    <p:sldLayoutId id="2147483675" r:id="rId24"/>
    <p:sldLayoutId id="2147483676" r:id="rId25"/>
    <p:sldLayoutId id="2147483679" r:id="rId26"/>
    <p:sldLayoutId id="2147483651" r:id="rId27"/>
    <p:sldLayoutId id="2147483664" r:id="rId28"/>
    <p:sldLayoutId id="2147483665" r:id="rId29"/>
    <p:sldLayoutId id="2147483666" r:id="rId30"/>
    <p:sldLayoutId id="2147483667" r:id="rId31"/>
    <p:sldLayoutId id="2147483668" r:id="rId32"/>
    <p:sldLayoutId id="2147483669" r:id="rId33"/>
    <p:sldLayoutId id="2147483671" r:id="rId34"/>
  </p:sldLayoutIdLst>
  <p:hf hdr="0" ftr="0"/>
  <p:txStyles>
    <p:titleStyle>
      <a:lvl1pPr algn="l" defTabSz="914400" rtl="0" eaLnBrk="1" latinLnBrk="0" hangingPunct="1">
        <a:lnSpc>
          <a:spcPct val="90000"/>
        </a:lnSpc>
        <a:spcBef>
          <a:spcPct val="0"/>
        </a:spcBef>
        <a:buNone/>
        <a:defRPr sz="3200" kern="1200" spc="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itchFamily="34" charset="0"/>
        <a:buNone/>
        <a:defRPr sz="2800" kern="1200" spc="0" baseline="0">
          <a:solidFill>
            <a:schemeClr val="tx1"/>
          </a:solidFill>
          <a:latin typeface="+mn-lt"/>
          <a:ea typeface="+mn-ea"/>
          <a:cs typeface="+mn-cs"/>
        </a:defRPr>
      </a:lvl1pPr>
      <a:lvl2pPr marL="203200" indent="-182563" algn="l" defTabSz="914400" rtl="0" eaLnBrk="1" latinLnBrk="0" hangingPunct="1">
        <a:lnSpc>
          <a:spcPct val="100000"/>
        </a:lnSpc>
        <a:spcBef>
          <a:spcPts val="1000"/>
        </a:spcBef>
        <a:buFont typeface="Arial" pitchFamily="34" charset="0"/>
        <a:buChar char="•"/>
        <a:defRPr sz="2000" kern="1200" spc="0">
          <a:solidFill>
            <a:schemeClr val="tx1"/>
          </a:solidFill>
          <a:latin typeface="+mn-lt"/>
          <a:ea typeface="+mn-ea"/>
          <a:cs typeface="+mn-cs"/>
        </a:defRPr>
      </a:lvl2pPr>
      <a:lvl3pPr marL="400050" indent="-195263" algn="l" defTabSz="914400" rtl="0" eaLnBrk="1" latinLnBrk="0" hangingPunct="1">
        <a:lnSpc>
          <a:spcPct val="100000"/>
        </a:lnSpc>
        <a:spcBef>
          <a:spcPts val="800"/>
        </a:spcBef>
        <a:buFont typeface="GE Inspira Pitch" panose="020F0603030400020203" pitchFamily="34" charset="0"/>
        <a:buChar char="–"/>
        <a:defRPr sz="1800" kern="1200" spc="0">
          <a:solidFill>
            <a:schemeClr val="tx1"/>
          </a:solidFill>
          <a:latin typeface="+mn-lt"/>
          <a:ea typeface="+mn-ea"/>
          <a:cs typeface="+mn-cs"/>
        </a:defRPr>
      </a:lvl3pPr>
      <a:lvl4pPr marL="555625" indent="-166688" algn="l" defTabSz="914400" rtl="0" eaLnBrk="1" latinLnBrk="0" hangingPunct="1">
        <a:lnSpc>
          <a:spcPct val="100000"/>
        </a:lnSpc>
        <a:spcBef>
          <a:spcPts val="600"/>
        </a:spcBef>
        <a:buFont typeface="Arial" pitchFamily="34" charset="0"/>
        <a:buChar char="•"/>
        <a:defRPr sz="1600" kern="1200" spc="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2DEFA7A-9934-45D3-A7D3-3EAF47E9836C}"/>
              </a:ext>
            </a:extLst>
          </p:cNvPr>
          <p:cNvSpPr>
            <a:spLocks noGrp="1" noChangeArrowheads="1"/>
          </p:cNvSpPr>
          <p:nvPr>
            <p:ph type="title"/>
          </p:nvPr>
        </p:nvSpPr>
        <p:spPr bwMode="auto">
          <a:xfrm>
            <a:off x="343443" y="280771"/>
            <a:ext cx="8459829" cy="99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fr-FR"/>
              <a:t>Click to edit Master title style</a:t>
            </a:r>
          </a:p>
        </p:txBody>
      </p:sp>
      <p:sp>
        <p:nvSpPr>
          <p:cNvPr id="2051" name="Rectangle 3">
            <a:extLst>
              <a:ext uri="{FF2B5EF4-FFF2-40B4-BE49-F238E27FC236}">
                <a16:creationId xmlns:a16="http://schemas.microsoft.com/office/drawing/2014/main" id="{1671286F-E62C-46A2-BED3-3DBE7578C03B}"/>
              </a:ext>
            </a:extLst>
          </p:cNvPr>
          <p:cNvSpPr>
            <a:spLocks noGrp="1" noChangeArrowheads="1"/>
          </p:cNvSpPr>
          <p:nvPr>
            <p:ph type="body" idx="1"/>
          </p:nvPr>
        </p:nvSpPr>
        <p:spPr bwMode="auto">
          <a:xfrm>
            <a:off x="343443" y="1727819"/>
            <a:ext cx="8459829" cy="423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fr-FR"/>
              <a:t>Click to edit Master text styles</a:t>
            </a:r>
          </a:p>
          <a:p>
            <a:pPr lvl="1"/>
            <a:r>
              <a:rPr lang="en-US" altLang="fr-FR"/>
              <a:t>Second level</a:t>
            </a:r>
          </a:p>
          <a:p>
            <a:pPr lvl="2"/>
            <a:r>
              <a:rPr lang="en-US" altLang="fr-FR"/>
              <a:t>Third level</a:t>
            </a:r>
          </a:p>
          <a:p>
            <a:pPr lvl="3"/>
            <a:r>
              <a:rPr lang="en-US" altLang="fr-FR"/>
              <a:t>Fourth level</a:t>
            </a:r>
          </a:p>
          <a:p>
            <a:pPr lvl="4"/>
            <a:r>
              <a:rPr lang="en-US" altLang="fr-FR"/>
              <a:t>Fifth level</a:t>
            </a:r>
          </a:p>
        </p:txBody>
      </p:sp>
      <p:pic>
        <p:nvPicPr>
          <p:cNvPr id="2052" name="Picture 14">
            <a:extLst>
              <a:ext uri="{FF2B5EF4-FFF2-40B4-BE49-F238E27FC236}">
                <a16:creationId xmlns:a16="http://schemas.microsoft.com/office/drawing/2014/main" id="{4447AE6F-5B84-43AA-977F-3621399CF3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9009" y="6083362"/>
            <a:ext cx="1600471" cy="50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18">
            <a:extLst>
              <a:ext uri="{FF2B5EF4-FFF2-40B4-BE49-F238E27FC236}">
                <a16:creationId xmlns:a16="http://schemas.microsoft.com/office/drawing/2014/main" id="{05851C06-22B4-4273-8FB8-549856BFA3C9}"/>
              </a:ext>
            </a:extLst>
          </p:cNvPr>
          <p:cNvSpPr txBox="1">
            <a:spLocks noChangeArrowheads="1"/>
          </p:cNvSpPr>
          <p:nvPr/>
        </p:nvSpPr>
        <p:spPr bwMode="auto">
          <a:xfrm>
            <a:off x="6442610" y="6221587"/>
            <a:ext cx="2455686" cy="208493"/>
          </a:xfrm>
          <a:prstGeom prst="rect">
            <a:avLst/>
          </a:prstGeom>
          <a:noFill/>
          <a:ln>
            <a:noFill/>
          </a:ln>
          <a:effectLst/>
        </p:spPr>
        <p:txBody>
          <a:bodyPr lIns="89193" tIns="44596" rIns="89193" bIns="44596">
            <a:spAutoFit/>
          </a:bodyPr>
          <a:lstStyle>
            <a:lvl1pPr>
              <a:spcBef>
                <a:spcPct val="50000"/>
              </a:spcBef>
              <a:defRPr>
                <a:solidFill>
                  <a:srgbClr val="000099"/>
                </a:solidFill>
                <a:latin typeface="GE Inspira Pitch" panose="020F0603030400020203" pitchFamily="34" charset="0"/>
              </a:defRPr>
            </a:lvl1pPr>
            <a:lvl2pPr marL="742950" indent="-285750">
              <a:spcBef>
                <a:spcPct val="50000"/>
              </a:spcBef>
              <a:defRPr>
                <a:solidFill>
                  <a:srgbClr val="000099"/>
                </a:solidFill>
                <a:latin typeface="GE Inspira Pitch" panose="020F0603030400020203" pitchFamily="34" charset="0"/>
              </a:defRPr>
            </a:lvl2pPr>
            <a:lvl3pPr marL="1143000" indent="-228600">
              <a:spcBef>
                <a:spcPct val="50000"/>
              </a:spcBef>
              <a:defRPr>
                <a:solidFill>
                  <a:srgbClr val="000099"/>
                </a:solidFill>
                <a:latin typeface="GE Inspira Pitch" panose="020F0603030400020203" pitchFamily="34" charset="0"/>
              </a:defRPr>
            </a:lvl3pPr>
            <a:lvl4pPr marL="1600200" indent="-228600">
              <a:spcBef>
                <a:spcPct val="50000"/>
              </a:spcBef>
              <a:defRPr>
                <a:solidFill>
                  <a:srgbClr val="000099"/>
                </a:solidFill>
                <a:latin typeface="GE Inspira Pitch" panose="020F0603030400020203" pitchFamily="34" charset="0"/>
              </a:defRPr>
            </a:lvl4pPr>
            <a:lvl5pPr marL="2057400" indent="-228600">
              <a:spcBef>
                <a:spcPct val="50000"/>
              </a:spcBef>
              <a:defRPr>
                <a:solidFill>
                  <a:srgbClr val="000099"/>
                </a:solidFill>
                <a:latin typeface="GE Inspira Pitch" panose="020F0603030400020203" pitchFamily="34" charset="0"/>
              </a:defRPr>
            </a:lvl5pPr>
            <a:lvl6pPr marL="2514600" indent="-228600" eaLnBrk="0" fontAlgn="base" hangingPunct="0">
              <a:spcBef>
                <a:spcPct val="50000"/>
              </a:spcBef>
              <a:spcAft>
                <a:spcPct val="0"/>
              </a:spcAft>
              <a:defRPr>
                <a:solidFill>
                  <a:srgbClr val="000099"/>
                </a:solidFill>
                <a:latin typeface="GE Inspira Pitch" panose="020F0603030400020203" pitchFamily="34" charset="0"/>
              </a:defRPr>
            </a:lvl6pPr>
            <a:lvl7pPr marL="2971800" indent="-228600" eaLnBrk="0" fontAlgn="base" hangingPunct="0">
              <a:spcBef>
                <a:spcPct val="50000"/>
              </a:spcBef>
              <a:spcAft>
                <a:spcPct val="0"/>
              </a:spcAft>
              <a:defRPr>
                <a:solidFill>
                  <a:srgbClr val="000099"/>
                </a:solidFill>
                <a:latin typeface="GE Inspira Pitch" panose="020F0603030400020203" pitchFamily="34" charset="0"/>
              </a:defRPr>
            </a:lvl7pPr>
            <a:lvl8pPr marL="3429000" indent="-228600" eaLnBrk="0" fontAlgn="base" hangingPunct="0">
              <a:spcBef>
                <a:spcPct val="50000"/>
              </a:spcBef>
              <a:spcAft>
                <a:spcPct val="0"/>
              </a:spcAft>
              <a:defRPr>
                <a:solidFill>
                  <a:srgbClr val="000099"/>
                </a:solidFill>
                <a:latin typeface="GE Inspira Pitch" panose="020F0603030400020203" pitchFamily="34" charset="0"/>
              </a:defRPr>
            </a:lvl8pPr>
            <a:lvl9pPr marL="3886200" indent="-228600" eaLnBrk="0" fontAlgn="base" hangingPunct="0">
              <a:spcBef>
                <a:spcPct val="50000"/>
              </a:spcBef>
              <a:spcAft>
                <a:spcPct val="0"/>
              </a:spcAft>
              <a:defRPr>
                <a:solidFill>
                  <a:srgbClr val="000099"/>
                </a:solidFill>
                <a:latin typeface="GE Inspira Pitch" panose="020F0603030400020203" pitchFamily="34" charset="0"/>
              </a:defRPr>
            </a:lvl9pPr>
          </a:lstStyle>
          <a:p>
            <a:pPr algn="r">
              <a:lnSpc>
                <a:spcPct val="90000"/>
              </a:lnSpc>
              <a:spcBef>
                <a:spcPct val="0"/>
              </a:spcBef>
              <a:defRPr/>
            </a:pPr>
            <a:r>
              <a:rPr lang="en-US" altLang="fr-FR" sz="855">
                <a:solidFill>
                  <a:srgbClr val="FFFFFF"/>
                </a:solidFill>
              </a:rPr>
              <a:t>GE job title/</a:t>
            </a:r>
            <a:fld id="{43EC46C3-1CC3-4E4F-9382-5621FA24C947}" type="slidenum">
              <a:rPr lang="en-US" altLang="fr-FR" sz="855" smtClean="0">
                <a:solidFill>
                  <a:srgbClr val="FFFFFF"/>
                </a:solidFill>
              </a:rPr>
              <a:pPr algn="r">
                <a:lnSpc>
                  <a:spcPct val="90000"/>
                </a:lnSpc>
                <a:spcBef>
                  <a:spcPct val="0"/>
                </a:spcBef>
                <a:defRPr/>
              </a:pPr>
              <a:t>‹N°›</a:t>
            </a:fld>
            <a:endParaRPr lang="en-US" altLang="fr-FR" sz="855">
              <a:solidFill>
                <a:srgbClr val="FFFFFF"/>
              </a:solidFill>
            </a:endParaRPr>
          </a:p>
        </p:txBody>
      </p:sp>
    </p:spTree>
    <p:extLst>
      <p:ext uri="{BB962C8B-B14F-4D97-AF65-F5344CB8AC3E}">
        <p14:creationId xmlns:p14="http://schemas.microsoft.com/office/powerpoint/2010/main" val="2997278252"/>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rtl="0" eaLnBrk="0" fontAlgn="base" hangingPunct="0">
        <a:lnSpc>
          <a:spcPct val="90000"/>
        </a:lnSpc>
        <a:spcBef>
          <a:spcPct val="0"/>
        </a:spcBef>
        <a:spcAft>
          <a:spcPct val="0"/>
        </a:spcAft>
        <a:defRPr sz="3933">
          <a:solidFill>
            <a:srgbClr val="1E4191"/>
          </a:solidFill>
          <a:latin typeface="+mj-lt"/>
          <a:ea typeface="+mj-ea"/>
          <a:cs typeface="+mj-cs"/>
        </a:defRPr>
      </a:lvl1pPr>
      <a:lvl2pPr algn="l" rtl="0" eaLnBrk="0" fontAlgn="base" hangingPunct="0">
        <a:lnSpc>
          <a:spcPct val="90000"/>
        </a:lnSpc>
        <a:spcBef>
          <a:spcPct val="0"/>
        </a:spcBef>
        <a:spcAft>
          <a:spcPct val="0"/>
        </a:spcAft>
        <a:defRPr sz="3933">
          <a:solidFill>
            <a:srgbClr val="1E4191"/>
          </a:solidFill>
          <a:latin typeface="GE Inspira Pitch" pitchFamily="34" charset="0"/>
        </a:defRPr>
      </a:lvl2pPr>
      <a:lvl3pPr algn="l" rtl="0" eaLnBrk="0" fontAlgn="base" hangingPunct="0">
        <a:lnSpc>
          <a:spcPct val="90000"/>
        </a:lnSpc>
        <a:spcBef>
          <a:spcPct val="0"/>
        </a:spcBef>
        <a:spcAft>
          <a:spcPct val="0"/>
        </a:spcAft>
        <a:defRPr sz="3933">
          <a:solidFill>
            <a:srgbClr val="1E4191"/>
          </a:solidFill>
          <a:latin typeface="GE Inspira Pitch" pitchFamily="34" charset="0"/>
        </a:defRPr>
      </a:lvl3pPr>
      <a:lvl4pPr algn="l" rtl="0" eaLnBrk="0" fontAlgn="base" hangingPunct="0">
        <a:lnSpc>
          <a:spcPct val="90000"/>
        </a:lnSpc>
        <a:spcBef>
          <a:spcPct val="0"/>
        </a:spcBef>
        <a:spcAft>
          <a:spcPct val="0"/>
        </a:spcAft>
        <a:defRPr sz="3933">
          <a:solidFill>
            <a:srgbClr val="1E4191"/>
          </a:solidFill>
          <a:latin typeface="GE Inspira Pitch" pitchFamily="34" charset="0"/>
        </a:defRPr>
      </a:lvl4pPr>
      <a:lvl5pPr algn="l" rtl="0" eaLnBrk="0" fontAlgn="base" hangingPunct="0">
        <a:lnSpc>
          <a:spcPct val="90000"/>
        </a:lnSpc>
        <a:spcBef>
          <a:spcPct val="0"/>
        </a:spcBef>
        <a:spcAft>
          <a:spcPct val="0"/>
        </a:spcAft>
        <a:defRPr sz="3933">
          <a:solidFill>
            <a:srgbClr val="1E4191"/>
          </a:solidFill>
          <a:latin typeface="GE Inspira Pitch" pitchFamily="34" charset="0"/>
        </a:defRPr>
      </a:lvl5pPr>
      <a:lvl6pPr marL="445959" algn="l" rtl="0" eaLnBrk="1" fontAlgn="base" hangingPunct="1">
        <a:lnSpc>
          <a:spcPct val="90000"/>
        </a:lnSpc>
        <a:spcBef>
          <a:spcPct val="0"/>
        </a:spcBef>
        <a:spcAft>
          <a:spcPct val="0"/>
        </a:spcAft>
        <a:defRPr sz="3933">
          <a:solidFill>
            <a:srgbClr val="1E4191"/>
          </a:solidFill>
          <a:latin typeface="GE Inspira Pitch" pitchFamily="34" charset="0"/>
        </a:defRPr>
      </a:lvl6pPr>
      <a:lvl7pPr marL="891917" algn="l" rtl="0" eaLnBrk="1" fontAlgn="base" hangingPunct="1">
        <a:lnSpc>
          <a:spcPct val="90000"/>
        </a:lnSpc>
        <a:spcBef>
          <a:spcPct val="0"/>
        </a:spcBef>
        <a:spcAft>
          <a:spcPct val="0"/>
        </a:spcAft>
        <a:defRPr sz="3933">
          <a:solidFill>
            <a:srgbClr val="1E4191"/>
          </a:solidFill>
          <a:latin typeface="GE Inspira Pitch" pitchFamily="34" charset="0"/>
        </a:defRPr>
      </a:lvl7pPr>
      <a:lvl8pPr marL="1337876" algn="l" rtl="0" eaLnBrk="1" fontAlgn="base" hangingPunct="1">
        <a:lnSpc>
          <a:spcPct val="90000"/>
        </a:lnSpc>
        <a:spcBef>
          <a:spcPct val="0"/>
        </a:spcBef>
        <a:spcAft>
          <a:spcPct val="0"/>
        </a:spcAft>
        <a:defRPr sz="3933">
          <a:solidFill>
            <a:srgbClr val="1E4191"/>
          </a:solidFill>
          <a:latin typeface="GE Inspira Pitch" pitchFamily="34" charset="0"/>
        </a:defRPr>
      </a:lvl8pPr>
      <a:lvl9pPr marL="1783834" algn="l" rtl="0" eaLnBrk="1" fontAlgn="base" hangingPunct="1">
        <a:lnSpc>
          <a:spcPct val="90000"/>
        </a:lnSpc>
        <a:spcBef>
          <a:spcPct val="0"/>
        </a:spcBef>
        <a:spcAft>
          <a:spcPct val="0"/>
        </a:spcAft>
        <a:defRPr sz="3933">
          <a:solidFill>
            <a:srgbClr val="1E4191"/>
          </a:solidFill>
          <a:latin typeface="GE Inspira Pitch" pitchFamily="34" charset="0"/>
        </a:defRPr>
      </a:lvl9pPr>
    </p:titleStyle>
    <p:bodyStyle>
      <a:lvl1pPr marL="333938" indent="-333938" algn="l" rtl="0" eaLnBrk="0" fontAlgn="base" hangingPunct="0">
        <a:lnSpc>
          <a:spcPct val="90000"/>
        </a:lnSpc>
        <a:spcBef>
          <a:spcPct val="50000"/>
        </a:spcBef>
        <a:spcAft>
          <a:spcPct val="0"/>
        </a:spcAft>
        <a:buClr>
          <a:srgbClr val="004880"/>
        </a:buClr>
        <a:defRPr sz="3164">
          <a:solidFill>
            <a:srgbClr val="1E4191"/>
          </a:solidFill>
          <a:latin typeface="+mn-lt"/>
          <a:ea typeface="+mn-ea"/>
          <a:cs typeface="+mn-cs"/>
        </a:defRPr>
      </a:lvl1pPr>
      <a:lvl2pPr marL="332581" indent="-331223" algn="l" rtl="0" eaLnBrk="0" fontAlgn="base" hangingPunct="0">
        <a:lnSpc>
          <a:spcPct val="90000"/>
        </a:lnSpc>
        <a:spcBef>
          <a:spcPct val="30000"/>
        </a:spcBef>
        <a:spcAft>
          <a:spcPct val="0"/>
        </a:spcAft>
        <a:buClr>
          <a:srgbClr val="004880"/>
        </a:buClr>
        <a:buFont typeface="GE Inspira Pitch" pitchFamily="34" charset="0"/>
        <a:buChar char="•"/>
        <a:defRPr sz="3164">
          <a:solidFill>
            <a:srgbClr val="1E4191"/>
          </a:solidFill>
          <a:latin typeface="+mn-lt"/>
        </a:defRPr>
      </a:lvl2pPr>
      <a:lvl3pPr marL="724890" indent="-280997" algn="l" rtl="0" eaLnBrk="0" fontAlgn="base" hangingPunct="0">
        <a:lnSpc>
          <a:spcPct val="90000"/>
        </a:lnSpc>
        <a:spcBef>
          <a:spcPct val="20000"/>
        </a:spcBef>
        <a:spcAft>
          <a:spcPct val="0"/>
        </a:spcAft>
        <a:buClr>
          <a:srgbClr val="004880"/>
        </a:buClr>
        <a:buChar char="–"/>
        <a:defRPr sz="3164">
          <a:solidFill>
            <a:srgbClr val="1E4191"/>
          </a:solidFill>
          <a:latin typeface="+mn-lt"/>
        </a:defRPr>
      </a:lvl3pPr>
      <a:lvl4pPr marL="1117199" indent="-279639" algn="l" rtl="0" eaLnBrk="0" fontAlgn="base" hangingPunct="0">
        <a:lnSpc>
          <a:spcPct val="90000"/>
        </a:lnSpc>
        <a:spcBef>
          <a:spcPct val="10000"/>
        </a:spcBef>
        <a:spcAft>
          <a:spcPct val="0"/>
        </a:spcAft>
        <a:buClr>
          <a:srgbClr val="004880"/>
        </a:buClr>
        <a:buChar char="–"/>
        <a:defRPr sz="3164">
          <a:solidFill>
            <a:srgbClr val="1E4191"/>
          </a:solidFill>
          <a:latin typeface="+mn-lt"/>
        </a:defRPr>
      </a:lvl4pPr>
      <a:lvl5pPr marL="1508151" indent="-278282" algn="l" rtl="0" eaLnBrk="0" fontAlgn="base" hangingPunct="0">
        <a:lnSpc>
          <a:spcPct val="90000"/>
        </a:lnSpc>
        <a:spcBef>
          <a:spcPct val="0"/>
        </a:spcBef>
        <a:spcAft>
          <a:spcPct val="0"/>
        </a:spcAft>
        <a:buClr>
          <a:srgbClr val="004880"/>
        </a:buClr>
        <a:buChar char="–"/>
        <a:defRPr sz="3164">
          <a:solidFill>
            <a:srgbClr val="1E4191"/>
          </a:solidFill>
          <a:latin typeface="+mn-lt"/>
        </a:defRPr>
      </a:lvl5pPr>
      <a:lvl6pPr marL="1954166" indent="-278724" algn="l" rtl="0" eaLnBrk="1" fontAlgn="base" hangingPunct="1">
        <a:lnSpc>
          <a:spcPct val="90000"/>
        </a:lnSpc>
        <a:spcBef>
          <a:spcPct val="0"/>
        </a:spcBef>
        <a:spcAft>
          <a:spcPct val="0"/>
        </a:spcAft>
        <a:buClr>
          <a:srgbClr val="004880"/>
        </a:buClr>
        <a:buChar char="–"/>
        <a:defRPr sz="3164">
          <a:solidFill>
            <a:srgbClr val="1E4191"/>
          </a:solidFill>
          <a:latin typeface="+mn-lt"/>
        </a:defRPr>
      </a:lvl6pPr>
      <a:lvl7pPr marL="2400125" indent="-278724" algn="l" rtl="0" eaLnBrk="1" fontAlgn="base" hangingPunct="1">
        <a:lnSpc>
          <a:spcPct val="90000"/>
        </a:lnSpc>
        <a:spcBef>
          <a:spcPct val="0"/>
        </a:spcBef>
        <a:spcAft>
          <a:spcPct val="0"/>
        </a:spcAft>
        <a:buClr>
          <a:srgbClr val="004880"/>
        </a:buClr>
        <a:buChar char="–"/>
        <a:defRPr sz="3164">
          <a:solidFill>
            <a:srgbClr val="1E4191"/>
          </a:solidFill>
          <a:latin typeface="+mn-lt"/>
        </a:defRPr>
      </a:lvl7pPr>
      <a:lvl8pPr marL="2846083" indent="-278724" algn="l" rtl="0" eaLnBrk="1" fontAlgn="base" hangingPunct="1">
        <a:lnSpc>
          <a:spcPct val="90000"/>
        </a:lnSpc>
        <a:spcBef>
          <a:spcPct val="0"/>
        </a:spcBef>
        <a:spcAft>
          <a:spcPct val="0"/>
        </a:spcAft>
        <a:buClr>
          <a:srgbClr val="004880"/>
        </a:buClr>
        <a:buChar char="–"/>
        <a:defRPr sz="3164">
          <a:solidFill>
            <a:srgbClr val="1E4191"/>
          </a:solidFill>
          <a:latin typeface="+mn-lt"/>
        </a:defRPr>
      </a:lvl8pPr>
      <a:lvl9pPr marL="3292042" indent="-278724" algn="l" rtl="0" eaLnBrk="1" fontAlgn="base" hangingPunct="1">
        <a:lnSpc>
          <a:spcPct val="90000"/>
        </a:lnSpc>
        <a:spcBef>
          <a:spcPct val="0"/>
        </a:spcBef>
        <a:spcAft>
          <a:spcPct val="0"/>
        </a:spcAft>
        <a:buClr>
          <a:srgbClr val="004880"/>
        </a:buClr>
        <a:buChar char="–"/>
        <a:defRPr sz="3164">
          <a:solidFill>
            <a:srgbClr val="1E4191"/>
          </a:solidFill>
          <a:latin typeface="+mn-lt"/>
        </a:defRPr>
      </a:lvl9pPr>
    </p:bodyStyle>
    <p:otherStyle>
      <a:defPPr>
        <a:defRPr lang="en-US"/>
      </a:defPPr>
      <a:lvl1pPr marL="0" algn="l" defTabSz="891917" rtl="0" eaLnBrk="1" latinLnBrk="0" hangingPunct="1">
        <a:defRPr sz="1796" kern="1200">
          <a:solidFill>
            <a:schemeClr val="tx1"/>
          </a:solidFill>
          <a:latin typeface="+mn-lt"/>
          <a:ea typeface="+mn-ea"/>
          <a:cs typeface="+mn-cs"/>
        </a:defRPr>
      </a:lvl1pPr>
      <a:lvl2pPr marL="445959" algn="l" defTabSz="891917" rtl="0" eaLnBrk="1" latinLnBrk="0" hangingPunct="1">
        <a:defRPr sz="1796" kern="1200">
          <a:solidFill>
            <a:schemeClr val="tx1"/>
          </a:solidFill>
          <a:latin typeface="+mn-lt"/>
          <a:ea typeface="+mn-ea"/>
          <a:cs typeface="+mn-cs"/>
        </a:defRPr>
      </a:lvl2pPr>
      <a:lvl3pPr marL="891917" algn="l" defTabSz="891917" rtl="0" eaLnBrk="1" latinLnBrk="0" hangingPunct="1">
        <a:defRPr sz="1796" kern="1200">
          <a:solidFill>
            <a:schemeClr val="tx1"/>
          </a:solidFill>
          <a:latin typeface="+mn-lt"/>
          <a:ea typeface="+mn-ea"/>
          <a:cs typeface="+mn-cs"/>
        </a:defRPr>
      </a:lvl3pPr>
      <a:lvl4pPr marL="1337876" algn="l" defTabSz="891917" rtl="0" eaLnBrk="1" latinLnBrk="0" hangingPunct="1">
        <a:defRPr sz="1796" kern="1200">
          <a:solidFill>
            <a:schemeClr val="tx1"/>
          </a:solidFill>
          <a:latin typeface="+mn-lt"/>
          <a:ea typeface="+mn-ea"/>
          <a:cs typeface="+mn-cs"/>
        </a:defRPr>
      </a:lvl4pPr>
      <a:lvl5pPr marL="1783834" algn="l" defTabSz="891917" rtl="0" eaLnBrk="1" latinLnBrk="0" hangingPunct="1">
        <a:defRPr sz="1796" kern="1200">
          <a:solidFill>
            <a:schemeClr val="tx1"/>
          </a:solidFill>
          <a:latin typeface="+mn-lt"/>
          <a:ea typeface="+mn-ea"/>
          <a:cs typeface="+mn-cs"/>
        </a:defRPr>
      </a:lvl5pPr>
      <a:lvl6pPr marL="2229793" algn="l" defTabSz="891917" rtl="0" eaLnBrk="1" latinLnBrk="0" hangingPunct="1">
        <a:defRPr sz="1796" kern="1200">
          <a:solidFill>
            <a:schemeClr val="tx1"/>
          </a:solidFill>
          <a:latin typeface="+mn-lt"/>
          <a:ea typeface="+mn-ea"/>
          <a:cs typeface="+mn-cs"/>
        </a:defRPr>
      </a:lvl6pPr>
      <a:lvl7pPr marL="2675752" algn="l" defTabSz="891917" rtl="0" eaLnBrk="1" latinLnBrk="0" hangingPunct="1">
        <a:defRPr sz="1796" kern="1200">
          <a:solidFill>
            <a:schemeClr val="tx1"/>
          </a:solidFill>
          <a:latin typeface="+mn-lt"/>
          <a:ea typeface="+mn-ea"/>
          <a:cs typeface="+mn-cs"/>
        </a:defRPr>
      </a:lvl7pPr>
      <a:lvl8pPr marL="3121710" algn="l" defTabSz="891917" rtl="0" eaLnBrk="1" latinLnBrk="0" hangingPunct="1">
        <a:defRPr sz="1796" kern="1200">
          <a:solidFill>
            <a:schemeClr val="tx1"/>
          </a:solidFill>
          <a:latin typeface="+mn-lt"/>
          <a:ea typeface="+mn-ea"/>
          <a:cs typeface="+mn-cs"/>
        </a:defRPr>
      </a:lvl8pPr>
      <a:lvl9pPr marL="3567669" algn="l" defTabSz="891917" rtl="0" eaLnBrk="1" latinLnBrk="0" hangingPunct="1">
        <a:defRPr sz="179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18.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General awareness </a:t>
            </a:r>
            <a:br>
              <a:rPr lang="en-US" dirty="0"/>
            </a:br>
            <a:r>
              <a:rPr lang="en-US" dirty="0"/>
              <a:t>Functional Safety Training</a:t>
            </a:r>
          </a:p>
        </p:txBody>
      </p:sp>
      <p:sp>
        <p:nvSpPr>
          <p:cNvPr id="8" name="TextBox 7"/>
          <p:cNvSpPr txBox="1"/>
          <p:nvPr/>
        </p:nvSpPr>
        <p:spPr>
          <a:xfrm>
            <a:off x="5765800" y="5934194"/>
            <a:ext cx="2965450" cy="553998"/>
          </a:xfrm>
          <a:prstGeom prst="rect">
            <a:avLst/>
          </a:prstGeom>
          <a:noFill/>
        </p:spPr>
        <p:txBody>
          <a:bodyPr wrap="square" lIns="0" tIns="0" rIns="0" bIns="0" rtlCol="0" anchor="b">
            <a:spAutoFit/>
          </a:bodyPr>
          <a:lstStyle/>
          <a:p>
            <a:pPr lvl="0"/>
            <a:r>
              <a:rPr lang="en-US" sz="900" dirty="0">
                <a:solidFill>
                  <a:srgbClr val="898989"/>
                </a:solidFill>
              </a:rPr>
              <a:t>GE Proprietary Information—Class III (Confidential) </a:t>
            </a:r>
          </a:p>
          <a:p>
            <a:pPr lvl="0"/>
            <a:r>
              <a:rPr lang="en-US" sz="900" dirty="0">
                <a:solidFill>
                  <a:srgbClr val="898989"/>
                </a:solidFill>
              </a:rPr>
              <a:t>Export Controlled—U.S. Government approval is required prior to export from the U.S., re-export from a third country, or release to a foreign national wherever located.​</a:t>
            </a:r>
            <a:endParaRPr lang="en-US" sz="2000" dirty="0"/>
          </a:p>
        </p:txBody>
      </p:sp>
    </p:spTree>
    <p:extLst>
      <p:ext uri="{BB962C8B-B14F-4D97-AF65-F5344CB8AC3E}">
        <p14:creationId xmlns:p14="http://schemas.microsoft.com/office/powerpoint/2010/main" val="969105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048" y="243165"/>
            <a:ext cx="8352156" cy="1021002"/>
          </a:xfrm>
        </p:spPr>
        <p:txBody>
          <a:bodyPr/>
          <a:lstStyle/>
          <a:p>
            <a:r>
              <a:rPr lang="en-US" dirty="0"/>
              <a:t>Purpose - </a:t>
            </a:r>
          </a:p>
        </p:txBody>
      </p:sp>
      <p:sp>
        <p:nvSpPr>
          <p:cNvPr id="3" name="Content Placeholder 2"/>
          <p:cNvSpPr>
            <a:spLocks noGrp="1"/>
          </p:cNvSpPr>
          <p:nvPr>
            <p:ph idx="1"/>
          </p:nvPr>
        </p:nvSpPr>
        <p:spPr>
          <a:xfrm>
            <a:off x="341249" y="1057617"/>
            <a:ext cx="8347202" cy="4346825"/>
          </a:xfrm>
        </p:spPr>
        <p:txBody>
          <a:bodyPr/>
          <a:lstStyle/>
          <a:p>
            <a:r>
              <a:rPr lang="en-US" sz="2000" dirty="0"/>
              <a:t>IEC61511: Any person involve in the design, realization or validation of the Safety Instrumented System shall be competent in IEC61511. </a:t>
            </a:r>
          </a:p>
          <a:p>
            <a:endParaRPr lang="en-US" sz="2000" dirty="0"/>
          </a:p>
          <a:p>
            <a:r>
              <a:rPr lang="en-US" sz="2000" dirty="0"/>
              <a:t>Target audience – Any person involved in product and/or projects in GE Power.</a:t>
            </a:r>
          </a:p>
          <a:p>
            <a:r>
              <a:rPr lang="en-US" sz="2000" dirty="0"/>
              <a:t>After this training you will understand – </a:t>
            </a:r>
          </a:p>
          <a:p>
            <a:pPr marL="342900" indent="-342900">
              <a:buFontTx/>
              <a:buChar char="-"/>
            </a:pPr>
            <a:r>
              <a:rPr lang="en-US" sz="2000" dirty="0"/>
              <a:t>The term Functional safety and it’s significance</a:t>
            </a:r>
          </a:p>
          <a:p>
            <a:pPr marL="342900" indent="-342900">
              <a:buFontTx/>
              <a:buChar char="-"/>
            </a:pPr>
            <a:r>
              <a:rPr lang="en-US" sz="2000" dirty="0"/>
              <a:t>Basic concepts of functional safety GE Power Functional Safety process (High level)</a:t>
            </a:r>
          </a:p>
          <a:p>
            <a:endParaRPr lang="en-US" sz="2000" dirty="0"/>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0D558541-60C9-42A2-8392-FF12533A6B7A}" type="slidenum">
              <a:rPr lang="en-US" smtClean="0"/>
              <a:t>2</a:t>
            </a:fld>
            <a:endParaRPr lang="en-US" dirty="0"/>
          </a:p>
        </p:txBody>
      </p:sp>
    </p:spTree>
    <p:extLst>
      <p:ext uri="{BB962C8B-B14F-4D97-AF65-F5344CB8AC3E}">
        <p14:creationId xmlns:p14="http://schemas.microsoft.com/office/powerpoint/2010/main" val="808187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4" y="0"/>
            <a:ext cx="8352156" cy="1021002"/>
          </a:xfrm>
        </p:spPr>
        <p:txBody>
          <a:bodyPr/>
          <a:lstStyle/>
          <a:p>
            <a:r>
              <a:rPr lang="en-US" sz="2400" dirty="0"/>
              <a:t>Agenda -</a:t>
            </a:r>
          </a:p>
        </p:txBody>
      </p:sp>
      <p:sp>
        <p:nvSpPr>
          <p:cNvPr id="3" name="Content Placeholder 2"/>
          <p:cNvSpPr>
            <a:spLocks noGrp="1"/>
          </p:cNvSpPr>
          <p:nvPr>
            <p:ph idx="1"/>
          </p:nvPr>
        </p:nvSpPr>
        <p:spPr>
          <a:xfrm>
            <a:off x="341248" y="734906"/>
            <a:ext cx="9040257" cy="4346825"/>
          </a:xfrm>
        </p:spPr>
        <p:txBody>
          <a:bodyPr/>
          <a:lstStyle/>
          <a:p>
            <a:pPr marL="342900" indent="-342900">
              <a:buFontTx/>
              <a:buChar char="-"/>
            </a:pPr>
            <a:r>
              <a:rPr lang="en-US" sz="1400" b="1" dirty="0"/>
              <a:t>Introduction Safety and Functional Safety</a:t>
            </a:r>
          </a:p>
          <a:p>
            <a:pPr marL="342900" indent="-342900">
              <a:buFontTx/>
              <a:buChar char="-"/>
            </a:pPr>
            <a:r>
              <a:rPr lang="en-US" sz="1400" b="1" dirty="0"/>
              <a:t>Functional Safety Standards</a:t>
            </a:r>
          </a:p>
          <a:p>
            <a:pPr marL="342900" indent="-342900">
              <a:buFontTx/>
              <a:buChar char="-"/>
            </a:pPr>
            <a:r>
              <a:rPr lang="en-US" sz="1400" b="1" dirty="0"/>
              <a:t>What is SIL </a:t>
            </a:r>
          </a:p>
          <a:p>
            <a:pPr marL="342900" indent="-342900">
              <a:buFontTx/>
              <a:buChar char="-"/>
            </a:pPr>
            <a:r>
              <a:rPr lang="en-US" sz="1400" b="1" dirty="0"/>
              <a:t>SIL Process</a:t>
            </a:r>
          </a:p>
          <a:p>
            <a:pPr marL="342900" indent="-342900">
              <a:buFontTx/>
              <a:buChar char="-"/>
            </a:pPr>
            <a:r>
              <a:rPr lang="en-US" sz="1400" b="1" dirty="0"/>
              <a:t>Risk Analysis and SIL assignment</a:t>
            </a:r>
            <a:r>
              <a:rPr lang="en-US" sz="1400" b="1" i="1" dirty="0"/>
              <a:t> (Targeting </a:t>
            </a:r>
            <a:r>
              <a:rPr lang="en-US" sz="1400" b="1" dirty="0"/>
              <a:t>)</a:t>
            </a:r>
          </a:p>
          <a:p>
            <a:pPr marL="342900" indent="-342900">
              <a:buFontTx/>
              <a:buChar char="-"/>
            </a:pPr>
            <a:r>
              <a:rPr lang="en-US" sz="1400" b="1" dirty="0"/>
              <a:t>Design &amp; design  verification</a:t>
            </a:r>
          </a:p>
          <a:p>
            <a:pPr marL="342900" indent="-342900">
              <a:buFontTx/>
              <a:buChar char="-"/>
            </a:pPr>
            <a:r>
              <a:rPr lang="en-US" sz="1400" b="1" dirty="0"/>
              <a:t>Validation</a:t>
            </a:r>
          </a:p>
          <a:p>
            <a:pPr marL="342900" indent="-342900">
              <a:buFontTx/>
              <a:buChar char="-"/>
            </a:pPr>
            <a:r>
              <a:rPr lang="en-US" sz="1400" b="1" dirty="0"/>
              <a:t>Organization of Functional Safety in GE Power</a:t>
            </a:r>
          </a:p>
          <a:p>
            <a:pPr marL="342900" indent="-342900">
              <a:buFontTx/>
              <a:buChar char="-"/>
            </a:pPr>
            <a:r>
              <a:rPr lang="en-US" sz="1400" b="1" dirty="0"/>
              <a:t>Customer Deliverables</a:t>
            </a:r>
          </a:p>
          <a:p>
            <a:endParaRPr lang="en-US" dirty="0"/>
          </a:p>
        </p:txBody>
      </p:sp>
      <p:sp>
        <p:nvSpPr>
          <p:cNvPr id="5" name="Slide Number Placeholder 4"/>
          <p:cNvSpPr>
            <a:spLocks noGrp="1"/>
          </p:cNvSpPr>
          <p:nvPr>
            <p:ph type="sldNum" sz="quarter" idx="12"/>
          </p:nvPr>
        </p:nvSpPr>
        <p:spPr/>
        <p:txBody>
          <a:bodyPr/>
          <a:lstStyle/>
          <a:p>
            <a:fld id="{0D558541-60C9-42A2-8392-FF12533A6B7A}" type="slidenum">
              <a:rPr lang="en-US" smtClean="0"/>
              <a:t>3</a:t>
            </a:fld>
            <a:endParaRPr lang="en-US" dirty="0"/>
          </a:p>
        </p:txBody>
      </p:sp>
    </p:spTree>
    <p:extLst>
      <p:ext uri="{BB962C8B-B14F-4D97-AF65-F5344CB8AC3E}">
        <p14:creationId xmlns:p14="http://schemas.microsoft.com/office/powerpoint/2010/main" val="83087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2209140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p:cNvSpPr>
            <a:spLocks noGrp="1" noChangeArrowheads="1"/>
          </p:cNvSpPr>
          <p:nvPr>
            <p:ph type="body" idx="1"/>
          </p:nvPr>
        </p:nvSpPr>
        <p:spPr>
          <a:xfrm>
            <a:off x="384048" y="1062248"/>
            <a:ext cx="8347202" cy="4970907"/>
          </a:xfrm>
        </p:spPr>
        <p:txBody>
          <a:bodyPr/>
          <a:lstStyle/>
          <a:p>
            <a:pPr>
              <a:spcBef>
                <a:spcPts val="600"/>
              </a:spcBef>
            </a:pPr>
            <a:r>
              <a:rPr lang="en-US" altLang="en-US" sz="2400" b="1" dirty="0">
                <a:solidFill>
                  <a:srgbClr val="FF0000"/>
                </a:solidFill>
              </a:rPr>
              <a:t>Safety</a:t>
            </a:r>
            <a:r>
              <a:rPr lang="en-US" altLang="en-US" sz="2400" dirty="0">
                <a:solidFill>
                  <a:srgbClr val="FF0000"/>
                </a:solidFill>
              </a:rPr>
              <a:t> </a:t>
            </a:r>
            <a:r>
              <a:rPr lang="en-US" altLang="en-US" sz="2400" dirty="0"/>
              <a:t>is a functionality of a technical product, such as</a:t>
            </a:r>
          </a:p>
          <a:p>
            <a:pPr lvl="2">
              <a:spcBef>
                <a:spcPts val="600"/>
              </a:spcBef>
            </a:pPr>
            <a:r>
              <a:rPr lang="en-US" altLang="en-US" sz="1600" dirty="0"/>
              <a:t>Production capacity (of whatever)</a:t>
            </a:r>
          </a:p>
          <a:p>
            <a:pPr lvl="2">
              <a:spcBef>
                <a:spcPts val="600"/>
              </a:spcBef>
            </a:pPr>
            <a:r>
              <a:rPr lang="en-US" altLang="en-US" sz="1600" dirty="0"/>
              <a:t>Efficiency</a:t>
            </a:r>
          </a:p>
          <a:p>
            <a:pPr lvl="2">
              <a:spcBef>
                <a:spcPts val="600"/>
              </a:spcBef>
            </a:pPr>
            <a:r>
              <a:rPr lang="en-US" altLang="en-US" sz="1600" dirty="0"/>
              <a:t>Emissions (or their absence)</a:t>
            </a:r>
          </a:p>
          <a:p>
            <a:pPr lvl="2">
              <a:spcBef>
                <a:spcPts val="600"/>
              </a:spcBef>
            </a:pPr>
            <a:r>
              <a:rPr lang="en-US" altLang="en-US" sz="1600" dirty="0"/>
              <a:t>and many others</a:t>
            </a:r>
          </a:p>
          <a:p>
            <a:pPr>
              <a:spcBef>
                <a:spcPts val="600"/>
              </a:spcBef>
            </a:pPr>
            <a:r>
              <a:rPr lang="en-US" altLang="en-US" sz="2400" b="1" dirty="0">
                <a:solidFill>
                  <a:srgbClr val="FF0000"/>
                </a:solidFill>
              </a:rPr>
              <a:t>Safety</a:t>
            </a:r>
            <a:r>
              <a:rPr lang="en-US" altLang="en-US" sz="2400" dirty="0">
                <a:solidFill>
                  <a:srgbClr val="FF0000"/>
                </a:solidFill>
              </a:rPr>
              <a:t> </a:t>
            </a:r>
            <a:r>
              <a:rPr lang="en-US" altLang="en-US" sz="2400" dirty="0"/>
              <a:t>is subject of</a:t>
            </a:r>
          </a:p>
          <a:p>
            <a:pPr lvl="2">
              <a:spcBef>
                <a:spcPts val="600"/>
              </a:spcBef>
            </a:pPr>
            <a:r>
              <a:rPr lang="en-US" altLang="en-US" sz="1600" dirty="0"/>
              <a:t>Customer expectations</a:t>
            </a:r>
          </a:p>
          <a:p>
            <a:pPr lvl="2">
              <a:spcBef>
                <a:spcPts val="600"/>
              </a:spcBef>
            </a:pPr>
            <a:r>
              <a:rPr lang="en-US" altLang="en-US" sz="1600" dirty="0"/>
              <a:t>Contractual Requirements</a:t>
            </a:r>
          </a:p>
          <a:p>
            <a:pPr lvl="2">
              <a:spcBef>
                <a:spcPts val="600"/>
              </a:spcBef>
            </a:pPr>
            <a:r>
              <a:rPr lang="en-US" altLang="en-US" sz="1600" dirty="0"/>
              <a:t>Codes (Machinery Directive) and Standards</a:t>
            </a:r>
          </a:p>
          <a:p>
            <a:pPr lvl="2">
              <a:spcBef>
                <a:spcPts val="600"/>
              </a:spcBef>
            </a:pPr>
            <a:r>
              <a:rPr lang="en-US" altLang="en-US" sz="1600" dirty="0"/>
              <a:t>Permitting Procedures</a:t>
            </a:r>
          </a:p>
          <a:p>
            <a:pPr>
              <a:spcBef>
                <a:spcPts val="600"/>
              </a:spcBef>
            </a:pPr>
            <a:r>
              <a:rPr lang="en-US" altLang="en-US" sz="2400" b="1" dirty="0">
                <a:solidFill>
                  <a:srgbClr val="FF0000"/>
                </a:solidFill>
              </a:rPr>
              <a:t>Safety</a:t>
            </a:r>
            <a:r>
              <a:rPr lang="en-US" altLang="en-US" sz="2400" dirty="0">
                <a:solidFill>
                  <a:srgbClr val="FF0000"/>
                </a:solidFill>
              </a:rPr>
              <a:t> </a:t>
            </a:r>
            <a:r>
              <a:rPr lang="en-US" altLang="en-US" sz="2400" dirty="0"/>
              <a:t>is . . . </a:t>
            </a:r>
          </a:p>
          <a:p>
            <a:pPr lvl="2">
              <a:spcBef>
                <a:spcPts val="600"/>
              </a:spcBef>
            </a:pPr>
            <a:r>
              <a:rPr lang="en-US" altLang="en-US" sz="1600" dirty="0"/>
              <a:t>made by the basic design of a product – in first instance</a:t>
            </a:r>
          </a:p>
          <a:p>
            <a:pPr lvl="2">
              <a:spcBef>
                <a:spcPts val="600"/>
              </a:spcBef>
            </a:pPr>
            <a:r>
              <a:rPr lang="en-US" altLang="en-US" sz="1600" dirty="0"/>
              <a:t>supported by specific assessment procedures</a:t>
            </a:r>
          </a:p>
          <a:p>
            <a:pPr lvl="2">
              <a:spcBef>
                <a:spcPts val="600"/>
              </a:spcBef>
            </a:pPr>
            <a:r>
              <a:rPr lang="en-US" altLang="en-US" sz="1600" dirty="0"/>
              <a:t>verified by a documentation of assessment and results</a:t>
            </a:r>
          </a:p>
        </p:txBody>
      </p:sp>
      <p:sp>
        <p:nvSpPr>
          <p:cNvPr id="2" name="Title 1"/>
          <p:cNvSpPr>
            <a:spLocks noGrp="1"/>
          </p:cNvSpPr>
          <p:nvPr>
            <p:ph type="title"/>
          </p:nvPr>
        </p:nvSpPr>
        <p:spPr>
          <a:xfrm>
            <a:off x="68400" y="273600"/>
            <a:ext cx="8383016" cy="572400"/>
          </a:xfrm>
        </p:spPr>
        <p:txBody>
          <a:bodyPr lIns="90000" tIns="43200" rIns="90000" bIns="43200"/>
          <a:lstStyle/>
          <a:p>
            <a:r>
              <a:rPr lang="en-US" dirty="0">
                <a:solidFill>
                  <a:srgbClr val="004880"/>
                </a:solidFill>
              </a:rPr>
              <a:t>Introduction – Safety &amp; Functional Safety</a:t>
            </a:r>
            <a:endParaRPr lang="en-US" dirty="0"/>
          </a:p>
        </p:txBody>
      </p:sp>
    </p:spTree>
    <p:extLst>
      <p:ext uri="{BB962C8B-B14F-4D97-AF65-F5344CB8AC3E}">
        <p14:creationId xmlns:p14="http://schemas.microsoft.com/office/powerpoint/2010/main" val="3255614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9586" name="Group 2"/>
          <p:cNvGrpSpPr>
            <a:grpSpLocks/>
          </p:cNvGrpSpPr>
          <p:nvPr/>
        </p:nvGrpSpPr>
        <p:grpSpPr bwMode="auto">
          <a:xfrm>
            <a:off x="256265" y="1966913"/>
            <a:ext cx="4595135" cy="3333750"/>
            <a:chOff x="467" y="2274"/>
            <a:chExt cx="2101" cy="1524"/>
          </a:xfrm>
        </p:grpSpPr>
        <p:sp>
          <p:nvSpPr>
            <p:cNvPr id="579587" name="Rectangle 3"/>
            <p:cNvSpPr>
              <a:spLocks noChangeArrowheads="1"/>
            </p:cNvSpPr>
            <p:nvPr/>
          </p:nvSpPr>
          <p:spPr bwMode="auto">
            <a:xfrm>
              <a:off x="540" y="2274"/>
              <a:ext cx="2028" cy="1524"/>
            </a:xfrm>
            <a:prstGeom prst="rect">
              <a:avLst/>
            </a:prstGeom>
            <a:solidFill>
              <a:srgbClr val="FFFFFF"/>
            </a:solidFill>
            <a:ln w="0">
              <a:solidFill>
                <a:srgbClr val="FFFF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588" name="Text Box 4"/>
            <p:cNvSpPr txBox="1">
              <a:spLocks noChangeArrowheads="1"/>
            </p:cNvSpPr>
            <p:nvPr/>
          </p:nvSpPr>
          <p:spPr bwMode="auto">
            <a:xfrm>
              <a:off x="2350" y="2302"/>
              <a:ext cx="54" cy="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lgn="ctr" eaLnBrk="0" hangingPunct="0">
                <a:buSzPct val="150000"/>
                <a:buFontTx/>
                <a:buNone/>
              </a:pPr>
              <a:r>
                <a:rPr lang="de-CH" altLang="en-US" sz="1200" dirty="0">
                  <a:latin typeface="Arial Black" panose="020B0A04020102020204" pitchFamily="34" charset="0"/>
                </a:rPr>
                <a:t>A</a:t>
              </a:r>
              <a:endParaRPr lang="en-US" altLang="en-US" sz="1200" dirty="0">
                <a:latin typeface="Arial Black" panose="020B0A04020102020204" pitchFamily="34" charset="0"/>
              </a:endParaRPr>
            </a:p>
          </p:txBody>
        </p:sp>
        <p:sp>
          <p:nvSpPr>
            <p:cNvPr id="579589" name="Text Box 5"/>
            <p:cNvSpPr txBox="1">
              <a:spLocks noChangeArrowheads="1"/>
            </p:cNvSpPr>
            <p:nvPr/>
          </p:nvSpPr>
          <p:spPr bwMode="auto">
            <a:xfrm>
              <a:off x="2350" y="2434"/>
              <a:ext cx="54" cy="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lgn="ctr" eaLnBrk="0" hangingPunct="0">
                <a:buSzPct val="150000"/>
                <a:buFontTx/>
                <a:buNone/>
              </a:pPr>
              <a:r>
                <a:rPr lang="de-CH" altLang="en-US" sz="1200" dirty="0">
                  <a:latin typeface="Arial Black" panose="020B0A04020102020204" pitchFamily="34" charset="0"/>
                </a:rPr>
                <a:t>B</a:t>
              </a:r>
              <a:endParaRPr lang="en-US" altLang="en-US" sz="1200" dirty="0">
                <a:latin typeface="Arial Black" panose="020B0A04020102020204" pitchFamily="34" charset="0"/>
              </a:endParaRPr>
            </a:p>
          </p:txBody>
        </p:sp>
        <p:sp>
          <p:nvSpPr>
            <p:cNvPr id="579590" name="Text Box 6"/>
            <p:cNvSpPr txBox="1">
              <a:spLocks noChangeArrowheads="1"/>
            </p:cNvSpPr>
            <p:nvPr/>
          </p:nvSpPr>
          <p:spPr bwMode="auto">
            <a:xfrm>
              <a:off x="2350" y="2581"/>
              <a:ext cx="54" cy="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lgn="ctr" eaLnBrk="0" hangingPunct="0">
                <a:buSzPct val="150000"/>
                <a:buFontTx/>
                <a:buNone/>
              </a:pPr>
              <a:r>
                <a:rPr lang="de-CH" altLang="en-US" sz="1200" dirty="0">
                  <a:latin typeface="Arial Black" panose="020B0A04020102020204" pitchFamily="34" charset="0"/>
                </a:rPr>
                <a:t>C</a:t>
              </a:r>
              <a:endParaRPr lang="en-US" altLang="en-US" sz="1200" dirty="0">
                <a:latin typeface="Arial Black" panose="020B0A04020102020204" pitchFamily="34" charset="0"/>
              </a:endParaRPr>
            </a:p>
          </p:txBody>
        </p:sp>
        <p:sp>
          <p:nvSpPr>
            <p:cNvPr id="579591" name="Text Box 7"/>
            <p:cNvSpPr txBox="1">
              <a:spLocks noChangeArrowheads="1"/>
            </p:cNvSpPr>
            <p:nvPr/>
          </p:nvSpPr>
          <p:spPr bwMode="auto">
            <a:xfrm>
              <a:off x="2350" y="2725"/>
              <a:ext cx="54" cy="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p>
              <a:pPr algn="ctr" eaLnBrk="0" hangingPunct="0">
                <a:buSzPct val="150000"/>
                <a:buFontTx/>
                <a:buNone/>
              </a:pPr>
              <a:r>
                <a:rPr lang="de-CH" altLang="en-US" sz="1200" dirty="0">
                  <a:latin typeface="Arial Black" panose="020B0A04020102020204" pitchFamily="34" charset="0"/>
                </a:rPr>
                <a:t>D</a:t>
              </a:r>
              <a:endParaRPr lang="en-US" altLang="en-US" sz="1200" dirty="0">
                <a:latin typeface="Arial Black" panose="020B0A04020102020204" pitchFamily="34" charset="0"/>
              </a:endParaRPr>
            </a:p>
          </p:txBody>
        </p:sp>
        <p:grpSp>
          <p:nvGrpSpPr>
            <p:cNvPr id="579592" name="Group 8"/>
            <p:cNvGrpSpPr>
              <a:grpSpLocks/>
            </p:cNvGrpSpPr>
            <p:nvPr/>
          </p:nvGrpSpPr>
          <p:grpSpPr bwMode="auto">
            <a:xfrm>
              <a:off x="1578" y="2316"/>
              <a:ext cx="725" cy="1449"/>
              <a:chOff x="1578" y="2316"/>
              <a:chExt cx="725" cy="1449"/>
            </a:xfrm>
          </p:grpSpPr>
          <p:grpSp>
            <p:nvGrpSpPr>
              <p:cNvPr id="579593" name="Group 9"/>
              <p:cNvGrpSpPr>
                <a:grpSpLocks noChangeAspect="1"/>
              </p:cNvGrpSpPr>
              <p:nvPr/>
            </p:nvGrpSpPr>
            <p:grpSpPr bwMode="auto">
              <a:xfrm>
                <a:off x="1578" y="2316"/>
                <a:ext cx="725" cy="1449"/>
                <a:chOff x="1846" y="816"/>
                <a:chExt cx="635" cy="1269"/>
              </a:xfrm>
            </p:grpSpPr>
            <p:sp>
              <p:nvSpPr>
                <p:cNvPr id="579594" name="Arc 10"/>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CEC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595" name="Arc 11"/>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CCEC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596" name="Group 12"/>
              <p:cNvGrpSpPr>
                <a:grpSpLocks noChangeAspect="1"/>
              </p:cNvGrpSpPr>
              <p:nvPr/>
            </p:nvGrpSpPr>
            <p:grpSpPr bwMode="auto">
              <a:xfrm>
                <a:off x="1652" y="2390"/>
                <a:ext cx="651" cy="1302"/>
                <a:chOff x="1846" y="816"/>
                <a:chExt cx="635" cy="1269"/>
              </a:xfrm>
            </p:grpSpPr>
            <p:sp>
              <p:nvSpPr>
                <p:cNvPr id="579597" name="Arc 13"/>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598" name="Arc 14"/>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599" name="Group 15"/>
              <p:cNvGrpSpPr>
                <a:grpSpLocks noChangeAspect="1"/>
              </p:cNvGrpSpPr>
              <p:nvPr/>
            </p:nvGrpSpPr>
            <p:grpSpPr bwMode="auto">
              <a:xfrm>
                <a:off x="1712" y="2450"/>
                <a:ext cx="591" cy="1181"/>
                <a:chOff x="1846" y="816"/>
                <a:chExt cx="635" cy="1269"/>
              </a:xfrm>
            </p:grpSpPr>
            <p:sp>
              <p:nvSpPr>
                <p:cNvPr id="579600" name="Arc 16"/>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CC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01" name="Arc 17"/>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99CC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602" name="Group 18"/>
              <p:cNvGrpSpPr>
                <a:grpSpLocks noChangeAspect="1"/>
              </p:cNvGrpSpPr>
              <p:nvPr/>
            </p:nvGrpSpPr>
            <p:grpSpPr bwMode="auto">
              <a:xfrm>
                <a:off x="1782" y="2520"/>
                <a:ext cx="521" cy="1041"/>
                <a:chOff x="1846" y="816"/>
                <a:chExt cx="635" cy="1269"/>
              </a:xfrm>
            </p:grpSpPr>
            <p:sp>
              <p:nvSpPr>
                <p:cNvPr id="579603" name="Arc 19"/>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04" name="Arc 20"/>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3366FF"/>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605" name="Group 21"/>
              <p:cNvGrpSpPr>
                <a:grpSpLocks noChangeAspect="1"/>
              </p:cNvGrpSpPr>
              <p:nvPr/>
            </p:nvGrpSpPr>
            <p:grpSpPr bwMode="auto">
              <a:xfrm>
                <a:off x="1847" y="2585"/>
                <a:ext cx="453" cy="905"/>
                <a:chOff x="1846" y="816"/>
                <a:chExt cx="635" cy="1269"/>
              </a:xfrm>
            </p:grpSpPr>
            <p:sp>
              <p:nvSpPr>
                <p:cNvPr id="579606" name="Arc 22"/>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07" name="Arc 23"/>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000"/>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608" name="Group 24"/>
              <p:cNvGrpSpPr>
                <a:grpSpLocks noChangeAspect="1"/>
              </p:cNvGrpSpPr>
              <p:nvPr/>
            </p:nvGrpSpPr>
            <p:grpSpPr bwMode="auto">
              <a:xfrm>
                <a:off x="1918" y="2656"/>
                <a:ext cx="385" cy="769"/>
                <a:chOff x="1846" y="816"/>
                <a:chExt cx="635" cy="1269"/>
              </a:xfrm>
            </p:grpSpPr>
            <p:sp>
              <p:nvSpPr>
                <p:cNvPr id="579609" name="Arc 25"/>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10" name="Arc 26"/>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8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611" name="Group 27"/>
              <p:cNvGrpSpPr>
                <a:grpSpLocks noChangeAspect="1"/>
              </p:cNvGrpSpPr>
              <p:nvPr/>
            </p:nvGrpSpPr>
            <p:grpSpPr bwMode="auto">
              <a:xfrm>
                <a:off x="1986" y="2723"/>
                <a:ext cx="317" cy="635"/>
                <a:chOff x="1846" y="816"/>
                <a:chExt cx="635" cy="1269"/>
              </a:xfrm>
            </p:grpSpPr>
            <p:sp>
              <p:nvSpPr>
                <p:cNvPr id="579612" name="Arc 28"/>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00"/>
                </a:soli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13" name="Arc 29"/>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00"/>
                </a:soli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579614" name="Group 30"/>
              <p:cNvGrpSpPr>
                <a:grpSpLocks noChangeAspect="1"/>
              </p:cNvGrpSpPr>
              <p:nvPr/>
            </p:nvGrpSpPr>
            <p:grpSpPr bwMode="auto">
              <a:xfrm>
                <a:off x="2076" y="2814"/>
                <a:ext cx="227" cy="453"/>
                <a:chOff x="1846" y="816"/>
                <a:chExt cx="635" cy="1269"/>
              </a:xfrm>
            </p:grpSpPr>
            <p:sp>
              <p:nvSpPr>
                <p:cNvPr id="579615" name="Arc 31"/>
                <p:cNvSpPr>
                  <a:spLocks noChangeAspect="1"/>
                </p:cNvSpPr>
                <p:nvPr/>
              </p:nvSpPr>
              <p:spPr bwMode="auto">
                <a:xfrm flipH="1" flipV="1">
                  <a:off x="1846" y="1450"/>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9616" name="Arc 32"/>
                <p:cNvSpPr>
                  <a:spLocks noChangeAspect="1"/>
                </p:cNvSpPr>
                <p:nvPr/>
              </p:nvSpPr>
              <p:spPr bwMode="auto">
                <a:xfrm flipH="1">
                  <a:off x="1846" y="816"/>
                  <a:ext cx="635" cy="63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FFFF"/>
                </a:soli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
          <p:nvSpPr>
            <p:cNvPr id="579617" name="AutoShape 33"/>
            <p:cNvSpPr>
              <a:spLocks noChangeArrowheads="1"/>
            </p:cNvSpPr>
            <p:nvPr/>
          </p:nvSpPr>
          <p:spPr bwMode="auto">
            <a:xfrm>
              <a:off x="467" y="2856"/>
              <a:ext cx="1129" cy="369"/>
            </a:xfrm>
            <a:prstGeom prst="rightArrow">
              <a:avLst>
                <a:gd name="adj1" fmla="val 49185"/>
                <a:gd name="adj2" fmla="val 141734"/>
              </a:avLst>
            </a:prstGeom>
            <a:solidFill>
              <a:srgbClr val="FFCC00"/>
            </a:solidFill>
            <a:ln w="12700">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buClrTx/>
                <a:buFontTx/>
                <a:buNone/>
              </a:pPr>
              <a:r>
                <a:rPr lang="en-GB" altLang="en-US" sz="1000" b="1" dirty="0"/>
                <a:t>Intrinsic risks of technical processes &amp; equipment</a:t>
              </a:r>
            </a:p>
          </p:txBody>
        </p:sp>
      </p:grpSp>
      <p:sp>
        <p:nvSpPr>
          <p:cNvPr id="579619" name="Rectangle 35"/>
          <p:cNvSpPr>
            <a:spLocks noGrp="1" noChangeArrowheads="1"/>
          </p:cNvSpPr>
          <p:nvPr>
            <p:ph type="title"/>
          </p:nvPr>
        </p:nvSpPr>
        <p:spPr>
          <a:xfrm>
            <a:off x="68400" y="273600"/>
            <a:ext cx="8352156" cy="572400"/>
          </a:xfrm>
        </p:spPr>
        <p:txBody>
          <a:bodyPr lIns="90000" tIns="43200" rIns="90000" bIns="43200"/>
          <a:lstStyle/>
          <a:p>
            <a:r>
              <a:rPr lang="en-US" dirty="0">
                <a:solidFill>
                  <a:srgbClr val="004880"/>
                </a:solidFill>
              </a:rPr>
              <a:t>Introduction – Safety &amp; Functional Safety</a:t>
            </a:r>
            <a:endParaRPr lang="de-DE" altLang="en-US" dirty="0"/>
          </a:p>
        </p:txBody>
      </p:sp>
      <p:sp>
        <p:nvSpPr>
          <p:cNvPr id="579620" name="Rectangle 36"/>
          <p:cNvSpPr>
            <a:spLocks noGrp="1" noChangeArrowheads="1"/>
          </p:cNvSpPr>
          <p:nvPr>
            <p:ph type="body" idx="1"/>
          </p:nvPr>
        </p:nvSpPr>
        <p:spPr>
          <a:xfrm>
            <a:off x="370705" y="1759516"/>
            <a:ext cx="2658826" cy="1112272"/>
          </a:xfrm>
        </p:spPr>
        <p:txBody>
          <a:bodyPr/>
          <a:lstStyle/>
          <a:p>
            <a:pPr>
              <a:spcBef>
                <a:spcPts val="0"/>
              </a:spcBef>
              <a:buFont typeface="Arial" panose="020B0604020202020204" pitchFamily="34" charset="0"/>
              <a:buNone/>
            </a:pPr>
            <a:r>
              <a:rPr lang="en-GB" altLang="en-US" dirty="0"/>
              <a:t>Safety Layers of</a:t>
            </a:r>
          </a:p>
          <a:p>
            <a:pPr>
              <a:spcBef>
                <a:spcPts val="0"/>
              </a:spcBef>
              <a:buFont typeface="Arial" panose="020B0604020202020204" pitchFamily="34" charset="0"/>
              <a:buNone/>
            </a:pPr>
            <a:r>
              <a:rPr lang="en-GB" altLang="en-US" dirty="0"/>
              <a:t>Technology</a:t>
            </a:r>
          </a:p>
        </p:txBody>
      </p:sp>
      <p:sp>
        <p:nvSpPr>
          <p:cNvPr id="579621" name="Rectangle 37"/>
          <p:cNvSpPr>
            <a:spLocks noChangeArrowheads="1"/>
          </p:cNvSpPr>
          <p:nvPr/>
        </p:nvSpPr>
        <p:spPr bwMode="auto">
          <a:xfrm>
            <a:off x="5668963" y="1554163"/>
            <a:ext cx="3028950" cy="5172075"/>
          </a:xfrm>
          <a:prstGeom prst="rect">
            <a:avLst/>
          </a:prstGeom>
          <a:solidFill>
            <a:srgbClr val="FFFFFF"/>
          </a:solidFill>
          <a:ln w="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79622" name="Text Box 38"/>
          <p:cNvSpPr txBox="1">
            <a:spLocks noChangeArrowheads="1"/>
          </p:cNvSpPr>
          <p:nvPr/>
        </p:nvSpPr>
        <p:spPr bwMode="auto">
          <a:xfrm>
            <a:off x="6026150" y="1431925"/>
            <a:ext cx="27051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lang="en-GB" altLang="en-US" sz="1600" b="1" dirty="0"/>
              <a:t>Effective design rules</a:t>
            </a:r>
          </a:p>
          <a:p>
            <a:pPr>
              <a:buClrTx/>
              <a:buFontTx/>
              <a:buNone/>
            </a:pPr>
            <a:r>
              <a:rPr lang="en-GB" altLang="en-US" sz="1600" b="1" dirty="0"/>
              <a:t>Good engineering practice</a:t>
            </a:r>
          </a:p>
          <a:p>
            <a:pPr>
              <a:buClrTx/>
              <a:buFontTx/>
              <a:buNone/>
            </a:pPr>
            <a:r>
              <a:rPr lang="en-GB" altLang="en-US" sz="1600" b="1" dirty="0"/>
              <a:t>Engineering quality assurance</a:t>
            </a:r>
          </a:p>
        </p:txBody>
      </p:sp>
      <p:sp>
        <p:nvSpPr>
          <p:cNvPr id="579623" name="Text Box 39"/>
          <p:cNvSpPr txBox="1">
            <a:spLocks noChangeArrowheads="1"/>
          </p:cNvSpPr>
          <p:nvPr/>
        </p:nvSpPr>
        <p:spPr bwMode="auto">
          <a:xfrm>
            <a:off x="6026150" y="2527300"/>
            <a:ext cx="24955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lang="en-GB" altLang="en-US" sz="1600" b="1" dirty="0"/>
              <a:t>Proper design of interfaces</a:t>
            </a:r>
          </a:p>
          <a:p>
            <a:pPr>
              <a:buClrTx/>
              <a:buFontTx/>
              <a:buNone/>
            </a:pPr>
            <a:r>
              <a:rPr lang="en-GB" altLang="en-US" sz="1600" b="1" dirty="0"/>
              <a:t>human </a:t>
            </a:r>
            <a:r>
              <a:rPr lang="en-GB" altLang="en-US" sz="1600" b="1" dirty="0">
                <a:sym typeface="Symbol" panose="05050102010706020507" pitchFamily="18" charset="2"/>
              </a:rPr>
              <a:t> equipment</a:t>
            </a:r>
          </a:p>
        </p:txBody>
      </p:sp>
      <p:sp>
        <p:nvSpPr>
          <p:cNvPr id="579624" name="Text Box 40"/>
          <p:cNvSpPr txBox="1">
            <a:spLocks noChangeArrowheads="1"/>
          </p:cNvSpPr>
          <p:nvPr/>
        </p:nvSpPr>
        <p:spPr bwMode="auto">
          <a:xfrm>
            <a:off x="6026150" y="3429000"/>
            <a:ext cx="28321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lang="en-GB" altLang="en-US" sz="1600" b="1" dirty="0"/>
              <a:t>Codes for dealing with specific risks, such as, e.g.</a:t>
            </a:r>
          </a:p>
          <a:p>
            <a:pPr>
              <a:buClrTx/>
              <a:buFontTx/>
              <a:buNone/>
            </a:pPr>
            <a:r>
              <a:rPr lang="en-GB" altLang="en-US" sz="1600" b="1" dirty="0">
                <a:sym typeface="Symbol" panose="05050102010706020507" pitchFamily="18" charset="2"/>
              </a:rPr>
              <a:t>Explosions  ATEX</a:t>
            </a:r>
          </a:p>
          <a:p>
            <a:pPr>
              <a:buClrTx/>
              <a:buFontTx/>
              <a:buNone/>
            </a:pPr>
            <a:r>
              <a:rPr lang="en-GB" altLang="en-US" sz="1600" b="1" dirty="0"/>
              <a:t>Fire </a:t>
            </a:r>
            <a:r>
              <a:rPr lang="en-GB" altLang="en-US" sz="1600" b="1" dirty="0">
                <a:sym typeface="Symbol" panose="05050102010706020507" pitchFamily="18" charset="2"/>
              </a:rPr>
              <a:t> NFPA</a:t>
            </a:r>
          </a:p>
          <a:p>
            <a:pPr>
              <a:buClrTx/>
              <a:buFontTx/>
              <a:buNone/>
            </a:pPr>
            <a:r>
              <a:rPr lang="en-GB" altLang="en-US" sz="1600" b="1" dirty="0">
                <a:sym typeface="Symbol" panose="05050102010706020507" pitchFamily="18" charset="2"/>
              </a:rPr>
              <a:t>Loss of pressure cont.  PED</a:t>
            </a:r>
          </a:p>
        </p:txBody>
      </p:sp>
      <p:sp>
        <p:nvSpPr>
          <p:cNvPr id="579625" name="Text Box 41"/>
          <p:cNvSpPr txBox="1">
            <a:spLocks noChangeArrowheads="1"/>
          </p:cNvSpPr>
          <p:nvPr/>
        </p:nvSpPr>
        <p:spPr bwMode="auto">
          <a:xfrm>
            <a:off x="6026150" y="5059363"/>
            <a:ext cx="210185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lang="en-GB" altLang="en-US" sz="1600" b="1" dirty="0"/>
              <a:t>Safety Functions protecting against disturbances </a:t>
            </a:r>
            <a:r>
              <a:rPr lang="en-GB" altLang="en-US" sz="1600" b="1" dirty="0">
                <a:sym typeface="Symbol" panose="05050102010706020507" pitchFamily="18" charset="2"/>
              </a:rPr>
              <a:t></a:t>
            </a:r>
          </a:p>
          <a:p>
            <a:pPr>
              <a:buClrTx/>
              <a:buFontTx/>
              <a:buNone/>
            </a:pPr>
            <a:r>
              <a:rPr lang="en-GB" altLang="en-US" sz="1600" b="1" dirty="0">
                <a:solidFill>
                  <a:srgbClr val="FF0000"/>
                </a:solidFill>
                <a:sym typeface="Symbol" panose="05050102010706020507" pitchFamily="18" charset="2"/>
              </a:rPr>
              <a:t>Functional Safety</a:t>
            </a:r>
          </a:p>
        </p:txBody>
      </p:sp>
      <p:sp>
        <p:nvSpPr>
          <p:cNvPr id="579626" name="Freeform 42"/>
          <p:cNvSpPr>
            <a:spLocks/>
          </p:cNvSpPr>
          <p:nvPr/>
        </p:nvSpPr>
        <p:spPr bwMode="auto">
          <a:xfrm>
            <a:off x="4657725" y="2379663"/>
            <a:ext cx="1355725" cy="492125"/>
          </a:xfrm>
          <a:custGeom>
            <a:avLst/>
            <a:gdLst>
              <a:gd name="T0" fmla="*/ 854 w 854"/>
              <a:gd name="T1" fmla="*/ 310 h 310"/>
              <a:gd name="T2" fmla="*/ 106 w 854"/>
              <a:gd name="T3" fmla="*/ 43 h 310"/>
              <a:gd name="T4" fmla="*/ 128 w 854"/>
              <a:gd name="T5" fmla="*/ 103 h 310"/>
              <a:gd name="T6" fmla="*/ 122 w 854"/>
              <a:gd name="T7" fmla="*/ 101 h 310"/>
              <a:gd name="T8" fmla="*/ 0 w 854"/>
              <a:gd name="T9" fmla="*/ 0 h 310"/>
              <a:gd name="T10" fmla="*/ 212 w 854"/>
              <a:gd name="T11" fmla="*/ 7 h 310"/>
              <a:gd name="T12" fmla="*/ 220 w 854"/>
              <a:gd name="T13" fmla="*/ 16 h 310"/>
              <a:gd name="T14" fmla="*/ 128 w 854"/>
              <a:gd name="T15" fmla="*/ 27 h 310"/>
              <a:gd name="T16" fmla="*/ 852 w 854"/>
              <a:gd name="T17" fmla="*/ 251 h 310"/>
              <a:gd name="T18" fmla="*/ 854 w 854"/>
              <a:gd name="T19"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4" h="310">
                <a:moveTo>
                  <a:pt x="854" y="310"/>
                </a:moveTo>
                <a:cubicBezTo>
                  <a:pt x="758" y="225"/>
                  <a:pt x="570" y="151"/>
                  <a:pt x="106" y="43"/>
                </a:cubicBezTo>
                <a:lnTo>
                  <a:pt x="128" y="103"/>
                </a:lnTo>
                <a:lnTo>
                  <a:pt x="122" y="101"/>
                </a:lnTo>
                <a:lnTo>
                  <a:pt x="0" y="0"/>
                </a:lnTo>
                <a:lnTo>
                  <a:pt x="212" y="7"/>
                </a:lnTo>
                <a:lnTo>
                  <a:pt x="220" y="16"/>
                </a:lnTo>
                <a:lnTo>
                  <a:pt x="128" y="27"/>
                </a:lnTo>
                <a:cubicBezTo>
                  <a:pt x="267" y="56"/>
                  <a:pt x="692" y="136"/>
                  <a:pt x="852" y="251"/>
                </a:cubicBezTo>
                <a:lnTo>
                  <a:pt x="854" y="310"/>
                </a:lnTo>
                <a:close/>
              </a:path>
            </a:pathLst>
          </a:custGeom>
          <a:solidFill>
            <a:srgbClr val="FF0000"/>
          </a:solidFill>
          <a:ln w="31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79627" name="Freeform 43"/>
          <p:cNvSpPr>
            <a:spLocks/>
          </p:cNvSpPr>
          <p:nvPr/>
        </p:nvSpPr>
        <p:spPr bwMode="auto">
          <a:xfrm flipV="1">
            <a:off x="4657725" y="1768475"/>
            <a:ext cx="1355725" cy="342900"/>
          </a:xfrm>
          <a:custGeom>
            <a:avLst/>
            <a:gdLst>
              <a:gd name="T0" fmla="*/ 645 w 651"/>
              <a:gd name="T1" fmla="*/ 249 h 249"/>
              <a:gd name="T2" fmla="*/ 84 w 651"/>
              <a:gd name="T3" fmla="*/ 78 h 249"/>
              <a:gd name="T4" fmla="*/ 95 w 651"/>
              <a:gd name="T5" fmla="*/ 131 h 249"/>
              <a:gd name="T6" fmla="*/ 0 w 651"/>
              <a:gd name="T7" fmla="*/ 53 h 249"/>
              <a:gd name="T8" fmla="*/ 156 w 651"/>
              <a:gd name="T9" fmla="*/ 0 h 249"/>
              <a:gd name="T10" fmla="*/ 102 w 651"/>
              <a:gd name="T11" fmla="*/ 48 h 249"/>
              <a:gd name="T12" fmla="*/ 651 w 651"/>
              <a:gd name="T13" fmla="*/ 192 h 249"/>
              <a:gd name="T14" fmla="*/ 645 w 651"/>
              <a:gd name="T15" fmla="*/ 249 h 2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1" h="249">
                <a:moveTo>
                  <a:pt x="645" y="249"/>
                </a:moveTo>
                <a:cubicBezTo>
                  <a:pt x="509" y="155"/>
                  <a:pt x="206" y="87"/>
                  <a:pt x="84" y="78"/>
                </a:cubicBezTo>
                <a:lnTo>
                  <a:pt x="95" y="131"/>
                </a:lnTo>
                <a:lnTo>
                  <a:pt x="0" y="53"/>
                </a:lnTo>
                <a:lnTo>
                  <a:pt x="156" y="0"/>
                </a:lnTo>
                <a:lnTo>
                  <a:pt x="102" y="48"/>
                </a:lnTo>
                <a:cubicBezTo>
                  <a:pt x="188" y="49"/>
                  <a:pt x="427" y="79"/>
                  <a:pt x="651" y="192"/>
                </a:cubicBezTo>
                <a:lnTo>
                  <a:pt x="645" y="249"/>
                </a:lnTo>
                <a:close/>
              </a:path>
            </a:pathLst>
          </a:custGeom>
          <a:solidFill>
            <a:srgbClr val="FF0000"/>
          </a:solidFill>
          <a:ln w="31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79628" name="Freeform 44"/>
          <p:cNvSpPr>
            <a:spLocks/>
          </p:cNvSpPr>
          <p:nvPr/>
        </p:nvSpPr>
        <p:spPr bwMode="auto">
          <a:xfrm>
            <a:off x="4657725" y="2701925"/>
            <a:ext cx="1355725" cy="1049338"/>
          </a:xfrm>
          <a:custGeom>
            <a:avLst/>
            <a:gdLst>
              <a:gd name="T0" fmla="*/ 854 w 854"/>
              <a:gd name="T1" fmla="*/ 810 h 810"/>
              <a:gd name="T2" fmla="*/ 105 w 854"/>
              <a:gd name="T3" fmla="*/ 89 h 810"/>
              <a:gd name="T4" fmla="*/ 101 w 854"/>
              <a:gd name="T5" fmla="*/ 164 h 810"/>
              <a:gd name="T6" fmla="*/ 0 w 854"/>
              <a:gd name="T7" fmla="*/ 0 h 810"/>
              <a:gd name="T8" fmla="*/ 220 w 854"/>
              <a:gd name="T9" fmla="*/ 43 h 810"/>
              <a:gd name="T10" fmla="*/ 128 w 854"/>
              <a:gd name="T11" fmla="*/ 70 h 810"/>
              <a:gd name="T12" fmla="*/ 851 w 854"/>
              <a:gd name="T13" fmla="*/ 702 h 810"/>
              <a:gd name="T14" fmla="*/ 854 w 854"/>
              <a:gd name="T15" fmla="*/ 810 h 8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54" h="810">
                <a:moveTo>
                  <a:pt x="854" y="810"/>
                </a:moveTo>
                <a:cubicBezTo>
                  <a:pt x="758" y="588"/>
                  <a:pt x="569" y="372"/>
                  <a:pt x="105" y="89"/>
                </a:cubicBezTo>
                <a:lnTo>
                  <a:pt x="101" y="164"/>
                </a:lnTo>
                <a:lnTo>
                  <a:pt x="0" y="0"/>
                </a:lnTo>
                <a:lnTo>
                  <a:pt x="220" y="43"/>
                </a:lnTo>
                <a:lnTo>
                  <a:pt x="128" y="70"/>
                </a:lnTo>
                <a:cubicBezTo>
                  <a:pt x="267" y="147"/>
                  <a:pt x="691" y="403"/>
                  <a:pt x="851" y="702"/>
                </a:cubicBezTo>
                <a:lnTo>
                  <a:pt x="854" y="810"/>
                </a:lnTo>
                <a:close/>
              </a:path>
            </a:pathLst>
          </a:custGeom>
          <a:solidFill>
            <a:srgbClr val="FF0000"/>
          </a:solidFill>
          <a:ln w="31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579629" name="Freeform 45"/>
          <p:cNvSpPr>
            <a:spLocks/>
          </p:cNvSpPr>
          <p:nvPr/>
        </p:nvSpPr>
        <p:spPr bwMode="auto">
          <a:xfrm>
            <a:off x="4657725" y="3090863"/>
            <a:ext cx="1374775" cy="2405062"/>
          </a:xfrm>
          <a:custGeom>
            <a:avLst/>
            <a:gdLst>
              <a:gd name="T0" fmla="*/ 858 w 866"/>
              <a:gd name="T1" fmla="*/ 1515 h 1515"/>
              <a:gd name="T2" fmla="*/ 108 w 866"/>
              <a:gd name="T3" fmla="*/ 129 h 1515"/>
              <a:gd name="T4" fmla="*/ 114 w 866"/>
              <a:gd name="T5" fmla="*/ 235 h 1515"/>
              <a:gd name="T6" fmla="*/ 0 w 866"/>
              <a:gd name="T7" fmla="*/ 0 h 1515"/>
              <a:gd name="T8" fmla="*/ 228 w 866"/>
              <a:gd name="T9" fmla="*/ 125 h 1515"/>
              <a:gd name="T10" fmla="*/ 128 w 866"/>
              <a:gd name="T11" fmla="*/ 118 h 1515"/>
              <a:gd name="T12" fmla="*/ 866 w 866"/>
              <a:gd name="T13" fmla="*/ 1365 h 1515"/>
              <a:gd name="T14" fmla="*/ 858 w 866"/>
              <a:gd name="T15" fmla="*/ 1515 h 15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6" h="1515">
                <a:moveTo>
                  <a:pt x="858" y="1515"/>
                </a:moveTo>
                <a:cubicBezTo>
                  <a:pt x="690" y="1015"/>
                  <a:pt x="588" y="647"/>
                  <a:pt x="108" y="129"/>
                </a:cubicBezTo>
                <a:lnTo>
                  <a:pt x="114" y="235"/>
                </a:lnTo>
                <a:lnTo>
                  <a:pt x="0" y="0"/>
                </a:lnTo>
                <a:lnTo>
                  <a:pt x="228" y="125"/>
                </a:lnTo>
                <a:lnTo>
                  <a:pt x="128" y="118"/>
                </a:lnTo>
                <a:cubicBezTo>
                  <a:pt x="330" y="275"/>
                  <a:pt x="746" y="863"/>
                  <a:pt x="866" y="1365"/>
                </a:cubicBezTo>
                <a:lnTo>
                  <a:pt x="858" y="1515"/>
                </a:lnTo>
                <a:close/>
              </a:path>
            </a:pathLst>
          </a:custGeom>
          <a:solidFill>
            <a:srgbClr val="FF0000"/>
          </a:solidFill>
          <a:ln w="31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1026" name="Imag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0290" y="3295884"/>
            <a:ext cx="668338"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65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a:xfrm>
            <a:off x="68400" y="273600"/>
            <a:ext cx="7877175" cy="572400"/>
          </a:xfrm>
        </p:spPr>
        <p:txBody>
          <a:bodyPr lIns="90000" tIns="43200" rIns="90000" bIns="43200"/>
          <a:lstStyle/>
          <a:p>
            <a:r>
              <a:rPr lang="en-US" dirty="0">
                <a:solidFill>
                  <a:srgbClr val="004880"/>
                </a:solidFill>
              </a:rPr>
              <a:t>Introduction – Safety &amp; Functional Safety</a:t>
            </a:r>
            <a:endParaRPr lang="en-GB" altLang="en-US" dirty="0"/>
          </a:p>
        </p:txBody>
      </p:sp>
      <p:sp>
        <p:nvSpPr>
          <p:cNvPr id="481283" name="Rectangle 3"/>
          <p:cNvSpPr>
            <a:spLocks noGrp="1" noChangeArrowheads="1"/>
          </p:cNvSpPr>
          <p:nvPr>
            <p:ph type="body" idx="1"/>
          </p:nvPr>
        </p:nvSpPr>
        <p:spPr>
          <a:xfrm>
            <a:off x="341249" y="1019689"/>
            <a:ext cx="8347202" cy="4346825"/>
          </a:xfrm>
        </p:spPr>
        <p:txBody>
          <a:bodyPr/>
          <a:lstStyle/>
          <a:p>
            <a:pPr>
              <a:spcBef>
                <a:spcPct val="20000"/>
              </a:spcBef>
            </a:pPr>
            <a:r>
              <a:rPr lang="en-US" altLang="en-US" dirty="0"/>
              <a:t>Risk Mitigation by Product Design</a:t>
            </a:r>
          </a:p>
          <a:p>
            <a:pPr lvl="1">
              <a:spcBef>
                <a:spcPts val="600"/>
              </a:spcBef>
            </a:pPr>
            <a:r>
              <a:rPr lang="en-US" altLang="en-US" dirty="0"/>
              <a:t>Three steps – by priority – mandatory priority, top down: </a:t>
            </a:r>
            <a:r>
              <a:rPr lang="en-US" altLang="en-US" sz="1200" dirty="0"/>
              <a:t>Machinery Directive 2006/42/EC, Annex 1, clause 1.1.2; Principles of safety integration, item (b)</a:t>
            </a:r>
          </a:p>
          <a:p>
            <a:pPr lvl="2">
              <a:spcBef>
                <a:spcPts val="600"/>
              </a:spcBef>
            </a:pPr>
            <a:r>
              <a:rPr lang="en-US" altLang="en-US" dirty="0"/>
              <a:t>Inherently safe design – process or mechanical design</a:t>
            </a:r>
          </a:p>
          <a:p>
            <a:pPr lvl="2">
              <a:spcBef>
                <a:spcPts val="600"/>
              </a:spcBef>
            </a:pPr>
            <a:r>
              <a:rPr lang="en-US" altLang="en-US" dirty="0"/>
              <a:t>Necessary </a:t>
            </a:r>
            <a:r>
              <a:rPr lang="en-US" altLang="en-US" dirty="0">
                <a:solidFill>
                  <a:srgbClr val="FF0000"/>
                </a:solidFill>
              </a:rPr>
              <a:t>protective measures</a:t>
            </a:r>
            <a:r>
              <a:rPr lang="en-US" altLang="en-US" dirty="0"/>
              <a:t> in relation to risks that cannot be eliminated</a:t>
            </a:r>
          </a:p>
          <a:p>
            <a:pPr lvl="2">
              <a:spcBef>
                <a:spcPts val="600"/>
              </a:spcBef>
            </a:pPr>
            <a:r>
              <a:rPr lang="en-US" altLang="en-US" dirty="0"/>
              <a:t>Information of users</a:t>
            </a:r>
          </a:p>
          <a:p>
            <a:pPr lvl="1">
              <a:spcBef>
                <a:spcPts val="600"/>
              </a:spcBef>
            </a:pPr>
            <a:r>
              <a:rPr lang="en-US" altLang="en-US" dirty="0"/>
              <a:t>Protective measures – typical embodiment: Safety Instrumented Functions</a:t>
            </a:r>
          </a:p>
          <a:p>
            <a:pPr lvl="1">
              <a:spcBef>
                <a:spcPts val="600"/>
              </a:spcBef>
            </a:pPr>
            <a:endParaRPr lang="en-US" altLang="en-US" dirty="0"/>
          </a:p>
          <a:p>
            <a:pPr lvl="1">
              <a:spcBef>
                <a:spcPts val="600"/>
              </a:spcBef>
            </a:pPr>
            <a:endParaRPr lang="en-US" altLang="en-US" dirty="0"/>
          </a:p>
          <a:p>
            <a:pPr lvl="1">
              <a:spcBef>
                <a:spcPts val="600"/>
              </a:spcBef>
            </a:pPr>
            <a:endParaRPr lang="en-US" altLang="en-US" dirty="0"/>
          </a:p>
          <a:p>
            <a:pPr lvl="1">
              <a:spcBef>
                <a:spcPts val="600"/>
              </a:spcBef>
            </a:pPr>
            <a:endParaRPr lang="en-US" altLang="en-US" dirty="0"/>
          </a:p>
          <a:p>
            <a:pPr lvl="1">
              <a:spcBef>
                <a:spcPts val="600"/>
              </a:spcBef>
            </a:pPr>
            <a:endParaRPr lang="en-US" altLang="en-US" dirty="0"/>
          </a:p>
          <a:p>
            <a:pPr lvl="1">
              <a:spcBef>
                <a:spcPts val="600"/>
              </a:spcBef>
            </a:pPr>
            <a:r>
              <a:rPr lang="en-US" altLang="en-US" dirty="0"/>
              <a:t>Functional Safety is : Engineering of Safety Instrumented Functions </a:t>
            </a:r>
          </a:p>
          <a:p>
            <a:pPr marL="20637" lvl="1" indent="0">
              <a:buNone/>
            </a:pPr>
            <a:endParaRPr lang="en-US" altLang="en-US" dirty="0"/>
          </a:p>
        </p:txBody>
      </p:sp>
      <p:grpSp>
        <p:nvGrpSpPr>
          <p:cNvPr id="481284" name="Group 4"/>
          <p:cNvGrpSpPr>
            <a:grpSpLocks/>
          </p:cNvGrpSpPr>
          <p:nvPr/>
        </p:nvGrpSpPr>
        <p:grpSpPr bwMode="auto">
          <a:xfrm>
            <a:off x="666777" y="3534000"/>
            <a:ext cx="7456684" cy="1604963"/>
            <a:chOff x="507" y="2767"/>
            <a:chExt cx="4725" cy="1017"/>
          </a:xfrm>
        </p:grpSpPr>
        <p:sp>
          <p:nvSpPr>
            <p:cNvPr id="481285" name="Line 5"/>
            <p:cNvSpPr>
              <a:spLocks noChangeShapeType="1"/>
            </p:cNvSpPr>
            <p:nvPr/>
          </p:nvSpPr>
          <p:spPr bwMode="auto">
            <a:xfrm>
              <a:off x="2957" y="3024"/>
              <a:ext cx="0" cy="411"/>
            </a:xfrm>
            <a:prstGeom prst="line">
              <a:avLst/>
            </a:prstGeom>
            <a:noFill/>
            <a:ln w="2857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286" name="Line 6"/>
            <p:cNvSpPr>
              <a:spLocks noChangeShapeType="1"/>
            </p:cNvSpPr>
            <p:nvPr/>
          </p:nvSpPr>
          <p:spPr bwMode="auto">
            <a:xfrm>
              <a:off x="4625" y="3009"/>
              <a:ext cx="0" cy="348"/>
            </a:xfrm>
            <a:prstGeom prst="line">
              <a:avLst/>
            </a:prstGeom>
            <a:noFill/>
            <a:ln w="2857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287" name="Freeform 7"/>
            <p:cNvSpPr>
              <a:spLocks/>
            </p:cNvSpPr>
            <p:nvPr/>
          </p:nvSpPr>
          <p:spPr bwMode="auto">
            <a:xfrm>
              <a:off x="1235" y="2983"/>
              <a:ext cx="598" cy="392"/>
            </a:xfrm>
            <a:custGeom>
              <a:avLst/>
              <a:gdLst>
                <a:gd name="T0" fmla="*/ 0 w 602"/>
                <a:gd name="T1" fmla="*/ 364 h 364"/>
                <a:gd name="T2" fmla="*/ 0 w 602"/>
                <a:gd name="T3" fmla="*/ 0 h 364"/>
                <a:gd name="T4" fmla="*/ 602 w 602"/>
                <a:gd name="T5" fmla="*/ 0 h 364"/>
              </a:gdLst>
              <a:ahLst/>
              <a:cxnLst>
                <a:cxn ang="0">
                  <a:pos x="T0" y="T1"/>
                </a:cxn>
                <a:cxn ang="0">
                  <a:pos x="T2" y="T3"/>
                </a:cxn>
                <a:cxn ang="0">
                  <a:pos x="T4" y="T5"/>
                </a:cxn>
              </a:cxnLst>
              <a:rect l="0" t="0" r="r" b="b"/>
              <a:pathLst>
                <a:path w="602" h="364">
                  <a:moveTo>
                    <a:pt x="0" y="364"/>
                  </a:moveTo>
                  <a:lnTo>
                    <a:pt x="0" y="0"/>
                  </a:lnTo>
                  <a:lnTo>
                    <a:pt x="602" y="0"/>
                  </a:lnTo>
                </a:path>
              </a:pathLst>
            </a:custGeom>
            <a:noFill/>
            <a:ln w="9525">
              <a:solidFill>
                <a:schemeClr val="tx1"/>
              </a:solidFill>
              <a:round/>
              <a:headEnd/>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288" name="Rectangle 8"/>
            <p:cNvSpPr>
              <a:spLocks noChangeArrowheads="1"/>
            </p:cNvSpPr>
            <p:nvPr/>
          </p:nvSpPr>
          <p:spPr bwMode="auto">
            <a:xfrm>
              <a:off x="1835" y="2767"/>
              <a:ext cx="1344" cy="368"/>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spAutoFit/>
            </a:bodyPr>
            <a:lstStyle/>
            <a:p>
              <a:pPr algn="ctr">
                <a:buClrTx/>
                <a:buFontTx/>
                <a:buNone/>
              </a:pPr>
              <a:r>
                <a:rPr lang="en-US" altLang="en-US" sz="1600" b="1" dirty="0">
                  <a:solidFill>
                    <a:srgbClr val="000099"/>
                  </a:solidFill>
                  <a:cs typeface="Arial" panose="020B0604020202020204" pitchFamily="34" charset="0"/>
                </a:rPr>
                <a:t>Process control system</a:t>
              </a:r>
            </a:p>
          </p:txBody>
        </p:sp>
        <p:sp>
          <p:nvSpPr>
            <p:cNvPr id="481289" name="Rectangle 9"/>
            <p:cNvSpPr>
              <a:spLocks noChangeArrowheads="1"/>
            </p:cNvSpPr>
            <p:nvPr/>
          </p:nvSpPr>
          <p:spPr bwMode="auto">
            <a:xfrm>
              <a:off x="3687" y="2844"/>
              <a:ext cx="1152" cy="213"/>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rIns="54000" anchor="ctr">
              <a:spAutoFit/>
            </a:bodyPr>
            <a:lstStyle/>
            <a:p>
              <a:pPr algn="ctr">
                <a:buClrTx/>
                <a:buFontTx/>
                <a:buNone/>
              </a:pPr>
              <a:r>
                <a:rPr lang="en-US" altLang="en-US" sz="1600" b="1" dirty="0">
                  <a:solidFill>
                    <a:srgbClr val="000099"/>
                  </a:solidFill>
                  <a:cs typeface="Arial" panose="020B0604020202020204" pitchFamily="34" charset="0"/>
                </a:rPr>
                <a:t>Safety system</a:t>
              </a:r>
            </a:p>
          </p:txBody>
        </p:sp>
        <p:grpSp>
          <p:nvGrpSpPr>
            <p:cNvPr id="481290" name="Group 10"/>
            <p:cNvGrpSpPr>
              <a:grpSpLocks/>
            </p:cNvGrpSpPr>
            <p:nvPr/>
          </p:nvGrpSpPr>
          <p:grpSpPr bwMode="auto">
            <a:xfrm>
              <a:off x="2173" y="3557"/>
              <a:ext cx="3059" cy="45"/>
              <a:chOff x="2888" y="2933"/>
              <a:chExt cx="2267" cy="45"/>
            </a:xfrm>
          </p:grpSpPr>
          <p:sp>
            <p:nvSpPr>
              <p:cNvPr id="481291" name="Rectangle 11"/>
              <p:cNvSpPr>
                <a:spLocks noChangeArrowheads="1"/>
              </p:cNvSpPr>
              <p:nvPr/>
            </p:nvSpPr>
            <p:spPr bwMode="auto">
              <a:xfrm>
                <a:off x="2888" y="2933"/>
                <a:ext cx="2267" cy="45"/>
              </a:xfrm>
              <a:prstGeom prst="rect">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1292" name="Group 12"/>
              <p:cNvGrpSpPr>
                <a:grpSpLocks/>
              </p:cNvGrpSpPr>
              <p:nvPr/>
            </p:nvGrpSpPr>
            <p:grpSpPr bwMode="auto">
              <a:xfrm>
                <a:off x="2888" y="2933"/>
                <a:ext cx="2267" cy="45"/>
                <a:chOff x="2888" y="2933"/>
                <a:chExt cx="2267" cy="45"/>
              </a:xfrm>
            </p:grpSpPr>
            <p:sp>
              <p:nvSpPr>
                <p:cNvPr id="481293" name="Line 13"/>
                <p:cNvSpPr>
                  <a:spLocks noChangeShapeType="1"/>
                </p:cNvSpPr>
                <p:nvPr/>
              </p:nvSpPr>
              <p:spPr bwMode="auto">
                <a:xfrm>
                  <a:off x="2888" y="2933"/>
                  <a:ext cx="22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294" name="Line 14"/>
                <p:cNvSpPr>
                  <a:spLocks noChangeShapeType="1"/>
                </p:cNvSpPr>
                <p:nvPr/>
              </p:nvSpPr>
              <p:spPr bwMode="auto">
                <a:xfrm>
                  <a:off x="2888" y="2978"/>
                  <a:ext cx="226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481295" name="Group 15"/>
            <p:cNvGrpSpPr>
              <a:grpSpLocks/>
            </p:cNvGrpSpPr>
            <p:nvPr/>
          </p:nvGrpSpPr>
          <p:grpSpPr bwMode="auto">
            <a:xfrm>
              <a:off x="507" y="3375"/>
              <a:ext cx="1507" cy="409"/>
              <a:chOff x="430" y="3088"/>
              <a:chExt cx="1507" cy="409"/>
            </a:xfrm>
          </p:grpSpPr>
          <p:sp>
            <p:nvSpPr>
              <p:cNvPr id="481296" name="Rectangle 16"/>
              <p:cNvSpPr>
                <a:spLocks noChangeArrowheads="1"/>
              </p:cNvSpPr>
              <p:nvPr/>
            </p:nvSpPr>
            <p:spPr bwMode="auto">
              <a:xfrm>
                <a:off x="430" y="3088"/>
                <a:ext cx="1507" cy="408"/>
              </a:xfrm>
              <a:prstGeom prst="rect">
                <a:avLst/>
              </a:prstGeom>
              <a:gradFill rotWithShape="0">
                <a:gsLst>
                  <a:gs pos="0">
                    <a:srgbClr val="FFFF00"/>
                  </a:gs>
                  <a:gs pos="100000">
                    <a:srgbClr val="FF0000"/>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297" name="Freeform 17"/>
              <p:cNvSpPr>
                <a:spLocks/>
              </p:cNvSpPr>
              <p:nvPr/>
            </p:nvSpPr>
            <p:spPr bwMode="auto">
              <a:xfrm>
                <a:off x="430" y="3089"/>
                <a:ext cx="1506" cy="408"/>
              </a:xfrm>
              <a:custGeom>
                <a:avLst/>
                <a:gdLst>
                  <a:gd name="T0" fmla="*/ 0 w 2266"/>
                  <a:gd name="T1" fmla="*/ 0 h 408"/>
                  <a:gd name="T2" fmla="*/ 2266 w 2266"/>
                  <a:gd name="T3" fmla="*/ 0 h 408"/>
                  <a:gd name="T4" fmla="*/ 2266 w 2266"/>
                  <a:gd name="T5" fmla="*/ 408 h 408"/>
                  <a:gd name="T6" fmla="*/ 0 w 2266"/>
                  <a:gd name="T7" fmla="*/ 408 h 408"/>
                </a:gdLst>
                <a:ahLst/>
                <a:cxnLst>
                  <a:cxn ang="0">
                    <a:pos x="T0" y="T1"/>
                  </a:cxn>
                  <a:cxn ang="0">
                    <a:pos x="T2" y="T3"/>
                  </a:cxn>
                  <a:cxn ang="0">
                    <a:pos x="T4" y="T5"/>
                  </a:cxn>
                  <a:cxn ang="0">
                    <a:pos x="T6" y="T7"/>
                  </a:cxn>
                </a:cxnLst>
                <a:rect l="0" t="0" r="r" b="b"/>
                <a:pathLst>
                  <a:path w="2266" h="408">
                    <a:moveTo>
                      <a:pt x="0" y="0"/>
                    </a:moveTo>
                    <a:lnTo>
                      <a:pt x="2266" y="0"/>
                    </a:lnTo>
                    <a:lnTo>
                      <a:pt x="2266" y="408"/>
                    </a:lnTo>
                    <a:lnTo>
                      <a:pt x="0" y="408"/>
                    </a:lnTo>
                  </a:path>
                </a:pathLst>
              </a:custGeom>
              <a:noFill/>
              <a:ln w="19050">
                <a:solidFill>
                  <a:srgbClr val="3333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81298" name="Group 18"/>
              <p:cNvGrpSpPr>
                <a:grpSpLocks/>
              </p:cNvGrpSpPr>
              <p:nvPr/>
            </p:nvGrpSpPr>
            <p:grpSpPr bwMode="auto">
              <a:xfrm>
                <a:off x="1314" y="3125"/>
                <a:ext cx="618" cy="366"/>
                <a:chOff x="1314" y="3125"/>
                <a:chExt cx="618" cy="366"/>
              </a:xfrm>
            </p:grpSpPr>
            <p:sp>
              <p:nvSpPr>
                <p:cNvPr id="481299" name="Freeform 19"/>
                <p:cNvSpPr>
                  <a:spLocks/>
                </p:cNvSpPr>
                <p:nvPr/>
              </p:nvSpPr>
              <p:spPr bwMode="auto">
                <a:xfrm flipV="1">
                  <a:off x="1384" y="3159"/>
                  <a:ext cx="543" cy="332"/>
                </a:xfrm>
                <a:custGeom>
                  <a:avLst/>
                  <a:gdLst>
                    <a:gd name="T0" fmla="*/ 597 w 618"/>
                    <a:gd name="T1" fmla="*/ 72 h 318"/>
                    <a:gd name="T2" fmla="*/ 66 w 618"/>
                    <a:gd name="T3" fmla="*/ 19 h 318"/>
                    <a:gd name="T4" fmla="*/ 602 w 618"/>
                    <a:gd name="T5" fmla="*/ 108 h 318"/>
                    <a:gd name="T6" fmla="*/ 174 w 618"/>
                    <a:gd name="T7" fmla="*/ 85 h 318"/>
                    <a:gd name="T8" fmla="*/ 618 w 618"/>
                    <a:gd name="T9" fmla="*/ 145 h 318"/>
                    <a:gd name="T10" fmla="*/ 0 w 618"/>
                    <a:gd name="T11" fmla="*/ 157 h 318"/>
                    <a:gd name="T12" fmla="*/ 612 w 618"/>
                    <a:gd name="T13" fmla="*/ 175 h 318"/>
                    <a:gd name="T14" fmla="*/ 156 w 618"/>
                    <a:gd name="T15" fmla="*/ 223 h 318"/>
                    <a:gd name="T16" fmla="*/ 588 w 618"/>
                    <a:gd name="T17" fmla="*/ 223 h 318"/>
                    <a:gd name="T18" fmla="*/ 270 w 618"/>
                    <a:gd name="T19" fmla="*/ 259 h 318"/>
                    <a:gd name="T20" fmla="*/ 594 w 618"/>
                    <a:gd name="T21" fmla="*/ 259 h 318"/>
                    <a:gd name="T22" fmla="*/ 438 w 618"/>
                    <a:gd name="T23" fmla="*/ 295 h 318"/>
                    <a:gd name="T24" fmla="*/ 593 w 618"/>
                    <a:gd name="T25" fmla="*/ 28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8" h="318">
                      <a:moveTo>
                        <a:pt x="597" y="72"/>
                      </a:moveTo>
                      <a:cubicBezTo>
                        <a:pt x="449" y="79"/>
                        <a:pt x="279" y="0"/>
                        <a:pt x="66" y="19"/>
                      </a:cubicBezTo>
                      <a:cubicBezTo>
                        <a:pt x="329" y="24"/>
                        <a:pt x="452" y="109"/>
                        <a:pt x="602" y="108"/>
                      </a:cubicBezTo>
                      <a:cubicBezTo>
                        <a:pt x="461" y="136"/>
                        <a:pt x="344" y="43"/>
                        <a:pt x="174" y="85"/>
                      </a:cubicBezTo>
                      <a:cubicBezTo>
                        <a:pt x="356" y="66"/>
                        <a:pt x="498" y="150"/>
                        <a:pt x="618" y="145"/>
                      </a:cubicBezTo>
                      <a:cubicBezTo>
                        <a:pt x="483" y="177"/>
                        <a:pt x="252" y="69"/>
                        <a:pt x="0" y="157"/>
                      </a:cubicBezTo>
                      <a:cubicBezTo>
                        <a:pt x="228" y="100"/>
                        <a:pt x="428" y="187"/>
                        <a:pt x="612" y="175"/>
                      </a:cubicBezTo>
                      <a:cubicBezTo>
                        <a:pt x="510" y="219"/>
                        <a:pt x="315" y="132"/>
                        <a:pt x="156" y="223"/>
                      </a:cubicBezTo>
                      <a:cubicBezTo>
                        <a:pt x="327" y="162"/>
                        <a:pt x="426" y="219"/>
                        <a:pt x="588" y="223"/>
                      </a:cubicBezTo>
                      <a:cubicBezTo>
                        <a:pt x="467" y="229"/>
                        <a:pt x="413" y="283"/>
                        <a:pt x="270" y="259"/>
                      </a:cubicBezTo>
                      <a:cubicBezTo>
                        <a:pt x="428" y="304"/>
                        <a:pt x="401" y="252"/>
                        <a:pt x="594" y="259"/>
                      </a:cubicBezTo>
                      <a:cubicBezTo>
                        <a:pt x="467" y="274"/>
                        <a:pt x="522" y="300"/>
                        <a:pt x="438" y="295"/>
                      </a:cubicBezTo>
                      <a:cubicBezTo>
                        <a:pt x="528" y="318"/>
                        <a:pt x="491" y="280"/>
                        <a:pt x="593" y="282"/>
                      </a:cubicBezTo>
                    </a:path>
                  </a:pathLst>
                </a:custGeom>
                <a:solidFill>
                  <a:srgbClr val="FFFF66"/>
                </a:solidFill>
                <a:ln w="3175">
                  <a:solidFill>
                    <a:srgbClr val="FF66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00" name="Freeform 20"/>
                <p:cNvSpPr>
                  <a:spLocks/>
                </p:cNvSpPr>
                <p:nvPr/>
              </p:nvSpPr>
              <p:spPr bwMode="auto">
                <a:xfrm>
                  <a:off x="1314" y="3125"/>
                  <a:ext cx="618" cy="318"/>
                </a:xfrm>
                <a:custGeom>
                  <a:avLst/>
                  <a:gdLst>
                    <a:gd name="T0" fmla="*/ 597 w 618"/>
                    <a:gd name="T1" fmla="*/ 72 h 318"/>
                    <a:gd name="T2" fmla="*/ 66 w 618"/>
                    <a:gd name="T3" fmla="*/ 19 h 318"/>
                    <a:gd name="T4" fmla="*/ 602 w 618"/>
                    <a:gd name="T5" fmla="*/ 108 h 318"/>
                    <a:gd name="T6" fmla="*/ 174 w 618"/>
                    <a:gd name="T7" fmla="*/ 85 h 318"/>
                    <a:gd name="T8" fmla="*/ 618 w 618"/>
                    <a:gd name="T9" fmla="*/ 145 h 318"/>
                    <a:gd name="T10" fmla="*/ 0 w 618"/>
                    <a:gd name="T11" fmla="*/ 157 h 318"/>
                    <a:gd name="T12" fmla="*/ 612 w 618"/>
                    <a:gd name="T13" fmla="*/ 175 h 318"/>
                    <a:gd name="T14" fmla="*/ 156 w 618"/>
                    <a:gd name="T15" fmla="*/ 223 h 318"/>
                    <a:gd name="T16" fmla="*/ 588 w 618"/>
                    <a:gd name="T17" fmla="*/ 223 h 318"/>
                    <a:gd name="T18" fmla="*/ 270 w 618"/>
                    <a:gd name="T19" fmla="*/ 259 h 318"/>
                    <a:gd name="T20" fmla="*/ 594 w 618"/>
                    <a:gd name="T21" fmla="*/ 259 h 318"/>
                    <a:gd name="T22" fmla="*/ 438 w 618"/>
                    <a:gd name="T23" fmla="*/ 295 h 318"/>
                    <a:gd name="T24" fmla="*/ 593 w 618"/>
                    <a:gd name="T25" fmla="*/ 28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8" h="318">
                      <a:moveTo>
                        <a:pt x="597" y="72"/>
                      </a:moveTo>
                      <a:cubicBezTo>
                        <a:pt x="449" y="79"/>
                        <a:pt x="279" y="0"/>
                        <a:pt x="66" y="19"/>
                      </a:cubicBezTo>
                      <a:cubicBezTo>
                        <a:pt x="329" y="24"/>
                        <a:pt x="452" y="109"/>
                        <a:pt x="602" y="108"/>
                      </a:cubicBezTo>
                      <a:cubicBezTo>
                        <a:pt x="461" y="136"/>
                        <a:pt x="344" y="43"/>
                        <a:pt x="174" y="85"/>
                      </a:cubicBezTo>
                      <a:cubicBezTo>
                        <a:pt x="356" y="66"/>
                        <a:pt x="498" y="150"/>
                        <a:pt x="618" y="145"/>
                      </a:cubicBezTo>
                      <a:cubicBezTo>
                        <a:pt x="483" y="177"/>
                        <a:pt x="252" y="69"/>
                        <a:pt x="0" y="157"/>
                      </a:cubicBezTo>
                      <a:cubicBezTo>
                        <a:pt x="228" y="100"/>
                        <a:pt x="428" y="187"/>
                        <a:pt x="612" y="175"/>
                      </a:cubicBezTo>
                      <a:cubicBezTo>
                        <a:pt x="510" y="219"/>
                        <a:pt x="315" y="132"/>
                        <a:pt x="156" y="223"/>
                      </a:cubicBezTo>
                      <a:cubicBezTo>
                        <a:pt x="327" y="162"/>
                        <a:pt x="426" y="219"/>
                        <a:pt x="588" y="223"/>
                      </a:cubicBezTo>
                      <a:cubicBezTo>
                        <a:pt x="467" y="229"/>
                        <a:pt x="413" y="283"/>
                        <a:pt x="270" y="259"/>
                      </a:cubicBezTo>
                      <a:cubicBezTo>
                        <a:pt x="428" y="304"/>
                        <a:pt x="401" y="252"/>
                        <a:pt x="594" y="259"/>
                      </a:cubicBezTo>
                      <a:cubicBezTo>
                        <a:pt x="467" y="274"/>
                        <a:pt x="522" y="300"/>
                        <a:pt x="438" y="295"/>
                      </a:cubicBezTo>
                      <a:cubicBezTo>
                        <a:pt x="528" y="318"/>
                        <a:pt x="491" y="280"/>
                        <a:pt x="593" y="282"/>
                      </a:cubicBezTo>
                    </a:path>
                  </a:pathLst>
                </a:custGeom>
                <a:solidFill>
                  <a:srgbClr val="FFFFFF"/>
                </a:solidFill>
                <a:ln w="3175">
                  <a:solidFill>
                    <a:srgbClr val="FF99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481301" name="Rectangle 21"/>
            <p:cNvSpPr>
              <a:spLocks noChangeArrowheads="1"/>
            </p:cNvSpPr>
            <p:nvPr/>
          </p:nvSpPr>
          <p:spPr bwMode="auto">
            <a:xfrm>
              <a:off x="1923" y="3401"/>
              <a:ext cx="181" cy="4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02" name="Freeform 22"/>
            <p:cNvSpPr>
              <a:spLocks/>
            </p:cNvSpPr>
            <p:nvPr/>
          </p:nvSpPr>
          <p:spPr bwMode="auto">
            <a:xfrm>
              <a:off x="1965" y="3422"/>
              <a:ext cx="272" cy="314"/>
            </a:xfrm>
            <a:custGeom>
              <a:avLst/>
              <a:gdLst>
                <a:gd name="T0" fmla="*/ 188 w 272"/>
                <a:gd name="T1" fmla="*/ 190 h 314"/>
                <a:gd name="T2" fmla="*/ 105 w 272"/>
                <a:gd name="T3" fmla="*/ 190 h 314"/>
                <a:gd name="T4" fmla="*/ 0 w 272"/>
                <a:gd name="T5" fmla="*/ 314 h 314"/>
                <a:gd name="T6" fmla="*/ 0 w 272"/>
                <a:gd name="T7" fmla="*/ 0 h 314"/>
                <a:gd name="T8" fmla="*/ 105 w 272"/>
                <a:gd name="T9" fmla="*/ 127 h 314"/>
                <a:gd name="T10" fmla="*/ 272 w 272"/>
                <a:gd name="T11" fmla="*/ 127 h 314"/>
                <a:gd name="T12" fmla="*/ 272 w 272"/>
                <a:gd name="T13" fmla="*/ 190 h 314"/>
                <a:gd name="T14" fmla="*/ 188 w 272"/>
                <a:gd name="T15" fmla="*/ 190 h 3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314">
                  <a:moveTo>
                    <a:pt x="188" y="190"/>
                  </a:moveTo>
                  <a:cubicBezTo>
                    <a:pt x="161" y="190"/>
                    <a:pt x="132" y="190"/>
                    <a:pt x="105" y="190"/>
                  </a:cubicBezTo>
                  <a:lnTo>
                    <a:pt x="0" y="314"/>
                  </a:lnTo>
                  <a:lnTo>
                    <a:pt x="0" y="0"/>
                  </a:lnTo>
                  <a:lnTo>
                    <a:pt x="105" y="127"/>
                  </a:lnTo>
                  <a:lnTo>
                    <a:pt x="272" y="127"/>
                  </a:lnTo>
                  <a:lnTo>
                    <a:pt x="272" y="190"/>
                  </a:lnTo>
                  <a:lnTo>
                    <a:pt x="188" y="190"/>
                  </a:lnTo>
                  <a:close/>
                </a:path>
              </a:pathLst>
            </a:custGeom>
            <a:solidFill>
              <a:srgbClr val="3366FF"/>
            </a:solidFill>
            <a:ln w="9525" cmpd="sng">
              <a:solidFill>
                <a:srgbClr val="000000"/>
              </a:solidFill>
              <a:round/>
              <a:headEnd/>
              <a:tailEnd/>
            </a:ln>
          </p:spPr>
          <p:txBody>
            <a:bodyPr/>
            <a:lstStyle/>
            <a:p>
              <a:endParaRPr lang="en-US"/>
            </a:p>
          </p:txBody>
        </p:sp>
        <p:grpSp>
          <p:nvGrpSpPr>
            <p:cNvPr id="481303" name="Group 23"/>
            <p:cNvGrpSpPr>
              <a:grpSpLocks/>
            </p:cNvGrpSpPr>
            <p:nvPr/>
          </p:nvGrpSpPr>
          <p:grpSpPr bwMode="auto">
            <a:xfrm>
              <a:off x="4443" y="3398"/>
              <a:ext cx="348" cy="277"/>
              <a:chOff x="4366" y="3039"/>
              <a:chExt cx="348" cy="277"/>
            </a:xfrm>
          </p:grpSpPr>
          <p:sp>
            <p:nvSpPr>
              <p:cNvPr id="481304" name="Rectangle 24"/>
              <p:cNvSpPr>
                <a:spLocks noChangeArrowheads="1"/>
              </p:cNvSpPr>
              <p:nvPr/>
            </p:nvSpPr>
            <p:spPr bwMode="auto">
              <a:xfrm rot="5400000">
                <a:off x="4457" y="3148"/>
                <a:ext cx="166"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481305" name="Group 25"/>
              <p:cNvGrpSpPr>
                <a:grpSpLocks/>
              </p:cNvGrpSpPr>
              <p:nvPr/>
            </p:nvGrpSpPr>
            <p:grpSpPr bwMode="auto">
              <a:xfrm rot="5400000">
                <a:off x="4443" y="3045"/>
                <a:ext cx="194" cy="348"/>
                <a:chOff x="684" y="105"/>
                <a:chExt cx="49" cy="130"/>
              </a:xfrm>
            </p:grpSpPr>
            <p:sp>
              <p:nvSpPr>
                <p:cNvPr id="481306" name="AutoShape 26"/>
                <p:cNvSpPr>
                  <a:spLocks noChangeArrowheads="1"/>
                </p:cNvSpPr>
                <p:nvPr/>
              </p:nvSpPr>
              <p:spPr bwMode="auto">
                <a:xfrm>
                  <a:off x="684" y="170"/>
                  <a:ext cx="49" cy="65"/>
                </a:xfrm>
                <a:prstGeom prst="triangle">
                  <a:avLst>
                    <a:gd name="adj" fmla="val 50000"/>
                  </a:avLst>
                </a:prstGeom>
                <a:solidFill>
                  <a:srgbClr val="00FFFF"/>
                </a:solidFill>
                <a:ln w="9525">
                  <a:solidFill>
                    <a:srgbClr val="000000"/>
                  </a:solidFill>
                  <a:miter lim="800000"/>
                  <a:headEnd/>
                  <a:tailEnd/>
                </a:ln>
              </p:spPr>
              <p:txBody>
                <a:bodyPr/>
                <a:lstStyle/>
                <a:p>
                  <a:endParaRPr lang="en-US"/>
                </a:p>
              </p:txBody>
            </p:sp>
            <p:sp>
              <p:nvSpPr>
                <p:cNvPr id="481307" name="AutoShape 27"/>
                <p:cNvSpPr>
                  <a:spLocks noChangeArrowheads="1"/>
                </p:cNvSpPr>
                <p:nvPr/>
              </p:nvSpPr>
              <p:spPr bwMode="auto">
                <a:xfrm flipV="1">
                  <a:off x="684" y="105"/>
                  <a:ext cx="49" cy="65"/>
                </a:xfrm>
                <a:prstGeom prst="triangle">
                  <a:avLst>
                    <a:gd name="adj" fmla="val 50000"/>
                  </a:avLst>
                </a:prstGeom>
                <a:solidFill>
                  <a:srgbClr val="00FFFF"/>
                </a:solidFill>
                <a:ln w="9525">
                  <a:solidFill>
                    <a:srgbClr val="000000"/>
                  </a:solidFill>
                  <a:miter lim="800000"/>
                  <a:headEnd/>
                  <a:tailEnd/>
                </a:ln>
              </p:spPr>
              <p:txBody>
                <a:bodyPr/>
                <a:lstStyle/>
                <a:p>
                  <a:endParaRPr lang="en-US"/>
                </a:p>
              </p:txBody>
            </p:sp>
          </p:grpSp>
          <p:sp>
            <p:nvSpPr>
              <p:cNvPr id="481308" name="AutoShape 28"/>
              <p:cNvSpPr>
                <a:spLocks noChangeArrowheads="1"/>
              </p:cNvSpPr>
              <p:nvPr/>
            </p:nvSpPr>
            <p:spPr bwMode="auto">
              <a:xfrm flipV="1">
                <a:off x="4498" y="3039"/>
                <a:ext cx="84" cy="83"/>
              </a:xfrm>
              <a:prstGeom prst="triangle">
                <a:avLst>
                  <a:gd name="adj" fmla="val 50000"/>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81309" name="AutoShape 29"/>
              <p:cNvSpPr>
                <a:spLocks noChangeArrowheads="1"/>
              </p:cNvSpPr>
              <p:nvPr/>
            </p:nvSpPr>
            <p:spPr bwMode="auto">
              <a:xfrm flipV="1">
                <a:off x="4498" y="3127"/>
                <a:ext cx="84" cy="83"/>
              </a:xfrm>
              <a:prstGeom prst="triangle">
                <a:avLst>
                  <a:gd name="adj" fmla="val 50000"/>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nvGrpSpPr>
            <p:cNvPr id="481310" name="Group 30"/>
            <p:cNvGrpSpPr>
              <a:grpSpLocks/>
            </p:cNvGrpSpPr>
            <p:nvPr/>
          </p:nvGrpSpPr>
          <p:grpSpPr bwMode="auto">
            <a:xfrm>
              <a:off x="2782" y="3389"/>
              <a:ext cx="348" cy="351"/>
              <a:chOff x="2705" y="3030"/>
              <a:chExt cx="348" cy="351"/>
            </a:xfrm>
          </p:grpSpPr>
          <p:sp>
            <p:nvSpPr>
              <p:cNvPr id="481311" name="Rectangle 31"/>
              <p:cNvSpPr>
                <a:spLocks noChangeArrowheads="1"/>
              </p:cNvSpPr>
              <p:nvPr/>
            </p:nvSpPr>
            <p:spPr bwMode="auto">
              <a:xfrm rot="5400000" flipH="1">
                <a:off x="2795" y="3158"/>
                <a:ext cx="167" cy="1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81312" name="AutoShape 32"/>
              <p:cNvSpPr>
                <a:spLocks noChangeArrowheads="1"/>
              </p:cNvSpPr>
              <p:nvPr/>
            </p:nvSpPr>
            <p:spPr bwMode="auto">
              <a:xfrm rot="7093372" flipH="1">
                <a:off x="2715" y="3180"/>
                <a:ext cx="351" cy="52"/>
              </a:xfrm>
              <a:prstGeom prst="rightArrow">
                <a:avLst>
                  <a:gd name="adj1" fmla="val 50000"/>
                  <a:gd name="adj2" fmla="val 168750"/>
                </a:avLst>
              </a:prstGeom>
              <a:solidFill>
                <a:srgbClr val="C0C0C0"/>
              </a:solidFill>
              <a:ln w="3175">
                <a:solidFill>
                  <a:srgbClr val="000000"/>
                </a:solidFill>
                <a:miter lim="800000"/>
                <a:headEnd/>
                <a:tailEnd/>
              </a:ln>
            </p:spPr>
            <p:txBody>
              <a:bodyPr/>
              <a:lstStyle/>
              <a:p>
                <a:endParaRPr lang="en-US"/>
              </a:p>
            </p:txBody>
          </p:sp>
          <p:grpSp>
            <p:nvGrpSpPr>
              <p:cNvPr id="481313" name="Group 33"/>
              <p:cNvGrpSpPr>
                <a:grpSpLocks/>
              </p:cNvGrpSpPr>
              <p:nvPr/>
            </p:nvGrpSpPr>
            <p:grpSpPr bwMode="auto">
              <a:xfrm rot="5400000" flipH="1">
                <a:off x="2782" y="3055"/>
                <a:ext cx="194" cy="348"/>
                <a:chOff x="684" y="105"/>
                <a:chExt cx="49" cy="130"/>
              </a:xfrm>
            </p:grpSpPr>
            <p:sp>
              <p:nvSpPr>
                <p:cNvPr id="481314" name="AutoShape 34"/>
                <p:cNvSpPr>
                  <a:spLocks noChangeArrowheads="1"/>
                </p:cNvSpPr>
                <p:nvPr/>
              </p:nvSpPr>
              <p:spPr bwMode="auto">
                <a:xfrm>
                  <a:off x="684" y="170"/>
                  <a:ext cx="49" cy="65"/>
                </a:xfrm>
                <a:prstGeom prst="triangle">
                  <a:avLst>
                    <a:gd name="adj" fmla="val 50000"/>
                  </a:avLst>
                </a:prstGeom>
                <a:solidFill>
                  <a:srgbClr val="00FF00"/>
                </a:solidFill>
                <a:ln w="9525">
                  <a:solidFill>
                    <a:srgbClr val="000000"/>
                  </a:solidFill>
                  <a:miter lim="800000"/>
                  <a:headEnd/>
                  <a:tailEnd/>
                </a:ln>
              </p:spPr>
              <p:txBody>
                <a:bodyPr/>
                <a:lstStyle/>
                <a:p>
                  <a:endParaRPr lang="en-US"/>
                </a:p>
              </p:txBody>
            </p:sp>
            <p:sp>
              <p:nvSpPr>
                <p:cNvPr id="481315" name="AutoShape 35"/>
                <p:cNvSpPr>
                  <a:spLocks noChangeArrowheads="1"/>
                </p:cNvSpPr>
                <p:nvPr/>
              </p:nvSpPr>
              <p:spPr bwMode="auto">
                <a:xfrm flipV="1">
                  <a:off x="684" y="105"/>
                  <a:ext cx="49" cy="65"/>
                </a:xfrm>
                <a:prstGeom prst="triangle">
                  <a:avLst>
                    <a:gd name="adj" fmla="val 50000"/>
                  </a:avLst>
                </a:prstGeom>
                <a:solidFill>
                  <a:srgbClr val="00FF00"/>
                </a:solidFill>
                <a:ln w="9525">
                  <a:solidFill>
                    <a:srgbClr val="000000"/>
                  </a:solidFill>
                  <a:miter lim="800000"/>
                  <a:headEnd/>
                  <a:tailEnd/>
                </a:ln>
              </p:spPr>
              <p:txBody>
                <a:bodyPr/>
                <a:lstStyle/>
                <a:p>
                  <a:endParaRPr lang="en-US"/>
                </a:p>
              </p:txBody>
            </p:sp>
          </p:grpSp>
        </p:grpSp>
        <p:sp>
          <p:nvSpPr>
            <p:cNvPr id="481316" name="Oval 36"/>
            <p:cNvSpPr>
              <a:spLocks noChangeAspect="1" noChangeArrowheads="1"/>
            </p:cNvSpPr>
            <p:nvPr/>
          </p:nvSpPr>
          <p:spPr bwMode="auto">
            <a:xfrm>
              <a:off x="1185" y="3347"/>
              <a:ext cx="91" cy="91"/>
            </a:xfrm>
            <a:prstGeom prst="ellipse">
              <a:avLst/>
            </a:prstGeom>
            <a:solidFill>
              <a:srgbClr val="00FF00"/>
            </a:solidFill>
            <a:ln w="31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1317" name="Group 37"/>
            <p:cNvGrpSpPr>
              <a:grpSpLocks/>
            </p:cNvGrpSpPr>
            <p:nvPr/>
          </p:nvGrpSpPr>
          <p:grpSpPr bwMode="auto">
            <a:xfrm>
              <a:off x="2059" y="2980"/>
              <a:ext cx="1616" cy="421"/>
              <a:chOff x="1982" y="2621"/>
              <a:chExt cx="1616" cy="421"/>
            </a:xfrm>
          </p:grpSpPr>
          <p:sp>
            <p:nvSpPr>
              <p:cNvPr id="481318" name="Freeform 38"/>
              <p:cNvSpPr>
                <a:spLocks/>
              </p:cNvSpPr>
              <p:nvPr/>
            </p:nvSpPr>
            <p:spPr bwMode="auto">
              <a:xfrm>
                <a:off x="2904" y="2621"/>
                <a:ext cx="694" cy="300"/>
              </a:xfrm>
              <a:custGeom>
                <a:avLst/>
                <a:gdLst>
                  <a:gd name="T0" fmla="*/ 0 w 694"/>
                  <a:gd name="T1" fmla="*/ 300 h 300"/>
                  <a:gd name="T2" fmla="*/ 452 w 694"/>
                  <a:gd name="T3" fmla="*/ 299 h 300"/>
                  <a:gd name="T4" fmla="*/ 452 w 694"/>
                  <a:gd name="T5" fmla="*/ 1 h 300"/>
                  <a:gd name="T6" fmla="*/ 694 w 694"/>
                  <a:gd name="T7" fmla="*/ 0 h 300"/>
                </a:gdLst>
                <a:ahLst/>
                <a:cxnLst>
                  <a:cxn ang="0">
                    <a:pos x="T0" y="T1"/>
                  </a:cxn>
                  <a:cxn ang="0">
                    <a:pos x="T2" y="T3"/>
                  </a:cxn>
                  <a:cxn ang="0">
                    <a:pos x="T4" y="T5"/>
                  </a:cxn>
                  <a:cxn ang="0">
                    <a:pos x="T6" y="T7"/>
                  </a:cxn>
                </a:cxnLst>
                <a:rect l="0" t="0" r="r" b="b"/>
                <a:pathLst>
                  <a:path w="694" h="300">
                    <a:moveTo>
                      <a:pt x="0" y="300"/>
                    </a:moveTo>
                    <a:lnTo>
                      <a:pt x="452" y="299"/>
                    </a:lnTo>
                    <a:lnTo>
                      <a:pt x="452" y="1"/>
                    </a:lnTo>
                    <a:lnTo>
                      <a:pt x="694" y="0"/>
                    </a:lnTo>
                  </a:path>
                </a:pathLst>
              </a:custGeom>
              <a:noFill/>
              <a:ln w="9525">
                <a:solidFill>
                  <a:schemeClr val="tx1"/>
                </a:solidFill>
                <a:round/>
                <a:headEnd/>
                <a:tailEnd type="arrow"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1319" name="Freeform 39"/>
              <p:cNvSpPr>
                <a:spLocks/>
              </p:cNvSpPr>
              <p:nvPr/>
            </p:nvSpPr>
            <p:spPr bwMode="auto">
              <a:xfrm>
                <a:off x="1982" y="2920"/>
                <a:ext cx="873" cy="122"/>
              </a:xfrm>
              <a:custGeom>
                <a:avLst/>
                <a:gdLst>
                  <a:gd name="T0" fmla="*/ 0 w 873"/>
                  <a:gd name="T1" fmla="*/ 122 h 122"/>
                  <a:gd name="T2" fmla="*/ 0 w 873"/>
                  <a:gd name="T3" fmla="*/ 0 h 122"/>
                  <a:gd name="T4" fmla="*/ 873 w 873"/>
                  <a:gd name="T5" fmla="*/ 2 h 122"/>
                </a:gdLst>
                <a:ahLst/>
                <a:cxnLst>
                  <a:cxn ang="0">
                    <a:pos x="T0" y="T1"/>
                  </a:cxn>
                  <a:cxn ang="0">
                    <a:pos x="T2" y="T3"/>
                  </a:cxn>
                  <a:cxn ang="0">
                    <a:pos x="T4" y="T5"/>
                  </a:cxn>
                </a:cxnLst>
                <a:rect l="0" t="0" r="r" b="b"/>
                <a:pathLst>
                  <a:path w="873" h="122">
                    <a:moveTo>
                      <a:pt x="0" y="122"/>
                    </a:moveTo>
                    <a:lnTo>
                      <a:pt x="0" y="0"/>
                    </a:lnTo>
                    <a:lnTo>
                      <a:pt x="873" y="2"/>
                    </a:lnTo>
                  </a:path>
                </a:pathLst>
              </a:custGeom>
              <a:noFill/>
              <a:ln w="9525">
                <a:solidFill>
                  <a:schemeClr val="tx1"/>
                </a:solidFill>
                <a:round/>
                <a:headEnd/>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Tree>
    <p:extLst>
      <p:ext uri="{BB962C8B-B14F-4D97-AF65-F5344CB8AC3E}">
        <p14:creationId xmlns:p14="http://schemas.microsoft.com/office/powerpoint/2010/main" val="232550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e 11">
            <a:extLst>
              <a:ext uri="{FF2B5EF4-FFF2-40B4-BE49-F238E27FC236}">
                <a16:creationId xmlns:a16="http://schemas.microsoft.com/office/drawing/2014/main" id="{9C5CD5EB-888E-4FFD-8F9F-688E61372523}"/>
              </a:ext>
            </a:extLst>
          </p:cNvPr>
          <p:cNvGrpSpPr/>
          <p:nvPr/>
        </p:nvGrpSpPr>
        <p:grpSpPr>
          <a:xfrm>
            <a:off x="3302096" y="1760693"/>
            <a:ext cx="3707563" cy="2871068"/>
            <a:chOff x="3302096" y="1760693"/>
            <a:chExt cx="3707563" cy="2871068"/>
          </a:xfrm>
        </p:grpSpPr>
        <p:grpSp>
          <p:nvGrpSpPr>
            <p:cNvPr id="72" name="Group 71">
              <a:extLst>
                <a:ext uri="{FF2B5EF4-FFF2-40B4-BE49-F238E27FC236}">
                  <a16:creationId xmlns:a16="http://schemas.microsoft.com/office/drawing/2014/main" id="{DC605E8E-37B1-48F1-929D-30DE53B0E574}"/>
                </a:ext>
              </a:extLst>
            </p:cNvPr>
            <p:cNvGrpSpPr/>
            <p:nvPr/>
          </p:nvGrpSpPr>
          <p:grpSpPr>
            <a:xfrm>
              <a:off x="3707948" y="1760693"/>
              <a:ext cx="3301711" cy="2871068"/>
              <a:chOff x="3760836" y="1530473"/>
              <a:chExt cx="4061373" cy="3502208"/>
            </a:xfrm>
          </p:grpSpPr>
          <p:grpSp>
            <p:nvGrpSpPr>
              <p:cNvPr id="73" name="Group 72">
                <a:extLst>
                  <a:ext uri="{FF2B5EF4-FFF2-40B4-BE49-F238E27FC236}">
                    <a16:creationId xmlns:a16="http://schemas.microsoft.com/office/drawing/2014/main" id="{927EA52C-9318-4C39-887E-817D6D5C5339}"/>
                  </a:ext>
                </a:extLst>
              </p:cNvPr>
              <p:cNvGrpSpPr/>
              <p:nvPr/>
            </p:nvGrpSpPr>
            <p:grpSpPr>
              <a:xfrm>
                <a:off x="3760836" y="1530473"/>
                <a:ext cx="4061373" cy="3231527"/>
                <a:chOff x="3760836" y="1530473"/>
                <a:chExt cx="4061373" cy="3231527"/>
              </a:xfrm>
            </p:grpSpPr>
            <p:sp>
              <p:nvSpPr>
                <p:cNvPr id="75" name="Organigramme : Jonction de sommaire 20">
                  <a:extLst>
                    <a:ext uri="{FF2B5EF4-FFF2-40B4-BE49-F238E27FC236}">
                      <a16:creationId xmlns:a16="http://schemas.microsoft.com/office/drawing/2014/main" id="{4FB9DA6E-4A83-42EA-98FD-F9F03E341D80}"/>
                    </a:ext>
                  </a:extLst>
                </p:cNvPr>
                <p:cNvSpPr/>
                <p:nvPr/>
              </p:nvSpPr>
              <p:spPr>
                <a:xfrm>
                  <a:off x="7362918" y="1800517"/>
                  <a:ext cx="146400" cy="164527"/>
                </a:xfrm>
                <a:prstGeom prst="flowChartSummingJunc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cxnSp>
              <p:nvCxnSpPr>
                <p:cNvPr id="76" name="Connecteur droit 21">
                  <a:extLst>
                    <a:ext uri="{FF2B5EF4-FFF2-40B4-BE49-F238E27FC236}">
                      <a16:creationId xmlns:a16="http://schemas.microsoft.com/office/drawing/2014/main" id="{CA496F42-454F-4F6B-BB51-78EF73A75CBE}"/>
                    </a:ext>
                  </a:extLst>
                </p:cNvPr>
                <p:cNvCxnSpPr>
                  <a:cxnSpLocks/>
                  <a:stCxn id="75" idx="2"/>
                </p:cNvCxnSpPr>
                <p:nvPr/>
              </p:nvCxnSpPr>
              <p:spPr>
                <a:xfrm flipH="1" flipV="1">
                  <a:off x="3760836" y="1882771"/>
                  <a:ext cx="3602081" cy="1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cxnSp>
              <p:nvCxnSpPr>
                <p:cNvPr id="77" name="Connecteur droit 22">
                  <a:extLst>
                    <a:ext uri="{FF2B5EF4-FFF2-40B4-BE49-F238E27FC236}">
                      <a16:creationId xmlns:a16="http://schemas.microsoft.com/office/drawing/2014/main" id="{939B744E-F1F2-4707-AAC2-1AB3D0132774}"/>
                    </a:ext>
                  </a:extLst>
                </p:cNvPr>
                <p:cNvCxnSpPr/>
                <p:nvPr/>
              </p:nvCxnSpPr>
              <p:spPr>
                <a:xfrm>
                  <a:off x="7436112" y="1933417"/>
                  <a:ext cx="0" cy="2828583"/>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sp>
              <p:nvSpPr>
                <p:cNvPr id="78" name="ZoneTexte 23">
                  <a:extLst>
                    <a:ext uri="{FF2B5EF4-FFF2-40B4-BE49-F238E27FC236}">
                      <a16:creationId xmlns:a16="http://schemas.microsoft.com/office/drawing/2014/main" id="{EF55E718-03C3-445B-90E6-1A10D1C01648}"/>
                    </a:ext>
                  </a:extLst>
                </p:cNvPr>
                <p:cNvSpPr txBox="1"/>
                <p:nvPr/>
              </p:nvSpPr>
              <p:spPr>
                <a:xfrm>
                  <a:off x="7015573" y="1530473"/>
                  <a:ext cx="806636" cy="246140"/>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Initial Risk</a:t>
                  </a:r>
                </a:p>
              </p:txBody>
            </p:sp>
          </p:grpSp>
          <p:sp>
            <p:nvSpPr>
              <p:cNvPr id="74" name="ZoneTexte 24">
                <a:extLst>
                  <a:ext uri="{FF2B5EF4-FFF2-40B4-BE49-F238E27FC236}">
                    <a16:creationId xmlns:a16="http://schemas.microsoft.com/office/drawing/2014/main" id="{653ED531-9347-4235-B718-E731FC0B577E}"/>
                  </a:ext>
                </a:extLst>
              </p:cNvPr>
              <p:cNvSpPr txBox="1"/>
              <p:nvPr/>
            </p:nvSpPr>
            <p:spPr>
              <a:xfrm>
                <a:off x="7322725" y="4786541"/>
                <a:ext cx="499484" cy="246140"/>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F</a:t>
                </a:r>
                <a:r>
                  <a:rPr kumimoji="0" lang="en-CA" sz="750" b="0" i="0" u="none" strike="noStrike" kern="1200" cap="none" spc="0" normalizeH="0" baseline="-25000" noProof="0" dirty="0">
                    <a:ln>
                      <a:noFill/>
                    </a:ln>
                    <a:solidFill>
                      <a:srgbClr val="3693F8">
                        <a:lumMod val="75000"/>
                      </a:srgbClr>
                    </a:solidFill>
                    <a:effectLst/>
                    <a:uLnTx/>
                    <a:uFillTx/>
                    <a:latin typeface="GE Inspira Pitch"/>
                    <a:ea typeface="+mn-ea"/>
                    <a:cs typeface="+mn-cs"/>
                  </a:rPr>
                  <a:t>0</a:t>
                </a:r>
              </a:p>
            </p:txBody>
          </p:sp>
        </p:grpSp>
        <p:sp>
          <p:nvSpPr>
            <p:cNvPr id="60" name="ZoneTexte 24">
              <a:extLst>
                <a:ext uri="{FF2B5EF4-FFF2-40B4-BE49-F238E27FC236}">
                  <a16:creationId xmlns:a16="http://schemas.microsoft.com/office/drawing/2014/main" id="{4643CA07-9E4A-407C-B45F-CF7574D8EE6F}"/>
                </a:ext>
              </a:extLst>
            </p:cNvPr>
            <p:cNvSpPr txBox="1"/>
            <p:nvPr/>
          </p:nvSpPr>
          <p:spPr>
            <a:xfrm>
              <a:off x="3302096" y="1953064"/>
              <a:ext cx="406058" cy="184605"/>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S</a:t>
              </a:r>
              <a:r>
                <a:rPr kumimoji="0" lang="en-CA" sz="750" b="0" i="0" u="none" strike="noStrike" kern="1200" cap="none" spc="0" normalizeH="0" baseline="-25000" noProof="0" dirty="0">
                  <a:ln>
                    <a:noFill/>
                  </a:ln>
                  <a:solidFill>
                    <a:srgbClr val="3693F8">
                      <a:lumMod val="75000"/>
                    </a:srgbClr>
                  </a:solidFill>
                  <a:effectLst/>
                  <a:uLnTx/>
                  <a:uFillTx/>
                  <a:latin typeface="GE Inspira Pitch"/>
                  <a:ea typeface="+mn-ea"/>
                  <a:cs typeface="+mn-cs"/>
                </a:rPr>
                <a:t>0</a:t>
              </a:r>
            </a:p>
          </p:txBody>
        </p:sp>
      </p:grpSp>
      <p:sp>
        <p:nvSpPr>
          <p:cNvPr id="56" name="Rectangle 2">
            <a:extLst>
              <a:ext uri="{FF2B5EF4-FFF2-40B4-BE49-F238E27FC236}">
                <a16:creationId xmlns:a16="http://schemas.microsoft.com/office/drawing/2014/main" id="{8F6333CE-FE03-4C7E-84F3-2040FF8C710D}"/>
              </a:ext>
            </a:extLst>
          </p:cNvPr>
          <p:cNvSpPr txBox="1">
            <a:spLocks noChangeArrowheads="1"/>
          </p:cNvSpPr>
          <p:nvPr/>
        </p:nvSpPr>
        <p:spPr bwMode="auto">
          <a:xfrm>
            <a:off x="0" y="0"/>
            <a:ext cx="9143999" cy="512271"/>
          </a:xfrm>
          <a:prstGeom prst="rect">
            <a:avLst/>
          </a:prstGeom>
          <a:gradFill>
            <a:gsLst>
              <a:gs pos="57000">
                <a:srgbClr val="28B9F5">
                  <a:lumMod val="75000"/>
                </a:srgbClr>
              </a:gs>
              <a:gs pos="100000">
                <a:srgbClr val="711371">
                  <a:tint val="23500"/>
                  <a:satMod val="160000"/>
                </a:srgbClr>
              </a:gs>
            </a:gsLst>
            <a:lin ang="5400000" scaled="0"/>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100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4000">
                <a:solidFill>
                  <a:srgbClr val="1E4191"/>
                </a:solidFill>
                <a:latin typeface="+mj-lt"/>
                <a:ea typeface="+mj-ea"/>
                <a:cs typeface="+mj-cs"/>
              </a:defRPr>
            </a:lvl1pPr>
            <a:lvl2pPr algn="l" rtl="0" eaLnBrk="1" fontAlgn="base" hangingPunct="1">
              <a:lnSpc>
                <a:spcPct val="90000"/>
              </a:lnSpc>
              <a:spcBef>
                <a:spcPct val="0"/>
              </a:spcBef>
              <a:spcAft>
                <a:spcPct val="0"/>
              </a:spcAft>
              <a:defRPr sz="4000">
                <a:solidFill>
                  <a:srgbClr val="1E4191"/>
                </a:solidFill>
                <a:latin typeface="GE Inspira Pitch" pitchFamily="34" charset="0"/>
              </a:defRPr>
            </a:lvl2pPr>
            <a:lvl3pPr algn="l" rtl="0" eaLnBrk="1" fontAlgn="base" hangingPunct="1">
              <a:lnSpc>
                <a:spcPct val="90000"/>
              </a:lnSpc>
              <a:spcBef>
                <a:spcPct val="0"/>
              </a:spcBef>
              <a:spcAft>
                <a:spcPct val="0"/>
              </a:spcAft>
              <a:defRPr sz="4000">
                <a:solidFill>
                  <a:srgbClr val="1E4191"/>
                </a:solidFill>
                <a:latin typeface="GE Inspira Pitch" pitchFamily="34" charset="0"/>
              </a:defRPr>
            </a:lvl3pPr>
            <a:lvl4pPr algn="l" rtl="0" eaLnBrk="1" fontAlgn="base" hangingPunct="1">
              <a:lnSpc>
                <a:spcPct val="90000"/>
              </a:lnSpc>
              <a:spcBef>
                <a:spcPct val="0"/>
              </a:spcBef>
              <a:spcAft>
                <a:spcPct val="0"/>
              </a:spcAft>
              <a:defRPr sz="4000">
                <a:solidFill>
                  <a:srgbClr val="1E4191"/>
                </a:solidFill>
                <a:latin typeface="GE Inspira Pitch" pitchFamily="34" charset="0"/>
              </a:defRPr>
            </a:lvl4pPr>
            <a:lvl5pPr algn="l" rtl="0" eaLnBrk="1" fontAlgn="base" hangingPunct="1">
              <a:lnSpc>
                <a:spcPct val="90000"/>
              </a:lnSpc>
              <a:spcBef>
                <a:spcPct val="0"/>
              </a:spcBef>
              <a:spcAft>
                <a:spcPct val="0"/>
              </a:spcAft>
              <a:defRPr sz="4000">
                <a:solidFill>
                  <a:srgbClr val="1E4191"/>
                </a:solidFill>
                <a:latin typeface="GE Inspira Pitch" pitchFamily="34" charset="0"/>
              </a:defRPr>
            </a:lvl5pPr>
            <a:lvl6pPr marL="456797" algn="l" rtl="0" eaLnBrk="1" fontAlgn="base" hangingPunct="1">
              <a:lnSpc>
                <a:spcPct val="90000"/>
              </a:lnSpc>
              <a:spcBef>
                <a:spcPct val="0"/>
              </a:spcBef>
              <a:spcAft>
                <a:spcPct val="0"/>
              </a:spcAft>
              <a:defRPr sz="4000">
                <a:solidFill>
                  <a:srgbClr val="1E4191"/>
                </a:solidFill>
                <a:latin typeface="GE Inspira Pitch" pitchFamily="34" charset="0"/>
              </a:defRPr>
            </a:lvl6pPr>
            <a:lvl7pPr marL="913593" algn="l" rtl="0" eaLnBrk="1" fontAlgn="base" hangingPunct="1">
              <a:lnSpc>
                <a:spcPct val="90000"/>
              </a:lnSpc>
              <a:spcBef>
                <a:spcPct val="0"/>
              </a:spcBef>
              <a:spcAft>
                <a:spcPct val="0"/>
              </a:spcAft>
              <a:defRPr sz="4000">
                <a:solidFill>
                  <a:srgbClr val="1E4191"/>
                </a:solidFill>
                <a:latin typeface="GE Inspira Pitch" pitchFamily="34" charset="0"/>
              </a:defRPr>
            </a:lvl7pPr>
            <a:lvl8pPr marL="1370390" algn="l" rtl="0" eaLnBrk="1" fontAlgn="base" hangingPunct="1">
              <a:lnSpc>
                <a:spcPct val="90000"/>
              </a:lnSpc>
              <a:spcBef>
                <a:spcPct val="0"/>
              </a:spcBef>
              <a:spcAft>
                <a:spcPct val="0"/>
              </a:spcAft>
              <a:defRPr sz="4000">
                <a:solidFill>
                  <a:srgbClr val="1E4191"/>
                </a:solidFill>
                <a:latin typeface="GE Inspira Pitch" pitchFamily="34" charset="0"/>
              </a:defRPr>
            </a:lvl8pPr>
            <a:lvl9pPr marL="1827188" algn="l" rtl="0" eaLnBrk="1" fontAlgn="base" hangingPunct="1">
              <a:lnSpc>
                <a:spcPct val="90000"/>
              </a:lnSpc>
              <a:spcBef>
                <a:spcPct val="0"/>
              </a:spcBef>
              <a:spcAft>
                <a:spcPct val="0"/>
              </a:spcAft>
              <a:defRPr sz="4000">
                <a:solidFill>
                  <a:srgbClr val="1E4191"/>
                </a:solidFill>
                <a:latin typeface="GE Inspira Pitch"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800" b="1" i="0" u="none" strike="noStrike" kern="0" cap="none" spc="0" normalizeH="0" baseline="0" noProof="0" dirty="0">
                <a:ln>
                  <a:noFill/>
                </a:ln>
                <a:solidFill>
                  <a:srgbClr val="FFFFFF"/>
                </a:solidFill>
                <a:effectLst/>
                <a:uLnTx/>
                <a:uFillTx/>
                <a:latin typeface="GE Inspira Pitch"/>
                <a:ea typeface="+mj-ea"/>
                <a:cs typeface="+mj-cs"/>
              </a:rPr>
              <a:t>Safety Function &amp; Risk Reduction </a:t>
            </a:r>
          </a:p>
        </p:txBody>
      </p:sp>
      <p:grpSp>
        <p:nvGrpSpPr>
          <p:cNvPr id="10" name="Groupe 9">
            <a:extLst>
              <a:ext uri="{FF2B5EF4-FFF2-40B4-BE49-F238E27FC236}">
                <a16:creationId xmlns:a16="http://schemas.microsoft.com/office/drawing/2014/main" id="{17F6F99F-73D7-47B5-98B0-327E69E7387D}"/>
              </a:ext>
            </a:extLst>
          </p:cNvPr>
          <p:cNvGrpSpPr/>
          <p:nvPr/>
        </p:nvGrpSpPr>
        <p:grpSpPr>
          <a:xfrm>
            <a:off x="5334987" y="2126934"/>
            <a:ext cx="609043" cy="530745"/>
            <a:chOff x="5334987" y="2126934"/>
            <a:chExt cx="609043" cy="530745"/>
          </a:xfrm>
        </p:grpSpPr>
        <p:sp>
          <p:nvSpPr>
            <p:cNvPr id="96" name="Flèche vers le bas 29">
              <a:extLst>
                <a:ext uri="{FF2B5EF4-FFF2-40B4-BE49-F238E27FC236}">
                  <a16:creationId xmlns:a16="http://schemas.microsoft.com/office/drawing/2014/main" id="{212A419A-7750-4E87-AE27-73642F0D144D}"/>
                </a:ext>
              </a:extLst>
            </p:cNvPr>
            <p:cNvSpPr/>
            <p:nvPr/>
          </p:nvSpPr>
          <p:spPr>
            <a:xfrm rot="5400000">
              <a:off x="5578765" y="2495670"/>
              <a:ext cx="80150" cy="243868"/>
            </a:xfrm>
            <a:prstGeom prst="downArrow">
              <a:avLst>
                <a:gd name="adj1" fmla="val 50000"/>
                <a:gd name="adj2" fmla="val 44259"/>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sp>
          <p:nvSpPr>
            <p:cNvPr id="97" name="ZoneTexte 30">
              <a:extLst>
                <a:ext uri="{FF2B5EF4-FFF2-40B4-BE49-F238E27FC236}">
                  <a16:creationId xmlns:a16="http://schemas.microsoft.com/office/drawing/2014/main" id="{65F5CAA4-31F8-4F9F-8014-E73A07DF7667}"/>
                </a:ext>
              </a:extLst>
            </p:cNvPr>
            <p:cNvSpPr txBox="1"/>
            <p:nvPr/>
          </p:nvSpPr>
          <p:spPr>
            <a:xfrm>
              <a:off x="5334987" y="2126934"/>
              <a:ext cx="609043" cy="454095"/>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0070C0"/>
                  </a:solidFill>
                  <a:effectLst/>
                  <a:uLnTx/>
                  <a:uFillTx/>
                  <a:latin typeface="GE Inspira Pitch"/>
                  <a:ea typeface="+mn-ea"/>
                  <a:cs typeface="+mn-cs"/>
                </a:rPr>
                <a:t>Process regulation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0070C0"/>
                  </a:solidFill>
                  <a:effectLst/>
                  <a:uLnTx/>
                  <a:uFillTx/>
                  <a:latin typeface="GE Inspira Pitch"/>
                  <a:ea typeface="+mn-ea"/>
                  <a:cs typeface="+mn-cs"/>
                </a:rPr>
                <a:t>(BPCS)</a:t>
              </a:r>
            </a:p>
          </p:txBody>
        </p:sp>
      </p:grpSp>
      <p:grpSp>
        <p:nvGrpSpPr>
          <p:cNvPr id="9" name="Groupe 8">
            <a:extLst>
              <a:ext uri="{FF2B5EF4-FFF2-40B4-BE49-F238E27FC236}">
                <a16:creationId xmlns:a16="http://schemas.microsoft.com/office/drawing/2014/main" id="{95588D2E-7FAE-45CE-9A95-A6BC82C2484D}"/>
              </a:ext>
            </a:extLst>
          </p:cNvPr>
          <p:cNvGrpSpPr/>
          <p:nvPr/>
        </p:nvGrpSpPr>
        <p:grpSpPr>
          <a:xfrm>
            <a:off x="5567719" y="2577529"/>
            <a:ext cx="1281392" cy="563793"/>
            <a:chOff x="5567719" y="2577529"/>
            <a:chExt cx="1281392" cy="563793"/>
          </a:xfrm>
        </p:grpSpPr>
        <p:sp>
          <p:nvSpPr>
            <p:cNvPr id="94" name="ZoneTexte 28">
              <a:extLst>
                <a:ext uri="{FF2B5EF4-FFF2-40B4-BE49-F238E27FC236}">
                  <a16:creationId xmlns:a16="http://schemas.microsoft.com/office/drawing/2014/main" id="{AAB59045-947F-435D-81AF-3A1D6E970248}"/>
                </a:ext>
              </a:extLst>
            </p:cNvPr>
            <p:cNvSpPr txBox="1"/>
            <p:nvPr/>
          </p:nvSpPr>
          <p:spPr>
            <a:xfrm>
              <a:off x="5567719" y="2687227"/>
              <a:ext cx="1281392" cy="454095"/>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1D5F11">
                      <a:lumMod val="60000"/>
                      <a:lumOff val="40000"/>
                    </a:srgbClr>
                  </a:solidFill>
                  <a:effectLst/>
                  <a:uLnTx/>
                  <a:uFillTx/>
                  <a:latin typeface="GE Inspira Pitch"/>
                  <a:ea typeface="+mn-ea"/>
                  <a:cs typeface="+mn-cs"/>
                </a:rPr>
                <a:t>Mechanical Prevention (Safety valves, rupture disc …etc.</a:t>
              </a:r>
            </a:p>
          </p:txBody>
        </p:sp>
        <p:sp>
          <p:nvSpPr>
            <p:cNvPr id="98" name="Flèche vers le bas 29">
              <a:extLst>
                <a:ext uri="{FF2B5EF4-FFF2-40B4-BE49-F238E27FC236}">
                  <a16:creationId xmlns:a16="http://schemas.microsoft.com/office/drawing/2014/main" id="{4AAE4843-3C99-49DA-9410-A858DDBCDB08}"/>
                </a:ext>
              </a:extLst>
            </p:cNvPr>
            <p:cNvSpPr/>
            <p:nvPr/>
          </p:nvSpPr>
          <p:spPr>
            <a:xfrm rot="5400000">
              <a:off x="6164615" y="2153058"/>
              <a:ext cx="80150" cy="929092"/>
            </a:xfrm>
            <a:prstGeom prst="downArrow">
              <a:avLst>
                <a:gd name="adj1" fmla="val 50000"/>
                <a:gd name="adj2" fmla="val 44259"/>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grpSp>
      <p:grpSp>
        <p:nvGrpSpPr>
          <p:cNvPr id="3" name="Groupe 2">
            <a:extLst>
              <a:ext uri="{FF2B5EF4-FFF2-40B4-BE49-F238E27FC236}">
                <a16:creationId xmlns:a16="http://schemas.microsoft.com/office/drawing/2014/main" id="{2D9071CB-BBF9-4D94-B194-30D6A1FD9ED3}"/>
              </a:ext>
            </a:extLst>
          </p:cNvPr>
          <p:cNvGrpSpPr/>
          <p:nvPr/>
        </p:nvGrpSpPr>
        <p:grpSpPr>
          <a:xfrm>
            <a:off x="6659244" y="2018095"/>
            <a:ext cx="1294085" cy="599510"/>
            <a:chOff x="6659244" y="2018095"/>
            <a:chExt cx="1294085" cy="599510"/>
          </a:xfrm>
        </p:grpSpPr>
        <p:sp>
          <p:nvSpPr>
            <p:cNvPr id="95" name="ZoneTexte 26">
              <a:extLst>
                <a:ext uri="{FF2B5EF4-FFF2-40B4-BE49-F238E27FC236}">
                  <a16:creationId xmlns:a16="http://schemas.microsoft.com/office/drawing/2014/main" id="{4F64BEF9-0358-4245-B956-530B6D1E8171}"/>
                </a:ext>
              </a:extLst>
            </p:cNvPr>
            <p:cNvSpPr txBox="1"/>
            <p:nvPr/>
          </p:nvSpPr>
          <p:spPr>
            <a:xfrm>
              <a:off x="6746826" y="2018095"/>
              <a:ext cx="1206503" cy="530854"/>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841225"/>
                  </a:solidFill>
                  <a:effectLst/>
                  <a:uLnTx/>
                  <a:uFillTx/>
                  <a:latin typeface="GE Inspira Pitch"/>
                  <a:ea typeface="+mn-ea"/>
                  <a:cs typeface="+mn-cs"/>
                </a:rPr>
                <a:t>Severity reduction through physical means (design, barrier, Safety prevention plan…etc.)</a:t>
              </a:r>
            </a:p>
          </p:txBody>
        </p:sp>
        <p:sp>
          <p:nvSpPr>
            <p:cNvPr id="99" name="Flèche vers le bas 29">
              <a:extLst>
                <a:ext uri="{FF2B5EF4-FFF2-40B4-BE49-F238E27FC236}">
                  <a16:creationId xmlns:a16="http://schemas.microsoft.com/office/drawing/2014/main" id="{99EDE028-55D1-43A8-8DBA-7F489129A18C}"/>
                </a:ext>
              </a:extLst>
            </p:cNvPr>
            <p:cNvSpPr/>
            <p:nvPr/>
          </p:nvSpPr>
          <p:spPr>
            <a:xfrm>
              <a:off x="6659244" y="2084259"/>
              <a:ext cx="79482" cy="533346"/>
            </a:xfrm>
            <a:prstGeom prst="downArrow">
              <a:avLst>
                <a:gd name="adj1" fmla="val 50000"/>
                <a:gd name="adj2" fmla="val 44259"/>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grpSp>
      <p:grpSp>
        <p:nvGrpSpPr>
          <p:cNvPr id="5" name="Group 4">
            <a:extLst>
              <a:ext uri="{FF2B5EF4-FFF2-40B4-BE49-F238E27FC236}">
                <a16:creationId xmlns:a16="http://schemas.microsoft.com/office/drawing/2014/main" id="{8BD88B80-D8CE-4793-A3F7-0F37ECFD098E}"/>
              </a:ext>
            </a:extLst>
          </p:cNvPr>
          <p:cNvGrpSpPr/>
          <p:nvPr/>
        </p:nvGrpSpPr>
        <p:grpSpPr>
          <a:xfrm>
            <a:off x="797223" y="1207673"/>
            <a:ext cx="7263777" cy="3486938"/>
            <a:chOff x="288961" y="863017"/>
            <a:chExt cx="8935038" cy="4253462"/>
          </a:xfrm>
        </p:grpSpPr>
        <p:sp>
          <p:nvSpPr>
            <p:cNvPr id="20" name="ZoneTexte 19"/>
            <p:cNvSpPr txBox="1"/>
            <p:nvPr/>
          </p:nvSpPr>
          <p:spPr>
            <a:xfrm>
              <a:off x="8394396" y="4870339"/>
              <a:ext cx="829603" cy="246140"/>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Frequency</a:t>
              </a:r>
            </a:p>
          </p:txBody>
        </p:sp>
        <p:grpSp>
          <p:nvGrpSpPr>
            <p:cNvPr id="4" name="Group 3">
              <a:extLst>
                <a:ext uri="{FF2B5EF4-FFF2-40B4-BE49-F238E27FC236}">
                  <a16:creationId xmlns:a16="http://schemas.microsoft.com/office/drawing/2014/main" id="{81DBFAFD-6C2F-4212-944F-537F9A710DD2}"/>
                </a:ext>
              </a:extLst>
            </p:cNvPr>
            <p:cNvGrpSpPr/>
            <p:nvPr/>
          </p:nvGrpSpPr>
          <p:grpSpPr>
            <a:xfrm>
              <a:off x="288961" y="863017"/>
              <a:ext cx="8509248" cy="3898988"/>
              <a:chOff x="288961" y="863017"/>
              <a:chExt cx="8509248" cy="3898988"/>
            </a:xfrm>
          </p:grpSpPr>
          <p:grpSp>
            <p:nvGrpSpPr>
              <p:cNvPr id="2" name="Group 1">
                <a:extLst>
                  <a:ext uri="{FF2B5EF4-FFF2-40B4-BE49-F238E27FC236}">
                    <a16:creationId xmlns:a16="http://schemas.microsoft.com/office/drawing/2014/main" id="{2223DA9E-D897-4983-92AC-79B8EAC8E933}"/>
                  </a:ext>
                </a:extLst>
              </p:cNvPr>
              <p:cNvGrpSpPr/>
              <p:nvPr/>
            </p:nvGrpSpPr>
            <p:grpSpPr>
              <a:xfrm>
                <a:off x="3467793" y="863017"/>
                <a:ext cx="5330416" cy="3898988"/>
                <a:chOff x="3467793" y="863017"/>
                <a:chExt cx="5330416" cy="3898988"/>
              </a:xfrm>
            </p:grpSpPr>
            <p:cxnSp>
              <p:nvCxnSpPr>
                <p:cNvPr id="17" name="Connecteur droit avec flèche 16"/>
                <p:cNvCxnSpPr/>
                <p:nvPr/>
              </p:nvCxnSpPr>
              <p:spPr>
                <a:xfrm flipV="1">
                  <a:off x="3869397" y="1128830"/>
                  <a:ext cx="0" cy="363316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avec flèche 17"/>
                <p:cNvCxnSpPr/>
                <p:nvPr/>
              </p:nvCxnSpPr>
              <p:spPr>
                <a:xfrm>
                  <a:off x="3869397" y="4761999"/>
                  <a:ext cx="4928812"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3467793" y="863017"/>
                  <a:ext cx="706879" cy="246140"/>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Severity</a:t>
                  </a:r>
                </a:p>
              </p:txBody>
            </p:sp>
            <p:sp>
              <p:nvSpPr>
                <p:cNvPr id="35" name="Forme libre 34"/>
                <p:cNvSpPr/>
                <p:nvPr/>
              </p:nvSpPr>
              <p:spPr>
                <a:xfrm>
                  <a:off x="4615752" y="1416617"/>
                  <a:ext cx="3436102" cy="2832083"/>
                </a:xfrm>
                <a:custGeom>
                  <a:avLst/>
                  <a:gdLst>
                    <a:gd name="connsiteX0" fmla="*/ 0 w 5365376"/>
                    <a:gd name="connsiteY0" fmla="*/ 0 h 3934997"/>
                    <a:gd name="connsiteX1" fmla="*/ 1075765 w 5365376"/>
                    <a:gd name="connsiteY1" fmla="*/ 3348317 h 3934997"/>
                    <a:gd name="connsiteX2" fmla="*/ 5365376 w 5365376"/>
                    <a:gd name="connsiteY2" fmla="*/ 3913094 h 3934997"/>
                  </a:gdLst>
                  <a:ahLst/>
                  <a:cxnLst>
                    <a:cxn ang="0">
                      <a:pos x="connsiteX0" y="connsiteY0"/>
                    </a:cxn>
                    <a:cxn ang="0">
                      <a:pos x="connsiteX1" y="connsiteY1"/>
                    </a:cxn>
                    <a:cxn ang="0">
                      <a:pos x="connsiteX2" y="connsiteY2"/>
                    </a:cxn>
                  </a:cxnLst>
                  <a:rect l="l" t="t" r="r" b="b"/>
                  <a:pathLst>
                    <a:path w="5365376" h="3934997">
                      <a:moveTo>
                        <a:pt x="0" y="0"/>
                      </a:moveTo>
                      <a:cubicBezTo>
                        <a:pt x="90768" y="1348067"/>
                        <a:pt x="181536" y="2696135"/>
                        <a:pt x="1075765" y="3348317"/>
                      </a:cubicBezTo>
                      <a:cubicBezTo>
                        <a:pt x="1969994" y="4000499"/>
                        <a:pt x="3667685" y="3956796"/>
                        <a:pt x="5365376" y="391309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dirty="0">
                    <a:ln>
                      <a:noFill/>
                    </a:ln>
                    <a:solidFill>
                      <a:prstClr val="white"/>
                    </a:solidFill>
                    <a:effectLst/>
                    <a:uLnTx/>
                    <a:uFillTx/>
                    <a:latin typeface="GE Inspira Pitch"/>
                    <a:ea typeface="+mn-ea"/>
                    <a:cs typeface="+mn-cs"/>
                  </a:endParaRPr>
                </a:p>
              </p:txBody>
            </p:sp>
            <p:cxnSp>
              <p:nvCxnSpPr>
                <p:cNvPr id="36" name="Connecteur droit 35"/>
                <p:cNvCxnSpPr/>
                <p:nvPr/>
              </p:nvCxnSpPr>
              <p:spPr>
                <a:xfrm flipH="1">
                  <a:off x="3869406" y="1944683"/>
                  <a:ext cx="781872" cy="8591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a:xfrm flipH="1">
                  <a:off x="3869397" y="2438993"/>
                  <a:ext cx="825296" cy="934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cteur droit 37"/>
                <p:cNvCxnSpPr/>
                <p:nvPr/>
              </p:nvCxnSpPr>
              <p:spPr>
                <a:xfrm flipH="1">
                  <a:off x="6223285" y="4251922"/>
                  <a:ext cx="471136" cy="5100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a:xfrm flipH="1">
                  <a:off x="5718061" y="4200162"/>
                  <a:ext cx="493742" cy="56183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a:xfrm flipH="1">
                  <a:off x="3869397" y="2906144"/>
                  <a:ext cx="916307" cy="108454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flipH="1">
                  <a:off x="3869397" y="3347707"/>
                  <a:ext cx="1067860" cy="1219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necteur droit 47"/>
                <p:cNvCxnSpPr/>
                <p:nvPr/>
              </p:nvCxnSpPr>
              <p:spPr>
                <a:xfrm flipH="1">
                  <a:off x="4205547" y="3689500"/>
                  <a:ext cx="954340" cy="10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necteur droit 48"/>
                <p:cNvCxnSpPr/>
                <p:nvPr/>
              </p:nvCxnSpPr>
              <p:spPr>
                <a:xfrm flipH="1">
                  <a:off x="4747799" y="3935423"/>
                  <a:ext cx="700580" cy="826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p:cNvCxnSpPr/>
                <p:nvPr/>
              </p:nvCxnSpPr>
              <p:spPr>
                <a:xfrm flipH="1">
                  <a:off x="5238674" y="4103896"/>
                  <a:ext cx="582732" cy="658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Connecteur droit 57"/>
                <p:cNvCxnSpPr/>
                <p:nvPr/>
              </p:nvCxnSpPr>
              <p:spPr>
                <a:xfrm flipH="1">
                  <a:off x="6792989" y="4251922"/>
                  <a:ext cx="428306" cy="510078"/>
                </a:xfrm>
                <a:prstGeom prst="line">
                  <a:avLst/>
                </a:prstGeom>
              </p:spPr>
              <p:style>
                <a:lnRef idx="1">
                  <a:schemeClr val="accent1"/>
                </a:lnRef>
                <a:fillRef idx="0">
                  <a:schemeClr val="accent1"/>
                </a:fillRef>
                <a:effectRef idx="0">
                  <a:schemeClr val="accent1"/>
                </a:effectRef>
                <a:fontRef idx="minor">
                  <a:schemeClr val="tx1"/>
                </a:fontRef>
              </p:style>
            </p:cxnSp>
            <p:sp>
              <p:nvSpPr>
                <p:cNvPr id="59" name="ZoneTexte 58"/>
                <p:cNvSpPr txBox="1"/>
                <p:nvPr/>
              </p:nvSpPr>
              <p:spPr>
                <a:xfrm>
                  <a:off x="4696134" y="4200357"/>
                  <a:ext cx="1268803" cy="225186"/>
                </a:xfrm>
                <a:prstGeom prst="rect">
                  <a:avLst/>
                </a:prstGeom>
                <a:solidFill>
                  <a:schemeClr val="bg1"/>
                </a:solid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Tolerable Risk Area</a:t>
                  </a:r>
                </a:p>
              </p:txBody>
            </p:sp>
          </p:grpSp>
          <p:sp>
            <p:nvSpPr>
              <p:cNvPr id="124" name="Rectangle 4">
                <a:extLst>
                  <a:ext uri="{FF2B5EF4-FFF2-40B4-BE49-F238E27FC236}">
                    <a16:creationId xmlns:a16="http://schemas.microsoft.com/office/drawing/2014/main" id="{D98CA369-ACCE-4ABB-9EA5-C8F4DC9919B2}"/>
                  </a:ext>
                </a:extLst>
              </p:cNvPr>
              <p:cNvSpPr>
                <a:spLocks noChangeArrowheads="1"/>
              </p:cNvSpPr>
              <p:nvPr/>
            </p:nvSpPr>
            <p:spPr bwMode="auto">
              <a:xfrm>
                <a:off x="288961" y="1662641"/>
                <a:ext cx="3230643" cy="1300806"/>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20" tIns="34260" rIns="68520" bIns="34260">
                <a:spAutoFit/>
              </a:bodyPr>
              <a:lstStyle/>
              <a:p>
                <a:pPr marL="0" marR="0" lvl="0" indent="0" algn="ctr" defTabSz="914400" rtl="0" eaLnBrk="1" fontAlgn="base" latinLnBrk="0" hangingPunct="1">
                  <a:lnSpc>
                    <a:spcPct val="90000"/>
                  </a:lnSpc>
                  <a:spcBef>
                    <a:spcPct val="20000"/>
                  </a:spcBef>
                  <a:spcAft>
                    <a:spcPct val="0"/>
                  </a:spcAft>
                  <a:buClr>
                    <a:srgbClr val="004880"/>
                  </a:buClr>
                  <a:buSzTx/>
                  <a:buFontTx/>
                  <a:buNone/>
                  <a:tabLst/>
                  <a:defRPr/>
                </a:pPr>
                <a:r>
                  <a:rPr kumimoji="0" lang="en-US" sz="1800" b="0" i="0" u="none" strike="noStrike" kern="1200" cap="none" spc="0" normalizeH="0" baseline="0" noProof="0" dirty="0">
                    <a:ln>
                      <a:noFill/>
                    </a:ln>
                    <a:solidFill>
                      <a:srgbClr val="1E4191"/>
                    </a:solidFill>
                    <a:effectLst/>
                    <a:uLnTx/>
                    <a:uFillTx/>
                    <a:latin typeface="GE Inspira" pitchFamily="34" charset="0"/>
                    <a:ea typeface="+mn-ea"/>
                    <a:cs typeface="+mn-cs"/>
                  </a:rPr>
                  <a:t>« Design systems to minimize dangerous failures  and/or minimize their effects ».</a:t>
                </a:r>
              </a:p>
            </p:txBody>
          </p:sp>
        </p:grpSp>
      </p:grpSp>
      <p:grpSp>
        <p:nvGrpSpPr>
          <p:cNvPr id="8" name="Group 7">
            <a:extLst>
              <a:ext uri="{FF2B5EF4-FFF2-40B4-BE49-F238E27FC236}">
                <a16:creationId xmlns:a16="http://schemas.microsoft.com/office/drawing/2014/main" id="{C563F944-81B7-453E-A643-F6FD806AE7C4}"/>
              </a:ext>
            </a:extLst>
          </p:cNvPr>
          <p:cNvGrpSpPr/>
          <p:nvPr/>
        </p:nvGrpSpPr>
        <p:grpSpPr>
          <a:xfrm>
            <a:off x="1191815" y="2043487"/>
            <a:ext cx="4305092" cy="3505200"/>
            <a:chOff x="603322" y="1921860"/>
            <a:chExt cx="5295612" cy="4275738"/>
          </a:xfrm>
        </p:grpSpPr>
        <p:grpSp>
          <p:nvGrpSpPr>
            <p:cNvPr id="7" name="Group 6">
              <a:extLst>
                <a:ext uri="{FF2B5EF4-FFF2-40B4-BE49-F238E27FC236}">
                  <a16:creationId xmlns:a16="http://schemas.microsoft.com/office/drawing/2014/main" id="{7A64F723-1316-4F94-ADA4-9DF3E1DF56B2}"/>
                </a:ext>
              </a:extLst>
            </p:cNvPr>
            <p:cNvGrpSpPr/>
            <p:nvPr/>
          </p:nvGrpSpPr>
          <p:grpSpPr>
            <a:xfrm>
              <a:off x="603322" y="1921860"/>
              <a:ext cx="5295612" cy="4275738"/>
              <a:chOff x="603322" y="1921860"/>
              <a:chExt cx="5295612" cy="4275738"/>
            </a:xfrm>
          </p:grpSpPr>
          <p:grpSp>
            <p:nvGrpSpPr>
              <p:cNvPr id="111" name="Group 110">
                <a:extLst>
                  <a:ext uri="{FF2B5EF4-FFF2-40B4-BE49-F238E27FC236}">
                    <a16:creationId xmlns:a16="http://schemas.microsoft.com/office/drawing/2014/main" id="{0ACF1A67-E77F-4DD4-8094-6134A7D9B566}"/>
                  </a:ext>
                </a:extLst>
              </p:cNvPr>
              <p:cNvGrpSpPr/>
              <p:nvPr/>
            </p:nvGrpSpPr>
            <p:grpSpPr>
              <a:xfrm>
                <a:off x="3698370" y="2099649"/>
                <a:ext cx="2200564" cy="3151021"/>
                <a:chOff x="3698370" y="2099649"/>
                <a:chExt cx="2200564" cy="3151021"/>
              </a:xfrm>
            </p:grpSpPr>
            <p:sp>
              <p:nvSpPr>
                <p:cNvPr id="112" name="ZoneTexte 59">
                  <a:extLst>
                    <a:ext uri="{FF2B5EF4-FFF2-40B4-BE49-F238E27FC236}">
                      <a16:creationId xmlns:a16="http://schemas.microsoft.com/office/drawing/2014/main" id="{28DBD8BD-0639-4696-84F0-90399C62FD1E}"/>
                    </a:ext>
                  </a:extLst>
                </p:cNvPr>
                <p:cNvSpPr txBox="1"/>
                <p:nvPr/>
              </p:nvSpPr>
              <p:spPr>
                <a:xfrm>
                  <a:off x="3861553" y="4850641"/>
                  <a:ext cx="1634804" cy="400029"/>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Residual  Occurrence Frequency</a:t>
                  </a:r>
                </a:p>
              </p:txBody>
            </p:sp>
            <p:grpSp>
              <p:nvGrpSpPr>
                <p:cNvPr id="113" name="Group 112">
                  <a:extLst>
                    <a:ext uri="{FF2B5EF4-FFF2-40B4-BE49-F238E27FC236}">
                      <a16:creationId xmlns:a16="http://schemas.microsoft.com/office/drawing/2014/main" id="{56F93426-9E45-4A0F-A14E-8286230A95D5}"/>
                    </a:ext>
                  </a:extLst>
                </p:cNvPr>
                <p:cNvGrpSpPr/>
                <p:nvPr/>
              </p:nvGrpSpPr>
              <p:grpSpPr>
                <a:xfrm>
                  <a:off x="3698370" y="2099649"/>
                  <a:ext cx="2200564" cy="2662356"/>
                  <a:chOff x="3698370" y="2099649"/>
                  <a:chExt cx="2200564" cy="2662356"/>
                </a:xfrm>
              </p:grpSpPr>
              <p:sp>
                <p:nvSpPr>
                  <p:cNvPr id="115" name="Organigramme : Jonction de sommaire 45">
                    <a:extLst>
                      <a:ext uri="{FF2B5EF4-FFF2-40B4-BE49-F238E27FC236}">
                        <a16:creationId xmlns:a16="http://schemas.microsoft.com/office/drawing/2014/main" id="{3587C404-2B6A-4ECF-8F5D-F476142D0552}"/>
                      </a:ext>
                    </a:extLst>
                  </p:cNvPr>
                  <p:cNvSpPr/>
                  <p:nvPr/>
                </p:nvSpPr>
                <p:spPr>
                  <a:xfrm>
                    <a:off x="4366749" y="2533371"/>
                    <a:ext cx="146401" cy="164527"/>
                  </a:xfrm>
                  <a:prstGeom prst="flowChartSummingJunction">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cxnSp>
                <p:nvCxnSpPr>
                  <p:cNvPr id="116" name="Connecteur droit 32">
                    <a:extLst>
                      <a:ext uri="{FF2B5EF4-FFF2-40B4-BE49-F238E27FC236}">
                        <a16:creationId xmlns:a16="http://schemas.microsoft.com/office/drawing/2014/main" id="{FFF9AC36-B707-45BD-B3AA-8DF23F3BD46D}"/>
                      </a:ext>
                    </a:extLst>
                  </p:cNvPr>
                  <p:cNvCxnSpPr>
                    <a:cxnSpLocks/>
                    <a:stCxn id="115" idx="4"/>
                  </p:cNvCxnSpPr>
                  <p:nvPr/>
                </p:nvCxnSpPr>
                <p:spPr>
                  <a:xfrm flipH="1">
                    <a:off x="4439937" y="2697898"/>
                    <a:ext cx="12" cy="2064107"/>
                  </a:xfrm>
                  <a:prstGeom prst="line">
                    <a:avLst/>
                  </a:prstGeom>
                </p:spPr>
                <p:style>
                  <a:lnRef idx="1">
                    <a:schemeClr val="accent1"/>
                  </a:lnRef>
                  <a:fillRef idx="0">
                    <a:schemeClr val="accent1"/>
                  </a:fillRef>
                  <a:effectRef idx="0">
                    <a:schemeClr val="accent1"/>
                  </a:effectRef>
                  <a:fontRef idx="minor">
                    <a:schemeClr val="tx1"/>
                  </a:fontRef>
                </p:style>
              </p:cxnSp>
              <p:sp>
                <p:nvSpPr>
                  <p:cNvPr id="117" name="ZoneTexte 33">
                    <a:extLst>
                      <a:ext uri="{FF2B5EF4-FFF2-40B4-BE49-F238E27FC236}">
                        <a16:creationId xmlns:a16="http://schemas.microsoft.com/office/drawing/2014/main" id="{1FBF69FC-D600-44D8-AA92-0F933A82E724}"/>
                      </a:ext>
                    </a:extLst>
                  </p:cNvPr>
                  <p:cNvSpPr txBox="1"/>
                  <p:nvPr/>
                </p:nvSpPr>
                <p:spPr>
                  <a:xfrm>
                    <a:off x="4512822" y="2099649"/>
                    <a:ext cx="1357072" cy="400029"/>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1" i="0" u="none" strike="noStrike" kern="1200" cap="none" spc="0" normalizeH="0" baseline="0" noProof="0" dirty="0">
                        <a:ln>
                          <a:noFill/>
                        </a:ln>
                        <a:solidFill>
                          <a:srgbClr val="FFC000"/>
                        </a:solidFill>
                        <a:effectLst/>
                        <a:uLnTx/>
                        <a:uFillTx/>
                        <a:latin typeface="GE Inspira Pitch"/>
                        <a:ea typeface="+mn-ea"/>
                        <a:cs typeface="+mn-cs"/>
                      </a:rPr>
                      <a:t>Safety Instrumented Functions</a:t>
                    </a:r>
                  </a:p>
                </p:txBody>
              </p:sp>
              <p:sp>
                <p:nvSpPr>
                  <p:cNvPr id="118" name="ZoneTexte 53">
                    <a:extLst>
                      <a:ext uri="{FF2B5EF4-FFF2-40B4-BE49-F238E27FC236}">
                        <a16:creationId xmlns:a16="http://schemas.microsoft.com/office/drawing/2014/main" id="{C30FE253-A939-45AF-B7C9-0FCA94EFC111}"/>
                      </a:ext>
                    </a:extLst>
                  </p:cNvPr>
                  <p:cNvSpPr txBox="1"/>
                  <p:nvPr/>
                </p:nvSpPr>
                <p:spPr>
                  <a:xfrm>
                    <a:off x="3739722" y="2412441"/>
                    <a:ext cx="806636" cy="400029"/>
                  </a:xfrm>
                  <a:prstGeom prst="rect">
                    <a:avLst/>
                  </a:prstGeom>
                  <a:noFill/>
                </p:spPr>
                <p:txBody>
                  <a:bodyPr wrap="square" lIns="68520" tIns="34260" rIns="68520" bIns="3426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sz="750" b="0" i="0" u="none" strike="noStrike" kern="1200" cap="none" spc="0" normalizeH="0" baseline="0" noProof="0" dirty="0">
                        <a:ln>
                          <a:noFill/>
                        </a:ln>
                        <a:solidFill>
                          <a:srgbClr val="3693F8">
                            <a:lumMod val="75000"/>
                          </a:srgbClr>
                        </a:solidFill>
                        <a:effectLst/>
                        <a:uLnTx/>
                        <a:uFillTx/>
                        <a:latin typeface="GE Inspira Pitch"/>
                        <a:ea typeface="+mn-ea"/>
                        <a:cs typeface="+mn-cs"/>
                      </a:rPr>
                      <a:t>Residual Risk</a:t>
                    </a:r>
                  </a:p>
                </p:txBody>
              </p:sp>
              <p:cxnSp>
                <p:nvCxnSpPr>
                  <p:cNvPr id="119" name="Connecteur droit 60">
                    <a:extLst>
                      <a:ext uri="{FF2B5EF4-FFF2-40B4-BE49-F238E27FC236}">
                        <a16:creationId xmlns:a16="http://schemas.microsoft.com/office/drawing/2014/main" id="{1CB4EDD6-D4C6-47C5-B4FA-FCC7A9EF53A9}"/>
                      </a:ext>
                    </a:extLst>
                  </p:cNvPr>
                  <p:cNvCxnSpPr>
                    <a:cxnSpLocks/>
                  </p:cNvCxnSpPr>
                  <p:nvPr/>
                </p:nvCxnSpPr>
                <p:spPr>
                  <a:xfrm flipH="1">
                    <a:off x="3698370" y="2600804"/>
                    <a:ext cx="809974" cy="0"/>
                  </a:xfrm>
                  <a:prstGeom prst="line">
                    <a:avLst/>
                  </a:prstGeom>
                </p:spPr>
                <p:style>
                  <a:lnRef idx="1">
                    <a:schemeClr val="accent1"/>
                  </a:lnRef>
                  <a:fillRef idx="0">
                    <a:schemeClr val="accent1"/>
                  </a:fillRef>
                  <a:effectRef idx="0">
                    <a:schemeClr val="accent1"/>
                  </a:effectRef>
                  <a:fontRef idx="minor">
                    <a:schemeClr val="tx1"/>
                  </a:fontRef>
                </p:style>
              </p:cxnSp>
              <p:sp>
                <p:nvSpPr>
                  <p:cNvPr id="114" name="Flèche vers le bas 31">
                    <a:extLst>
                      <a:ext uri="{FF2B5EF4-FFF2-40B4-BE49-F238E27FC236}">
                        <a16:creationId xmlns:a16="http://schemas.microsoft.com/office/drawing/2014/main" id="{89C4499E-3AB1-4FBA-A7DF-489FBAC3AD60}"/>
                      </a:ext>
                    </a:extLst>
                  </p:cNvPr>
                  <p:cNvSpPr/>
                  <p:nvPr/>
                </p:nvSpPr>
                <p:spPr>
                  <a:xfrm rot="5400000">
                    <a:off x="5140614" y="1906393"/>
                    <a:ext cx="97964" cy="1418677"/>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20" tIns="34260" rIns="68520" bIns="3426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CA" sz="750" b="0" i="0" u="none" strike="noStrike" kern="1200" cap="none" spc="0" normalizeH="0" baseline="0" noProof="0">
                      <a:ln>
                        <a:noFill/>
                      </a:ln>
                      <a:solidFill>
                        <a:prstClr val="white"/>
                      </a:solidFill>
                      <a:effectLst/>
                      <a:uLnTx/>
                      <a:uFillTx/>
                      <a:latin typeface="GE Inspira Pitch"/>
                      <a:ea typeface="+mn-ea"/>
                      <a:cs typeface="+mn-cs"/>
                    </a:endParaRPr>
                  </a:p>
                </p:txBody>
              </p:sp>
            </p:grpSp>
          </p:grpSp>
          <p:grpSp>
            <p:nvGrpSpPr>
              <p:cNvPr id="6" name="Group 5">
                <a:extLst>
                  <a:ext uri="{FF2B5EF4-FFF2-40B4-BE49-F238E27FC236}">
                    <a16:creationId xmlns:a16="http://schemas.microsoft.com/office/drawing/2014/main" id="{135A61AF-5EF6-40E8-A57E-EDA302B71D63}"/>
                  </a:ext>
                </a:extLst>
              </p:cNvPr>
              <p:cNvGrpSpPr/>
              <p:nvPr/>
            </p:nvGrpSpPr>
            <p:grpSpPr>
              <a:xfrm>
                <a:off x="603322" y="1921860"/>
                <a:ext cx="3956846" cy="4275738"/>
                <a:chOff x="603322" y="1921860"/>
                <a:chExt cx="3956846" cy="4275738"/>
              </a:xfrm>
            </p:grpSpPr>
            <p:sp>
              <p:nvSpPr>
                <p:cNvPr id="121" name="Triangle isocèle 2">
                  <a:extLst>
                    <a:ext uri="{FF2B5EF4-FFF2-40B4-BE49-F238E27FC236}">
                      <a16:creationId xmlns:a16="http://schemas.microsoft.com/office/drawing/2014/main" id="{1389A3D3-65ED-4DEA-83EA-25947071E732}"/>
                    </a:ext>
                  </a:extLst>
                </p:cNvPr>
                <p:cNvSpPr/>
                <p:nvPr/>
              </p:nvSpPr>
              <p:spPr>
                <a:xfrm rot="1498250">
                  <a:off x="1857664" y="1921860"/>
                  <a:ext cx="2702504" cy="3195323"/>
                </a:xfrm>
                <a:prstGeom prst="triangle">
                  <a:avLst>
                    <a:gd name="adj" fmla="val 10000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GE Inspira Pitch"/>
                    <a:ea typeface="+mn-ea"/>
                    <a:cs typeface="+mn-cs"/>
                  </a:endParaRPr>
                </a:p>
              </p:txBody>
            </p:sp>
            <p:sp>
              <p:nvSpPr>
                <p:cNvPr id="122" name="Oval 11">
                  <a:extLst>
                    <a:ext uri="{FF2B5EF4-FFF2-40B4-BE49-F238E27FC236}">
                      <a16:creationId xmlns:a16="http://schemas.microsoft.com/office/drawing/2014/main" id="{53C998AD-E570-40EC-9886-C6616DE695A4}"/>
                    </a:ext>
                  </a:extLst>
                </p:cNvPr>
                <p:cNvSpPr>
                  <a:spLocks noChangeArrowheads="1"/>
                </p:cNvSpPr>
                <p:nvPr/>
              </p:nvSpPr>
              <p:spPr bwMode="auto">
                <a:xfrm>
                  <a:off x="603322" y="4248699"/>
                  <a:ext cx="3216387" cy="1948899"/>
                </a:xfrm>
                <a:prstGeom prst="ellipse">
                  <a:avLst/>
                </a:prstGeom>
                <a:solidFill>
                  <a:schemeClr val="accent5">
                    <a:lumMod val="60000"/>
                    <a:lumOff val="40000"/>
                  </a:schemeClr>
                </a:solidFill>
                <a:ln w="57150">
                  <a:solidFill>
                    <a:srgbClr val="264C72"/>
                  </a:solidFill>
                  <a:round/>
                  <a:headEnd/>
                  <a:tailEnd/>
                </a:ln>
                <a:effectLst/>
              </p:spPr>
              <p:txBody>
                <a:bodyPr wrap="square" lIns="68520" tIns="34260" rIns="68520" bIns="3426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GE Inspira Pitch"/>
                    <a:ea typeface="+mn-ea"/>
                    <a:cs typeface="+mn-cs"/>
                  </a:endParaRPr>
                </a:p>
              </p:txBody>
            </p:sp>
          </p:grpSp>
        </p:grpSp>
        <p:sp>
          <p:nvSpPr>
            <p:cNvPr id="126" name="Text Box 6">
              <a:extLst>
                <a:ext uri="{FF2B5EF4-FFF2-40B4-BE49-F238E27FC236}">
                  <a16:creationId xmlns:a16="http://schemas.microsoft.com/office/drawing/2014/main" id="{22452E87-BC23-40F2-A184-0F80EA042CA4}"/>
                </a:ext>
              </a:extLst>
            </p:cNvPr>
            <p:cNvSpPr txBox="1">
              <a:spLocks noChangeArrowheads="1"/>
            </p:cNvSpPr>
            <p:nvPr/>
          </p:nvSpPr>
          <p:spPr bwMode="auto">
            <a:xfrm>
              <a:off x="957179" y="4605957"/>
              <a:ext cx="767975" cy="26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20" tIns="34260" rIns="68520" bIns="3426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825" b="0" i="0" u="none" strike="noStrike" kern="1200" cap="none" spc="0" normalizeH="0" baseline="0" noProof="0" dirty="0" err="1">
                  <a:ln>
                    <a:noFill/>
                  </a:ln>
                  <a:solidFill>
                    <a:srgbClr val="575757"/>
                  </a:solidFill>
                  <a:effectLst/>
                  <a:uLnTx/>
                  <a:uFillTx/>
                  <a:latin typeface="GE Inspira Pitch" pitchFamily="34" charset="0"/>
                  <a:ea typeface="+mn-ea"/>
                  <a:cs typeface="Times New Roman" pitchFamily="18" charset="0"/>
                </a:rPr>
                <a:t>Sensors</a:t>
              </a:r>
              <a:endParaRPr kumimoji="0" lang="en-GB" sz="825" b="0" i="0" u="none" strike="noStrike" kern="1200" cap="none" spc="0" normalizeH="0" baseline="0" noProof="0" dirty="0">
                <a:ln>
                  <a:noFill/>
                </a:ln>
                <a:solidFill>
                  <a:srgbClr val="575757"/>
                </a:solidFill>
                <a:effectLst/>
                <a:uLnTx/>
                <a:uFillTx/>
                <a:latin typeface="GE Inspira Pitch" pitchFamily="34" charset="0"/>
                <a:ea typeface="+mn-ea"/>
                <a:cs typeface="Times New Roman" pitchFamily="18" charset="0"/>
              </a:endParaRPr>
            </a:p>
          </p:txBody>
        </p:sp>
        <p:sp>
          <p:nvSpPr>
            <p:cNvPr id="127" name="Text Box 7">
              <a:extLst>
                <a:ext uri="{FF2B5EF4-FFF2-40B4-BE49-F238E27FC236}">
                  <a16:creationId xmlns:a16="http://schemas.microsoft.com/office/drawing/2014/main" id="{285DFFBD-7168-4F55-9B97-F3B76128684E}"/>
                </a:ext>
              </a:extLst>
            </p:cNvPr>
            <p:cNvSpPr txBox="1">
              <a:spLocks noChangeArrowheads="1"/>
            </p:cNvSpPr>
            <p:nvPr/>
          </p:nvSpPr>
          <p:spPr bwMode="auto">
            <a:xfrm>
              <a:off x="1805310" y="4521317"/>
              <a:ext cx="556632" cy="43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20" tIns="34260" rIns="68520" bIns="3426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825" b="0" i="0" u="none" strike="noStrike" kern="1200" cap="none" spc="0" normalizeH="0" baseline="0" noProof="0" dirty="0" err="1">
                  <a:ln>
                    <a:noFill/>
                  </a:ln>
                  <a:solidFill>
                    <a:srgbClr val="575757"/>
                  </a:solidFill>
                  <a:effectLst/>
                  <a:uLnTx/>
                  <a:uFillTx/>
                  <a:latin typeface="GE Inspira Pitch" pitchFamily="34" charset="0"/>
                  <a:ea typeface="+mn-ea"/>
                  <a:cs typeface="Times New Roman" pitchFamily="18" charset="0"/>
                </a:rPr>
                <a:t>Logic</a:t>
              </a:r>
              <a:r>
                <a:rPr kumimoji="0" lang="fr-FR" sz="825" b="0" i="0" u="none" strike="noStrike" kern="1200" cap="none" spc="0" normalizeH="0" baseline="0" noProof="0" dirty="0">
                  <a:ln>
                    <a:noFill/>
                  </a:ln>
                  <a:solidFill>
                    <a:srgbClr val="575757"/>
                  </a:solidFill>
                  <a:effectLst/>
                  <a:uLnTx/>
                  <a:uFillTx/>
                  <a:latin typeface="GE Inspira Pitch" pitchFamily="34" charset="0"/>
                  <a:ea typeface="+mn-ea"/>
                  <a:cs typeface="Times New Roman" pitchFamily="18" charset="0"/>
                </a:rPr>
                <a:t> </a:t>
              </a:r>
              <a:r>
                <a:rPr kumimoji="0" lang="fr-FR" sz="825" b="0" i="0" u="none" strike="noStrike" kern="1200" cap="none" spc="0" normalizeH="0" baseline="0" noProof="0" dirty="0" err="1">
                  <a:ln>
                    <a:noFill/>
                  </a:ln>
                  <a:solidFill>
                    <a:srgbClr val="575757"/>
                  </a:solidFill>
                  <a:effectLst/>
                  <a:uLnTx/>
                  <a:uFillTx/>
                  <a:latin typeface="GE Inspira Pitch" pitchFamily="34" charset="0"/>
                  <a:ea typeface="+mn-ea"/>
                  <a:cs typeface="Times New Roman" pitchFamily="18" charset="0"/>
                </a:rPr>
                <a:t>Solver</a:t>
              </a:r>
              <a:endParaRPr kumimoji="0" lang="en-GB" sz="825" b="0" i="0" u="none" strike="noStrike" kern="1200" cap="none" spc="0" normalizeH="0" baseline="0" noProof="0" dirty="0">
                <a:ln>
                  <a:noFill/>
                </a:ln>
                <a:solidFill>
                  <a:srgbClr val="575757"/>
                </a:solidFill>
                <a:effectLst/>
                <a:uLnTx/>
                <a:uFillTx/>
                <a:latin typeface="GE Inspira Pitch" pitchFamily="34" charset="0"/>
                <a:ea typeface="+mn-ea"/>
                <a:cs typeface="Times New Roman" pitchFamily="18" charset="0"/>
              </a:endParaRPr>
            </a:p>
          </p:txBody>
        </p:sp>
        <p:sp>
          <p:nvSpPr>
            <p:cNvPr id="128" name="Text Box 8">
              <a:extLst>
                <a:ext uri="{FF2B5EF4-FFF2-40B4-BE49-F238E27FC236}">
                  <a16:creationId xmlns:a16="http://schemas.microsoft.com/office/drawing/2014/main" id="{31F2298F-C968-4BEA-A23E-2D29B751406D}"/>
                </a:ext>
              </a:extLst>
            </p:cNvPr>
            <p:cNvSpPr txBox="1">
              <a:spLocks noChangeArrowheads="1"/>
            </p:cNvSpPr>
            <p:nvPr/>
          </p:nvSpPr>
          <p:spPr bwMode="auto">
            <a:xfrm>
              <a:off x="2442100" y="4605957"/>
              <a:ext cx="1082377" cy="26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8520" tIns="34260" rIns="68520" bIns="3426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fr-FR" sz="825" b="0" i="0" u="none" strike="noStrike" kern="1200" cap="none" spc="0" normalizeH="0" baseline="0" noProof="0" dirty="0">
                  <a:ln>
                    <a:noFill/>
                  </a:ln>
                  <a:solidFill>
                    <a:srgbClr val="575757"/>
                  </a:solidFill>
                  <a:effectLst/>
                  <a:uLnTx/>
                  <a:uFillTx/>
                  <a:latin typeface="GE Inspira Pitch" pitchFamily="34" charset="0"/>
                  <a:ea typeface="+mn-ea"/>
                  <a:cs typeface="Times New Roman" pitchFamily="18" charset="0"/>
                </a:rPr>
                <a:t>Final </a:t>
              </a:r>
              <a:r>
                <a:rPr kumimoji="0" lang="fr-FR" sz="825" b="0" i="0" u="none" strike="noStrike" kern="1200" cap="none" spc="0" normalizeH="0" baseline="0" noProof="0" dirty="0" err="1">
                  <a:ln>
                    <a:noFill/>
                  </a:ln>
                  <a:solidFill>
                    <a:srgbClr val="575757"/>
                  </a:solidFill>
                  <a:effectLst/>
                  <a:uLnTx/>
                  <a:uFillTx/>
                  <a:latin typeface="GE Inspira Pitch" pitchFamily="34" charset="0"/>
                  <a:ea typeface="+mn-ea"/>
                  <a:cs typeface="Times New Roman" pitchFamily="18" charset="0"/>
                </a:rPr>
                <a:t>Elements</a:t>
              </a:r>
              <a:endParaRPr kumimoji="0" lang="en-GB" sz="825" b="0" i="0" u="none" strike="noStrike" kern="1200" cap="none" spc="0" normalizeH="0" baseline="0" noProof="0" dirty="0">
                <a:ln>
                  <a:noFill/>
                </a:ln>
                <a:solidFill>
                  <a:srgbClr val="575757"/>
                </a:solidFill>
                <a:effectLst/>
                <a:uLnTx/>
                <a:uFillTx/>
                <a:latin typeface="GE Inspira Pitch" pitchFamily="34" charset="0"/>
                <a:ea typeface="+mn-ea"/>
                <a:cs typeface="Times New Roman" pitchFamily="18" charset="0"/>
              </a:endParaRPr>
            </a:p>
          </p:txBody>
        </p:sp>
        <p:pic>
          <p:nvPicPr>
            <p:cNvPr id="129" name="Image 3">
              <a:extLst>
                <a:ext uri="{FF2B5EF4-FFF2-40B4-BE49-F238E27FC236}">
                  <a16:creationId xmlns:a16="http://schemas.microsoft.com/office/drawing/2014/main" id="{069D4ACB-73A2-48CB-94EC-D4CB9271227A}"/>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25000" b="73667" l="33000" r="68667">
                          <a14:foregroundMark x1="69000" y1="42333" x2="69000" y2="42333"/>
                          <a14:foregroundMark x1="51000" y1="73667" x2="51000" y2="73667"/>
                          <a14:foregroundMark x1="61333" y1="27000" x2="61333" y2="27000"/>
                          <a14:foregroundMark x1="40667" y1="25000" x2="40667" y2="25000"/>
                        </a14:backgroundRemoval>
                      </a14:imgEffect>
                    </a14:imgLayer>
                  </a14:imgProps>
                </a:ext>
                <a:ext uri="{28A0092B-C50C-407E-A947-70E740481C1C}">
                  <a14:useLocalDpi xmlns:a14="http://schemas.microsoft.com/office/drawing/2010/main" val="0"/>
                </a:ext>
              </a:extLst>
            </a:blip>
            <a:srcRect l="29171" t="21018" r="27018" b="23012"/>
            <a:stretch/>
          </p:blipFill>
          <p:spPr>
            <a:xfrm>
              <a:off x="1057089" y="5050697"/>
              <a:ext cx="568155" cy="725839"/>
            </a:xfrm>
            <a:prstGeom prst="rect">
              <a:avLst/>
            </a:prstGeom>
          </p:spPr>
        </p:pic>
        <p:pic>
          <p:nvPicPr>
            <p:cNvPr id="130" name="Image 4">
              <a:extLst>
                <a:ext uri="{FF2B5EF4-FFF2-40B4-BE49-F238E27FC236}">
                  <a16:creationId xmlns:a16="http://schemas.microsoft.com/office/drawing/2014/main" id="{9598D671-5F15-4390-8EAA-65FBD158A25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6098" b="94207" l="9796" r="89796">
                          <a14:foregroundMark x1="57143" y1="12500" x2="57143" y2="12500"/>
                          <a14:foregroundMark x1="45306" y1="6707" x2="45306" y2="6707"/>
                          <a14:foregroundMark x1="57143" y1="90244" x2="57143" y2="90244"/>
                          <a14:foregroundMark x1="56327" y1="85671" x2="56327" y2="85671"/>
                          <a14:foregroundMark x1="45306" y1="89024" x2="45306" y2="89024"/>
                          <a14:foregroundMark x1="46939" y1="85061" x2="46939" y2="85061"/>
                          <a14:foregroundMark x1="47755" y1="90244" x2="47755" y2="90244"/>
                          <a14:foregroundMark x1="57143" y1="94207" x2="57143" y2="94207"/>
                          <a14:foregroundMark x1="42449" y1="65244" x2="42449" y2="65244"/>
                        </a14:backgroundRemoval>
                      </a14:imgEffect>
                    </a14:imgLayer>
                  </a14:imgProps>
                </a:ext>
              </a:extLst>
            </a:blip>
            <a:stretch>
              <a:fillRect/>
            </a:stretch>
          </p:blipFill>
          <p:spPr>
            <a:xfrm>
              <a:off x="1722172" y="4908890"/>
              <a:ext cx="798041" cy="1068398"/>
            </a:xfrm>
            <a:prstGeom prst="rect">
              <a:avLst/>
            </a:prstGeom>
          </p:spPr>
        </p:pic>
        <p:pic>
          <p:nvPicPr>
            <p:cNvPr id="131" name="Image 6">
              <a:extLst>
                <a:ext uri="{FF2B5EF4-FFF2-40B4-BE49-F238E27FC236}">
                  <a16:creationId xmlns:a16="http://schemas.microsoft.com/office/drawing/2014/main" id="{49C09B57-16BE-41B3-A023-F6DD756F6BCB}"/>
                </a:ext>
              </a:extLst>
            </p:cNvPr>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9899" b="91515" l="25263" r="69474">
                          <a14:foregroundMark x1="65088" y1="91515" x2="65088" y2="91515"/>
                          <a14:foregroundMark x1="62807" y1="81212" x2="62807" y2="81212"/>
                          <a14:foregroundMark x1="35088" y1="76162" x2="35088" y2="76162"/>
                          <a14:foregroundMark x1="35789" y1="75152" x2="35789" y2="75152"/>
                        </a14:backgroundRemoval>
                      </a14:imgEffect>
                    </a14:imgLayer>
                  </a14:imgProps>
                </a:ext>
                <a:ext uri="{28A0092B-C50C-407E-A947-70E740481C1C}">
                  <a14:useLocalDpi xmlns:a14="http://schemas.microsoft.com/office/drawing/2010/main" val="0"/>
                </a:ext>
              </a:extLst>
            </a:blip>
            <a:srcRect l="19827" r="24818"/>
            <a:stretch/>
          </p:blipFill>
          <p:spPr>
            <a:xfrm>
              <a:off x="2611726" y="4820248"/>
              <a:ext cx="743127" cy="1165835"/>
            </a:xfrm>
            <a:prstGeom prst="rect">
              <a:avLst/>
            </a:prstGeom>
          </p:spPr>
        </p:pic>
      </p:grpSp>
    </p:spTree>
    <p:extLst>
      <p:ext uri="{BB962C8B-B14F-4D97-AF65-F5344CB8AC3E}">
        <p14:creationId xmlns:p14="http://schemas.microsoft.com/office/powerpoint/2010/main" val="163088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righ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right)">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6" y="2097991"/>
            <a:ext cx="8318500" cy="1280829"/>
          </a:xfrm>
        </p:spPr>
        <p:txBody>
          <a:bodyPr/>
          <a:lstStyle/>
          <a:p>
            <a:r>
              <a:rPr lang="en-US" dirty="0"/>
              <a:t>Functional Safety Standards</a:t>
            </a:r>
          </a:p>
        </p:txBody>
      </p:sp>
    </p:spTree>
    <p:extLst>
      <p:ext uri="{BB962C8B-B14F-4D97-AF65-F5344CB8AC3E}">
        <p14:creationId xmlns:p14="http://schemas.microsoft.com/office/powerpoint/2010/main" val="4289889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417" y="97938"/>
            <a:ext cx="8352156" cy="1021002"/>
          </a:xfrm>
        </p:spPr>
        <p:txBody>
          <a:bodyPr/>
          <a:lstStyle/>
          <a:p>
            <a:r>
              <a:rPr lang="en-US" dirty="0"/>
              <a:t>Standards for Functional Safety</a:t>
            </a:r>
          </a:p>
        </p:txBody>
      </p:sp>
      <p:sp>
        <p:nvSpPr>
          <p:cNvPr id="5" name="Oval 4"/>
          <p:cNvSpPr/>
          <p:nvPr/>
        </p:nvSpPr>
        <p:spPr>
          <a:xfrm>
            <a:off x="3398902" y="1666154"/>
            <a:ext cx="1476684" cy="10078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IEC 61508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GE Inspira Pitch"/>
                <a:ea typeface="+mn-ea"/>
                <a:cs typeface="+mn-cs"/>
              </a:rPr>
              <a:t>(design of hardware &amp; software)</a:t>
            </a:r>
          </a:p>
        </p:txBody>
      </p:sp>
      <p:sp>
        <p:nvSpPr>
          <p:cNvPr id="16" name="Oval 15"/>
          <p:cNvSpPr/>
          <p:nvPr/>
        </p:nvSpPr>
        <p:spPr>
          <a:xfrm>
            <a:off x="1911779" y="5171355"/>
            <a:ext cx="1476684" cy="100780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USA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ANSI/ISA 84.00.01 </a:t>
            </a:r>
            <a:endParaRPr kumimoji="0" lang="en-US" sz="1000" b="0" i="0" u="none" strike="noStrike" kern="1200" cap="none" spc="0" normalizeH="0" baseline="0" noProof="0" dirty="0">
              <a:ln>
                <a:noFill/>
              </a:ln>
              <a:solidFill>
                <a:prstClr val="white"/>
              </a:solidFill>
              <a:effectLst/>
              <a:uLnTx/>
              <a:uFillTx/>
              <a:latin typeface="GE Inspira Pitch"/>
              <a:ea typeface="+mn-ea"/>
              <a:cs typeface="+mn-cs"/>
            </a:endParaRPr>
          </a:p>
        </p:txBody>
      </p:sp>
      <p:sp>
        <p:nvSpPr>
          <p:cNvPr id="17" name="Oval 16"/>
          <p:cNvSpPr/>
          <p:nvPr/>
        </p:nvSpPr>
        <p:spPr>
          <a:xfrm>
            <a:off x="1911779" y="3956656"/>
            <a:ext cx="1476684" cy="100780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IEC 61511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GE Inspira Pitch"/>
                <a:ea typeface="+mn-ea"/>
                <a:cs typeface="+mn-cs"/>
              </a:rPr>
              <a:t>(process)</a:t>
            </a:r>
          </a:p>
        </p:txBody>
      </p:sp>
      <p:sp>
        <p:nvSpPr>
          <p:cNvPr id="18" name="Oval 17"/>
          <p:cNvSpPr/>
          <p:nvPr/>
        </p:nvSpPr>
        <p:spPr>
          <a:xfrm>
            <a:off x="3627506" y="3956657"/>
            <a:ext cx="1476684" cy="100780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IEC 61513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GE Inspira Pitch"/>
                <a:ea typeface="+mn-ea"/>
                <a:cs typeface="+mn-cs"/>
              </a:rPr>
              <a:t>(nuclear)</a:t>
            </a:r>
          </a:p>
        </p:txBody>
      </p:sp>
      <p:sp>
        <p:nvSpPr>
          <p:cNvPr id="19" name="Oval 18"/>
          <p:cNvSpPr/>
          <p:nvPr/>
        </p:nvSpPr>
        <p:spPr>
          <a:xfrm>
            <a:off x="5353068" y="3952154"/>
            <a:ext cx="1476684" cy="100780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IEC 62061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GE Inspira Pitch"/>
                <a:ea typeface="+mn-ea"/>
                <a:cs typeface="+mn-cs"/>
              </a:rPr>
              <a:t>(manufacturing &amp; machineries)</a:t>
            </a:r>
          </a:p>
        </p:txBody>
      </p:sp>
      <p:sp>
        <p:nvSpPr>
          <p:cNvPr id="20" name="Oval 19"/>
          <p:cNvSpPr/>
          <p:nvPr/>
        </p:nvSpPr>
        <p:spPr>
          <a:xfrm>
            <a:off x="5353068" y="5171355"/>
            <a:ext cx="1476684" cy="10078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EN 13849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GE Inspira Pitch"/>
                <a:ea typeface="+mn-ea"/>
                <a:cs typeface="+mn-cs"/>
              </a:rPr>
              <a:t>(safety related parts of control systems)</a:t>
            </a:r>
          </a:p>
        </p:txBody>
      </p:sp>
      <p:cxnSp>
        <p:nvCxnSpPr>
          <p:cNvPr id="22" name="Elbow Connector 21"/>
          <p:cNvCxnSpPr>
            <a:cxnSpLocks/>
            <a:stCxn id="5" idx="4"/>
            <a:endCxn id="17" idx="0"/>
          </p:cNvCxnSpPr>
          <p:nvPr/>
        </p:nvCxnSpPr>
        <p:spPr>
          <a:xfrm rot="5400000">
            <a:off x="2752335" y="2571747"/>
            <a:ext cx="1282696" cy="1487123"/>
          </a:xfrm>
          <a:prstGeom prst="bentConnector3">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Elbow Connector 23"/>
          <p:cNvCxnSpPr>
            <a:cxnSpLocks/>
            <a:stCxn id="5" idx="4"/>
            <a:endCxn id="19" idx="0"/>
          </p:cNvCxnSpPr>
          <p:nvPr/>
        </p:nvCxnSpPr>
        <p:spPr>
          <a:xfrm rot="16200000" flipH="1">
            <a:off x="4475230" y="2335974"/>
            <a:ext cx="1278194" cy="1954166"/>
          </a:xfrm>
          <a:prstGeom prst="bentConnector3">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Left Brace 26"/>
          <p:cNvSpPr/>
          <p:nvPr/>
        </p:nvSpPr>
        <p:spPr>
          <a:xfrm>
            <a:off x="1431613" y="3918179"/>
            <a:ext cx="332009" cy="2227007"/>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GE Inspira Pitch"/>
              <a:ea typeface="+mn-ea"/>
              <a:cs typeface="+mn-cs"/>
            </a:endParaRPr>
          </a:p>
        </p:txBody>
      </p:sp>
      <p:sp>
        <p:nvSpPr>
          <p:cNvPr id="28" name="TextBox 27"/>
          <p:cNvSpPr txBox="1"/>
          <p:nvPr/>
        </p:nvSpPr>
        <p:spPr>
          <a:xfrm>
            <a:off x="113911" y="5292297"/>
            <a:ext cx="1469960"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5CB9"/>
                </a:solidFill>
                <a:effectLst/>
                <a:uLnTx/>
                <a:uFillTx/>
                <a:latin typeface="GE Inspira Pitch"/>
                <a:ea typeface="+mn-ea"/>
                <a:cs typeface="+mn-cs"/>
              </a:rPr>
              <a:t>USA standard is a mirror of IEC 61511</a:t>
            </a:r>
          </a:p>
        </p:txBody>
      </p:sp>
      <p:sp>
        <p:nvSpPr>
          <p:cNvPr id="29" name="TextBox 28"/>
          <p:cNvSpPr txBox="1"/>
          <p:nvPr/>
        </p:nvSpPr>
        <p:spPr>
          <a:xfrm>
            <a:off x="5104190" y="880787"/>
            <a:ext cx="3938208" cy="1661993"/>
          </a:xfrm>
          <a:prstGeom prst="rect">
            <a:avLst/>
          </a:prstGeom>
          <a:noFill/>
          <a:ln w="19050">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IEC 61508: </a:t>
            </a:r>
          </a:p>
          <a:p>
            <a:pPr marL="342900" marR="0" lvl="0" indent="-22542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Generic, stand-alone, functional safety standard for</a:t>
            </a:r>
          </a:p>
          <a:p>
            <a:pPr marL="117475"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       electrical/electronic/programmable electronic  </a:t>
            </a:r>
          </a:p>
          <a:p>
            <a:pPr marL="117475"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       safety-related systems</a:t>
            </a:r>
          </a:p>
          <a:p>
            <a:pPr marL="342900" marR="0" lvl="0" indent="-22542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Provides the framework and core requirements for sector specific standards</a:t>
            </a:r>
          </a:p>
          <a:p>
            <a:pPr marL="342900" marR="0" lvl="0" indent="-22542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Sets the standards for safety-related system design of hardware and software</a:t>
            </a:r>
          </a:p>
          <a:p>
            <a:pPr marL="342900" marR="0" lvl="0" indent="-225425"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93F8">
                    <a:lumMod val="75000"/>
                  </a:srgbClr>
                </a:solidFill>
                <a:effectLst/>
                <a:uLnTx/>
                <a:uFillTx/>
                <a:latin typeface="GE Inspira Pitch"/>
                <a:ea typeface="+mn-ea"/>
                <a:cs typeface="+mn-cs"/>
              </a:rPr>
              <a:t>First published in 1998</a:t>
            </a:r>
          </a:p>
        </p:txBody>
      </p:sp>
      <p:sp>
        <p:nvSpPr>
          <p:cNvPr id="35" name="TextBox 34"/>
          <p:cNvSpPr txBox="1"/>
          <p:nvPr/>
        </p:nvSpPr>
        <p:spPr>
          <a:xfrm>
            <a:off x="6866188" y="4876799"/>
            <a:ext cx="2176211" cy="1477328"/>
          </a:xfrm>
          <a:prstGeom prst="rect">
            <a:avLst/>
          </a:prstGeom>
          <a:solidFill>
            <a:schemeClr val="bg1"/>
          </a:solidFill>
          <a:ln w="19050">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75757"/>
                </a:solidFill>
                <a:effectLst/>
                <a:uLnTx/>
                <a:uFillTx/>
                <a:latin typeface="GE Inspira Pitch"/>
                <a:ea typeface="+mn-ea"/>
                <a:cs typeface="+mn-cs"/>
              </a:rPr>
              <a:t>EN 13849:</a:t>
            </a:r>
          </a:p>
          <a:p>
            <a:pPr marL="342900" marR="0" lvl="0" indent="-2254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75757"/>
                </a:solidFill>
                <a:effectLst/>
                <a:uLnTx/>
                <a:uFillTx/>
                <a:latin typeface="GE Inspira Pitch"/>
                <a:ea typeface="+mn-ea"/>
                <a:cs typeface="+mn-cs"/>
              </a:rPr>
              <a:t>Deterministic approach from EN 954-1</a:t>
            </a:r>
          </a:p>
          <a:p>
            <a:pPr marL="342900" marR="0" lvl="0" indent="-2254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75757"/>
                </a:solidFill>
                <a:effectLst/>
                <a:uLnTx/>
                <a:uFillTx/>
                <a:latin typeface="GE Inspira Pitch"/>
                <a:ea typeface="+mn-ea"/>
                <a:cs typeface="+mn-cs"/>
              </a:rPr>
              <a:t>Qualitative approach based on IEC 61508</a:t>
            </a:r>
          </a:p>
          <a:p>
            <a:pPr marL="342900" marR="0" lvl="0" indent="-2254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75757"/>
                </a:solidFill>
                <a:effectLst/>
                <a:uLnTx/>
                <a:uFillTx/>
                <a:latin typeface="GE Inspira Pitch"/>
                <a:ea typeface="+mn-ea"/>
                <a:cs typeface="+mn-cs"/>
              </a:rPr>
              <a:t>Stand-alone standard</a:t>
            </a:r>
          </a:p>
          <a:p>
            <a:pPr marL="342900" marR="0" lvl="0" indent="-2254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575757"/>
                </a:solidFill>
                <a:effectLst/>
                <a:uLnTx/>
                <a:uFillTx/>
                <a:latin typeface="GE Inspira Pitch"/>
                <a:ea typeface="+mn-ea"/>
                <a:cs typeface="+mn-cs"/>
              </a:rPr>
              <a:t>Harmonized to the EU Machinery directive</a:t>
            </a:r>
          </a:p>
        </p:txBody>
      </p:sp>
      <p:cxnSp>
        <p:nvCxnSpPr>
          <p:cNvPr id="21" name="Elbow Connector 23"/>
          <p:cNvCxnSpPr>
            <a:cxnSpLocks/>
            <a:stCxn id="5" idx="4"/>
            <a:endCxn id="30" idx="0"/>
          </p:cNvCxnSpPr>
          <p:nvPr/>
        </p:nvCxnSpPr>
        <p:spPr>
          <a:xfrm rot="5400000">
            <a:off x="1835003" y="1631289"/>
            <a:ext cx="1259570" cy="3344912"/>
          </a:xfrm>
          <a:prstGeom prst="bentConnector3">
            <a:avLst>
              <a:gd name="adj1" fmla="val 50000"/>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60085" y="3933530"/>
            <a:ext cx="1464494" cy="101795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GE Inspira Pitch"/>
                <a:ea typeface="+mn-ea"/>
                <a:cs typeface="+mn-cs"/>
              </a:rPr>
              <a:t>Other functional safety standards  </a:t>
            </a:r>
            <a:endParaRPr kumimoji="0" lang="en-US" sz="1000" b="0" i="0" u="none" strike="noStrike" kern="1200" cap="none" spc="0" normalizeH="0" baseline="0" noProof="0" dirty="0">
              <a:ln>
                <a:noFill/>
              </a:ln>
              <a:solidFill>
                <a:prstClr val="white"/>
              </a:solidFill>
              <a:effectLst/>
              <a:uLnTx/>
              <a:uFillTx/>
              <a:latin typeface="GE Inspira Pitch"/>
              <a:ea typeface="+mn-ea"/>
              <a:cs typeface="+mn-cs"/>
            </a:endParaRPr>
          </a:p>
        </p:txBody>
      </p:sp>
      <p:sp>
        <p:nvSpPr>
          <p:cNvPr id="37" name="TextBox 36"/>
          <p:cNvSpPr txBox="1"/>
          <p:nvPr/>
        </p:nvSpPr>
        <p:spPr>
          <a:xfrm>
            <a:off x="6866187" y="3767488"/>
            <a:ext cx="2176211" cy="553998"/>
          </a:xfrm>
          <a:prstGeom prst="rect">
            <a:avLst/>
          </a:prstGeom>
          <a:noFill/>
          <a:ln w="19050">
            <a:noFill/>
          </a:ln>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CC00"/>
                </a:solidFill>
                <a:effectLst/>
                <a:uLnTx/>
                <a:uFillTx/>
                <a:latin typeface="GE Inspira Pitch"/>
                <a:ea typeface="+mn-ea"/>
                <a:cs typeface="+mn-cs"/>
              </a:rPr>
              <a:t>IEC 62061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CC00"/>
                </a:solidFill>
                <a:effectLst/>
                <a:uLnTx/>
                <a:uFillTx/>
                <a:latin typeface="GE Inspira Pitch"/>
                <a:ea typeface="+mn-ea"/>
                <a:cs typeface="+mn-cs"/>
              </a:rPr>
              <a:t>Ongoing effort to include low demand </a:t>
            </a:r>
          </a:p>
        </p:txBody>
      </p:sp>
      <p:sp>
        <p:nvSpPr>
          <p:cNvPr id="8" name="Ellipse 7">
            <a:extLst>
              <a:ext uri="{FF2B5EF4-FFF2-40B4-BE49-F238E27FC236}">
                <a16:creationId xmlns:a16="http://schemas.microsoft.com/office/drawing/2014/main" id="{E132C732-C159-4953-9CEF-E23340A18731}"/>
              </a:ext>
            </a:extLst>
          </p:cNvPr>
          <p:cNvSpPr/>
          <p:nvPr/>
        </p:nvSpPr>
        <p:spPr>
          <a:xfrm>
            <a:off x="1727187" y="3537617"/>
            <a:ext cx="1863884" cy="2988129"/>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E Inspira Pitch"/>
              <a:ea typeface="+mn-ea"/>
              <a:cs typeface="+mn-cs"/>
            </a:endParaRPr>
          </a:p>
        </p:txBody>
      </p:sp>
      <p:cxnSp>
        <p:nvCxnSpPr>
          <p:cNvPr id="25" name="Elbow Connector 21">
            <a:extLst>
              <a:ext uri="{FF2B5EF4-FFF2-40B4-BE49-F238E27FC236}">
                <a16:creationId xmlns:a16="http://schemas.microsoft.com/office/drawing/2014/main" id="{122D33BB-B306-4BC3-A83C-72FC55A6B339}"/>
              </a:ext>
            </a:extLst>
          </p:cNvPr>
          <p:cNvCxnSpPr>
            <a:cxnSpLocks/>
            <a:stCxn id="5" idx="4"/>
          </p:cNvCxnSpPr>
          <p:nvPr/>
        </p:nvCxnSpPr>
        <p:spPr>
          <a:xfrm rot="16200000" flipH="1">
            <a:off x="3624837" y="3186367"/>
            <a:ext cx="1273692" cy="248878"/>
          </a:xfrm>
          <a:prstGeom prst="bentConnector3">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776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934" y="41246"/>
            <a:ext cx="8352156" cy="1021002"/>
          </a:xfrm>
        </p:spPr>
        <p:txBody>
          <a:bodyPr/>
          <a:lstStyle/>
          <a:p>
            <a:r>
              <a:rPr lang="en-US" dirty="0"/>
              <a:t>Drivers for Functional Safety Compliance</a:t>
            </a:r>
          </a:p>
        </p:txBody>
      </p:sp>
      <p:sp>
        <p:nvSpPr>
          <p:cNvPr id="5" name="Slide Number Placeholder 4"/>
          <p:cNvSpPr>
            <a:spLocks noGrp="1"/>
          </p:cNvSpPr>
          <p:nvPr>
            <p:ph type="sldNum" sz="quarter" idx="12"/>
          </p:nvPr>
        </p:nvSpPr>
        <p:spPr/>
        <p:txBody>
          <a:bodyPr/>
          <a:lstStyle/>
          <a:p>
            <a:fld id="{0D558541-60C9-42A2-8392-FF12533A6B7A}" type="slidenum">
              <a:rPr lang="en-US" dirty="0" smtClean="0"/>
              <a:t>11</a:t>
            </a:fld>
            <a:endParaRPr lang="en-US" dirty="0"/>
          </a:p>
        </p:txBody>
      </p:sp>
      <p:sp>
        <p:nvSpPr>
          <p:cNvPr id="8" name="TextBox 7"/>
          <p:cNvSpPr txBox="1"/>
          <p:nvPr/>
        </p:nvSpPr>
        <p:spPr>
          <a:xfrm>
            <a:off x="241933" y="593518"/>
            <a:ext cx="8612699" cy="5847755"/>
          </a:xfrm>
          <a:prstGeom prst="rect">
            <a:avLst/>
          </a:prstGeom>
          <a:noFill/>
        </p:spPr>
        <p:txBody>
          <a:bodyPr wrap="square" lIns="0" tIns="0" rIns="0" bIns="0" rtlCol="0">
            <a:spAutoFit/>
          </a:bodyPr>
          <a:lstStyle/>
          <a:p>
            <a:r>
              <a:rPr lang="en-US" sz="2000" b="1" dirty="0"/>
              <a:t>Regulations</a:t>
            </a:r>
          </a:p>
          <a:p>
            <a:pPr marL="342900" indent="-342900">
              <a:buFontTx/>
              <a:buChar char="-"/>
            </a:pPr>
            <a:r>
              <a:rPr lang="en-US" sz="2000" dirty="0"/>
              <a:t>IEC 61511 Australia - GAS REGULATIONS 2012 - AS-NZS 5601 - AS 3814 - AS 61511</a:t>
            </a:r>
          </a:p>
          <a:p>
            <a:pPr marL="342900" indent="-342900">
              <a:buFontTx/>
              <a:buChar char="-"/>
            </a:pPr>
            <a:r>
              <a:rPr lang="en-US" sz="2000" dirty="0"/>
              <a:t>CFE Mexico -Federal Law referencing NRF-045-PEMEX-2010</a:t>
            </a:r>
          </a:p>
          <a:p>
            <a:endParaRPr lang="en-US" sz="2000" b="1" dirty="0"/>
          </a:p>
          <a:p>
            <a:r>
              <a:rPr lang="en-US" sz="2000" b="1" dirty="0"/>
              <a:t>Qualification  as “State of the art” </a:t>
            </a:r>
          </a:p>
          <a:p>
            <a:pPr marL="342900" indent="-342900">
              <a:buFontTx/>
              <a:buChar char="-"/>
            </a:pPr>
            <a:r>
              <a:rPr lang="en-US" sz="2000" dirty="0"/>
              <a:t>SIL compliance defines benchmark of safe design (VGB, VDMA, UDT, Gasunie…)</a:t>
            </a:r>
          </a:p>
          <a:p>
            <a:pPr marL="342900" indent="-342900">
              <a:buFontTx/>
              <a:buChar char="-"/>
            </a:pPr>
            <a:r>
              <a:rPr lang="en-US" sz="2000" dirty="0"/>
              <a:t>Evaluated by local authorities for permitting</a:t>
            </a:r>
          </a:p>
          <a:p>
            <a:pPr marL="342900" indent="-342900">
              <a:buFontTx/>
              <a:buChar char="-"/>
            </a:pPr>
            <a:r>
              <a:rPr lang="en-US" sz="2000" dirty="0"/>
              <a:t>Legal litigations in case of accidents</a:t>
            </a:r>
          </a:p>
          <a:p>
            <a:endParaRPr lang="en-US" sz="2000" dirty="0"/>
          </a:p>
          <a:p>
            <a:r>
              <a:rPr lang="en-US" sz="2000" b="1" dirty="0"/>
              <a:t>Contractual obligation</a:t>
            </a:r>
          </a:p>
          <a:p>
            <a:pPr marL="342900" indent="-342900">
              <a:buFontTx/>
              <a:buChar char="-"/>
            </a:pPr>
            <a:r>
              <a:rPr lang="en-US" sz="2000" dirty="0"/>
              <a:t>Almost all petroleum companies requires SIL compliance </a:t>
            </a:r>
          </a:p>
          <a:p>
            <a:pPr marL="342900" indent="-342900">
              <a:buFontTx/>
              <a:buChar char="-"/>
            </a:pPr>
            <a:r>
              <a:rPr lang="en-US" sz="2000" dirty="0"/>
              <a:t>Algeria Mega deal</a:t>
            </a:r>
          </a:p>
          <a:p>
            <a:pPr marL="342900" indent="-342900">
              <a:buFontTx/>
              <a:buChar char="-"/>
            </a:pPr>
            <a:r>
              <a:rPr lang="en-US" sz="2000" dirty="0"/>
              <a:t>7EA Exxon Mobil</a:t>
            </a:r>
          </a:p>
          <a:p>
            <a:pPr marL="342900" indent="-342900">
              <a:buFontTx/>
              <a:buChar char="-"/>
            </a:pPr>
            <a:r>
              <a:rPr lang="en-US" sz="2000" dirty="0"/>
              <a:t>More requests for SIL certifications expected going forward</a:t>
            </a:r>
          </a:p>
          <a:p>
            <a:endParaRPr lang="en-US" sz="2000" dirty="0"/>
          </a:p>
          <a:p>
            <a:endParaRPr lang="en-US" sz="2000" dirty="0"/>
          </a:p>
          <a:p>
            <a:endParaRPr lang="en-US" sz="20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331" y="5959633"/>
            <a:ext cx="879407" cy="732839"/>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0297" y="5883596"/>
            <a:ext cx="707344" cy="82239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8570" y="6012362"/>
            <a:ext cx="2379423" cy="525014"/>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59669" y="5716995"/>
            <a:ext cx="777353" cy="998240"/>
          </a:xfrm>
          <a:prstGeom prst="rect">
            <a:avLst/>
          </a:prstGeom>
        </p:spPr>
      </p:pic>
    </p:spTree>
    <p:extLst>
      <p:ext uri="{BB962C8B-B14F-4D97-AF65-F5344CB8AC3E}">
        <p14:creationId xmlns:p14="http://schemas.microsoft.com/office/powerpoint/2010/main" val="3810688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6" y="2097991"/>
            <a:ext cx="8318500" cy="1280829"/>
          </a:xfrm>
        </p:spPr>
        <p:txBody>
          <a:bodyPr/>
          <a:lstStyle/>
          <a:p>
            <a:r>
              <a:rPr lang="en-US" dirty="0"/>
              <a:t>What is SIL (Safety Integrity Level) ?</a:t>
            </a:r>
          </a:p>
        </p:txBody>
      </p:sp>
    </p:spTree>
    <p:extLst>
      <p:ext uri="{BB962C8B-B14F-4D97-AF65-F5344CB8AC3E}">
        <p14:creationId xmlns:p14="http://schemas.microsoft.com/office/powerpoint/2010/main" val="52770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7" name="Rectangle 44"/>
          <p:cNvSpPr>
            <a:spLocks noGrp="1" noChangeArrowheads="1"/>
          </p:cNvSpPr>
          <p:nvPr>
            <p:ph type="title"/>
          </p:nvPr>
        </p:nvSpPr>
        <p:spPr>
          <a:xfrm>
            <a:off x="69212" y="31371"/>
            <a:ext cx="5954957" cy="572054"/>
          </a:xfrm>
          <a:noFill/>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vert="horz" wrap="none" lIns="88068" tIns="44033" rIns="88068" bIns="44033" rtlCol="0" anchor="t" anchorCtr="0">
            <a:noAutofit/>
          </a:bodyPr>
          <a:lstStyle/>
          <a:p>
            <a:pPr>
              <a:lnSpc>
                <a:spcPct val="100000"/>
              </a:lnSpc>
            </a:pPr>
            <a:r>
              <a:rPr lang="en-US" dirty="0">
                <a:solidFill>
                  <a:srgbClr val="004880"/>
                </a:solidFill>
              </a:rPr>
              <a:t>SIL – </a:t>
            </a:r>
            <a:r>
              <a:rPr lang="en-US" dirty="0">
                <a:solidFill>
                  <a:schemeClr val="accent1"/>
                </a:solidFill>
              </a:rPr>
              <a:t>S</a:t>
            </a:r>
            <a:r>
              <a:rPr lang="en-US" dirty="0">
                <a:solidFill>
                  <a:srgbClr val="004880"/>
                </a:solidFill>
              </a:rPr>
              <a:t>afety </a:t>
            </a:r>
            <a:r>
              <a:rPr lang="en-US" dirty="0">
                <a:solidFill>
                  <a:schemeClr val="accent1"/>
                </a:solidFill>
              </a:rPr>
              <a:t>I</a:t>
            </a:r>
            <a:r>
              <a:rPr lang="en-US" dirty="0">
                <a:solidFill>
                  <a:srgbClr val="004880"/>
                </a:solidFill>
              </a:rPr>
              <a:t>ntegrity </a:t>
            </a:r>
            <a:r>
              <a:rPr lang="en-US" dirty="0">
                <a:solidFill>
                  <a:schemeClr val="accent1"/>
                </a:solidFill>
              </a:rPr>
              <a:t>L</a:t>
            </a:r>
            <a:r>
              <a:rPr lang="en-US" dirty="0">
                <a:solidFill>
                  <a:srgbClr val="004880"/>
                </a:solidFill>
              </a:rPr>
              <a:t>evel</a:t>
            </a:r>
          </a:p>
        </p:txBody>
      </p:sp>
      <p:graphicFrame>
        <p:nvGraphicFramePr>
          <p:cNvPr id="71" name="Tableau 1"/>
          <p:cNvGraphicFramePr>
            <a:graphicFrameLocks noGrp="1"/>
          </p:cNvGraphicFramePr>
          <p:nvPr>
            <p:extLst>
              <p:ext uri="{D42A27DB-BD31-4B8C-83A1-F6EECF244321}">
                <p14:modId xmlns:p14="http://schemas.microsoft.com/office/powerpoint/2010/main" val="2899274333"/>
              </p:ext>
            </p:extLst>
          </p:nvPr>
        </p:nvGraphicFramePr>
        <p:xfrm>
          <a:off x="3088428" y="3097270"/>
          <a:ext cx="5558518" cy="2235065"/>
        </p:xfrm>
        <a:graphic>
          <a:graphicData uri="http://schemas.openxmlformats.org/drawingml/2006/table">
            <a:tbl>
              <a:tblPr firstRow="1" bandRow="1">
                <a:tableStyleId>{21E4AEA4-8DFA-4A89-87EB-49C32662AFE0}</a:tableStyleId>
              </a:tblPr>
              <a:tblGrid>
                <a:gridCol w="600919">
                  <a:extLst>
                    <a:ext uri="{9D8B030D-6E8A-4147-A177-3AD203B41FA5}">
                      <a16:colId xmlns:a16="http://schemas.microsoft.com/office/drawing/2014/main" val="20000"/>
                    </a:ext>
                  </a:extLst>
                </a:gridCol>
                <a:gridCol w="1720993">
                  <a:extLst>
                    <a:ext uri="{9D8B030D-6E8A-4147-A177-3AD203B41FA5}">
                      <a16:colId xmlns:a16="http://schemas.microsoft.com/office/drawing/2014/main" val="20001"/>
                    </a:ext>
                  </a:extLst>
                </a:gridCol>
                <a:gridCol w="1688664">
                  <a:extLst>
                    <a:ext uri="{9D8B030D-6E8A-4147-A177-3AD203B41FA5}">
                      <a16:colId xmlns:a16="http://schemas.microsoft.com/office/drawing/2014/main" val="20002"/>
                    </a:ext>
                  </a:extLst>
                </a:gridCol>
                <a:gridCol w="1547942">
                  <a:extLst>
                    <a:ext uri="{9D8B030D-6E8A-4147-A177-3AD203B41FA5}">
                      <a16:colId xmlns:a16="http://schemas.microsoft.com/office/drawing/2014/main" val="20003"/>
                    </a:ext>
                  </a:extLst>
                </a:gridCol>
              </a:tblGrid>
              <a:tr h="426055">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b="1" kern="1200" noProof="0" dirty="0">
                          <a:solidFill>
                            <a:schemeClr val="lt1"/>
                          </a:solidFill>
                          <a:latin typeface="+mn-lt"/>
                          <a:ea typeface="+mn-ea"/>
                          <a:cs typeface="+mn-cs"/>
                        </a:rPr>
                        <a:t>SIL</a:t>
                      </a:r>
                    </a:p>
                  </a:txBody>
                  <a:tcPr marL="84433" marR="84433" marT="42217" marB="42217" anchor="ctr">
                    <a:lnR w="12700" cap="flat" cmpd="sng" algn="ctr">
                      <a:solidFill>
                        <a:schemeClr val="bg1"/>
                      </a:solidFill>
                      <a:prstDash val="solid"/>
                      <a:round/>
                      <a:headEnd type="none" w="med" len="med"/>
                      <a:tailEnd type="none" w="med" len="med"/>
                    </a:lnR>
                  </a:tcPr>
                </a:tc>
                <a:tc gridSpan="2">
                  <a:txBody>
                    <a:bodyPr/>
                    <a:lstStyle/>
                    <a:p>
                      <a:pPr algn="ctr"/>
                      <a:r>
                        <a:rPr lang="en-US" sz="1300" noProof="0" dirty="0"/>
                        <a:t>On</a:t>
                      </a:r>
                      <a:r>
                        <a:rPr lang="en-US" sz="1300" baseline="0" noProof="0" dirty="0"/>
                        <a:t> demand</a:t>
                      </a:r>
                      <a:endParaRPr lang="en-US" sz="1300" noProof="0" dirty="0"/>
                    </a:p>
                  </a:txBody>
                  <a:tcPr marL="84433" marR="84433" marT="42217" marB="42217"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en-US" sz="1400" noProof="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Continuous</a:t>
                      </a:r>
                    </a:p>
                  </a:txBody>
                  <a:tcPr marL="84433" marR="84433" marT="42217" marB="42217" anchor="ctr">
                    <a:lnL w="381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75466">
                <a:tc v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b="1" kern="1200" noProof="0" dirty="0">
                        <a:solidFill>
                          <a:schemeClr val="lt1"/>
                        </a:solidFill>
                        <a:latin typeface="+mn-lt"/>
                        <a:ea typeface="+mn-ea"/>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b="1" kern="1200" noProof="0" dirty="0">
                          <a:solidFill>
                            <a:schemeClr val="lt1"/>
                          </a:solidFill>
                          <a:latin typeface="+mn-lt"/>
                          <a:ea typeface="+mn-ea"/>
                          <a:cs typeface="+mn-cs"/>
                        </a:rPr>
                        <a:t>Probability of Failure on Demand (PFD</a:t>
                      </a:r>
                      <a:r>
                        <a:rPr lang="en-US" sz="1300" b="1" kern="1200" baseline="-25000" noProof="0" dirty="0">
                          <a:solidFill>
                            <a:schemeClr val="lt1"/>
                          </a:solidFill>
                          <a:latin typeface="+mn-lt"/>
                          <a:ea typeface="+mn-ea"/>
                          <a:cs typeface="+mn-cs"/>
                        </a:rPr>
                        <a:t>avg</a:t>
                      </a:r>
                      <a:r>
                        <a:rPr lang="en-US" sz="1300" b="1" kern="1200" noProof="0" dirty="0">
                          <a:solidFill>
                            <a:schemeClr val="lt1"/>
                          </a:solidFill>
                          <a:latin typeface="+mn-lt"/>
                          <a:ea typeface="+mn-ea"/>
                          <a:cs typeface="+mn-cs"/>
                        </a:rPr>
                        <a:t>)</a:t>
                      </a:r>
                    </a:p>
                  </a:txBody>
                  <a:tcPr marL="84433" marR="84433" marT="42217" marB="422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rtl="0" eaLnBrk="1" fontAlgn="auto" latinLnBrk="0" hangingPunct="1">
                        <a:lnSpc>
                          <a:spcPct val="100000"/>
                        </a:lnSpc>
                        <a:spcBef>
                          <a:spcPts val="0"/>
                        </a:spcBef>
                        <a:spcAft>
                          <a:spcPts val="0"/>
                        </a:spcAft>
                        <a:buClrTx/>
                        <a:buSzTx/>
                        <a:buFontTx/>
                        <a:buNone/>
                      </a:pPr>
                      <a:r>
                        <a:rPr lang="en-US" sz="1300" b="1" kern="1200" noProof="0" dirty="0">
                          <a:solidFill>
                            <a:schemeClr val="lt1"/>
                          </a:solidFill>
                          <a:latin typeface="+mn-lt"/>
                          <a:ea typeface="+mn-ea"/>
                          <a:cs typeface="+mn-cs"/>
                        </a:rPr>
                        <a:t> Targeted Risk Reduction Factor (1/</a:t>
                      </a:r>
                      <a:r>
                        <a:rPr lang="en-US" sz="1300" b="1" kern="1200" noProof="0" dirty="0" err="1">
                          <a:solidFill>
                            <a:schemeClr val="lt1"/>
                          </a:solidFill>
                          <a:latin typeface="+mn-lt"/>
                          <a:ea typeface="+mn-ea"/>
                          <a:cs typeface="+mn-cs"/>
                        </a:rPr>
                        <a:t>PFDavg</a:t>
                      </a:r>
                      <a:r>
                        <a:rPr lang="en-US" sz="1300" b="1" kern="1200" noProof="0" dirty="0">
                          <a:solidFill>
                            <a:schemeClr val="lt1"/>
                          </a:solidFill>
                          <a:latin typeface="+mn-lt"/>
                          <a:ea typeface="+mn-ea"/>
                          <a:cs typeface="+mn-cs"/>
                        </a:rPr>
                        <a:t>)</a:t>
                      </a:r>
                    </a:p>
                  </a:txBody>
                  <a:tcPr marL="84433" marR="84433" marT="42217" marB="42217"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b="1" kern="1200" noProof="0" dirty="0">
                          <a:solidFill>
                            <a:schemeClr val="lt1"/>
                          </a:solidFill>
                          <a:latin typeface="+mn-lt"/>
                          <a:ea typeface="+mn-ea"/>
                          <a:cs typeface="+mn-cs"/>
                        </a:rPr>
                        <a:t>Dangerous Failure Per Hour (λ)</a:t>
                      </a:r>
                    </a:p>
                  </a:txBody>
                  <a:tcPr marL="84433" marR="84433" marT="42217" marB="42217" anchor="ctr">
                    <a:lnL w="381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0001"/>
                  </a:ext>
                </a:extLst>
              </a:tr>
              <a:tr h="281444">
                <a:tc>
                  <a:txBody>
                    <a:bodyPr/>
                    <a:lstStyle/>
                    <a:p>
                      <a:pPr algn="ctr"/>
                      <a:r>
                        <a:rPr lang="en-US" sz="1300" noProof="0" dirty="0"/>
                        <a:t>4</a:t>
                      </a:r>
                    </a:p>
                  </a:txBody>
                  <a:tcPr marL="84433" marR="84433" marT="42217" marB="42217" anchor="ctr">
                    <a:solidFill>
                      <a:srgbClr val="FF0000"/>
                    </a:solidFill>
                  </a:tcPr>
                </a:tc>
                <a:tc>
                  <a:txBody>
                    <a:bodyPr/>
                    <a:lstStyle/>
                    <a:p>
                      <a:pPr algn="ctr"/>
                      <a:r>
                        <a:rPr lang="en-US" sz="1300" noProof="0" dirty="0"/>
                        <a:t>10</a:t>
                      </a:r>
                      <a:r>
                        <a:rPr lang="en-US" sz="1300" baseline="30000" noProof="0" dirty="0"/>
                        <a:t>-5</a:t>
                      </a:r>
                      <a:r>
                        <a:rPr lang="en-US" sz="1300" noProof="0" dirty="0"/>
                        <a:t>&lt;</a:t>
                      </a:r>
                      <a:r>
                        <a:rPr lang="en-US" sz="1300" baseline="0" noProof="0" dirty="0"/>
                        <a:t> </a:t>
                      </a:r>
                      <a:r>
                        <a:rPr lang="en-US" sz="1300" baseline="0" noProof="0" dirty="0" err="1"/>
                        <a:t>PFD</a:t>
                      </a:r>
                      <a:r>
                        <a:rPr lang="en-US" sz="1300" baseline="-25000" noProof="0" dirty="0" err="1"/>
                        <a:t>avg</a:t>
                      </a:r>
                      <a:r>
                        <a:rPr lang="en-US" sz="1300" baseline="0" noProof="0" dirty="0"/>
                        <a:t> ≤ 10</a:t>
                      </a:r>
                      <a:r>
                        <a:rPr lang="en-US" sz="1300" baseline="30000" noProof="0" dirty="0"/>
                        <a:t>-4</a:t>
                      </a:r>
                    </a:p>
                  </a:txBody>
                  <a:tcPr marL="84433" marR="84433" marT="42217" marB="42217" anchor="ctr">
                    <a:lnT w="38100" cap="flat" cmpd="sng" algn="ctr">
                      <a:solidFill>
                        <a:schemeClr val="bg1"/>
                      </a:solidFill>
                      <a:prstDash val="solid"/>
                      <a:round/>
                      <a:headEnd type="none" w="med" len="med"/>
                      <a:tailEnd type="none" w="med" len="med"/>
                    </a:lnT>
                  </a:tcPr>
                </a:tc>
                <a:tc>
                  <a:txBody>
                    <a:bodyPr/>
                    <a:lstStyle/>
                    <a:p>
                      <a:pPr algn="ctr"/>
                      <a:r>
                        <a:rPr lang="en-US" sz="1300" noProof="0" dirty="0"/>
                        <a:t>10 000 to 100 000</a:t>
                      </a:r>
                      <a:r>
                        <a:rPr lang="en-US" sz="1300" baseline="0" noProof="0" dirty="0"/>
                        <a:t> </a:t>
                      </a:r>
                      <a:endParaRPr lang="en-US" sz="1300" noProof="0"/>
                    </a:p>
                  </a:txBody>
                  <a:tcPr marL="84433" marR="84433" marT="42217" marB="42217"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tcPr>
                </a:tc>
                <a:tc>
                  <a:txBody>
                    <a:bodyPr/>
                    <a:lstStyle/>
                    <a:p>
                      <a:pPr algn="ctr"/>
                      <a:r>
                        <a:rPr lang="en-US" sz="1300" noProof="0" dirty="0"/>
                        <a:t>10</a:t>
                      </a:r>
                      <a:r>
                        <a:rPr lang="en-US" sz="1300" baseline="30000" noProof="0" dirty="0"/>
                        <a:t>-9</a:t>
                      </a:r>
                      <a:r>
                        <a:rPr lang="en-US" sz="1300" noProof="0" dirty="0"/>
                        <a:t>&lt;</a:t>
                      </a:r>
                      <a:r>
                        <a:rPr lang="en-US" sz="1300" baseline="0" noProof="0" dirty="0"/>
                        <a:t> λ ≤ 10</a:t>
                      </a:r>
                      <a:r>
                        <a:rPr lang="en-US" sz="1300" baseline="30000" noProof="0" dirty="0"/>
                        <a:t>-8</a:t>
                      </a:r>
                    </a:p>
                  </a:txBody>
                  <a:tcPr marL="84433" marR="84433" marT="42217" marB="42217"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0002"/>
                  </a:ext>
                </a:extLst>
              </a:tr>
              <a:tr h="281444">
                <a:tc>
                  <a:txBody>
                    <a:bodyPr/>
                    <a:lstStyle/>
                    <a:p>
                      <a:pPr algn="ctr"/>
                      <a:r>
                        <a:rPr lang="en-US" sz="1300" noProof="0" dirty="0"/>
                        <a:t>3</a:t>
                      </a:r>
                    </a:p>
                  </a:txBody>
                  <a:tcPr marL="84433" marR="84433" marT="42217" marB="42217" anchor="ctr">
                    <a:solidFill>
                      <a:srgbClr val="FF99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-4</a:t>
                      </a:r>
                      <a:r>
                        <a:rPr lang="en-US" sz="1300" noProof="0" dirty="0"/>
                        <a:t>&lt;</a:t>
                      </a:r>
                      <a:r>
                        <a:rPr lang="en-US" sz="1300" baseline="0" noProof="0" dirty="0"/>
                        <a:t> </a:t>
                      </a:r>
                      <a:r>
                        <a:rPr lang="en-US" sz="1300" baseline="0" noProof="0" dirty="0" err="1"/>
                        <a:t>PFD</a:t>
                      </a:r>
                      <a:r>
                        <a:rPr lang="en-US" sz="1300" baseline="-25000" noProof="0" dirty="0" err="1"/>
                        <a:t>avg</a:t>
                      </a:r>
                      <a:r>
                        <a:rPr lang="en-US" sz="1300" baseline="0" noProof="0" dirty="0"/>
                        <a:t> ≤ 10</a:t>
                      </a:r>
                      <a:r>
                        <a:rPr lang="en-US" sz="1300" baseline="30000" noProof="0" dirty="0"/>
                        <a:t>-3</a:t>
                      </a:r>
                    </a:p>
                  </a:txBody>
                  <a:tcPr marL="84433" marR="84433" marT="42217" marB="42217" anchor="ctr"/>
                </a:tc>
                <a:tc>
                  <a:txBody>
                    <a:bodyPr/>
                    <a:lstStyle/>
                    <a:p>
                      <a:pPr algn="ctr"/>
                      <a:r>
                        <a:rPr lang="en-US" sz="1300" noProof="0" dirty="0"/>
                        <a:t>1 000 t</a:t>
                      </a:r>
                      <a:r>
                        <a:rPr lang="en-US" sz="1300" baseline="0" noProof="0" dirty="0"/>
                        <a:t>o 10 000</a:t>
                      </a:r>
                      <a:endParaRPr lang="en-US" sz="1300" noProof="0" dirty="0"/>
                    </a:p>
                  </a:txBody>
                  <a:tcPr marL="84433" marR="84433" marT="42217" marB="42217" anchor="ctr">
                    <a:lnR w="38100" cap="flat" cmpd="sng" algn="ctr">
                      <a:solidFill>
                        <a:schemeClr val="bg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-8</a:t>
                      </a:r>
                      <a:r>
                        <a:rPr lang="en-US" sz="1300" noProof="0" dirty="0"/>
                        <a:t>&lt;</a:t>
                      </a:r>
                      <a:r>
                        <a:rPr lang="en-US" sz="1300" baseline="0" noProof="0" dirty="0"/>
                        <a:t> λ ≤ 10</a:t>
                      </a:r>
                      <a:r>
                        <a:rPr lang="en-US" sz="1300" baseline="30000" noProof="0" dirty="0"/>
                        <a:t>-7</a:t>
                      </a:r>
                    </a:p>
                  </a:txBody>
                  <a:tcPr marL="84433" marR="84433" marT="42217" marB="42217" anchor="ctr">
                    <a:lnL w="381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3"/>
                  </a:ext>
                </a:extLst>
              </a:tr>
              <a:tr h="281444">
                <a:tc>
                  <a:txBody>
                    <a:bodyPr/>
                    <a:lstStyle/>
                    <a:p>
                      <a:pPr algn="ctr"/>
                      <a:r>
                        <a:rPr lang="en-US" sz="1300" noProof="0" dirty="0"/>
                        <a:t>2</a:t>
                      </a:r>
                    </a:p>
                  </a:txBody>
                  <a:tcPr marL="84433" marR="84433" marT="42217" marB="42217" anchor="ctr">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-3</a:t>
                      </a:r>
                      <a:r>
                        <a:rPr lang="en-US" sz="1300" noProof="0" dirty="0"/>
                        <a:t>&lt;</a:t>
                      </a:r>
                      <a:r>
                        <a:rPr lang="en-US" sz="1300" baseline="0" noProof="0" dirty="0"/>
                        <a:t> </a:t>
                      </a:r>
                      <a:r>
                        <a:rPr lang="en-US" sz="1300" baseline="0" noProof="0" dirty="0" err="1"/>
                        <a:t>PFD</a:t>
                      </a:r>
                      <a:r>
                        <a:rPr lang="en-US" sz="1300" baseline="-25000" noProof="0" dirty="0" err="1"/>
                        <a:t>avg</a:t>
                      </a:r>
                      <a:r>
                        <a:rPr lang="en-US" sz="1300" baseline="0" noProof="0" dirty="0"/>
                        <a:t> ≤ 10</a:t>
                      </a:r>
                      <a:r>
                        <a:rPr lang="en-US" sz="1300" baseline="30000" noProof="0" dirty="0"/>
                        <a:t>-2</a:t>
                      </a:r>
                    </a:p>
                  </a:txBody>
                  <a:tcPr marL="84433" marR="84433" marT="42217" marB="42217" anchor="ctr"/>
                </a:tc>
                <a:tc>
                  <a:txBody>
                    <a:bodyPr/>
                    <a:lstStyle/>
                    <a:p>
                      <a:pPr algn="ctr"/>
                      <a:r>
                        <a:rPr lang="en-US" sz="1300" noProof="0" dirty="0"/>
                        <a:t>100 to 1 000</a:t>
                      </a:r>
                    </a:p>
                  </a:txBody>
                  <a:tcPr marL="84433" marR="84433" marT="42217" marB="42217" anchor="ctr">
                    <a:lnR w="38100" cap="flat" cmpd="sng" algn="ctr">
                      <a:solidFill>
                        <a:schemeClr val="bg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-7</a:t>
                      </a:r>
                      <a:r>
                        <a:rPr lang="en-US" sz="1300" noProof="0" dirty="0"/>
                        <a:t>&lt;</a:t>
                      </a:r>
                      <a:r>
                        <a:rPr lang="en-US" sz="1300" baseline="0" noProof="0" dirty="0"/>
                        <a:t> λ ≤ 10</a:t>
                      </a:r>
                      <a:r>
                        <a:rPr lang="en-US" sz="1300" baseline="30000" noProof="0" dirty="0"/>
                        <a:t>-6</a:t>
                      </a:r>
                    </a:p>
                  </a:txBody>
                  <a:tcPr marL="84433" marR="84433" marT="42217" marB="42217" anchor="ctr">
                    <a:lnL w="381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4"/>
                  </a:ext>
                </a:extLst>
              </a:tr>
              <a:tr h="281444">
                <a:tc>
                  <a:txBody>
                    <a:bodyPr/>
                    <a:lstStyle/>
                    <a:p>
                      <a:pPr algn="ctr"/>
                      <a:r>
                        <a:rPr lang="en-US" sz="1300" noProof="0" dirty="0"/>
                        <a:t>1</a:t>
                      </a:r>
                    </a:p>
                  </a:txBody>
                  <a:tcPr marL="84433" marR="84433" marT="42217" marB="42217" anchor="ctr">
                    <a:solidFill>
                      <a:srgbClr val="92D05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-2</a:t>
                      </a:r>
                      <a:r>
                        <a:rPr lang="en-US" sz="1300" noProof="0" dirty="0"/>
                        <a:t>&lt;</a:t>
                      </a:r>
                      <a:r>
                        <a:rPr lang="en-US" sz="1300" baseline="0" noProof="0" dirty="0"/>
                        <a:t> </a:t>
                      </a:r>
                      <a:r>
                        <a:rPr lang="en-US" sz="1300" baseline="0" noProof="0" dirty="0" err="1"/>
                        <a:t>PFD</a:t>
                      </a:r>
                      <a:r>
                        <a:rPr lang="en-US" sz="1300" baseline="-25000" noProof="0" dirty="0" err="1"/>
                        <a:t>avg</a:t>
                      </a:r>
                      <a:r>
                        <a:rPr lang="en-US" sz="1300" baseline="0" noProof="0" dirty="0"/>
                        <a:t> ≤ 10</a:t>
                      </a:r>
                      <a:r>
                        <a:rPr lang="en-US" sz="1300" baseline="30000" noProof="0" dirty="0"/>
                        <a:t>-1</a:t>
                      </a:r>
                    </a:p>
                  </a:txBody>
                  <a:tcPr marL="84433" marR="84433" marT="42217" marB="42217" anchor="ctr"/>
                </a:tc>
                <a:tc>
                  <a:txBody>
                    <a:bodyPr/>
                    <a:lstStyle/>
                    <a:p>
                      <a:pPr algn="ctr"/>
                      <a:r>
                        <a:rPr lang="en-US" sz="1300" noProof="0" dirty="0"/>
                        <a:t>10 to 100</a:t>
                      </a:r>
                    </a:p>
                  </a:txBody>
                  <a:tcPr marL="84433" marR="84433" marT="42217" marB="42217" anchor="ctr">
                    <a:lnR w="38100" cap="flat" cmpd="sng" algn="ctr">
                      <a:solidFill>
                        <a:schemeClr val="bg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300" noProof="0" dirty="0"/>
                        <a:t>10</a:t>
                      </a:r>
                      <a:r>
                        <a:rPr lang="en-US" sz="1300" baseline="30000" noProof="0" dirty="0"/>
                        <a:t>-6</a:t>
                      </a:r>
                      <a:r>
                        <a:rPr lang="en-US" sz="1300" noProof="0" dirty="0"/>
                        <a:t>&lt;</a:t>
                      </a:r>
                      <a:r>
                        <a:rPr lang="en-US" sz="1300" baseline="0" noProof="0" dirty="0"/>
                        <a:t> λ ≤ 10</a:t>
                      </a:r>
                      <a:r>
                        <a:rPr lang="en-US" sz="1300" baseline="30000" noProof="0" dirty="0"/>
                        <a:t>-5</a:t>
                      </a:r>
                    </a:p>
                  </a:txBody>
                  <a:tcPr marL="84433" marR="84433" marT="42217" marB="42217" anchor="ctr">
                    <a:lnL w="381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
        <p:nvSpPr>
          <p:cNvPr id="74" name="ZoneTexte 187"/>
          <p:cNvSpPr txBox="1"/>
          <p:nvPr/>
        </p:nvSpPr>
        <p:spPr>
          <a:xfrm rot="16200000">
            <a:off x="277557" y="4457999"/>
            <a:ext cx="2141315" cy="338554"/>
          </a:xfrm>
          <a:prstGeom prst="rect">
            <a:avLst/>
          </a:prstGeom>
          <a:noFill/>
        </p:spPr>
        <p:txBody>
          <a:bodyPr wrap="square" rtlCol="0">
            <a:spAutoFit/>
          </a:bodyPr>
          <a:lstStyle/>
          <a:p>
            <a:pPr algn="ctr"/>
            <a:r>
              <a:rPr lang="en-US" sz="1600" dirty="0" err="1"/>
              <a:t>R’qmt</a:t>
            </a:r>
            <a:r>
              <a:rPr lang="en-US" sz="1600" dirty="0"/>
              <a:t>   Stringency</a:t>
            </a:r>
          </a:p>
        </p:txBody>
      </p:sp>
      <p:sp>
        <p:nvSpPr>
          <p:cNvPr id="81" name="ZoneTexte 204"/>
          <p:cNvSpPr txBox="1"/>
          <p:nvPr/>
        </p:nvSpPr>
        <p:spPr>
          <a:xfrm rot="16200000">
            <a:off x="-195705" y="4750677"/>
            <a:ext cx="1555959" cy="338554"/>
          </a:xfrm>
          <a:prstGeom prst="rect">
            <a:avLst/>
          </a:prstGeom>
          <a:noFill/>
        </p:spPr>
        <p:txBody>
          <a:bodyPr wrap="square" rtlCol="0">
            <a:spAutoFit/>
          </a:bodyPr>
          <a:lstStyle/>
          <a:p>
            <a:pPr algn="ctr"/>
            <a:r>
              <a:rPr lang="en-US" sz="1600" dirty="0"/>
              <a:t>Process risk</a:t>
            </a:r>
          </a:p>
        </p:txBody>
      </p:sp>
      <p:sp>
        <p:nvSpPr>
          <p:cNvPr id="95" name="ZoneTexte 222"/>
          <p:cNvSpPr txBox="1"/>
          <p:nvPr/>
        </p:nvSpPr>
        <p:spPr>
          <a:xfrm rot="16200000">
            <a:off x="1585161" y="4543927"/>
            <a:ext cx="1407789" cy="603883"/>
          </a:xfrm>
          <a:prstGeom prst="rect">
            <a:avLst/>
          </a:prstGeom>
          <a:noFill/>
        </p:spPr>
        <p:txBody>
          <a:bodyPr wrap="square" rtlCol="0">
            <a:spAutoFit/>
          </a:bodyPr>
          <a:lstStyle/>
          <a:p>
            <a:pPr algn="ctr"/>
            <a:r>
              <a:rPr lang="en-US" sz="1600" dirty="0"/>
              <a:t>Equipment availability</a:t>
            </a:r>
          </a:p>
        </p:txBody>
      </p:sp>
      <p:sp>
        <p:nvSpPr>
          <p:cNvPr id="51" name="Rectangle 7"/>
          <p:cNvSpPr>
            <a:spLocks noGrp="1" noChangeArrowheads="1"/>
          </p:cNvSpPr>
          <p:nvPr>
            <p:ph idx="1"/>
          </p:nvPr>
        </p:nvSpPr>
        <p:spPr>
          <a:xfrm>
            <a:off x="215223" y="588373"/>
            <a:ext cx="8683377" cy="3001242"/>
          </a:xfrm>
          <a:prstGeom prst="rect">
            <a:avLst/>
          </a:prstGeom>
        </p:spPr>
        <p:txBody>
          <a:bodyPr/>
          <a:lstStyle/>
          <a:p>
            <a:pPr algn="just">
              <a:spcBef>
                <a:spcPct val="20000"/>
              </a:spcBef>
            </a:pPr>
            <a:r>
              <a:rPr lang="en-US" sz="1662" dirty="0">
                <a:latin typeface="GE Inspira" pitchFamily="34" charset="0"/>
              </a:rPr>
              <a:t>Discrete level (from 1 to 4) for specifying the required</a:t>
            </a:r>
            <a:r>
              <a:rPr lang="en-US" sz="1662" dirty="0">
                <a:solidFill>
                  <a:srgbClr val="FF0000"/>
                </a:solidFill>
                <a:latin typeface="GE Inspira" pitchFamily="34" charset="0"/>
              </a:rPr>
              <a:t> </a:t>
            </a:r>
            <a:r>
              <a:rPr lang="en-US" sz="1662" dirty="0">
                <a:latin typeface="GE Inspira" pitchFamily="34" charset="0"/>
              </a:rPr>
              <a:t>reliability of the safety instrumented function. Safety integrity level 4 has the highest level of safety integrity</a:t>
            </a:r>
          </a:p>
          <a:p>
            <a:pPr algn="just">
              <a:spcBef>
                <a:spcPct val="20000"/>
              </a:spcBef>
            </a:pPr>
            <a:endParaRPr lang="en-US" sz="1662" dirty="0">
              <a:latin typeface="GE Inspira" pitchFamily="34" charset="0"/>
            </a:endParaRPr>
          </a:p>
          <a:p>
            <a:pPr algn="just">
              <a:spcBef>
                <a:spcPct val="20000"/>
              </a:spcBef>
            </a:pPr>
            <a:r>
              <a:rPr lang="en-US" sz="1662" dirty="0">
                <a:latin typeface="GE Inspira" pitchFamily="34" charset="0"/>
              </a:rPr>
              <a:t>Safety Integrity is attained by following measures – </a:t>
            </a:r>
          </a:p>
          <a:p>
            <a:pPr marL="285750" indent="-285750" algn="just">
              <a:spcBef>
                <a:spcPct val="20000"/>
              </a:spcBef>
              <a:buFontTx/>
              <a:buChar char="-"/>
            </a:pPr>
            <a:r>
              <a:rPr lang="en-US" sz="1662" dirty="0">
                <a:latin typeface="GE Inspira" pitchFamily="34" charset="0"/>
              </a:rPr>
              <a:t>Reliable system design (reliable components)</a:t>
            </a:r>
          </a:p>
          <a:p>
            <a:pPr marL="285750" indent="-285750" algn="just">
              <a:spcBef>
                <a:spcPct val="20000"/>
              </a:spcBef>
              <a:buFontTx/>
              <a:buChar char="-"/>
            </a:pPr>
            <a:r>
              <a:rPr lang="en-US" sz="1662" dirty="0">
                <a:latin typeface="GE Inspira" pitchFamily="34" charset="0"/>
              </a:rPr>
              <a:t>Reliable system architecture (redundancies)</a:t>
            </a:r>
          </a:p>
          <a:p>
            <a:pPr marL="285750" indent="-285750" algn="just">
              <a:spcBef>
                <a:spcPct val="20000"/>
              </a:spcBef>
              <a:buFontTx/>
              <a:buChar char="-"/>
            </a:pPr>
            <a:r>
              <a:rPr lang="en-US" sz="1662" dirty="0">
                <a:latin typeface="GE Inspira" pitchFamily="34" charset="0"/>
              </a:rPr>
              <a:t>Measures against systematic errors</a:t>
            </a:r>
          </a:p>
          <a:p>
            <a:pPr algn="just">
              <a:spcBef>
                <a:spcPct val="20000"/>
              </a:spcBef>
            </a:pPr>
            <a:endParaRPr lang="en-US" sz="1662" dirty="0">
              <a:latin typeface="GE Inspira" pitchFamily="34" charset="0"/>
            </a:endParaRPr>
          </a:p>
          <a:p>
            <a:pPr lvl="1" indent="0" algn="just">
              <a:spcBef>
                <a:spcPct val="20000"/>
              </a:spcBef>
              <a:buNone/>
            </a:pPr>
            <a:endParaRPr lang="en-US" sz="862" dirty="0">
              <a:latin typeface="GE Inspira" pitchFamily="34" charset="0"/>
            </a:endParaRPr>
          </a:p>
          <a:p>
            <a:pPr marL="285750" indent="-285750" algn="just">
              <a:spcBef>
                <a:spcPct val="20000"/>
              </a:spcBef>
              <a:buFontTx/>
              <a:buChar char="-"/>
            </a:pPr>
            <a:endParaRPr lang="en-US" sz="1662" dirty="0">
              <a:latin typeface="GE Inspira" pitchFamily="34" charset="0"/>
            </a:endParaRPr>
          </a:p>
          <a:p>
            <a:pPr algn="just">
              <a:spcBef>
                <a:spcPct val="20000"/>
              </a:spcBef>
            </a:pPr>
            <a:endParaRPr lang="en-US" sz="1662" dirty="0">
              <a:latin typeface="GE Inspira" pitchFamily="34" charset="0"/>
            </a:endParaRPr>
          </a:p>
        </p:txBody>
      </p:sp>
      <p:sp>
        <p:nvSpPr>
          <p:cNvPr id="2" name="Arrow: Down 1"/>
          <p:cNvSpPr/>
          <p:nvPr/>
        </p:nvSpPr>
        <p:spPr>
          <a:xfrm rot="10800000">
            <a:off x="682501" y="4141974"/>
            <a:ext cx="433008" cy="1266501"/>
          </a:xfrm>
          <a:prstGeom prst="downArrow">
            <a:avLst/>
          </a:prstGeom>
          <a:gradFill>
            <a:gsLst>
              <a:gs pos="57000">
                <a:srgbClr val="FF0000"/>
              </a:gs>
              <a:gs pos="81000">
                <a:srgbClr val="DE2533"/>
              </a:gs>
              <a:gs pos="6000">
                <a:schemeClr val="accent3"/>
              </a:gs>
              <a:gs pos="24000">
                <a:schemeClr val="accent3"/>
              </a:gs>
              <a:gs pos="29000">
                <a:srgbClr val="00B05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Down 33"/>
          <p:cNvSpPr/>
          <p:nvPr/>
        </p:nvSpPr>
        <p:spPr>
          <a:xfrm rot="10800000">
            <a:off x="1517492" y="4131113"/>
            <a:ext cx="433008" cy="1266501"/>
          </a:xfrm>
          <a:prstGeom prst="downArrow">
            <a:avLst/>
          </a:prstGeom>
          <a:gradFill>
            <a:gsLst>
              <a:gs pos="57000">
                <a:srgbClr val="FF0000"/>
              </a:gs>
              <a:gs pos="81000">
                <a:srgbClr val="DE2533"/>
              </a:gs>
              <a:gs pos="6000">
                <a:schemeClr val="accent3"/>
              </a:gs>
              <a:gs pos="24000">
                <a:schemeClr val="accent3"/>
              </a:gs>
              <a:gs pos="29000">
                <a:srgbClr val="00B05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Down 34"/>
          <p:cNvSpPr/>
          <p:nvPr/>
        </p:nvSpPr>
        <p:spPr>
          <a:xfrm>
            <a:off x="2500320" y="4190035"/>
            <a:ext cx="433008" cy="1218440"/>
          </a:xfrm>
          <a:prstGeom prst="downArrow">
            <a:avLst/>
          </a:prstGeom>
          <a:gradFill>
            <a:gsLst>
              <a:gs pos="27000">
                <a:srgbClr val="FF0000"/>
              </a:gs>
              <a:gs pos="48000">
                <a:srgbClr val="DE2533"/>
              </a:gs>
              <a:gs pos="71000">
                <a:schemeClr val="accent3"/>
              </a:gs>
              <a:gs pos="95000">
                <a:schemeClr val="accent3"/>
              </a:gs>
              <a:gs pos="100000">
                <a:srgbClr val="00B05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5921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SIL Process</a:t>
            </a:r>
          </a:p>
        </p:txBody>
      </p:sp>
    </p:spTree>
    <p:extLst>
      <p:ext uri="{BB962C8B-B14F-4D97-AF65-F5344CB8AC3E}">
        <p14:creationId xmlns:p14="http://schemas.microsoft.com/office/powerpoint/2010/main" val="3799330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7" name="Rectangle 44"/>
          <p:cNvSpPr>
            <a:spLocks noGrp="1" noChangeArrowheads="1"/>
          </p:cNvSpPr>
          <p:nvPr>
            <p:ph type="title"/>
          </p:nvPr>
        </p:nvSpPr>
        <p:spPr>
          <a:xfrm>
            <a:off x="69237" y="215190"/>
            <a:ext cx="5653002" cy="572054"/>
          </a:xfrm>
          <a:noFill/>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vert="horz" wrap="none" lIns="88068" tIns="44033" rIns="88068" bIns="44033" rtlCol="0" anchor="t" anchorCtr="0">
            <a:noAutofit/>
          </a:bodyPr>
          <a:lstStyle/>
          <a:p>
            <a:pPr>
              <a:lnSpc>
                <a:spcPct val="100000"/>
              </a:lnSpc>
            </a:pPr>
            <a:r>
              <a:rPr lang="en-US" dirty="0">
                <a:solidFill>
                  <a:srgbClr val="004880"/>
                </a:solidFill>
              </a:rPr>
              <a:t>Safety Management Life Cycle (IEC 61511)</a:t>
            </a:r>
          </a:p>
        </p:txBody>
      </p:sp>
      <p:grpSp>
        <p:nvGrpSpPr>
          <p:cNvPr id="96" name="Groupe 1"/>
          <p:cNvGrpSpPr/>
          <p:nvPr/>
        </p:nvGrpSpPr>
        <p:grpSpPr>
          <a:xfrm>
            <a:off x="627001" y="731975"/>
            <a:ext cx="7989535" cy="5475275"/>
            <a:chOff x="331788" y="433320"/>
            <a:chExt cx="8652555" cy="5929647"/>
          </a:xfrm>
        </p:grpSpPr>
        <p:sp>
          <p:nvSpPr>
            <p:cNvPr id="105" name="Text Box 51"/>
            <p:cNvSpPr txBox="1">
              <a:spLocks noChangeArrowheads="1"/>
            </p:cNvSpPr>
            <p:nvPr/>
          </p:nvSpPr>
          <p:spPr bwMode="auto">
            <a:xfrm>
              <a:off x="331788" y="5770495"/>
              <a:ext cx="8370887" cy="592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endParaRPr lang="fr-FR" sz="2955">
                <a:solidFill>
                  <a:srgbClr val="1E4191"/>
                </a:solidFill>
                <a:latin typeface="GE Inspira Pitch" pitchFamily="34" charset="0"/>
                <a:cs typeface="Times New Roman" pitchFamily="18" charset="0"/>
              </a:endParaRPr>
            </a:p>
          </p:txBody>
        </p:sp>
        <p:sp>
          <p:nvSpPr>
            <p:cNvPr id="106" name="Rectangle à coins arrondis 52"/>
            <p:cNvSpPr/>
            <p:nvPr/>
          </p:nvSpPr>
          <p:spPr>
            <a:xfrm>
              <a:off x="567466" y="493176"/>
              <a:ext cx="537026" cy="5687013"/>
            </a:xfrm>
            <a:prstGeom prst="roundRect">
              <a:avLst/>
            </a:prstGeom>
            <a:solidFill>
              <a:schemeClr val="tx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CA" sz="1477" dirty="0">
                  <a:solidFill>
                    <a:schemeClr val="bg1"/>
                  </a:solidFill>
                </a:rPr>
                <a:t>Management of the functional safety (roles &amp; responsibilities), </a:t>
              </a:r>
            </a:p>
            <a:p>
              <a:pPr algn="ctr"/>
              <a:r>
                <a:rPr lang="en-CA" sz="1477" dirty="0">
                  <a:solidFill>
                    <a:schemeClr val="bg1"/>
                  </a:solidFill>
                </a:rPr>
                <a:t>Life cycle</a:t>
              </a:r>
            </a:p>
          </p:txBody>
        </p:sp>
        <p:sp>
          <p:nvSpPr>
            <p:cNvPr id="107" name="Rectangle à coins arrondis 53"/>
            <p:cNvSpPr/>
            <p:nvPr/>
          </p:nvSpPr>
          <p:spPr>
            <a:xfrm>
              <a:off x="8476351" y="433321"/>
              <a:ext cx="507992" cy="5746868"/>
            </a:xfrm>
            <a:prstGeom prst="roundRect">
              <a:avLst/>
            </a:prstGeom>
            <a:solidFill>
              <a:schemeClr val="tx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CA" sz="1477" dirty="0">
                  <a:solidFill>
                    <a:schemeClr val="bg1"/>
                  </a:solidFill>
                </a:rPr>
                <a:t>Verifications &amp; audits</a:t>
              </a:r>
            </a:p>
          </p:txBody>
        </p:sp>
        <p:sp>
          <p:nvSpPr>
            <p:cNvPr id="108" name="Rectangle à coins arrondis 54"/>
            <p:cNvSpPr/>
            <p:nvPr/>
          </p:nvSpPr>
          <p:spPr>
            <a:xfrm>
              <a:off x="3483429" y="433320"/>
              <a:ext cx="2177142" cy="27940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477" dirty="0">
                  <a:solidFill>
                    <a:srgbClr val="1F497D"/>
                  </a:solidFill>
                </a:rPr>
                <a:t>Risk analysis</a:t>
              </a:r>
            </a:p>
          </p:txBody>
        </p:sp>
        <p:sp>
          <p:nvSpPr>
            <p:cNvPr id="109" name="Rectangle à coins arrondis 55"/>
            <p:cNvSpPr/>
            <p:nvPr/>
          </p:nvSpPr>
          <p:spPr>
            <a:xfrm>
              <a:off x="2772229" y="976286"/>
              <a:ext cx="3599542" cy="53173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Allocation of safety functions and layers of protection</a:t>
              </a:r>
            </a:p>
          </p:txBody>
        </p:sp>
        <p:sp>
          <p:nvSpPr>
            <p:cNvPr id="110" name="Rectangle à coins arrondis 56"/>
            <p:cNvSpPr/>
            <p:nvPr/>
          </p:nvSpPr>
          <p:spPr>
            <a:xfrm>
              <a:off x="1785260" y="1846978"/>
              <a:ext cx="2525486" cy="54755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SIF Specification </a:t>
              </a:r>
            </a:p>
            <a:p>
              <a:pPr algn="ctr"/>
              <a:r>
                <a:rPr lang="en-CA" sz="1477" dirty="0">
                  <a:solidFill>
                    <a:srgbClr val="1F497D"/>
                  </a:solidFill>
                </a:rPr>
                <a:t>SIS Specification</a:t>
              </a:r>
            </a:p>
          </p:txBody>
        </p:sp>
        <p:sp>
          <p:nvSpPr>
            <p:cNvPr id="111" name="Rectangle à coins arrondis 57"/>
            <p:cNvSpPr/>
            <p:nvPr/>
          </p:nvSpPr>
          <p:spPr>
            <a:xfrm>
              <a:off x="1360058" y="2767100"/>
              <a:ext cx="3381830" cy="373431"/>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SIS Conception/realisation</a:t>
              </a:r>
            </a:p>
          </p:txBody>
        </p:sp>
        <p:sp>
          <p:nvSpPr>
            <p:cNvPr id="112" name="Rectangle à coins arrondis 58"/>
            <p:cNvSpPr/>
            <p:nvPr/>
          </p:nvSpPr>
          <p:spPr>
            <a:xfrm>
              <a:off x="5036457" y="1855662"/>
              <a:ext cx="3229436" cy="538867"/>
            </a:xfrm>
            <a:prstGeom prst="roundRect">
              <a:avLst/>
            </a:prstGeom>
            <a:solidFill>
              <a:schemeClr val="bg1"/>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Specification of the other risk reduction systems</a:t>
              </a:r>
            </a:p>
          </p:txBody>
        </p:sp>
        <p:sp>
          <p:nvSpPr>
            <p:cNvPr id="113" name="Rectangle à coins arrondis 59"/>
            <p:cNvSpPr/>
            <p:nvPr/>
          </p:nvSpPr>
          <p:spPr>
            <a:xfrm>
              <a:off x="4945087" y="2578835"/>
              <a:ext cx="3410864" cy="583020"/>
            </a:xfrm>
            <a:prstGeom prst="roundRect">
              <a:avLst/>
            </a:prstGeom>
            <a:solidFill>
              <a:schemeClr val="bg1"/>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Conception/realisation of the other risk reduction systems</a:t>
              </a:r>
            </a:p>
          </p:txBody>
        </p:sp>
        <p:sp>
          <p:nvSpPr>
            <p:cNvPr id="114" name="Rectangle à coins arrondis 60"/>
            <p:cNvSpPr/>
            <p:nvPr/>
          </p:nvSpPr>
          <p:spPr>
            <a:xfrm>
              <a:off x="1386768" y="3657462"/>
              <a:ext cx="6850749" cy="48617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Installation, commissioning &amp; validation of SIS and the other risk reduction systems</a:t>
              </a:r>
            </a:p>
          </p:txBody>
        </p:sp>
        <p:sp>
          <p:nvSpPr>
            <p:cNvPr id="115" name="Rectangle à coins arrondis 61"/>
            <p:cNvSpPr/>
            <p:nvPr/>
          </p:nvSpPr>
          <p:spPr>
            <a:xfrm>
              <a:off x="1388642" y="4374958"/>
              <a:ext cx="6850749" cy="42091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Exploitation &amp; Maintenance</a:t>
              </a:r>
            </a:p>
          </p:txBody>
        </p:sp>
        <p:sp>
          <p:nvSpPr>
            <p:cNvPr id="116" name="Rectangle à coins arrondis 62"/>
            <p:cNvSpPr/>
            <p:nvPr/>
          </p:nvSpPr>
          <p:spPr>
            <a:xfrm>
              <a:off x="1390848" y="5048499"/>
              <a:ext cx="6850749" cy="42091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CA" sz="1477" dirty="0">
                  <a:solidFill>
                    <a:srgbClr val="1F497D"/>
                  </a:solidFill>
                </a:rPr>
                <a:t>Modifications</a:t>
              </a:r>
            </a:p>
          </p:txBody>
        </p:sp>
        <p:sp>
          <p:nvSpPr>
            <p:cNvPr id="117" name="Rectangle à coins arrondis 63"/>
            <p:cNvSpPr/>
            <p:nvPr/>
          </p:nvSpPr>
          <p:spPr>
            <a:xfrm>
              <a:off x="1388640" y="5692669"/>
              <a:ext cx="6850749" cy="36754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4433" tIns="42217" rIns="84433" bIns="42217" numCol="1" spcCol="0" rtlCol="0" fromWordArt="0" anchor="ctr" anchorCtr="0" forceAA="0" compatLnSpc="1">
              <a:prstTxWarp prst="textNoShape">
                <a:avLst/>
              </a:prstTxWarp>
              <a:noAutofit/>
            </a:bodyPr>
            <a:lstStyle/>
            <a:p>
              <a:pPr algn="ctr"/>
              <a:r>
                <a:rPr lang="en-US" sz="1477" dirty="0">
                  <a:solidFill>
                    <a:srgbClr val="1F497D"/>
                  </a:solidFill>
                </a:rPr>
                <a:t>Decommissioning</a:t>
              </a:r>
              <a:endParaRPr lang="en-CA" sz="1477" dirty="0">
                <a:solidFill>
                  <a:srgbClr val="1F497D"/>
                </a:solidFill>
              </a:endParaRPr>
            </a:p>
          </p:txBody>
        </p:sp>
        <p:cxnSp>
          <p:nvCxnSpPr>
            <p:cNvPr id="118" name="Connecteur droit avec flèche 64"/>
            <p:cNvCxnSpPr>
              <a:stCxn id="108" idx="2"/>
              <a:endCxn id="109" idx="0"/>
            </p:cNvCxnSpPr>
            <p:nvPr/>
          </p:nvCxnSpPr>
          <p:spPr>
            <a:xfrm>
              <a:off x="4572000" y="712720"/>
              <a:ext cx="0" cy="2635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Connecteur droit avec flèche 67"/>
            <p:cNvCxnSpPr>
              <a:stCxn id="110" idx="2"/>
              <a:endCxn id="111" idx="0"/>
            </p:cNvCxnSpPr>
            <p:nvPr/>
          </p:nvCxnSpPr>
          <p:spPr>
            <a:xfrm>
              <a:off x="3048003" y="2394529"/>
              <a:ext cx="2970" cy="3725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2" name="Connecteur droit avec flèche 68"/>
            <p:cNvCxnSpPr>
              <a:stCxn id="112" idx="2"/>
              <a:endCxn id="113" idx="0"/>
            </p:cNvCxnSpPr>
            <p:nvPr/>
          </p:nvCxnSpPr>
          <p:spPr>
            <a:xfrm flipH="1">
              <a:off x="6650519" y="2394529"/>
              <a:ext cx="656" cy="1843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5" name="Connecteur droit avec flèche 71"/>
            <p:cNvCxnSpPr>
              <a:stCxn id="114" idx="2"/>
              <a:endCxn id="115" idx="0"/>
            </p:cNvCxnSpPr>
            <p:nvPr/>
          </p:nvCxnSpPr>
          <p:spPr>
            <a:xfrm>
              <a:off x="4812143" y="4143639"/>
              <a:ext cx="1874" cy="2313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6" name="Connecteur droit avec flèche 72"/>
            <p:cNvCxnSpPr>
              <a:stCxn id="115" idx="2"/>
              <a:endCxn id="116" idx="0"/>
            </p:cNvCxnSpPr>
            <p:nvPr/>
          </p:nvCxnSpPr>
          <p:spPr>
            <a:xfrm>
              <a:off x="4814017" y="4795872"/>
              <a:ext cx="2206" cy="25262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7" name="Connecteur droit avec flèche 73"/>
            <p:cNvCxnSpPr>
              <a:stCxn id="116" idx="2"/>
              <a:endCxn id="117" idx="0"/>
            </p:cNvCxnSpPr>
            <p:nvPr/>
          </p:nvCxnSpPr>
          <p:spPr>
            <a:xfrm flipH="1">
              <a:off x="4814015" y="5469413"/>
              <a:ext cx="2208" cy="2232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7209" name="Elbow Connector 7208"/>
          <p:cNvCxnSpPr>
            <a:stCxn id="109" idx="2"/>
            <a:endCxn id="110" idx="0"/>
          </p:cNvCxnSpPr>
          <p:nvPr/>
        </p:nvCxnSpPr>
        <p:spPr bwMode="auto">
          <a:xfrm rot="5400000">
            <a:off x="3682197" y="1177206"/>
            <a:ext cx="312987" cy="140721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8" name="Elbow Connector 127"/>
          <p:cNvCxnSpPr>
            <a:stCxn id="109" idx="2"/>
            <a:endCxn id="112" idx="0"/>
          </p:cNvCxnSpPr>
          <p:nvPr/>
        </p:nvCxnSpPr>
        <p:spPr bwMode="auto">
          <a:xfrm rot="16200000" flipH="1">
            <a:off x="5341722" y="924896"/>
            <a:ext cx="321006" cy="191985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0" name="Elbow Connector 129"/>
          <p:cNvCxnSpPr>
            <a:stCxn id="111" idx="2"/>
            <a:endCxn id="114" idx="0"/>
          </p:cNvCxnSpPr>
          <p:nvPr/>
        </p:nvCxnSpPr>
        <p:spPr bwMode="auto">
          <a:xfrm rot="16200000" flipH="1">
            <a:off x="3712272" y="2657291"/>
            <a:ext cx="477320" cy="162621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3" name="Elbow Connector 132"/>
          <p:cNvCxnSpPr>
            <a:stCxn id="113" idx="2"/>
            <a:endCxn id="114" idx="0"/>
          </p:cNvCxnSpPr>
          <p:nvPr/>
        </p:nvCxnSpPr>
        <p:spPr bwMode="auto">
          <a:xfrm rot="5400000">
            <a:off x="5383979" y="2631491"/>
            <a:ext cx="457630" cy="169750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076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5" y="1618488"/>
            <a:ext cx="8881977" cy="2624288"/>
          </a:xfrm>
        </p:spPr>
        <p:txBody>
          <a:bodyPr/>
          <a:lstStyle/>
          <a:p>
            <a:r>
              <a:rPr lang="en-US" dirty="0"/>
              <a:t>Risk analysis &amp; SIL assignment </a:t>
            </a:r>
            <a:r>
              <a:rPr lang="en-US" sz="4400" i="1" dirty="0"/>
              <a:t>(Targeting)</a:t>
            </a:r>
          </a:p>
        </p:txBody>
      </p:sp>
    </p:spTree>
    <p:extLst>
      <p:ext uri="{BB962C8B-B14F-4D97-AF65-F5344CB8AC3E}">
        <p14:creationId xmlns:p14="http://schemas.microsoft.com/office/powerpoint/2010/main" val="594438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8" name="Group 6"/>
          <p:cNvGrpSpPr>
            <a:grpSpLocks/>
          </p:cNvGrpSpPr>
          <p:nvPr/>
        </p:nvGrpSpPr>
        <p:grpSpPr bwMode="auto">
          <a:xfrm>
            <a:off x="6369301" y="1051290"/>
            <a:ext cx="1455254" cy="693478"/>
            <a:chOff x="3040" y="480"/>
            <a:chExt cx="1184" cy="576"/>
          </a:xfrm>
        </p:grpSpPr>
        <p:sp>
          <p:nvSpPr>
            <p:cNvPr id="6164" name="AutoShape 7"/>
            <p:cNvSpPr>
              <a:spLocks noChangeArrowheads="1"/>
            </p:cNvSpPr>
            <p:nvPr/>
          </p:nvSpPr>
          <p:spPr bwMode="auto">
            <a:xfrm>
              <a:off x="3040" y="480"/>
              <a:ext cx="1184" cy="576"/>
            </a:xfrm>
            <a:prstGeom prst="foldedCorner">
              <a:avLst>
                <a:gd name="adj" fmla="val 12500"/>
              </a:avLst>
            </a:prstGeom>
            <a:noFill/>
            <a:ln w="9525">
              <a:solidFill>
                <a:schemeClr val="tx1"/>
              </a:solidFill>
              <a:round/>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FR" sz="1500">
                <a:latin typeface="GE Inspira" pitchFamily="34" charset="0"/>
              </a:endParaRPr>
            </a:p>
          </p:txBody>
        </p:sp>
        <p:sp>
          <p:nvSpPr>
            <p:cNvPr id="6165" name="Rectangle 8"/>
            <p:cNvSpPr>
              <a:spLocks noChangeArrowheads="1"/>
            </p:cNvSpPr>
            <p:nvPr/>
          </p:nvSpPr>
          <p:spPr bwMode="auto">
            <a:xfrm>
              <a:off x="3082" y="532"/>
              <a:ext cx="1083"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sz="1400" dirty="0">
                  <a:latin typeface="GE Inspira" pitchFamily="34" charset="0"/>
                </a:rPr>
                <a:t>Certification Scope</a:t>
              </a:r>
            </a:p>
          </p:txBody>
        </p:sp>
      </p:grpSp>
      <p:sp>
        <p:nvSpPr>
          <p:cNvPr id="6149" name="Line 9"/>
          <p:cNvSpPr>
            <a:spLocks noChangeShapeType="1"/>
          </p:cNvSpPr>
          <p:nvPr/>
        </p:nvSpPr>
        <p:spPr bwMode="auto">
          <a:xfrm flipV="1">
            <a:off x="5055839" y="1398029"/>
            <a:ext cx="13134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376" tIns="47687" rIns="95376" bIns="47687"/>
          <a:lstStyle/>
          <a:p>
            <a:endParaRPr lang="en-US"/>
          </a:p>
        </p:txBody>
      </p:sp>
      <p:sp>
        <p:nvSpPr>
          <p:cNvPr id="6152" name="AutoShape 12"/>
          <p:cNvSpPr>
            <a:spLocks noChangeArrowheads="1"/>
          </p:cNvSpPr>
          <p:nvPr/>
        </p:nvSpPr>
        <p:spPr bwMode="auto">
          <a:xfrm>
            <a:off x="4046466" y="5912215"/>
            <a:ext cx="2138023" cy="683499"/>
          </a:xfrm>
          <a:prstGeom prst="foldedCorner">
            <a:avLst>
              <a:gd name="adj" fmla="val 12500"/>
            </a:avLst>
          </a:prstGeom>
          <a:noFill/>
          <a:ln w="9525">
            <a:solidFill>
              <a:schemeClr val="tx1"/>
            </a:solidFill>
            <a:round/>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376" tIns="47687" rIns="95376" bIns="47687" anchor="ctr"/>
          <a:lstStyle/>
          <a:p>
            <a:pPr algn="ctr"/>
            <a:r>
              <a:rPr lang="en-US" sz="1500" dirty="0">
                <a:latin typeface="GE Inspira" pitchFamily="34" charset="0"/>
              </a:rPr>
              <a:t>Technical Requirements </a:t>
            </a:r>
          </a:p>
          <a:p>
            <a:pPr algn="ctr"/>
            <a:r>
              <a:rPr lang="en-US" sz="1500" dirty="0">
                <a:latin typeface="GE Inspira" pitchFamily="34" charset="0"/>
              </a:rPr>
              <a:t>to SIFs</a:t>
            </a:r>
          </a:p>
        </p:txBody>
      </p:sp>
      <p:sp>
        <p:nvSpPr>
          <p:cNvPr id="6162" name="AutoShape 14"/>
          <p:cNvSpPr>
            <a:spLocks noChangeArrowheads="1"/>
          </p:cNvSpPr>
          <p:nvPr/>
        </p:nvSpPr>
        <p:spPr bwMode="auto">
          <a:xfrm rot="10800000">
            <a:off x="625483" y="1143031"/>
            <a:ext cx="4684714" cy="3952875"/>
          </a:xfrm>
          <a:prstGeom prst="triangle">
            <a:avLst>
              <a:gd name="adj" fmla="val 50000"/>
            </a:avLst>
          </a:prstGeom>
          <a:gradFill>
            <a:gsLst>
              <a:gs pos="0">
                <a:schemeClr val="accent2">
                  <a:shade val="51000"/>
                  <a:satMod val="130000"/>
                  <a:lumMod val="99000"/>
                  <a:lumOff val="1000"/>
                </a:schemeClr>
              </a:gs>
              <a:gs pos="69000">
                <a:srgbClr val="00347C">
                  <a:alpha val="67000"/>
                </a:srgbClr>
              </a:gs>
              <a:gs pos="38000">
                <a:schemeClr val="accent2">
                  <a:shade val="93000"/>
                  <a:satMod val="130000"/>
                  <a:alpha val="86000"/>
                </a:schemeClr>
              </a:gs>
              <a:gs pos="100000">
                <a:schemeClr val="accent2">
                  <a:shade val="94000"/>
                  <a:satMod val="135000"/>
                  <a:alpha val="56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none" anchor="ctr"/>
          <a:lstStyle/>
          <a:p>
            <a:endParaRPr lang="fr-FR"/>
          </a:p>
        </p:txBody>
      </p:sp>
      <p:sp>
        <p:nvSpPr>
          <p:cNvPr id="6163" name="Text Box 15"/>
          <p:cNvSpPr txBox="1">
            <a:spLocks noChangeArrowheads="1"/>
          </p:cNvSpPr>
          <p:nvPr/>
        </p:nvSpPr>
        <p:spPr bwMode="auto">
          <a:xfrm>
            <a:off x="923240" y="1161294"/>
            <a:ext cx="4132209" cy="1231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lnSpc>
                <a:spcPct val="220000"/>
              </a:lnSpc>
              <a:spcBef>
                <a:spcPct val="50000"/>
              </a:spcBef>
            </a:pPr>
            <a:r>
              <a:rPr lang="en-US" dirty="0">
                <a:solidFill>
                  <a:schemeClr val="bg1"/>
                </a:solidFill>
                <a:latin typeface="GE Inspira" pitchFamily="34" charset="0"/>
              </a:rPr>
              <a:t>Scope and System Design Definition</a:t>
            </a:r>
          </a:p>
          <a:p>
            <a:pPr algn="ctr">
              <a:spcBef>
                <a:spcPct val="50000"/>
              </a:spcBef>
            </a:pPr>
            <a:endParaRPr lang="en-US" dirty="0">
              <a:solidFill>
                <a:schemeClr val="bg1"/>
              </a:solidFill>
              <a:latin typeface="GE Inspira" pitchFamily="34" charset="0"/>
            </a:endParaRPr>
          </a:p>
        </p:txBody>
      </p:sp>
      <p:sp>
        <p:nvSpPr>
          <p:cNvPr id="6154" name="Line 16"/>
          <p:cNvSpPr>
            <a:spLocks noChangeShapeType="1"/>
          </p:cNvSpPr>
          <p:nvPr/>
        </p:nvSpPr>
        <p:spPr bwMode="auto">
          <a:xfrm>
            <a:off x="2076454" y="3809979"/>
            <a:ext cx="20574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376" tIns="47687" rIns="95376" bIns="47687"/>
          <a:lstStyle/>
          <a:p>
            <a:endParaRPr lang="en-US"/>
          </a:p>
        </p:txBody>
      </p:sp>
      <p:sp>
        <p:nvSpPr>
          <p:cNvPr id="6155" name="Line 17"/>
          <p:cNvSpPr>
            <a:spLocks noChangeShapeType="1"/>
          </p:cNvSpPr>
          <p:nvPr/>
        </p:nvSpPr>
        <p:spPr bwMode="auto">
          <a:xfrm>
            <a:off x="1535118" y="2970191"/>
            <a:ext cx="2895600"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376" tIns="47687" rIns="95376" bIns="47687"/>
          <a:lstStyle/>
          <a:p>
            <a:endParaRPr lang="en-US"/>
          </a:p>
        </p:txBody>
      </p:sp>
      <p:sp>
        <p:nvSpPr>
          <p:cNvPr id="6156" name="Line 18"/>
          <p:cNvSpPr>
            <a:spLocks noChangeShapeType="1"/>
          </p:cNvSpPr>
          <p:nvPr/>
        </p:nvSpPr>
        <p:spPr bwMode="auto">
          <a:xfrm>
            <a:off x="1182749" y="2190729"/>
            <a:ext cx="35845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5376" tIns="47687" rIns="95376" bIns="47687"/>
          <a:lstStyle/>
          <a:p>
            <a:endParaRPr lang="en-US"/>
          </a:p>
        </p:txBody>
      </p:sp>
      <p:cxnSp>
        <p:nvCxnSpPr>
          <p:cNvPr id="6158" name="AutoShape 22"/>
          <p:cNvCxnSpPr>
            <a:cxnSpLocks noChangeShapeType="1"/>
            <a:stCxn id="6161" idx="2"/>
            <a:endCxn id="6152" idx="1"/>
          </p:cNvCxnSpPr>
          <p:nvPr/>
        </p:nvCxnSpPr>
        <p:spPr bwMode="auto">
          <a:xfrm rot="16200000" flipH="1">
            <a:off x="3144858" y="5352357"/>
            <a:ext cx="702742" cy="1100473"/>
          </a:xfrm>
          <a:prstGeom prst="bentConnector2">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57" name="Group 19"/>
          <p:cNvGrpSpPr>
            <a:grpSpLocks/>
          </p:cNvGrpSpPr>
          <p:nvPr/>
        </p:nvGrpSpPr>
        <p:grpSpPr bwMode="auto">
          <a:xfrm>
            <a:off x="1748282" y="5411590"/>
            <a:ext cx="2488920" cy="383198"/>
            <a:chOff x="751" y="2944"/>
            <a:chExt cx="1331" cy="966"/>
          </a:xfrm>
          <a:solidFill>
            <a:schemeClr val="bg1"/>
          </a:solidFill>
        </p:grpSpPr>
        <p:sp>
          <p:nvSpPr>
            <p:cNvPr id="6160" name="AutoShape 20"/>
            <p:cNvSpPr>
              <a:spLocks noChangeArrowheads="1"/>
            </p:cNvSpPr>
            <p:nvPr/>
          </p:nvSpPr>
          <p:spPr bwMode="auto">
            <a:xfrm>
              <a:off x="751" y="2944"/>
              <a:ext cx="1331" cy="966"/>
            </a:xfrm>
            <a:prstGeom prst="foldedCorner">
              <a:avLst>
                <a:gd name="adj" fmla="val 12500"/>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6161" name="Text Box 21"/>
            <p:cNvSpPr txBox="1">
              <a:spLocks noChangeArrowheads="1"/>
            </p:cNvSpPr>
            <p:nvPr/>
          </p:nvSpPr>
          <p:spPr bwMode="auto">
            <a:xfrm>
              <a:off x="803" y="3001"/>
              <a:ext cx="1177" cy="29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sz="1500" dirty="0">
                  <a:latin typeface="GE Inspira" pitchFamily="34" charset="0"/>
                  <a:cs typeface="Times New Roman" charset="0"/>
                </a:rPr>
                <a:t> SIFs and their SIL targets </a:t>
              </a:r>
            </a:p>
          </p:txBody>
        </p:sp>
      </p:grpSp>
      <p:sp>
        <p:nvSpPr>
          <p:cNvPr id="29" name="Rectangle 25"/>
          <p:cNvSpPr>
            <a:spLocks noChangeArrowheads="1"/>
          </p:cNvSpPr>
          <p:nvPr/>
        </p:nvSpPr>
        <p:spPr bwMode="auto">
          <a:xfrm>
            <a:off x="4758675" y="2244168"/>
            <a:ext cx="3701754" cy="696831"/>
          </a:xfrm>
          <a:prstGeom prst="rect">
            <a:avLst/>
          </a:prstGeom>
          <a:noFill/>
          <a:ln w="25400">
            <a:no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47687" rIns="0" bIns="47687" anchor="ctr">
            <a:spAutoFit/>
          </a:bodyPr>
          <a:lstStyle/>
          <a:p>
            <a:r>
              <a:rPr lang="en-US" sz="1300" dirty="0">
                <a:latin typeface="GE Inspira" pitchFamily="34" charset="0"/>
              </a:rPr>
              <a:t>PHA : Identifies potential installation, operation, and maintenance hazards over a wide range of pre-defined hazard categories.</a:t>
            </a:r>
          </a:p>
        </p:txBody>
      </p:sp>
      <p:sp>
        <p:nvSpPr>
          <p:cNvPr id="30" name="Rectangle 29"/>
          <p:cNvSpPr>
            <a:spLocks noChangeArrowheads="1"/>
          </p:cNvSpPr>
          <p:nvPr/>
        </p:nvSpPr>
        <p:spPr bwMode="auto">
          <a:xfrm>
            <a:off x="4305327" y="3064575"/>
            <a:ext cx="4155101" cy="696831"/>
          </a:xfrm>
          <a:prstGeom prst="rect">
            <a:avLst/>
          </a:prstGeom>
          <a:noFill/>
          <a:ln w="25400">
            <a:no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47687" rIns="0" bIns="47687" anchor="ctr">
            <a:spAutoFit/>
          </a:bodyPr>
          <a:lstStyle/>
          <a:p>
            <a:r>
              <a:rPr lang="en-US" sz="1300" dirty="0" err="1">
                <a:latin typeface="GE Inspira" pitchFamily="34" charset="0"/>
              </a:rPr>
              <a:t>HazOp</a:t>
            </a:r>
            <a:r>
              <a:rPr lang="en-US" sz="1300" dirty="0">
                <a:latin typeface="GE Inspira" pitchFamily="34" charset="0"/>
              </a:rPr>
              <a:t> : Identifies Effects of an initiating single point failure. This helps mitigate the likelihood of the occurrence of the initiating event in a credible accident scenario.</a:t>
            </a:r>
          </a:p>
        </p:txBody>
      </p:sp>
      <p:sp>
        <p:nvSpPr>
          <p:cNvPr id="36" name="Rectangle 30"/>
          <p:cNvSpPr>
            <a:spLocks noChangeArrowheads="1"/>
          </p:cNvSpPr>
          <p:nvPr/>
        </p:nvSpPr>
        <p:spPr bwMode="auto">
          <a:xfrm>
            <a:off x="3885268" y="4006553"/>
            <a:ext cx="4090186" cy="896524"/>
          </a:xfrm>
          <a:prstGeom prst="rect">
            <a:avLst/>
          </a:prstGeom>
          <a:noFill/>
          <a:ln w="25400">
            <a:no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47687" rIns="0" bIns="47687" anchor="ctr">
            <a:spAutoFit/>
          </a:bodyPr>
          <a:lstStyle/>
          <a:p>
            <a:r>
              <a:rPr lang="en-US" sz="1300" dirty="0">
                <a:latin typeface="GE Inspira" pitchFamily="34" charset="0"/>
              </a:rPr>
              <a:t>ASR : Numerical tool that allows the review team to model the high risk accident scenarios stemming from the </a:t>
            </a:r>
            <a:r>
              <a:rPr lang="en-US" sz="1300" dirty="0" err="1">
                <a:latin typeface="GE Inspira" pitchFamily="34" charset="0"/>
              </a:rPr>
              <a:t>HazOp</a:t>
            </a:r>
            <a:r>
              <a:rPr lang="en-US" sz="1300" dirty="0">
                <a:latin typeface="GE Inspira" pitchFamily="34" charset="0"/>
              </a:rPr>
              <a:t>. Total residual risk must meet GE full life requirement.</a:t>
            </a:r>
          </a:p>
        </p:txBody>
      </p:sp>
      <p:sp>
        <p:nvSpPr>
          <p:cNvPr id="27" name="Line 9"/>
          <p:cNvSpPr>
            <a:spLocks noChangeShapeType="1"/>
          </p:cNvSpPr>
          <p:nvPr/>
        </p:nvSpPr>
        <p:spPr bwMode="auto">
          <a:xfrm flipH="1" flipV="1">
            <a:off x="1748282" y="3437835"/>
            <a:ext cx="2542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3940" tIns="51971" rIns="103940" bIns="51971"/>
          <a:lstStyle/>
          <a:p>
            <a:endParaRPr lang="en-US"/>
          </a:p>
        </p:txBody>
      </p:sp>
      <p:sp>
        <p:nvSpPr>
          <p:cNvPr id="28" name="AutoShape 7"/>
          <p:cNvSpPr>
            <a:spLocks noChangeArrowheads="1"/>
          </p:cNvSpPr>
          <p:nvPr/>
        </p:nvSpPr>
        <p:spPr bwMode="auto">
          <a:xfrm>
            <a:off x="68827" y="3105816"/>
            <a:ext cx="1679455" cy="781989"/>
          </a:xfrm>
          <a:prstGeom prst="foldedCorner">
            <a:avLst>
              <a:gd name="adj" fmla="val 12500"/>
            </a:avLst>
          </a:prstGeom>
          <a:noFill/>
          <a:ln w="9525">
            <a:solidFill>
              <a:schemeClr val="tx1"/>
            </a:solidFill>
            <a:round/>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118" tIns="45562" rIns="91118" bIns="45562" anchor="ctr"/>
          <a:lstStyle/>
          <a:p>
            <a:pPr algn="ctr"/>
            <a:r>
              <a:rPr lang="en-US" sz="1400" dirty="0">
                <a:latin typeface="GE Inspira" pitchFamily="34" charset="0"/>
              </a:rPr>
              <a:t>Safety Manual</a:t>
            </a:r>
          </a:p>
          <a:p>
            <a:pPr algn="ctr"/>
            <a:r>
              <a:rPr lang="en-US" sz="1400" dirty="0">
                <a:latin typeface="GE Inspira" pitchFamily="34" charset="0"/>
              </a:rPr>
              <a:t>(customer deliverable)</a:t>
            </a:r>
          </a:p>
        </p:txBody>
      </p:sp>
      <p:cxnSp>
        <p:nvCxnSpPr>
          <p:cNvPr id="31" name="Connecteur en angle 5"/>
          <p:cNvCxnSpPr>
            <a:endCxn id="28" idx="2"/>
          </p:cNvCxnSpPr>
          <p:nvPr/>
        </p:nvCxnSpPr>
        <p:spPr bwMode="auto">
          <a:xfrm rot="10800000">
            <a:off x="908555" y="3887806"/>
            <a:ext cx="1736328" cy="727909"/>
          </a:xfrm>
          <a:prstGeom prst="bentConnector2">
            <a:avLst/>
          </a:prstGeom>
          <a:solidFill>
            <a:schemeClr val="accent1"/>
          </a:solidFill>
          <a:ln w="12700" cap="flat" cmpd="sng" algn="ctr">
            <a:solidFill>
              <a:schemeClr val="tx1"/>
            </a:solidFill>
            <a:prstDash val="dash"/>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Text Box 15"/>
          <p:cNvSpPr txBox="1">
            <a:spLocks noChangeArrowheads="1"/>
          </p:cNvSpPr>
          <p:nvPr/>
        </p:nvSpPr>
        <p:spPr bwMode="auto">
          <a:xfrm>
            <a:off x="1379224" y="2228143"/>
            <a:ext cx="305488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spcBef>
                <a:spcPct val="50000"/>
              </a:spcBef>
            </a:pPr>
            <a:r>
              <a:rPr lang="en-US" dirty="0">
                <a:solidFill>
                  <a:schemeClr val="bg1"/>
                </a:solidFill>
                <a:latin typeface="GE Inspira" pitchFamily="34" charset="0"/>
              </a:rPr>
              <a:t>Preliminary Hazard Assessment</a:t>
            </a:r>
          </a:p>
          <a:p>
            <a:pPr algn="ctr">
              <a:spcBef>
                <a:spcPct val="50000"/>
              </a:spcBef>
            </a:pPr>
            <a:endParaRPr lang="en-US" dirty="0">
              <a:solidFill>
                <a:schemeClr val="bg1"/>
              </a:solidFill>
              <a:latin typeface="GE Inspira" pitchFamily="34" charset="0"/>
            </a:endParaRPr>
          </a:p>
        </p:txBody>
      </p:sp>
      <p:sp>
        <p:nvSpPr>
          <p:cNvPr id="41" name="Text Box 15"/>
          <p:cNvSpPr txBox="1">
            <a:spLocks noChangeArrowheads="1"/>
          </p:cNvSpPr>
          <p:nvPr/>
        </p:nvSpPr>
        <p:spPr bwMode="auto">
          <a:xfrm>
            <a:off x="1988072" y="3044805"/>
            <a:ext cx="197001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spcBef>
                <a:spcPct val="50000"/>
              </a:spcBef>
            </a:pPr>
            <a:r>
              <a:rPr lang="en-US" dirty="0">
                <a:solidFill>
                  <a:schemeClr val="bg1"/>
                </a:solidFill>
                <a:latin typeface="GE Inspira" pitchFamily="34" charset="0"/>
              </a:rPr>
              <a:t>Hazardous Operation</a:t>
            </a:r>
          </a:p>
        </p:txBody>
      </p:sp>
      <p:sp>
        <p:nvSpPr>
          <p:cNvPr id="42" name="Text Box 15"/>
          <p:cNvSpPr txBox="1">
            <a:spLocks noChangeArrowheads="1"/>
          </p:cNvSpPr>
          <p:nvPr/>
        </p:nvSpPr>
        <p:spPr bwMode="auto">
          <a:xfrm>
            <a:off x="2336876" y="3809979"/>
            <a:ext cx="1310892"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spcBef>
                <a:spcPct val="50000"/>
              </a:spcBef>
            </a:pPr>
            <a:r>
              <a:rPr lang="en-US" sz="1600" b="1" dirty="0">
                <a:solidFill>
                  <a:schemeClr val="bg1"/>
                </a:solidFill>
                <a:latin typeface="GE Inspira" pitchFamily="34" charset="0"/>
              </a:rPr>
              <a:t>Accident Scenario Review</a:t>
            </a:r>
            <a:endParaRPr lang="en-US" sz="1600" b="1" dirty="0">
              <a:solidFill>
                <a:schemeClr val="hlink"/>
              </a:solidFill>
              <a:latin typeface="GE Inspira" pitchFamily="34" charset="0"/>
            </a:endParaRPr>
          </a:p>
          <a:p>
            <a:pPr algn="ctr">
              <a:spcBef>
                <a:spcPct val="50000"/>
              </a:spcBef>
            </a:pPr>
            <a:endParaRPr lang="en-US" dirty="0">
              <a:solidFill>
                <a:schemeClr val="bg1"/>
              </a:solidFill>
              <a:latin typeface="GE Inspira" pitchFamily="34" charset="0"/>
            </a:endParaRPr>
          </a:p>
        </p:txBody>
      </p:sp>
      <p:cxnSp>
        <p:nvCxnSpPr>
          <p:cNvPr id="6" name="Straight Arrow Connector 5"/>
          <p:cNvCxnSpPr/>
          <p:nvPr/>
        </p:nvCxnSpPr>
        <p:spPr>
          <a:xfrm>
            <a:off x="2972658" y="5102641"/>
            <a:ext cx="420" cy="30894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Title 7"/>
          <p:cNvSpPr>
            <a:spLocks noGrp="1"/>
          </p:cNvSpPr>
          <p:nvPr>
            <p:ph type="title"/>
          </p:nvPr>
        </p:nvSpPr>
        <p:spPr>
          <a:xfrm>
            <a:off x="379094" y="551747"/>
            <a:ext cx="5805396" cy="499543"/>
          </a:xfrm>
        </p:spPr>
        <p:txBody>
          <a:bodyPr/>
          <a:lstStyle/>
          <a:p>
            <a:r>
              <a:rPr lang="en-US" dirty="0"/>
              <a:t>Risk Analysis Process</a:t>
            </a:r>
          </a:p>
        </p:txBody>
      </p:sp>
    </p:spTree>
    <p:extLst>
      <p:ext uri="{BB962C8B-B14F-4D97-AF65-F5344CB8AC3E}">
        <p14:creationId xmlns:p14="http://schemas.microsoft.com/office/powerpoint/2010/main" val="1378042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ounded Rectangle 34"/>
          <p:cNvSpPr/>
          <p:nvPr/>
        </p:nvSpPr>
        <p:spPr>
          <a:xfrm rot="10800000">
            <a:off x="356731" y="1027960"/>
            <a:ext cx="4466829" cy="3264528"/>
          </a:xfrm>
          <a:prstGeom prst="roundRect">
            <a:avLst/>
          </a:prstGeom>
          <a:solidFill>
            <a:schemeClr val="tx2">
              <a:lumMod val="60000"/>
              <a:lumOff val="40000"/>
            </a:schemeClr>
          </a:solidFill>
          <a:ln w="9525">
            <a:solidFill>
              <a:schemeClr val="bg1"/>
            </a:solidFill>
            <a:miter lim="800000"/>
            <a:headEnd/>
            <a:tailEnd/>
          </a:ln>
        </p:spPr>
        <p:txBody>
          <a:bodyPr rot="10800000" anchor="ctr"/>
          <a:lstStyle/>
          <a:p>
            <a:pPr>
              <a:defRPr/>
            </a:pPr>
            <a:r>
              <a:rPr lang="en-US" sz="1600" b="1" u="sng" dirty="0">
                <a:solidFill>
                  <a:schemeClr val="bg1"/>
                </a:solidFill>
                <a:latin typeface="GE Inspira" pitchFamily="34" charset="0"/>
              </a:rPr>
              <a:t>Working team : </a:t>
            </a:r>
          </a:p>
          <a:p>
            <a:pPr marL="390164" indent="-390164">
              <a:buFont typeface="Arial" pitchFamily="34" charset="0"/>
              <a:buChar char="•"/>
              <a:defRPr/>
            </a:pPr>
            <a:r>
              <a:rPr lang="en-US" sz="1600" b="1" dirty="0">
                <a:solidFill>
                  <a:schemeClr val="bg1"/>
                </a:solidFill>
                <a:latin typeface="GE Inspira" pitchFamily="34" charset="0"/>
              </a:rPr>
              <a:t>Design </a:t>
            </a:r>
          </a:p>
          <a:p>
            <a:pPr marL="390164" indent="-390164">
              <a:buFont typeface="Arial" pitchFamily="34" charset="0"/>
              <a:buChar char="•"/>
              <a:defRPr/>
            </a:pPr>
            <a:r>
              <a:rPr lang="en-US" sz="1600" b="1" dirty="0">
                <a:solidFill>
                  <a:schemeClr val="bg1"/>
                </a:solidFill>
                <a:latin typeface="GE Inspira" pitchFamily="34" charset="0"/>
              </a:rPr>
              <a:t>Controls</a:t>
            </a:r>
          </a:p>
          <a:p>
            <a:pPr marL="390164" indent="-390164">
              <a:buFont typeface="Arial" pitchFamily="34" charset="0"/>
              <a:buChar char="•"/>
              <a:defRPr/>
            </a:pPr>
            <a:r>
              <a:rPr lang="en-US" sz="1600" b="1" dirty="0">
                <a:solidFill>
                  <a:schemeClr val="bg1"/>
                </a:solidFill>
                <a:latin typeface="GE Inspira" pitchFamily="34" charset="0"/>
              </a:rPr>
              <a:t>System Engineer(s) </a:t>
            </a:r>
          </a:p>
          <a:p>
            <a:pPr marL="390164" indent="-390164">
              <a:buFont typeface="Arial" pitchFamily="34" charset="0"/>
              <a:buChar char="•"/>
              <a:defRPr/>
            </a:pPr>
            <a:r>
              <a:rPr lang="en-US" sz="1600" b="1" dirty="0">
                <a:solidFill>
                  <a:schemeClr val="bg1"/>
                </a:solidFill>
                <a:latin typeface="GE Inspira" pitchFamily="34" charset="0"/>
              </a:rPr>
              <a:t>Product Safety Engineer</a:t>
            </a:r>
          </a:p>
          <a:p>
            <a:pPr marL="390164" indent="-390164">
              <a:buFont typeface="Arial" pitchFamily="34" charset="0"/>
              <a:buChar char="•"/>
              <a:defRPr/>
            </a:pPr>
            <a:endParaRPr lang="en-US" sz="1600" b="1" dirty="0">
              <a:solidFill>
                <a:schemeClr val="bg1"/>
              </a:solidFill>
              <a:latin typeface="GE Inspira" pitchFamily="34" charset="0"/>
            </a:endParaRPr>
          </a:p>
          <a:p>
            <a:pPr>
              <a:defRPr/>
            </a:pPr>
            <a:r>
              <a:rPr lang="en-US" sz="1400" b="1" u="sng" dirty="0">
                <a:solidFill>
                  <a:schemeClr val="bg1"/>
                </a:solidFill>
                <a:latin typeface="GE Inspira" pitchFamily="34" charset="0"/>
              </a:rPr>
              <a:t>If applicable, additional members can include :</a:t>
            </a:r>
          </a:p>
          <a:p>
            <a:pPr marL="390164" indent="-390164">
              <a:buFont typeface="Arial" pitchFamily="34" charset="0"/>
              <a:buChar char="•"/>
              <a:defRPr/>
            </a:pPr>
            <a:r>
              <a:rPr lang="en-US" sz="1400" b="1" dirty="0">
                <a:solidFill>
                  <a:schemeClr val="bg1"/>
                </a:solidFill>
                <a:latin typeface="GE Inspira" pitchFamily="34" charset="0"/>
              </a:rPr>
              <a:t>GE Services</a:t>
            </a:r>
          </a:p>
          <a:p>
            <a:pPr marL="390164" indent="-390164">
              <a:buFont typeface="Arial" pitchFamily="34" charset="0"/>
              <a:buChar char="•"/>
              <a:defRPr/>
            </a:pPr>
            <a:r>
              <a:rPr lang="en-US" sz="1400" b="1" dirty="0">
                <a:solidFill>
                  <a:schemeClr val="bg1"/>
                </a:solidFill>
                <a:latin typeface="GE Inspira" pitchFamily="34" charset="0"/>
              </a:rPr>
              <a:t>Field Engineers</a:t>
            </a:r>
          </a:p>
          <a:p>
            <a:pPr marL="390164" indent="-390164">
              <a:buFont typeface="Arial" pitchFamily="34" charset="0"/>
              <a:buChar char="•"/>
              <a:defRPr/>
            </a:pPr>
            <a:r>
              <a:rPr lang="en-US" sz="1400" b="1" dirty="0">
                <a:solidFill>
                  <a:schemeClr val="bg1"/>
                </a:solidFill>
                <a:latin typeface="GE Inspira" pitchFamily="34" charset="0"/>
              </a:rPr>
              <a:t>Environment Health and Safety (EHS)</a:t>
            </a:r>
          </a:p>
          <a:p>
            <a:pPr marL="390164" indent="-390164">
              <a:buFont typeface="Arial" pitchFamily="34" charset="0"/>
              <a:buChar char="•"/>
              <a:defRPr/>
            </a:pPr>
            <a:r>
              <a:rPr lang="en-US" sz="1400" b="1" dirty="0">
                <a:solidFill>
                  <a:schemeClr val="bg1"/>
                </a:solidFill>
                <a:latin typeface="GE Inspira" pitchFamily="34" charset="0"/>
              </a:rPr>
              <a:t>Manufacturing</a:t>
            </a:r>
          </a:p>
          <a:p>
            <a:endParaRPr lang="en-US" dirty="0">
              <a:solidFill>
                <a:srgbClr val="1E4191"/>
              </a:solidFill>
            </a:endParaRPr>
          </a:p>
        </p:txBody>
      </p:sp>
      <p:sp>
        <p:nvSpPr>
          <p:cNvPr id="3" name="Title 2"/>
          <p:cNvSpPr>
            <a:spLocks noGrp="1"/>
          </p:cNvSpPr>
          <p:nvPr>
            <p:ph type="title"/>
          </p:nvPr>
        </p:nvSpPr>
        <p:spPr>
          <a:xfrm>
            <a:off x="445084" y="450464"/>
            <a:ext cx="8352156" cy="539451"/>
          </a:xfrm>
        </p:spPr>
        <p:txBody>
          <a:bodyPr/>
          <a:lstStyle/>
          <a:p>
            <a:r>
              <a:rPr lang="en-US" dirty="0"/>
              <a:t>Risk Analysis Process</a:t>
            </a:r>
          </a:p>
        </p:txBody>
      </p:sp>
      <p:sp>
        <p:nvSpPr>
          <p:cNvPr id="13" name="Text Box 9"/>
          <p:cNvSpPr txBox="1">
            <a:spLocks noChangeArrowheads="1"/>
          </p:cNvSpPr>
          <p:nvPr/>
        </p:nvSpPr>
        <p:spPr bwMode="auto">
          <a:xfrm>
            <a:off x="356730" y="4995965"/>
            <a:ext cx="8352156" cy="712062"/>
          </a:xfrm>
          <a:prstGeom prst="rect">
            <a:avLst/>
          </a:prstGeom>
          <a:solidFill>
            <a:schemeClr val="accent3">
              <a:lumMod val="75000"/>
            </a:schemeClr>
          </a:solidFill>
          <a:ln/>
        </p:spPr>
        <p:style>
          <a:lnRef idx="0">
            <a:schemeClr val="accent2"/>
          </a:lnRef>
          <a:fillRef idx="3">
            <a:schemeClr val="accent2"/>
          </a:fillRef>
          <a:effectRef idx="3">
            <a:schemeClr val="accent2"/>
          </a:effectRef>
          <a:fontRef idx="minor">
            <a:schemeClr val="lt1"/>
          </a:fontRef>
        </p:style>
        <p:txBody>
          <a:bodyPr wrap="square" lIns="95577" tIns="47788" rIns="95577" bIns="47788">
            <a:spAutoFit/>
          </a:bodyPr>
          <a:lstStyle/>
          <a:p>
            <a:pPr>
              <a:spcBef>
                <a:spcPct val="50000"/>
              </a:spcBef>
            </a:pPr>
            <a:r>
              <a:rPr lang="en-US" sz="2000" b="1" dirty="0">
                <a:solidFill>
                  <a:srgbClr val="FFFFFF"/>
                </a:solidFill>
              </a:rPr>
              <a:t>Risk Analysis documents of products are GE internal &amp; proprietary. Customer gets specific output only: SIF list and Safety Manual.</a:t>
            </a:r>
          </a:p>
        </p:txBody>
      </p:sp>
    </p:spTree>
    <p:extLst>
      <p:ext uri="{BB962C8B-B14F-4D97-AF65-F5344CB8AC3E}">
        <p14:creationId xmlns:p14="http://schemas.microsoft.com/office/powerpoint/2010/main" val="2140629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D558541-60C9-42A2-8392-FF12533A6B7A}" type="slidenum">
              <a:rPr lang="en-US" dirty="0" smtClean="0"/>
              <a:t>19</a:t>
            </a:fld>
            <a:endParaRPr lang="en-US" dirty="0"/>
          </a:p>
        </p:txBody>
      </p:sp>
      <p:sp>
        <p:nvSpPr>
          <p:cNvPr id="6" name="Title 2"/>
          <p:cNvSpPr>
            <a:spLocks noGrp="1"/>
          </p:cNvSpPr>
          <p:nvPr>
            <p:ph type="title"/>
          </p:nvPr>
        </p:nvSpPr>
        <p:spPr>
          <a:xfrm>
            <a:off x="189864" y="114867"/>
            <a:ext cx="8352156" cy="1021002"/>
          </a:xfrm>
        </p:spPr>
        <p:txBody>
          <a:bodyPr/>
          <a:lstStyle/>
          <a:p>
            <a:r>
              <a:rPr lang="en-US" dirty="0"/>
              <a:t>Safety Requirements Specification </a:t>
            </a:r>
            <a:br>
              <a:rPr lang="en-US" dirty="0"/>
            </a:br>
            <a:endParaRPr lang="en-US" dirty="0"/>
          </a:p>
        </p:txBody>
      </p:sp>
      <p:sp>
        <p:nvSpPr>
          <p:cNvPr id="2" name="TextBox 1">
            <a:extLst>
              <a:ext uri="{FF2B5EF4-FFF2-40B4-BE49-F238E27FC236}">
                <a16:creationId xmlns:a16="http://schemas.microsoft.com/office/drawing/2014/main" id="{33443FA1-B16E-49D4-B368-4C4B1A1844C7}"/>
              </a:ext>
            </a:extLst>
          </p:cNvPr>
          <p:cNvSpPr txBox="1"/>
          <p:nvPr/>
        </p:nvSpPr>
        <p:spPr>
          <a:xfrm>
            <a:off x="189864" y="811530"/>
            <a:ext cx="8267066" cy="3077766"/>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000" dirty="0"/>
              <a:t>Record SIFs and SIL Targets</a:t>
            </a:r>
          </a:p>
          <a:p>
            <a:pPr lvl="1"/>
            <a:endParaRPr lang="en-US" sz="2000" dirty="0"/>
          </a:p>
          <a:p>
            <a:pPr marL="342900" indent="-342900">
              <a:buFont typeface="Arial" panose="020B0604020202020204" pitchFamily="34" charset="0"/>
              <a:buChar char="•"/>
            </a:pPr>
            <a:r>
              <a:rPr lang="en-US" sz="2000" dirty="0"/>
              <a:t>Define Safety Integrity Requirements</a:t>
            </a:r>
          </a:p>
          <a:p>
            <a:pPr marL="800100" lvl="1" indent="-342900">
              <a:buFont typeface="Arial" panose="020B0604020202020204" pitchFamily="34" charset="0"/>
              <a:buChar char="•"/>
            </a:pPr>
            <a:r>
              <a:rPr lang="en-US" sz="2000" dirty="0"/>
              <a:t>Definition of Demand Mode &amp; Demand rate</a:t>
            </a:r>
          </a:p>
          <a:p>
            <a:pPr marL="800100" lvl="1" indent="-342900">
              <a:buFont typeface="Arial" panose="020B0604020202020204" pitchFamily="34" charset="0"/>
              <a:buChar char="•"/>
            </a:pPr>
            <a:r>
              <a:rPr lang="en-US" sz="2000" dirty="0"/>
              <a:t>SIL Target</a:t>
            </a:r>
          </a:p>
          <a:p>
            <a:pPr marL="800100" lvl="1" indent="-342900">
              <a:buFont typeface="Arial" panose="020B0604020202020204" pitchFamily="34" charset="0"/>
              <a:buChar char="•"/>
            </a:pPr>
            <a:r>
              <a:rPr lang="en-US" sz="2000" dirty="0"/>
              <a:t>Risk Reduction factor or PFH value</a:t>
            </a:r>
          </a:p>
          <a:p>
            <a:pPr marL="800100" lvl="1" indent="-342900">
              <a:buFont typeface="Arial" panose="020B0604020202020204" pitchFamily="34" charset="0"/>
              <a:buChar char="•"/>
            </a:pPr>
            <a:r>
              <a:rPr lang="en-US" sz="2000" dirty="0"/>
              <a:t>Response Time</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pic>
        <p:nvPicPr>
          <p:cNvPr id="3" name="Picture 2">
            <a:extLst>
              <a:ext uri="{FF2B5EF4-FFF2-40B4-BE49-F238E27FC236}">
                <a16:creationId xmlns:a16="http://schemas.microsoft.com/office/drawing/2014/main" id="{DB59D0B2-C8D5-4990-94A4-D24CA9CB28AF}"/>
              </a:ext>
            </a:extLst>
          </p:cNvPr>
          <p:cNvPicPr>
            <a:picLocks noChangeAspect="1"/>
          </p:cNvPicPr>
          <p:nvPr/>
        </p:nvPicPr>
        <p:blipFill>
          <a:blip r:embed="rId3"/>
          <a:stretch>
            <a:fillRect/>
          </a:stretch>
        </p:blipFill>
        <p:spPr>
          <a:xfrm>
            <a:off x="189864" y="3295321"/>
            <a:ext cx="5353050" cy="2581275"/>
          </a:xfrm>
          <a:prstGeom prst="rect">
            <a:avLst/>
          </a:prstGeom>
        </p:spPr>
      </p:pic>
    </p:spTree>
    <p:extLst>
      <p:ext uri="{BB962C8B-B14F-4D97-AF65-F5344CB8AC3E}">
        <p14:creationId xmlns:p14="http://schemas.microsoft.com/office/powerpoint/2010/main" val="3140048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D558541-60C9-42A2-8392-FF12533A6B7A}" type="slidenum">
              <a:rPr lang="en-US" dirty="0" smtClean="0"/>
              <a:t>20</a:t>
            </a:fld>
            <a:endParaRPr lang="en-US" dirty="0"/>
          </a:p>
        </p:txBody>
      </p:sp>
      <p:sp>
        <p:nvSpPr>
          <p:cNvPr id="6" name="Title 2"/>
          <p:cNvSpPr>
            <a:spLocks noGrp="1"/>
          </p:cNvSpPr>
          <p:nvPr>
            <p:ph type="title"/>
          </p:nvPr>
        </p:nvSpPr>
        <p:spPr>
          <a:xfrm>
            <a:off x="189864" y="114867"/>
            <a:ext cx="8352156" cy="1021002"/>
          </a:xfrm>
        </p:spPr>
        <p:txBody>
          <a:bodyPr/>
          <a:lstStyle/>
          <a:p>
            <a:r>
              <a:rPr lang="en-US" dirty="0"/>
              <a:t>Technical Requirements to SIFs</a:t>
            </a:r>
          </a:p>
        </p:txBody>
      </p:sp>
      <p:sp>
        <p:nvSpPr>
          <p:cNvPr id="2" name="TextBox 1">
            <a:extLst>
              <a:ext uri="{FF2B5EF4-FFF2-40B4-BE49-F238E27FC236}">
                <a16:creationId xmlns:a16="http://schemas.microsoft.com/office/drawing/2014/main" id="{33443FA1-B16E-49D4-B368-4C4B1A1844C7}"/>
              </a:ext>
            </a:extLst>
          </p:cNvPr>
          <p:cNvSpPr txBox="1"/>
          <p:nvPr/>
        </p:nvSpPr>
        <p:spPr>
          <a:xfrm>
            <a:off x="327024" y="459037"/>
            <a:ext cx="8267066" cy="7694414"/>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000" dirty="0"/>
              <a:t>Documented in</a:t>
            </a:r>
          </a:p>
          <a:p>
            <a:pPr marL="800100" lvl="1" indent="-342900">
              <a:buFont typeface="Arial" panose="020B0604020202020204" pitchFamily="34" charset="0"/>
              <a:buChar char="•"/>
            </a:pPr>
            <a:r>
              <a:rPr lang="en-US" sz="1600" dirty="0"/>
              <a:t>SRS ( Only high level items )</a:t>
            </a:r>
          </a:p>
          <a:p>
            <a:pPr marL="800100" lvl="1" indent="-342900">
              <a:buFont typeface="Arial" panose="020B0604020202020204" pitchFamily="34" charset="0"/>
              <a:buChar char="•"/>
            </a:pPr>
            <a:r>
              <a:rPr lang="en-US" sz="1600" dirty="0"/>
              <a:t>Design Practices</a:t>
            </a:r>
          </a:p>
          <a:p>
            <a:pPr marL="800100" lvl="1" indent="-342900">
              <a:buFont typeface="Arial" panose="020B0604020202020204" pitchFamily="34" charset="0"/>
              <a:buChar char="•"/>
            </a:pPr>
            <a:r>
              <a:rPr lang="en-US" sz="1600" dirty="0"/>
              <a:t>Specific Design calculations &amp; considerations</a:t>
            </a:r>
          </a:p>
          <a:p>
            <a:endParaRPr lang="en-US" sz="2000" dirty="0"/>
          </a:p>
          <a:p>
            <a:pPr marL="342900" indent="-342900">
              <a:buFont typeface="Arial" panose="020B0604020202020204" pitchFamily="34" charset="0"/>
              <a:buChar char="•"/>
            </a:pPr>
            <a:r>
              <a:rPr lang="en-US" sz="2000" dirty="0"/>
              <a:t>Safe State – </a:t>
            </a:r>
            <a:r>
              <a:rPr lang="en-US" sz="1600" dirty="0"/>
              <a:t>State of the machine or process to be attained in case of malfunction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Trigger conditions – </a:t>
            </a:r>
            <a:r>
              <a:rPr lang="en-US" sz="1600" dirty="0"/>
              <a:t>Process measurement &amp; critical value which indicate that the process is in risk and SIF must be executed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Response Time – </a:t>
            </a:r>
            <a:r>
              <a:rPr lang="en-US" sz="1600" dirty="0"/>
              <a:t>Time window for reaching the safe state after trigger conditions have been detected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Technical boundary conditions of machine or processes – </a:t>
            </a:r>
            <a:r>
              <a:rPr lang="en-US" sz="1600" dirty="0"/>
              <a:t>For ex: process parameters like pressure temperatures or standards for mechanical communication interfaces etc.</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Testing Conditions – </a:t>
            </a:r>
            <a:r>
              <a:rPr lang="en-US" sz="1600" dirty="0"/>
              <a:t>Allowance from the side of the machine or process for testing SIF or components of SIFs</a:t>
            </a:r>
          </a:p>
          <a:p>
            <a:pPr marL="342900" indent="-342900">
              <a:buFont typeface="Arial" panose="020B0604020202020204" pitchFamily="34" charset="0"/>
              <a:buChar char="•"/>
            </a:pPr>
            <a:endParaRPr lang="en-US" sz="2000" dirty="0"/>
          </a:p>
          <a:p>
            <a:endParaRPr lang="en-US" sz="2000" dirty="0"/>
          </a:p>
          <a:p>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599088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5" y="1618488"/>
            <a:ext cx="8881977" cy="2624288"/>
          </a:xfrm>
        </p:spPr>
        <p:txBody>
          <a:bodyPr/>
          <a:lstStyle/>
          <a:p>
            <a:r>
              <a:rPr lang="en-US" dirty="0"/>
              <a:t>Design &amp; Design verification </a:t>
            </a:r>
            <a:endParaRPr lang="en-US" sz="4400" i="1" dirty="0"/>
          </a:p>
        </p:txBody>
      </p:sp>
    </p:spTree>
    <p:extLst>
      <p:ext uri="{BB962C8B-B14F-4D97-AF65-F5344CB8AC3E}">
        <p14:creationId xmlns:p14="http://schemas.microsoft.com/office/powerpoint/2010/main" val="26905698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68" y="99478"/>
            <a:ext cx="8352156" cy="1021002"/>
          </a:xfrm>
        </p:spPr>
        <p:txBody>
          <a:bodyPr/>
          <a:lstStyle/>
          <a:p>
            <a:r>
              <a:rPr lang="en-US" dirty="0"/>
              <a:t>Safety Design Principles </a:t>
            </a:r>
          </a:p>
        </p:txBody>
      </p:sp>
      <p:sp>
        <p:nvSpPr>
          <p:cNvPr id="3" name="TextBox 2">
            <a:extLst>
              <a:ext uri="{FF2B5EF4-FFF2-40B4-BE49-F238E27FC236}">
                <a16:creationId xmlns:a16="http://schemas.microsoft.com/office/drawing/2014/main" id="{DC28D83A-65AC-468F-93AD-F0EE2A944AD9}"/>
              </a:ext>
            </a:extLst>
          </p:cNvPr>
          <p:cNvSpPr txBox="1"/>
          <p:nvPr/>
        </p:nvSpPr>
        <p:spPr>
          <a:xfrm>
            <a:off x="294640" y="738015"/>
            <a:ext cx="7863840" cy="3693319"/>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000" dirty="0"/>
              <a:t>Reduction of probability of failure</a:t>
            </a:r>
          </a:p>
          <a:p>
            <a:pPr marL="800100" lvl="1" indent="-342900">
              <a:buFont typeface="Arial" panose="020B0604020202020204" pitchFamily="34" charset="0"/>
              <a:buChar char="•"/>
            </a:pPr>
            <a:r>
              <a:rPr lang="en-US" sz="2000" dirty="0"/>
              <a:t>Structural simplicity </a:t>
            </a:r>
          </a:p>
          <a:p>
            <a:pPr marL="800100" lvl="1" indent="-342900">
              <a:buFont typeface="Arial" panose="020B0604020202020204" pitchFamily="34" charset="0"/>
              <a:buChar char="•"/>
            </a:pPr>
            <a:r>
              <a:rPr lang="en-US" sz="2000" dirty="0"/>
              <a:t>Redundancy </a:t>
            </a:r>
          </a:p>
          <a:p>
            <a:pPr marL="800100" lvl="1" indent="-342900">
              <a:buFont typeface="Arial" panose="020B0604020202020204" pitchFamily="34" charset="0"/>
              <a:buChar char="•"/>
            </a:pPr>
            <a:r>
              <a:rPr lang="en-US" sz="2000" dirty="0"/>
              <a:t>Measures against systematic errors</a:t>
            </a:r>
          </a:p>
          <a:p>
            <a:pPr marL="800100" lvl="1" indent="-342900">
              <a:buFont typeface="Arial" panose="020B0604020202020204" pitchFamily="34" charset="0"/>
              <a:buChar char="•"/>
            </a:pPr>
            <a:r>
              <a:rPr lang="en-US" sz="2000" dirty="0"/>
              <a:t>Use of high quality components and materials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Segregation of safety systems from normal operational equipment</a:t>
            </a:r>
          </a:p>
          <a:p>
            <a:pPr lvl="1"/>
            <a:endParaRPr lang="en-US" sz="2000" dirty="0"/>
          </a:p>
          <a:p>
            <a:pPr lvl="1"/>
            <a:r>
              <a:rPr lang="en-US" sz="2000" dirty="0"/>
              <a:t>Example : Safety Controller</a:t>
            </a:r>
          </a:p>
          <a:p>
            <a:endParaRPr lang="en-US" sz="2000" dirty="0"/>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
        <p:nvSpPr>
          <p:cNvPr id="6" name="Rectangle 3">
            <a:extLst>
              <a:ext uri="{FF2B5EF4-FFF2-40B4-BE49-F238E27FC236}">
                <a16:creationId xmlns:a16="http://schemas.microsoft.com/office/drawing/2014/main" id="{5D763C8F-C9AA-4C4D-99A7-E577737824E7}"/>
              </a:ext>
            </a:extLst>
          </p:cNvPr>
          <p:cNvSpPr txBox="1">
            <a:spLocks noChangeArrowheads="1"/>
          </p:cNvSpPr>
          <p:nvPr/>
        </p:nvSpPr>
        <p:spPr bwMode="auto">
          <a:xfrm>
            <a:off x="2174240" y="6063933"/>
            <a:ext cx="31353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50000"/>
              </a:spcBef>
              <a:buClr>
                <a:srgbClr val="004880"/>
              </a:buClr>
              <a:defRPr sz="2800">
                <a:solidFill>
                  <a:srgbClr val="1E4191"/>
                </a:solidFill>
                <a:latin typeface="GE Inspira Pitch" pitchFamily="34" charset="0"/>
              </a:defRPr>
            </a:lvl1pPr>
            <a:lvl2pPr marL="341313" indent="-339725">
              <a:lnSpc>
                <a:spcPct val="90000"/>
              </a:lnSpc>
              <a:spcBef>
                <a:spcPct val="30000"/>
              </a:spcBef>
              <a:buClr>
                <a:srgbClr val="004880"/>
              </a:buClr>
              <a:buFont typeface="GE Inspira Pitch" pitchFamily="34" charset="0"/>
              <a:buChar char="•"/>
              <a:defRPr sz="2800">
                <a:solidFill>
                  <a:srgbClr val="1E4191"/>
                </a:solidFill>
                <a:latin typeface="GE Inspira Pitch" pitchFamily="34" charset="0"/>
              </a:defRPr>
            </a:lvl2pPr>
            <a:lvl3pPr marL="744538" indent="-288925">
              <a:lnSpc>
                <a:spcPct val="90000"/>
              </a:lnSpc>
              <a:spcBef>
                <a:spcPct val="20000"/>
              </a:spcBef>
              <a:buClr>
                <a:srgbClr val="004880"/>
              </a:buClr>
              <a:buChar char="–"/>
              <a:defRPr sz="2800">
                <a:solidFill>
                  <a:srgbClr val="1E4191"/>
                </a:solidFill>
                <a:latin typeface="GE Inspira Pitch" pitchFamily="34" charset="0"/>
              </a:defRPr>
            </a:lvl3pPr>
            <a:lvl4pPr marL="1146175" indent="-287338">
              <a:lnSpc>
                <a:spcPct val="90000"/>
              </a:lnSpc>
              <a:spcBef>
                <a:spcPct val="10000"/>
              </a:spcBef>
              <a:buClr>
                <a:srgbClr val="004880"/>
              </a:buClr>
              <a:buChar char="–"/>
              <a:defRPr sz="2800">
                <a:solidFill>
                  <a:srgbClr val="1E4191"/>
                </a:solidFill>
                <a:latin typeface="GE Inspira Pitch" pitchFamily="34" charset="0"/>
              </a:defRPr>
            </a:lvl4pPr>
            <a:lvl5pPr marL="1546225" indent="-285750">
              <a:lnSpc>
                <a:spcPct val="90000"/>
              </a:lnSpc>
              <a:buClr>
                <a:srgbClr val="004880"/>
              </a:buClr>
              <a:buChar char="–"/>
              <a:defRPr sz="2800">
                <a:solidFill>
                  <a:srgbClr val="1E4191"/>
                </a:solidFill>
                <a:latin typeface="GE Inspira Pitch" pitchFamily="34" charset="0"/>
              </a:defRPr>
            </a:lvl5pPr>
            <a:lvl6pPr marL="2003425" indent="-285750" eaLnBrk="0" fontAlgn="base" hangingPunct="0">
              <a:lnSpc>
                <a:spcPct val="90000"/>
              </a:lnSpc>
              <a:spcBef>
                <a:spcPct val="0"/>
              </a:spcBef>
              <a:spcAft>
                <a:spcPct val="0"/>
              </a:spcAft>
              <a:buClr>
                <a:srgbClr val="004880"/>
              </a:buClr>
              <a:buChar char="–"/>
              <a:defRPr sz="2800">
                <a:solidFill>
                  <a:srgbClr val="1E4191"/>
                </a:solidFill>
                <a:latin typeface="GE Inspira Pitch" pitchFamily="34" charset="0"/>
              </a:defRPr>
            </a:lvl6pPr>
            <a:lvl7pPr marL="2460625" indent="-285750" eaLnBrk="0" fontAlgn="base" hangingPunct="0">
              <a:lnSpc>
                <a:spcPct val="90000"/>
              </a:lnSpc>
              <a:spcBef>
                <a:spcPct val="0"/>
              </a:spcBef>
              <a:spcAft>
                <a:spcPct val="0"/>
              </a:spcAft>
              <a:buClr>
                <a:srgbClr val="004880"/>
              </a:buClr>
              <a:buChar char="–"/>
              <a:defRPr sz="2800">
                <a:solidFill>
                  <a:srgbClr val="1E4191"/>
                </a:solidFill>
                <a:latin typeface="GE Inspira Pitch" pitchFamily="34" charset="0"/>
              </a:defRPr>
            </a:lvl7pPr>
            <a:lvl8pPr marL="2917825" indent="-285750" eaLnBrk="0" fontAlgn="base" hangingPunct="0">
              <a:lnSpc>
                <a:spcPct val="90000"/>
              </a:lnSpc>
              <a:spcBef>
                <a:spcPct val="0"/>
              </a:spcBef>
              <a:spcAft>
                <a:spcPct val="0"/>
              </a:spcAft>
              <a:buClr>
                <a:srgbClr val="004880"/>
              </a:buClr>
              <a:buChar char="–"/>
              <a:defRPr sz="2800">
                <a:solidFill>
                  <a:srgbClr val="1E4191"/>
                </a:solidFill>
                <a:latin typeface="GE Inspira Pitch" pitchFamily="34" charset="0"/>
              </a:defRPr>
            </a:lvl8pPr>
            <a:lvl9pPr marL="3375025" indent="-285750" eaLnBrk="0" fontAlgn="base" hangingPunct="0">
              <a:lnSpc>
                <a:spcPct val="90000"/>
              </a:lnSpc>
              <a:spcBef>
                <a:spcPct val="0"/>
              </a:spcBef>
              <a:spcAft>
                <a:spcPct val="0"/>
              </a:spcAft>
              <a:buClr>
                <a:srgbClr val="004880"/>
              </a:buClr>
              <a:buChar char="–"/>
              <a:defRPr sz="2800">
                <a:solidFill>
                  <a:srgbClr val="1E4191"/>
                </a:solidFill>
                <a:latin typeface="GE Inspira Pitch" pitchFamily="34" charset="0"/>
              </a:defRPr>
            </a:lvl9pPr>
          </a:lstStyle>
          <a:p>
            <a:pPr algn="ctr"/>
            <a:r>
              <a:rPr lang="en-US" altLang="fr-FR" sz="1800" u="sng" dirty="0"/>
              <a:t>SIL independence principle</a:t>
            </a:r>
            <a:endParaRPr lang="en-US" altLang="fr-FR" sz="1800" dirty="0"/>
          </a:p>
        </p:txBody>
      </p:sp>
      <p:grpSp>
        <p:nvGrpSpPr>
          <p:cNvPr id="7" name="Groupe 22">
            <a:extLst>
              <a:ext uri="{FF2B5EF4-FFF2-40B4-BE49-F238E27FC236}">
                <a16:creationId xmlns:a16="http://schemas.microsoft.com/office/drawing/2014/main" id="{D10D2EDC-FAC9-4321-B49B-C9F6E0C7CF95}"/>
              </a:ext>
            </a:extLst>
          </p:cNvPr>
          <p:cNvGrpSpPr>
            <a:grpSpLocks/>
          </p:cNvGrpSpPr>
          <p:nvPr/>
        </p:nvGrpSpPr>
        <p:grpSpPr bwMode="auto">
          <a:xfrm>
            <a:off x="829628" y="3738245"/>
            <a:ext cx="5324475" cy="2317750"/>
            <a:chOff x="1855643" y="3312176"/>
            <a:chExt cx="5325206" cy="2317530"/>
          </a:xfrm>
        </p:grpSpPr>
        <p:grpSp>
          <p:nvGrpSpPr>
            <p:cNvPr id="8" name="Group 14">
              <a:extLst>
                <a:ext uri="{FF2B5EF4-FFF2-40B4-BE49-F238E27FC236}">
                  <a16:creationId xmlns:a16="http://schemas.microsoft.com/office/drawing/2014/main" id="{0B3C9911-F841-435E-8DF1-3B04CF68FD3D}"/>
                </a:ext>
              </a:extLst>
            </p:cNvPr>
            <p:cNvGrpSpPr>
              <a:grpSpLocks/>
            </p:cNvGrpSpPr>
            <p:nvPr/>
          </p:nvGrpSpPr>
          <p:grpSpPr bwMode="auto">
            <a:xfrm>
              <a:off x="1855643" y="3312176"/>
              <a:ext cx="5325206" cy="2317530"/>
              <a:chOff x="1223507" y="2870182"/>
              <a:chExt cx="3564594" cy="1993173"/>
            </a:xfrm>
          </p:grpSpPr>
          <p:grpSp>
            <p:nvGrpSpPr>
              <p:cNvPr id="16" name="Group 15">
                <a:extLst>
                  <a:ext uri="{FF2B5EF4-FFF2-40B4-BE49-F238E27FC236}">
                    <a16:creationId xmlns:a16="http://schemas.microsoft.com/office/drawing/2014/main" id="{390879B4-883D-4C79-8F85-E46730BAAC4C}"/>
                  </a:ext>
                </a:extLst>
              </p:cNvPr>
              <p:cNvGrpSpPr>
                <a:grpSpLocks/>
              </p:cNvGrpSpPr>
              <p:nvPr/>
            </p:nvGrpSpPr>
            <p:grpSpPr bwMode="auto">
              <a:xfrm>
                <a:off x="1223507" y="2870182"/>
                <a:ext cx="2302862" cy="1993173"/>
                <a:chOff x="1223507" y="2870182"/>
                <a:chExt cx="2302862" cy="1993173"/>
              </a:xfrm>
            </p:grpSpPr>
            <p:grpSp>
              <p:nvGrpSpPr>
                <p:cNvPr id="18" name="Group 17">
                  <a:extLst>
                    <a:ext uri="{FF2B5EF4-FFF2-40B4-BE49-F238E27FC236}">
                      <a16:creationId xmlns:a16="http://schemas.microsoft.com/office/drawing/2014/main" id="{CE9A5E1B-0F98-47D9-A95C-34235677C762}"/>
                    </a:ext>
                  </a:extLst>
                </p:cNvPr>
                <p:cNvGrpSpPr>
                  <a:grpSpLocks/>
                </p:cNvGrpSpPr>
                <p:nvPr/>
              </p:nvGrpSpPr>
              <p:grpSpPr bwMode="auto">
                <a:xfrm>
                  <a:off x="1223507" y="2870182"/>
                  <a:ext cx="2302862" cy="714693"/>
                  <a:chOff x="1223507" y="2870182"/>
                  <a:chExt cx="2302862" cy="714693"/>
                </a:xfrm>
              </p:grpSpPr>
              <p:sp>
                <p:nvSpPr>
                  <p:cNvPr id="22" name="Rectangle 6">
                    <a:extLst>
                      <a:ext uri="{FF2B5EF4-FFF2-40B4-BE49-F238E27FC236}">
                        <a16:creationId xmlns:a16="http://schemas.microsoft.com/office/drawing/2014/main" id="{75090BDA-E603-4B08-A916-403676EB1797}"/>
                      </a:ext>
                    </a:extLst>
                  </p:cNvPr>
                  <p:cNvSpPr>
                    <a:spLocks noChangeArrowheads="1"/>
                  </p:cNvSpPr>
                  <p:nvPr/>
                </p:nvSpPr>
                <p:spPr bwMode="auto">
                  <a:xfrm>
                    <a:off x="1223507" y="2976062"/>
                    <a:ext cx="899871" cy="502931"/>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600" dirty="0">
                        <a:latin typeface="GE Inspira" pitchFamily="34" charset="0"/>
                      </a:rPr>
                      <a:t>Safety sensors</a:t>
                    </a:r>
                  </a:p>
                </p:txBody>
              </p:sp>
              <p:sp>
                <p:nvSpPr>
                  <p:cNvPr id="23" name="Rectangle 8">
                    <a:extLst>
                      <a:ext uri="{FF2B5EF4-FFF2-40B4-BE49-F238E27FC236}">
                        <a16:creationId xmlns:a16="http://schemas.microsoft.com/office/drawing/2014/main" id="{338363A8-30B8-4EF2-9BDE-4219B6D60511}"/>
                      </a:ext>
                    </a:extLst>
                  </p:cNvPr>
                  <p:cNvSpPr>
                    <a:spLocks noChangeArrowheads="1"/>
                  </p:cNvSpPr>
                  <p:nvPr/>
                </p:nvSpPr>
                <p:spPr bwMode="auto">
                  <a:xfrm>
                    <a:off x="2559503" y="2870182"/>
                    <a:ext cx="966866" cy="714693"/>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600" dirty="0">
                        <a:latin typeface="GE Inspira" pitchFamily="34" charset="0"/>
                      </a:rPr>
                      <a:t>Safety controller </a:t>
                    </a:r>
                    <a:r>
                      <a:rPr lang="en-US" altLang="fr-FR" sz="1600" b="1" dirty="0" err="1">
                        <a:latin typeface="GE Inspira" pitchFamily="34" charset="0"/>
                      </a:rPr>
                      <a:t>MarkVIeS</a:t>
                    </a:r>
                  </a:p>
                </p:txBody>
              </p:sp>
            </p:grpSp>
            <p:grpSp>
              <p:nvGrpSpPr>
                <p:cNvPr id="19" name="Group 19">
                  <a:extLst>
                    <a:ext uri="{FF2B5EF4-FFF2-40B4-BE49-F238E27FC236}">
                      <a16:creationId xmlns:a16="http://schemas.microsoft.com/office/drawing/2014/main" id="{E6E0B849-4F02-4282-AED9-6E1EC9816B12}"/>
                    </a:ext>
                  </a:extLst>
                </p:cNvPr>
                <p:cNvGrpSpPr>
                  <a:grpSpLocks/>
                </p:cNvGrpSpPr>
                <p:nvPr/>
              </p:nvGrpSpPr>
              <p:grpSpPr bwMode="auto">
                <a:xfrm>
                  <a:off x="1223507" y="4148662"/>
                  <a:ext cx="2302862" cy="714693"/>
                  <a:chOff x="1223507" y="4148662"/>
                  <a:chExt cx="2302862" cy="714693"/>
                </a:xfrm>
              </p:grpSpPr>
              <p:sp>
                <p:nvSpPr>
                  <p:cNvPr id="20" name="Rectangle 7">
                    <a:extLst>
                      <a:ext uri="{FF2B5EF4-FFF2-40B4-BE49-F238E27FC236}">
                        <a16:creationId xmlns:a16="http://schemas.microsoft.com/office/drawing/2014/main" id="{D5A62E39-34AF-4944-8EDB-7588D26D89F1}"/>
                      </a:ext>
                    </a:extLst>
                  </p:cNvPr>
                  <p:cNvSpPr>
                    <a:spLocks noChangeArrowheads="1"/>
                  </p:cNvSpPr>
                  <p:nvPr/>
                </p:nvSpPr>
                <p:spPr bwMode="auto">
                  <a:xfrm>
                    <a:off x="1223507" y="4255155"/>
                    <a:ext cx="899871" cy="502931"/>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600" dirty="0">
                        <a:latin typeface="GE Inspira" pitchFamily="34" charset="0"/>
                      </a:rPr>
                      <a:t>Process  sensors</a:t>
                    </a:r>
                  </a:p>
                </p:txBody>
              </p:sp>
              <p:sp>
                <p:nvSpPr>
                  <p:cNvPr id="21" name="Rectangle 9">
                    <a:extLst>
                      <a:ext uri="{FF2B5EF4-FFF2-40B4-BE49-F238E27FC236}">
                        <a16:creationId xmlns:a16="http://schemas.microsoft.com/office/drawing/2014/main" id="{9B5EE271-74B4-412A-9DFF-354765C50791}"/>
                      </a:ext>
                    </a:extLst>
                  </p:cNvPr>
                  <p:cNvSpPr>
                    <a:spLocks noChangeArrowheads="1"/>
                  </p:cNvSpPr>
                  <p:nvPr/>
                </p:nvSpPr>
                <p:spPr bwMode="auto">
                  <a:xfrm>
                    <a:off x="2559503" y="4148662"/>
                    <a:ext cx="966866" cy="71469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600" dirty="0">
                        <a:latin typeface="GE Inspira" pitchFamily="34" charset="0"/>
                      </a:rPr>
                      <a:t>Process </a:t>
                    </a:r>
                  </a:p>
                  <a:p>
                    <a:pPr algn="ctr"/>
                    <a:r>
                      <a:rPr lang="en-US" altLang="fr-FR" sz="1600" dirty="0">
                        <a:latin typeface="GE Inspira" pitchFamily="34" charset="0"/>
                      </a:rPr>
                      <a:t>Controller </a:t>
                    </a:r>
                    <a:r>
                      <a:rPr lang="en-US" altLang="fr-FR" sz="1600" b="1" dirty="0" err="1">
                        <a:latin typeface="GE Inspira" pitchFamily="34" charset="0"/>
                      </a:rPr>
                      <a:t>MarkVIe</a:t>
                    </a:r>
                    <a:endParaRPr lang="en-US" altLang="fr-FR" sz="1600" b="1" dirty="0">
                      <a:latin typeface="GE Inspira" pitchFamily="34" charset="0"/>
                    </a:endParaRPr>
                  </a:p>
                </p:txBody>
              </p:sp>
            </p:grpSp>
          </p:grpSp>
          <p:sp>
            <p:nvSpPr>
              <p:cNvPr id="17" name="Rectangle 10">
                <a:extLst>
                  <a:ext uri="{FF2B5EF4-FFF2-40B4-BE49-F238E27FC236}">
                    <a16:creationId xmlns:a16="http://schemas.microsoft.com/office/drawing/2014/main" id="{D632F6E4-DF58-4058-9FFF-132AE57BE7A5}"/>
                  </a:ext>
                </a:extLst>
              </p:cNvPr>
              <p:cNvSpPr>
                <a:spLocks noChangeArrowheads="1"/>
              </p:cNvSpPr>
              <p:nvPr/>
            </p:nvSpPr>
            <p:spPr bwMode="auto">
              <a:xfrm>
                <a:off x="3707965" y="3729918"/>
                <a:ext cx="1080136" cy="291171"/>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600" dirty="0">
                    <a:latin typeface="GE Inspira" pitchFamily="34" charset="0"/>
                  </a:rPr>
                  <a:t>Actuators</a:t>
                </a:r>
              </a:p>
            </p:txBody>
          </p:sp>
        </p:grpSp>
        <p:cxnSp>
          <p:nvCxnSpPr>
            <p:cNvPr id="10" name="AutoShape 11">
              <a:extLst>
                <a:ext uri="{FF2B5EF4-FFF2-40B4-BE49-F238E27FC236}">
                  <a16:creationId xmlns:a16="http://schemas.microsoft.com/office/drawing/2014/main" id="{ED2298E2-4B6D-4338-AF51-F89064D3CE56}"/>
                </a:ext>
              </a:extLst>
            </p:cNvPr>
            <p:cNvCxnSpPr>
              <a:cxnSpLocks noChangeShapeType="1"/>
              <a:stCxn id="23" idx="3"/>
              <a:endCxn id="17" idx="0"/>
            </p:cNvCxnSpPr>
            <p:nvPr/>
          </p:nvCxnSpPr>
          <p:spPr bwMode="auto">
            <a:xfrm>
              <a:off x="5295927" y="3727675"/>
              <a:ext cx="1078106" cy="584145"/>
            </a:xfrm>
            <a:prstGeom prst="bentConnector2">
              <a:avLst/>
            </a:prstGeom>
            <a:noFill/>
            <a:ln w="6350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2">
              <a:extLst>
                <a:ext uri="{FF2B5EF4-FFF2-40B4-BE49-F238E27FC236}">
                  <a16:creationId xmlns:a16="http://schemas.microsoft.com/office/drawing/2014/main" id="{A1DFE95F-D11D-4F2F-B8C9-F8CE276B2422}"/>
                </a:ext>
              </a:extLst>
            </p:cNvPr>
            <p:cNvCxnSpPr>
              <a:cxnSpLocks noChangeShapeType="1"/>
              <a:stCxn id="21" idx="3"/>
              <a:endCxn id="17" idx="2"/>
            </p:cNvCxnSpPr>
            <p:nvPr/>
          </p:nvCxnSpPr>
          <p:spPr bwMode="auto">
            <a:xfrm flipV="1">
              <a:off x="5295927" y="4650374"/>
              <a:ext cx="1078106" cy="563833"/>
            </a:xfrm>
            <a:prstGeom prst="bentConnector2">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3">
              <a:extLst>
                <a:ext uri="{FF2B5EF4-FFF2-40B4-BE49-F238E27FC236}">
                  <a16:creationId xmlns:a16="http://schemas.microsoft.com/office/drawing/2014/main" id="{4763892B-4F50-4205-8524-2A46B5722407}"/>
                </a:ext>
              </a:extLst>
            </p:cNvPr>
            <p:cNvCxnSpPr>
              <a:cxnSpLocks noChangeShapeType="1"/>
              <a:stCxn id="20" idx="3"/>
              <a:endCxn id="21" idx="1"/>
            </p:cNvCxnSpPr>
            <p:nvPr/>
          </p:nvCxnSpPr>
          <p:spPr bwMode="auto">
            <a:xfrm flipV="1">
              <a:off x="3199975" y="5214207"/>
              <a:ext cx="651535" cy="712"/>
            </a:xfrm>
            <a:prstGeom prst="straightConnector1">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4">
              <a:extLst>
                <a:ext uri="{FF2B5EF4-FFF2-40B4-BE49-F238E27FC236}">
                  <a16:creationId xmlns:a16="http://schemas.microsoft.com/office/drawing/2014/main" id="{F77CF698-0C80-4F36-ABBA-AC8C9DA6F71F}"/>
                </a:ext>
              </a:extLst>
            </p:cNvPr>
            <p:cNvCxnSpPr>
              <a:cxnSpLocks noChangeShapeType="1"/>
              <a:stCxn id="22" idx="3"/>
              <a:endCxn id="23" idx="1"/>
            </p:cNvCxnSpPr>
            <p:nvPr/>
          </p:nvCxnSpPr>
          <p:spPr bwMode="auto">
            <a:xfrm>
              <a:off x="3199975" y="3727674"/>
              <a:ext cx="651535" cy="1"/>
            </a:xfrm>
            <a:prstGeom prst="straightConnector1">
              <a:avLst/>
            </a:prstGeom>
            <a:noFill/>
            <a:ln w="635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491E6260-2A33-4700-8AD5-5D5EC4E4C1A9}"/>
                </a:ext>
              </a:extLst>
            </p:cNvPr>
            <p:cNvCxnSpPr>
              <a:cxnSpLocks noChangeShapeType="1"/>
              <a:stCxn id="23" idx="2"/>
              <a:endCxn id="21" idx="0"/>
            </p:cNvCxnSpPr>
            <p:nvPr/>
          </p:nvCxnSpPr>
          <p:spPr bwMode="auto">
            <a:xfrm>
              <a:off x="4573719" y="4143174"/>
              <a:ext cx="0" cy="655534"/>
            </a:xfrm>
            <a:prstGeom prst="straightConnector1">
              <a:avLst/>
            </a:prstGeom>
            <a:noFill/>
            <a:ln w="63500" cmpd="dbl">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Rectangle 16">
              <a:extLst>
                <a:ext uri="{FF2B5EF4-FFF2-40B4-BE49-F238E27FC236}">
                  <a16:creationId xmlns:a16="http://schemas.microsoft.com/office/drawing/2014/main" id="{D6A8FC81-D437-4EF9-B55D-46E3CC14375E}"/>
                </a:ext>
              </a:extLst>
            </p:cNvPr>
            <p:cNvSpPr>
              <a:spLocks noChangeArrowheads="1"/>
            </p:cNvSpPr>
            <p:nvPr/>
          </p:nvSpPr>
          <p:spPr bwMode="auto">
            <a:xfrm>
              <a:off x="2527809" y="4173396"/>
              <a:ext cx="15741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nchor="ctr">
              <a:spAutoFit/>
            </a:bodyPr>
            <a:lstStyle>
              <a:lvl1pPr>
                <a:defRPr sz="2000">
                  <a:solidFill>
                    <a:schemeClr val="tx1"/>
                  </a:solidFill>
                  <a:latin typeface="GE Inspira Pitch" pitchFamily="34" charset="0"/>
                  <a:cs typeface="Times New Roman" pitchFamily="18" charset="0"/>
                </a:defRPr>
              </a:lvl1pPr>
              <a:lvl2pPr marL="742950" indent="-285750">
                <a:defRPr sz="2000">
                  <a:solidFill>
                    <a:schemeClr val="tx1"/>
                  </a:solidFill>
                  <a:latin typeface="GE Inspira Pitch" pitchFamily="34" charset="0"/>
                  <a:cs typeface="Times New Roman" pitchFamily="18" charset="0"/>
                </a:defRPr>
              </a:lvl2pPr>
              <a:lvl3pPr marL="1143000" indent="-228600">
                <a:defRPr sz="2000">
                  <a:solidFill>
                    <a:schemeClr val="tx1"/>
                  </a:solidFill>
                  <a:latin typeface="GE Inspira Pitch" pitchFamily="34" charset="0"/>
                  <a:cs typeface="Times New Roman" pitchFamily="18" charset="0"/>
                </a:defRPr>
              </a:lvl3pPr>
              <a:lvl4pPr marL="1600200" indent="-228600">
                <a:defRPr sz="2000">
                  <a:solidFill>
                    <a:schemeClr val="tx1"/>
                  </a:solidFill>
                  <a:latin typeface="GE Inspira Pitch" pitchFamily="34" charset="0"/>
                  <a:cs typeface="Times New Roman" pitchFamily="18" charset="0"/>
                </a:defRPr>
              </a:lvl4pPr>
              <a:lvl5pPr marL="2057400" indent="-228600">
                <a:defRPr sz="2000">
                  <a:solidFill>
                    <a:schemeClr val="tx1"/>
                  </a:solidFill>
                  <a:latin typeface="GE Inspira Pitch" pitchFamily="34" charset="0"/>
                  <a:cs typeface="Times New Roman" pitchFamily="18"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pitchFamily="18" charset="0"/>
                </a:defRPr>
              </a:lvl9pPr>
            </a:lstStyle>
            <a:p>
              <a:pPr algn="ctr"/>
              <a:r>
                <a:rPr lang="en-US" altLang="fr-FR" sz="1400" dirty="0">
                  <a:solidFill>
                    <a:schemeClr val="tx2"/>
                  </a:solidFill>
                  <a:latin typeface="GE Inspira" pitchFamily="34" charset="0"/>
                </a:rPr>
                <a:t>Unidirectional communication</a:t>
              </a:r>
            </a:p>
          </p:txBody>
        </p:sp>
      </p:grpSp>
      <p:sp>
        <p:nvSpPr>
          <p:cNvPr id="24" name="TextBox 23">
            <a:extLst>
              <a:ext uri="{FF2B5EF4-FFF2-40B4-BE49-F238E27FC236}">
                <a16:creationId xmlns:a16="http://schemas.microsoft.com/office/drawing/2014/main" id="{1F30B0D0-2737-47B0-85A1-1279707D0533}"/>
              </a:ext>
            </a:extLst>
          </p:cNvPr>
          <p:cNvSpPr txBox="1"/>
          <p:nvPr/>
        </p:nvSpPr>
        <p:spPr>
          <a:xfrm>
            <a:off x="5557520" y="5779695"/>
            <a:ext cx="2504758" cy="307777"/>
          </a:xfrm>
          <a:prstGeom prst="rect">
            <a:avLst/>
          </a:prstGeom>
          <a:noFill/>
        </p:spPr>
        <p:txBody>
          <a:bodyPr wrap="square" lIns="0" tIns="0" rIns="0" bIns="0" rtlCol="0">
            <a:spAutoFit/>
          </a:bodyPr>
          <a:lstStyle/>
          <a:p>
            <a:r>
              <a:rPr lang="en-US" sz="2000" dirty="0">
                <a:highlight>
                  <a:srgbClr val="FFFF00"/>
                </a:highlight>
              </a:rPr>
              <a:t>Yellow - SIL</a:t>
            </a:r>
          </a:p>
        </p:txBody>
      </p:sp>
    </p:spTree>
    <p:extLst>
      <p:ext uri="{BB962C8B-B14F-4D97-AF65-F5344CB8AC3E}">
        <p14:creationId xmlns:p14="http://schemas.microsoft.com/office/powerpoint/2010/main" val="2531876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20068" y="99478"/>
            <a:ext cx="8352156" cy="1021002"/>
          </a:xfrm>
        </p:spPr>
        <p:txBody>
          <a:bodyPr/>
          <a:lstStyle/>
          <a:p>
            <a:r>
              <a:rPr lang="en-US" dirty="0"/>
              <a:t>Functional Block Diagram (FBD)</a:t>
            </a:r>
          </a:p>
        </p:txBody>
      </p:sp>
      <p:pic>
        <p:nvPicPr>
          <p:cNvPr id="4" name="Picture 3"/>
          <p:cNvPicPr>
            <a:picLocks noChangeAspect="1"/>
          </p:cNvPicPr>
          <p:nvPr/>
        </p:nvPicPr>
        <p:blipFill>
          <a:blip r:embed="rId3"/>
          <a:stretch>
            <a:fillRect/>
          </a:stretch>
        </p:blipFill>
        <p:spPr>
          <a:xfrm>
            <a:off x="0" y="673725"/>
            <a:ext cx="8001445" cy="4569915"/>
          </a:xfrm>
          <a:prstGeom prst="rect">
            <a:avLst/>
          </a:prstGeom>
        </p:spPr>
      </p:pic>
      <p:sp>
        <p:nvSpPr>
          <p:cNvPr id="9" name="Text Box 9"/>
          <p:cNvSpPr txBox="1">
            <a:spLocks noChangeArrowheads="1"/>
          </p:cNvSpPr>
          <p:nvPr/>
        </p:nvSpPr>
        <p:spPr bwMode="auto">
          <a:xfrm>
            <a:off x="127970" y="5329135"/>
            <a:ext cx="8558829" cy="865951"/>
          </a:xfrm>
          <a:prstGeom prst="rect">
            <a:avLst/>
          </a:prstGeom>
          <a:solidFill>
            <a:schemeClr val="accent3">
              <a:lumMod val="75000"/>
            </a:schemeClr>
          </a:solidFill>
          <a:ln/>
        </p:spPr>
        <p:style>
          <a:lnRef idx="0">
            <a:schemeClr val="accent2"/>
          </a:lnRef>
          <a:fillRef idx="3">
            <a:schemeClr val="accent2"/>
          </a:fillRef>
          <a:effectRef idx="3">
            <a:schemeClr val="accent2"/>
          </a:effectRef>
          <a:fontRef idx="minor">
            <a:schemeClr val="lt1"/>
          </a:fontRef>
        </p:style>
        <p:txBody>
          <a:bodyPr wrap="square" lIns="95577" tIns="47788" rIns="95577" bIns="47788">
            <a:spAutoFit/>
          </a:bodyPr>
          <a:lstStyle/>
          <a:p>
            <a:pPr>
              <a:spcBef>
                <a:spcPct val="50000"/>
              </a:spcBef>
            </a:pPr>
            <a:r>
              <a:rPr lang="en-US" sz="2000" b="1" dirty="0"/>
              <a:t>FBD shows the components and architecture of related SIF</a:t>
            </a:r>
          </a:p>
          <a:p>
            <a:pPr>
              <a:spcBef>
                <a:spcPct val="50000"/>
              </a:spcBef>
            </a:pPr>
            <a:endParaRPr lang="en-US" sz="2000" b="1" dirty="0">
              <a:solidFill>
                <a:srgbClr val="FFFFFF"/>
              </a:solidFill>
            </a:endParaRPr>
          </a:p>
        </p:txBody>
      </p:sp>
    </p:spTree>
    <p:extLst>
      <p:ext uri="{BB962C8B-B14F-4D97-AF65-F5344CB8AC3E}">
        <p14:creationId xmlns:p14="http://schemas.microsoft.com/office/powerpoint/2010/main" val="3198838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D558541-60C9-42A2-8392-FF12533A6B7A}" type="slidenum">
              <a:rPr lang="en-US" dirty="0" smtClean="0"/>
              <a:t>24</a:t>
            </a:fld>
            <a:endParaRPr lang="en-US" dirty="0"/>
          </a:p>
        </p:txBody>
      </p:sp>
      <p:sp>
        <p:nvSpPr>
          <p:cNvPr id="6" name="Title 2"/>
          <p:cNvSpPr>
            <a:spLocks noGrp="1"/>
          </p:cNvSpPr>
          <p:nvPr>
            <p:ph type="title"/>
          </p:nvPr>
        </p:nvSpPr>
        <p:spPr>
          <a:xfrm>
            <a:off x="189864" y="114867"/>
            <a:ext cx="8352156" cy="1021002"/>
          </a:xfrm>
        </p:spPr>
        <p:txBody>
          <a:bodyPr/>
          <a:lstStyle/>
          <a:p>
            <a:r>
              <a:rPr lang="en-US" dirty="0"/>
              <a:t>Verification requirements</a:t>
            </a:r>
          </a:p>
        </p:txBody>
      </p:sp>
      <p:sp>
        <p:nvSpPr>
          <p:cNvPr id="2" name="TextBox 1">
            <a:extLst>
              <a:ext uri="{FF2B5EF4-FFF2-40B4-BE49-F238E27FC236}">
                <a16:creationId xmlns:a16="http://schemas.microsoft.com/office/drawing/2014/main" id="{33443FA1-B16E-49D4-B368-4C4B1A1844C7}"/>
              </a:ext>
            </a:extLst>
          </p:cNvPr>
          <p:cNvSpPr txBox="1"/>
          <p:nvPr/>
        </p:nvSpPr>
        <p:spPr>
          <a:xfrm>
            <a:off x="274954" y="815759"/>
            <a:ext cx="8267066" cy="5847755"/>
          </a:xfrm>
          <a:prstGeom prst="rect">
            <a:avLst/>
          </a:prstGeom>
          <a:noFill/>
        </p:spPr>
        <p:txBody>
          <a:bodyPr wrap="square" lIns="0" tIns="0" rIns="0" bIns="0" rtlCol="0">
            <a:spAutoFit/>
          </a:bodyPr>
          <a:lstStyle/>
          <a:p>
            <a:pPr marL="342900" indent="-342900">
              <a:buFont typeface="Arial" panose="020B0604020202020204" pitchFamily="34" charset="0"/>
              <a:buChar char="•"/>
            </a:pPr>
            <a:r>
              <a:rPr lang="en-US" sz="2000" dirty="0"/>
              <a:t>Structure of safety function </a:t>
            </a:r>
          </a:p>
          <a:p>
            <a:pPr marL="800100" lvl="1" indent="-342900">
              <a:buFont typeface="Arial" panose="020B0604020202020204" pitchFamily="34" charset="0"/>
              <a:buChar char="•"/>
            </a:pPr>
            <a:r>
              <a:rPr lang="en-US" sz="2000" dirty="0"/>
              <a:t>Segregation</a:t>
            </a:r>
          </a:p>
          <a:p>
            <a:pPr marL="800100" lvl="1" indent="-342900">
              <a:buFont typeface="Arial" panose="020B0604020202020204" pitchFamily="34" charset="0"/>
              <a:buChar char="•"/>
            </a:pPr>
            <a:r>
              <a:rPr lang="en-US" sz="2000" dirty="0"/>
              <a:t>Redundancy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Qualifications for SIF components complete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Calculated reliability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Input for controls specified &amp; controls logic tested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Testing scheme defined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Testing documents prepared for operation</a:t>
            </a:r>
          </a:p>
          <a:p>
            <a:endParaRPr lang="en-US" sz="2000" dirty="0"/>
          </a:p>
          <a:p>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3355871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97130" y="106939"/>
            <a:ext cx="8352156" cy="726181"/>
          </a:xfrm>
        </p:spPr>
        <p:txBody>
          <a:bodyPr/>
          <a:lstStyle/>
          <a:p>
            <a:r>
              <a:rPr lang="en-US" dirty="0"/>
              <a:t>For Ex: Controls Requirement Specification</a:t>
            </a:r>
          </a:p>
        </p:txBody>
      </p:sp>
      <p:sp>
        <p:nvSpPr>
          <p:cNvPr id="3" name="Content Placeholder 2"/>
          <p:cNvSpPr>
            <a:spLocks noGrp="1"/>
          </p:cNvSpPr>
          <p:nvPr>
            <p:ph idx="1"/>
          </p:nvPr>
        </p:nvSpPr>
        <p:spPr>
          <a:xfrm>
            <a:off x="166095" y="1127941"/>
            <a:ext cx="3814326" cy="4346825"/>
          </a:xfrm>
        </p:spPr>
        <p:txBody>
          <a:bodyPr/>
          <a:lstStyle/>
          <a:p>
            <a:pPr marL="457200" indent="-457200">
              <a:buFont typeface="Arial" panose="020B0604020202020204" pitchFamily="34" charset="0"/>
              <a:buChar char="•"/>
            </a:pPr>
            <a:r>
              <a:rPr lang="en-US" sz="1600" dirty="0"/>
              <a:t>Synthesizes all requirements for software and hardware development</a:t>
            </a:r>
          </a:p>
          <a:p>
            <a:pPr marL="457200" indent="-457200">
              <a:buFont typeface="Arial" panose="020B0604020202020204" pitchFamily="34" charset="0"/>
              <a:buChar char="•"/>
            </a:pPr>
            <a:r>
              <a:rPr lang="en-US" sz="1600" dirty="0"/>
              <a:t>Provides data for coding and designing the panel</a:t>
            </a:r>
          </a:p>
          <a:p>
            <a:pPr marL="457200" indent="-457200">
              <a:buFont typeface="Arial" panose="020B0604020202020204" pitchFamily="34" charset="0"/>
              <a:buChar char="•"/>
            </a:pPr>
            <a:r>
              <a:rPr lang="en-US" sz="1600" dirty="0"/>
              <a:t>Starting point for the Controls Design Standard</a:t>
            </a:r>
          </a:p>
          <a:p>
            <a:pPr marL="457200" indent="-457200">
              <a:buFont typeface="Arial" panose="020B0604020202020204" pitchFamily="34" charset="0"/>
              <a:buChar char="•"/>
            </a:pPr>
            <a:r>
              <a:rPr lang="en-US" sz="1600" dirty="0"/>
              <a:t>Created by the Controls team based on inputs from the SRS, FBD, and SDS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3872" y="3341198"/>
            <a:ext cx="4476902" cy="3003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a:xfrm>
            <a:off x="4433032" y="2001252"/>
            <a:ext cx="1289341" cy="46663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SRS </a:t>
            </a:r>
          </a:p>
          <a:p>
            <a:pPr algn="ctr"/>
            <a:r>
              <a:rPr lang="en-US" sz="900" dirty="0"/>
              <a:t>(Product Safety)</a:t>
            </a:r>
            <a:endParaRPr lang="en-US" sz="1200" dirty="0"/>
          </a:p>
        </p:txBody>
      </p:sp>
      <p:sp>
        <p:nvSpPr>
          <p:cNvPr id="10" name="Rounded Rectangle 9"/>
          <p:cNvSpPr/>
          <p:nvPr/>
        </p:nvSpPr>
        <p:spPr>
          <a:xfrm>
            <a:off x="5884605" y="2001251"/>
            <a:ext cx="1289341" cy="46663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FBD</a:t>
            </a:r>
          </a:p>
          <a:p>
            <a:pPr algn="ctr"/>
            <a:r>
              <a:rPr lang="en-US" sz="900" dirty="0"/>
              <a:t>(Systems Reliability)</a:t>
            </a:r>
          </a:p>
        </p:txBody>
      </p:sp>
      <p:sp>
        <p:nvSpPr>
          <p:cNvPr id="11" name="Rounded Rectangle 10"/>
          <p:cNvSpPr/>
          <p:nvPr/>
        </p:nvSpPr>
        <p:spPr>
          <a:xfrm>
            <a:off x="7348296" y="2001250"/>
            <a:ext cx="1289341" cy="46663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SDS</a:t>
            </a:r>
          </a:p>
          <a:p>
            <a:pPr algn="ctr"/>
            <a:r>
              <a:rPr lang="en-US" sz="900" dirty="0"/>
              <a:t>(Design)</a:t>
            </a:r>
          </a:p>
        </p:txBody>
      </p:sp>
      <p:cxnSp>
        <p:nvCxnSpPr>
          <p:cNvPr id="15" name="Straight Arrow Connector 14"/>
          <p:cNvCxnSpPr>
            <a:stCxn id="4" idx="2"/>
          </p:cNvCxnSpPr>
          <p:nvPr/>
        </p:nvCxnSpPr>
        <p:spPr>
          <a:xfrm>
            <a:off x="5077703" y="2467891"/>
            <a:ext cx="644670" cy="78658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0" idx="2"/>
          </p:cNvCxnSpPr>
          <p:nvPr/>
        </p:nvCxnSpPr>
        <p:spPr>
          <a:xfrm flipH="1">
            <a:off x="6529275" y="2467890"/>
            <a:ext cx="1" cy="7865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2"/>
          </p:cNvCxnSpPr>
          <p:nvPr/>
        </p:nvCxnSpPr>
        <p:spPr>
          <a:xfrm flipH="1">
            <a:off x="7482348" y="2467889"/>
            <a:ext cx="510619" cy="786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039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Factory / Software Acceptance Tests (FAT/SWAT)</a:t>
            </a:r>
          </a:p>
        </p:txBody>
      </p:sp>
      <p:sp>
        <p:nvSpPr>
          <p:cNvPr id="4" name="Content Placeholder 3"/>
          <p:cNvSpPr>
            <a:spLocks noGrp="1"/>
          </p:cNvSpPr>
          <p:nvPr>
            <p:ph idx="1"/>
          </p:nvPr>
        </p:nvSpPr>
        <p:spPr/>
        <p:txBody>
          <a:bodyPr/>
          <a:lstStyle/>
          <a:p>
            <a:pPr marL="457200" indent="-457200">
              <a:buFont typeface="Wingdings" panose="05000000000000000000" pitchFamily="2" charset="2"/>
              <a:buChar char="ü"/>
            </a:pPr>
            <a:r>
              <a:rPr lang="en-US" sz="2400" dirty="0"/>
              <a:t>Key element of compliance verification, per IEC 61511</a:t>
            </a:r>
          </a:p>
          <a:p>
            <a:pPr marL="457200" indent="-457200">
              <a:buFont typeface="Wingdings" panose="05000000000000000000" pitchFamily="2" charset="2"/>
              <a:buChar char="ü"/>
            </a:pPr>
            <a:r>
              <a:rPr lang="en-US" sz="2400" dirty="0"/>
              <a:t>Validate the </a:t>
            </a:r>
            <a:r>
              <a:rPr lang="en-US" sz="2400" dirty="0" err="1"/>
              <a:t>MarkVIeS</a:t>
            </a:r>
            <a:r>
              <a:rPr lang="en-US" sz="2400" dirty="0"/>
              <a:t>, including I/O configuration</a:t>
            </a:r>
          </a:p>
          <a:p>
            <a:pPr marL="457200" indent="-457200">
              <a:buFont typeface="Wingdings" panose="05000000000000000000" pitchFamily="2" charset="2"/>
              <a:buChar char="ü"/>
            </a:pPr>
            <a:r>
              <a:rPr lang="en-US" sz="2400" dirty="0"/>
              <a:t>Typically only needed for Fleet Leaders and major changes</a:t>
            </a:r>
          </a:p>
          <a:p>
            <a:pPr marL="793750" lvl="2" indent="0">
              <a:buNone/>
            </a:pPr>
            <a:r>
              <a:rPr lang="en-US" sz="1400" dirty="0"/>
              <a:t>For most GE Power products, baseline FATs are already complete. For each project, evaluate if the baseline applies. If not, additional cost and cycle must be added to the project for Factory Acceptance Testing.</a:t>
            </a:r>
            <a:endParaRPr lang="en-US" sz="2400" dirty="0"/>
          </a:p>
          <a:p>
            <a:pPr marL="342900" indent="-342900">
              <a:buFont typeface="Wingdings" panose="05000000000000000000" pitchFamily="2" charset="2"/>
              <a:buChar char="ü"/>
            </a:pPr>
            <a:r>
              <a:rPr lang="en-US" sz="2400" dirty="0"/>
              <a:t>May be witnessed by the Third Party</a:t>
            </a:r>
          </a:p>
        </p:txBody>
      </p:sp>
      <p:pic>
        <p:nvPicPr>
          <p:cNvPr id="5" name="Picture 13" descr="C:\DOCUME~1\204006~1\LOCALS~1\Temp\npo000001.tmp"/>
          <p:cNvPicPr>
            <a:picLocks noChangeAspect="1" noChangeArrowheads="1"/>
          </p:cNvPicPr>
          <p:nvPr/>
        </p:nvPicPr>
        <p:blipFill>
          <a:blip r:embed="rId3" cstate="print">
            <a:lum bright="54000" contrast="-66000"/>
            <a:extLst>
              <a:ext uri="{28A0092B-C50C-407E-A947-70E740481C1C}">
                <a14:useLocalDpi xmlns:a14="http://schemas.microsoft.com/office/drawing/2010/main" val="0"/>
              </a:ext>
            </a:extLst>
          </a:blip>
          <a:srcRect/>
          <a:stretch>
            <a:fillRect/>
          </a:stretch>
        </p:blipFill>
        <p:spPr bwMode="auto">
          <a:xfrm>
            <a:off x="5679295" y="3577578"/>
            <a:ext cx="3322749" cy="3280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789955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615" y="1618488"/>
            <a:ext cx="8881977" cy="2624288"/>
          </a:xfrm>
        </p:spPr>
        <p:txBody>
          <a:bodyPr/>
          <a:lstStyle/>
          <a:p>
            <a:r>
              <a:rPr lang="en-US" dirty="0"/>
              <a:t>Validation</a:t>
            </a:r>
            <a:endParaRPr lang="en-US" sz="4400" i="1" dirty="0"/>
          </a:p>
        </p:txBody>
      </p:sp>
    </p:spTree>
    <p:extLst>
      <p:ext uri="{BB962C8B-B14F-4D97-AF65-F5344CB8AC3E}">
        <p14:creationId xmlns:p14="http://schemas.microsoft.com/office/powerpoint/2010/main" val="415453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a:t>
            </a:r>
          </a:p>
        </p:txBody>
      </p:sp>
      <p:sp>
        <p:nvSpPr>
          <p:cNvPr id="4" name="Content Placeholder 3"/>
          <p:cNvSpPr>
            <a:spLocks noGrp="1"/>
          </p:cNvSpPr>
          <p:nvPr>
            <p:ph idx="1"/>
          </p:nvPr>
        </p:nvSpPr>
        <p:spPr/>
        <p:txBody>
          <a:bodyPr/>
          <a:lstStyle/>
          <a:p>
            <a:r>
              <a:rPr lang="en-US" sz="2400" dirty="0"/>
              <a:t>Demonstration that safety functions are in place &amp; functional on site.</a:t>
            </a:r>
          </a:p>
          <a:p>
            <a:endParaRPr lang="en-US" sz="2400" dirty="0"/>
          </a:p>
          <a:p>
            <a:endParaRPr lang="en-US" sz="2400" dirty="0"/>
          </a:p>
        </p:txBody>
      </p:sp>
      <p:pic>
        <p:nvPicPr>
          <p:cNvPr id="5" name="Picture 13" descr="C:\DOCUME~1\204006~1\LOCALS~1\Temp\npo000001.tmp"/>
          <p:cNvPicPr>
            <a:picLocks noChangeAspect="1" noChangeArrowheads="1"/>
          </p:cNvPicPr>
          <p:nvPr/>
        </p:nvPicPr>
        <p:blipFill>
          <a:blip r:embed="rId3" cstate="print">
            <a:lum bright="54000" contrast="-66000"/>
            <a:extLst>
              <a:ext uri="{28A0092B-C50C-407E-A947-70E740481C1C}">
                <a14:useLocalDpi xmlns:a14="http://schemas.microsoft.com/office/drawing/2010/main" val="0"/>
              </a:ext>
            </a:extLst>
          </a:blip>
          <a:srcRect/>
          <a:stretch>
            <a:fillRect/>
          </a:stretch>
        </p:blipFill>
        <p:spPr bwMode="auto">
          <a:xfrm>
            <a:off x="5679295" y="3577578"/>
            <a:ext cx="3322749" cy="3280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73986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Acceptance Tests</a:t>
            </a:r>
          </a:p>
        </p:txBody>
      </p:sp>
      <p:sp>
        <p:nvSpPr>
          <p:cNvPr id="4" name="Content Placeholder 3"/>
          <p:cNvSpPr>
            <a:spLocks noGrp="1"/>
          </p:cNvSpPr>
          <p:nvPr>
            <p:ph idx="1"/>
          </p:nvPr>
        </p:nvSpPr>
        <p:spPr>
          <a:xfrm>
            <a:off x="384048" y="1480152"/>
            <a:ext cx="8347202" cy="4346825"/>
          </a:xfrm>
        </p:spPr>
        <p:txBody>
          <a:bodyPr/>
          <a:lstStyle/>
          <a:p>
            <a:r>
              <a:rPr lang="en-US" sz="2400" dirty="0"/>
              <a:t>The SAT validates the installed Safety Instrumented System during commissioning the each unit.</a:t>
            </a:r>
          </a:p>
          <a:p>
            <a:r>
              <a:rPr lang="en-US" sz="1400" u="sng" dirty="0"/>
              <a:t>3 types of tests:</a:t>
            </a:r>
          </a:p>
          <a:p>
            <a:pPr marL="285750" indent="-285750">
              <a:buFontTx/>
              <a:buChar char="-"/>
            </a:pPr>
            <a:r>
              <a:rPr lang="en-US" sz="1400" dirty="0"/>
              <a:t>Sensor Loop Checks – validate the correct sensor wiring and proper generation of sensor fault alarms</a:t>
            </a:r>
          </a:p>
          <a:p>
            <a:pPr marL="285750" indent="-285750">
              <a:buFontTx/>
              <a:buChar char="-"/>
            </a:pPr>
            <a:r>
              <a:rPr lang="en-US" sz="1400" dirty="0"/>
              <a:t>Final Element Loop Checks – validate correct wiring by verifying the safety controlled can trip each final element</a:t>
            </a:r>
          </a:p>
          <a:p>
            <a:pPr marL="285750" indent="-285750">
              <a:buFontTx/>
              <a:buChar char="-"/>
            </a:pPr>
            <a:r>
              <a:rPr lang="en-US" sz="1400" dirty="0"/>
              <a:t>Functional Tests</a:t>
            </a:r>
          </a:p>
          <a:p>
            <a:pPr lvl="2" indent="0">
              <a:buNone/>
            </a:pPr>
            <a:r>
              <a:rPr lang="en-US" sz="1200" dirty="0"/>
              <a:t>Before First Fire:</a:t>
            </a:r>
          </a:p>
          <a:p>
            <a:pPr marL="727075" lvl="3" indent="-171450">
              <a:buFont typeface="Wingdings" panose="05000000000000000000" pitchFamily="2" charset="2"/>
              <a:buChar char="q"/>
            </a:pPr>
            <a:r>
              <a:rPr lang="en-US" sz="1000" dirty="0"/>
              <a:t>Calibration of Coriolis, GT compartment air flow sensors and </a:t>
            </a:r>
            <a:r>
              <a:rPr lang="en-US" sz="1000" dirty="0" err="1"/>
              <a:t>Hazgas</a:t>
            </a:r>
            <a:r>
              <a:rPr lang="en-US" sz="1000" dirty="0"/>
              <a:t> sensors</a:t>
            </a:r>
          </a:p>
          <a:p>
            <a:pPr marL="727075" lvl="3" indent="-171450">
              <a:buFont typeface="Wingdings" panose="05000000000000000000" pitchFamily="2" charset="2"/>
              <a:buChar char="q"/>
            </a:pPr>
            <a:r>
              <a:rPr lang="en-US" sz="1000" dirty="0"/>
              <a:t>Validation of speed sensors and flame detectors</a:t>
            </a:r>
          </a:p>
          <a:p>
            <a:pPr marL="727075" lvl="3" indent="-171450">
              <a:buFont typeface="Wingdings" panose="05000000000000000000" pitchFamily="2" charset="2"/>
              <a:buChar char="q"/>
            </a:pPr>
            <a:r>
              <a:rPr lang="en-US" sz="1000" dirty="0"/>
              <a:t>Response time of final elements</a:t>
            </a:r>
          </a:p>
          <a:p>
            <a:pPr marL="727075" lvl="3" indent="-171450">
              <a:buFont typeface="Wingdings" panose="05000000000000000000" pitchFamily="2" charset="2"/>
              <a:buChar char="q"/>
            </a:pPr>
            <a:r>
              <a:rPr lang="en-US" sz="1000" dirty="0"/>
              <a:t>E-stop test</a:t>
            </a:r>
          </a:p>
          <a:p>
            <a:pPr marL="727075" lvl="3" indent="-171450">
              <a:buFont typeface="Wingdings" panose="05000000000000000000" pitchFamily="2" charset="2"/>
              <a:buChar char="q"/>
            </a:pPr>
            <a:r>
              <a:rPr lang="en-US" sz="1000" dirty="0"/>
              <a:t>Ignition fault test</a:t>
            </a:r>
          </a:p>
          <a:p>
            <a:pPr lvl="2" indent="0">
              <a:buNone/>
            </a:pPr>
            <a:r>
              <a:rPr lang="en-US" sz="1200" dirty="0"/>
              <a:t>After First Fire:</a:t>
            </a:r>
          </a:p>
          <a:p>
            <a:pPr marL="727075" lvl="3" indent="-171450">
              <a:buFont typeface="Wingdings" panose="05000000000000000000" pitchFamily="2" charset="2"/>
              <a:buChar char="q"/>
            </a:pPr>
            <a:r>
              <a:rPr lang="en-US" sz="1000" dirty="0"/>
              <a:t>Overspeed test</a:t>
            </a:r>
          </a:p>
          <a:p>
            <a:pPr lvl="2" indent="0">
              <a:buNone/>
            </a:pPr>
            <a:r>
              <a:rPr lang="en-US" sz="1200" i="1" dirty="0"/>
              <a:t>+ Potential for additional tests based on Third Party requirements</a:t>
            </a:r>
          </a:p>
          <a:p>
            <a:pPr marL="571500" lvl="2" indent="-171450">
              <a:buFont typeface="Wingdings" panose="05000000000000000000" pitchFamily="2" charset="2"/>
              <a:buChar char="q"/>
            </a:pPr>
            <a:endParaRPr lang="en-US" sz="1200" dirty="0"/>
          </a:p>
          <a:p>
            <a:pPr lvl="2" indent="0">
              <a:buNone/>
            </a:pPr>
            <a:endParaRPr lang="en-US" sz="600" dirty="0"/>
          </a:p>
          <a:p>
            <a:endParaRPr lang="en-US" sz="2000" dirty="0"/>
          </a:p>
          <a:p>
            <a:endParaRPr lang="en-US" dirty="0"/>
          </a:p>
        </p:txBody>
      </p:sp>
      <p:pic>
        <p:nvPicPr>
          <p:cNvPr id="4100" name="Picture 4" descr="C:\Users\hutchesa\AppData\Local\Microsoft\Windows\Temporary Internet Files\Content.IE5\H6D77DLG\tes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3101" y="4503174"/>
            <a:ext cx="1800459" cy="203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217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Installation/Commissioning</a:t>
            </a:r>
          </a:p>
        </p:txBody>
      </p:sp>
      <p:sp>
        <p:nvSpPr>
          <p:cNvPr id="3" name="Content Placeholder 2"/>
          <p:cNvSpPr>
            <a:spLocks noGrp="1"/>
          </p:cNvSpPr>
          <p:nvPr>
            <p:ph idx="1"/>
          </p:nvPr>
        </p:nvSpPr>
        <p:spPr/>
        <p:txBody>
          <a:bodyPr/>
          <a:lstStyle/>
          <a:p>
            <a:pPr marL="457200" indent="-457200">
              <a:buFont typeface="Arial" panose="020B0604020202020204" pitchFamily="34" charset="0"/>
              <a:buChar char="•"/>
            </a:pPr>
            <a:r>
              <a:rPr lang="en-US" sz="2000" dirty="0"/>
              <a:t>SATs are performed by a Field Engineer with specific training relative to IEC 61511 compliance</a:t>
            </a:r>
          </a:p>
          <a:p>
            <a:pPr marL="457200" indent="-457200">
              <a:buFont typeface="Arial" panose="020B0604020202020204" pitchFamily="34" charset="0"/>
              <a:buChar char="•"/>
            </a:pPr>
            <a:r>
              <a:rPr lang="en-US" sz="2000" dirty="0"/>
              <a:t>The engineer performs the SATs before and after the unit start-up and identifies the serial numbers of each component in a SIL safety loop, per the SAT Specification for traceability. </a:t>
            </a:r>
            <a:r>
              <a:rPr lang="en-US" sz="2000" b="1" dirty="0"/>
              <a:t>A successful SAT is required before the unit is released for start-up for the first time.</a:t>
            </a:r>
          </a:p>
          <a:p>
            <a:pPr marL="457200" indent="-457200">
              <a:buFont typeface="Arial" panose="020B0604020202020204" pitchFamily="34" charset="0"/>
              <a:buChar char="•"/>
            </a:pPr>
            <a:r>
              <a:rPr lang="en-US" sz="2000" dirty="0"/>
              <a:t>The Third Party may witness the SATs on site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0761" y="4131071"/>
            <a:ext cx="3711678" cy="25407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0928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 of Functional Safety in GE Gas Power</a:t>
            </a:r>
          </a:p>
        </p:txBody>
      </p:sp>
    </p:spTree>
    <p:extLst>
      <p:ext uri="{BB962C8B-B14F-4D97-AF65-F5344CB8AC3E}">
        <p14:creationId xmlns:p14="http://schemas.microsoft.com/office/powerpoint/2010/main" val="34715450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and Responsibilities</a:t>
            </a:r>
          </a:p>
        </p:txBody>
      </p:sp>
      <p:sp>
        <p:nvSpPr>
          <p:cNvPr id="4" name="Arc plein 3">
            <a:extLst>
              <a:ext uri="{FF2B5EF4-FFF2-40B4-BE49-F238E27FC236}">
                <a16:creationId xmlns:a16="http://schemas.microsoft.com/office/drawing/2014/main" id="{17A47127-852B-40A6-A000-58C39AEC6C99}"/>
              </a:ext>
            </a:extLst>
          </p:cNvPr>
          <p:cNvSpPr/>
          <p:nvPr/>
        </p:nvSpPr>
        <p:spPr>
          <a:xfrm>
            <a:off x="-6107822" y="-123142"/>
            <a:ext cx="7463262" cy="7463262"/>
          </a:xfrm>
          <a:prstGeom prst="blockArc">
            <a:avLst>
              <a:gd name="adj1" fmla="val 18900000"/>
              <a:gd name="adj2" fmla="val 2700000"/>
              <a:gd name="adj3" fmla="val 289"/>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nvGrpSpPr>
          <p:cNvPr id="27" name="Groupe 26">
            <a:extLst>
              <a:ext uri="{FF2B5EF4-FFF2-40B4-BE49-F238E27FC236}">
                <a16:creationId xmlns:a16="http://schemas.microsoft.com/office/drawing/2014/main" id="{7D7E4469-0055-45D6-88BE-6CFE5E20507C}"/>
              </a:ext>
            </a:extLst>
          </p:cNvPr>
          <p:cNvGrpSpPr/>
          <p:nvPr/>
        </p:nvGrpSpPr>
        <p:grpSpPr>
          <a:xfrm>
            <a:off x="231549" y="971291"/>
            <a:ext cx="8749935" cy="629910"/>
            <a:chOff x="231548" y="1123555"/>
            <a:chExt cx="8749935" cy="629910"/>
          </a:xfrm>
        </p:grpSpPr>
        <p:sp>
          <p:nvSpPr>
            <p:cNvPr id="5" name="Forme libre : forme 4">
              <a:extLst>
                <a:ext uri="{FF2B5EF4-FFF2-40B4-BE49-F238E27FC236}">
                  <a16:creationId xmlns:a16="http://schemas.microsoft.com/office/drawing/2014/main" id="{F66BB433-521F-4DF6-B96D-6BAA1B1371F3}"/>
                </a:ext>
              </a:extLst>
            </p:cNvPr>
            <p:cNvSpPr/>
            <p:nvPr/>
          </p:nvSpPr>
          <p:spPr>
            <a:xfrm>
              <a:off x="546503" y="1186546"/>
              <a:ext cx="8434980" cy="503928"/>
            </a:xfrm>
            <a:custGeom>
              <a:avLst/>
              <a:gdLst>
                <a:gd name="connsiteX0" fmla="*/ 0 w 8434980"/>
                <a:gd name="connsiteY0" fmla="*/ 0 h 503928"/>
                <a:gd name="connsiteX1" fmla="*/ 8434980 w 8434980"/>
                <a:gd name="connsiteY1" fmla="*/ 0 h 503928"/>
                <a:gd name="connsiteX2" fmla="*/ 8434980 w 8434980"/>
                <a:gd name="connsiteY2" fmla="*/ 503928 h 503928"/>
                <a:gd name="connsiteX3" fmla="*/ 0 w 8434980"/>
                <a:gd name="connsiteY3" fmla="*/ 503928 h 503928"/>
                <a:gd name="connsiteX4" fmla="*/ 0 w 8434980"/>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4980" h="503928">
                  <a:moveTo>
                    <a:pt x="0" y="0"/>
                  </a:moveTo>
                  <a:lnTo>
                    <a:pt x="8434980" y="0"/>
                  </a:lnTo>
                  <a:lnTo>
                    <a:pt x="8434980"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t" anchorCtr="0">
              <a:noAutofit/>
            </a:bodyPr>
            <a:lstStyle/>
            <a:p>
              <a:pPr marL="0" lvl="0" indent="0" algn="l" defTabSz="400050">
                <a:lnSpc>
                  <a:spcPct val="90000"/>
                </a:lnSpc>
                <a:spcBef>
                  <a:spcPct val="0"/>
                </a:spcBef>
                <a:spcAft>
                  <a:spcPct val="35000"/>
                </a:spcAft>
                <a:buNone/>
                <a:tabLst/>
              </a:pPr>
              <a:r>
                <a:rPr lang="en-US" sz="900" kern="1200" dirty="0"/>
                <a:t>- Coordinates all activities related to SIL</a:t>
              </a:r>
            </a:p>
            <a:p>
              <a:pPr marL="0" lvl="0" indent="0" algn="l" defTabSz="400050">
                <a:lnSpc>
                  <a:spcPct val="90000"/>
                </a:lnSpc>
                <a:spcBef>
                  <a:spcPct val="0"/>
                </a:spcBef>
                <a:spcAft>
                  <a:spcPct val="35000"/>
                </a:spcAft>
                <a:buNone/>
              </a:pPr>
              <a:r>
                <a:rPr lang="en-US" sz="900" kern="1200" dirty="0"/>
                <a:t>- Creates the  Proof test procedures</a:t>
              </a:r>
            </a:p>
            <a:p>
              <a:pPr marL="0" lvl="0" indent="0" algn="l" defTabSz="400050">
                <a:lnSpc>
                  <a:spcPct val="90000"/>
                </a:lnSpc>
                <a:spcBef>
                  <a:spcPct val="0"/>
                </a:spcBef>
                <a:spcAft>
                  <a:spcPct val="35000"/>
                </a:spcAft>
                <a:buNone/>
                <a:tabLst/>
              </a:pPr>
              <a:r>
                <a:rPr lang="en-US" sz="900" kern="1200" dirty="0"/>
                <a:t>- Works with 3</a:t>
              </a:r>
              <a:r>
                <a:rPr lang="en-US" sz="900" kern="1200" baseline="30000" dirty="0"/>
                <a:t>rd</a:t>
              </a:r>
              <a:r>
                <a:rPr lang="en-US" sz="900" kern="1200" dirty="0"/>
                <a:t> party to gain certification</a:t>
              </a:r>
            </a:p>
            <a:p>
              <a:pPr marL="285750" lvl="1" indent="-285750" algn="l" defTabSz="1600200">
                <a:lnSpc>
                  <a:spcPct val="90000"/>
                </a:lnSpc>
                <a:spcBef>
                  <a:spcPct val="0"/>
                </a:spcBef>
                <a:spcAft>
                  <a:spcPct val="15000"/>
                </a:spcAft>
                <a:buChar char="•"/>
              </a:pPr>
              <a:endParaRPr lang="fr-FR" sz="3600" kern="1200" dirty="0"/>
            </a:p>
          </p:txBody>
        </p:sp>
        <p:sp>
          <p:nvSpPr>
            <p:cNvPr id="14" name="Ellipse 13">
              <a:extLst>
                <a:ext uri="{FF2B5EF4-FFF2-40B4-BE49-F238E27FC236}">
                  <a16:creationId xmlns:a16="http://schemas.microsoft.com/office/drawing/2014/main" id="{4F08C87B-C2E7-4B6A-9AAE-A97DFCFC1AA1}"/>
                </a:ext>
              </a:extLst>
            </p:cNvPr>
            <p:cNvSpPr/>
            <p:nvPr/>
          </p:nvSpPr>
          <p:spPr>
            <a:xfrm>
              <a:off x="231548" y="1123555"/>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7" name="TextBox 6"/>
            <p:cNvSpPr txBox="1"/>
            <p:nvPr/>
          </p:nvSpPr>
          <p:spPr>
            <a:xfrm>
              <a:off x="251278" y="1229035"/>
              <a:ext cx="574635" cy="369332"/>
            </a:xfrm>
            <a:prstGeom prst="rect">
              <a:avLst/>
            </a:prstGeom>
            <a:noFill/>
          </p:spPr>
          <p:txBody>
            <a:bodyPr wrap="square" lIns="0" tIns="0" rIns="0" bIns="0" rtlCol="0">
              <a:spAutoFit/>
            </a:bodyPr>
            <a:lstStyle/>
            <a:p>
              <a:pPr algn="ctr"/>
              <a:r>
                <a:rPr lang="en-US" sz="800" b="1" dirty="0"/>
                <a:t>SIL Compliance Leader</a:t>
              </a:r>
            </a:p>
          </p:txBody>
        </p:sp>
      </p:grpSp>
      <p:grpSp>
        <p:nvGrpSpPr>
          <p:cNvPr id="28" name="Groupe 27">
            <a:extLst>
              <a:ext uri="{FF2B5EF4-FFF2-40B4-BE49-F238E27FC236}">
                <a16:creationId xmlns:a16="http://schemas.microsoft.com/office/drawing/2014/main" id="{4C7FC446-BEC7-4B82-B591-7A84C32DC769}"/>
              </a:ext>
            </a:extLst>
          </p:cNvPr>
          <p:cNvGrpSpPr/>
          <p:nvPr/>
        </p:nvGrpSpPr>
        <p:grpSpPr>
          <a:xfrm>
            <a:off x="687901" y="1627105"/>
            <a:ext cx="8293583" cy="629910"/>
            <a:chOff x="687901" y="1879891"/>
            <a:chExt cx="8293583" cy="629910"/>
          </a:xfrm>
        </p:grpSpPr>
        <p:sp>
          <p:nvSpPr>
            <p:cNvPr id="15" name="Forme libre : forme 14">
              <a:extLst>
                <a:ext uri="{FF2B5EF4-FFF2-40B4-BE49-F238E27FC236}">
                  <a16:creationId xmlns:a16="http://schemas.microsoft.com/office/drawing/2014/main" id="{1DABC1F5-379B-4D9A-91DB-F2EDC568DCC8}"/>
                </a:ext>
              </a:extLst>
            </p:cNvPr>
            <p:cNvSpPr/>
            <p:nvPr/>
          </p:nvSpPr>
          <p:spPr>
            <a:xfrm>
              <a:off x="1002856" y="1942882"/>
              <a:ext cx="7978628" cy="503928"/>
            </a:xfrm>
            <a:custGeom>
              <a:avLst/>
              <a:gdLst>
                <a:gd name="connsiteX0" fmla="*/ 0 w 7978628"/>
                <a:gd name="connsiteY0" fmla="*/ 0 h 503928"/>
                <a:gd name="connsiteX1" fmla="*/ 7978628 w 7978628"/>
                <a:gd name="connsiteY1" fmla="*/ 0 h 503928"/>
                <a:gd name="connsiteX2" fmla="*/ 7978628 w 7978628"/>
                <a:gd name="connsiteY2" fmla="*/ 503928 h 503928"/>
                <a:gd name="connsiteX3" fmla="*/ 0 w 7978628"/>
                <a:gd name="connsiteY3" fmla="*/ 503928 h 503928"/>
                <a:gd name="connsiteX4" fmla="*/ 0 w 7978628"/>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8628" h="503928">
                  <a:moveTo>
                    <a:pt x="0" y="0"/>
                  </a:moveTo>
                  <a:lnTo>
                    <a:pt x="7978628" y="0"/>
                  </a:lnTo>
                  <a:lnTo>
                    <a:pt x="7978628"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Performs SIL targeting, and  creates the SIF/SIS functional safety requirements</a:t>
              </a:r>
            </a:p>
            <a:p>
              <a:pPr marL="0" lvl="0" indent="0" algn="l" defTabSz="400050">
                <a:lnSpc>
                  <a:spcPct val="90000"/>
                </a:lnSpc>
                <a:spcBef>
                  <a:spcPct val="0"/>
                </a:spcBef>
                <a:spcAft>
                  <a:spcPct val="35000"/>
                </a:spcAft>
                <a:buNone/>
              </a:pPr>
              <a:r>
                <a:rPr lang="en-US" sz="900" kern="1200" dirty="0"/>
                <a:t>- Communicates needs and opportunities for functional safety improvement within the installed fleet</a:t>
              </a:r>
            </a:p>
          </p:txBody>
        </p:sp>
        <p:sp>
          <p:nvSpPr>
            <p:cNvPr id="16" name="Ellipse 15">
              <a:extLst>
                <a:ext uri="{FF2B5EF4-FFF2-40B4-BE49-F238E27FC236}">
                  <a16:creationId xmlns:a16="http://schemas.microsoft.com/office/drawing/2014/main" id="{63F17D3F-7635-431F-A5CC-9E3FCCF918BF}"/>
                </a:ext>
              </a:extLst>
            </p:cNvPr>
            <p:cNvSpPr/>
            <p:nvPr/>
          </p:nvSpPr>
          <p:spPr>
            <a:xfrm>
              <a:off x="687901" y="1879891"/>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8" name="TextBox 7"/>
            <p:cNvSpPr txBox="1"/>
            <p:nvPr/>
          </p:nvSpPr>
          <p:spPr>
            <a:xfrm>
              <a:off x="740155" y="2010698"/>
              <a:ext cx="574635" cy="369332"/>
            </a:xfrm>
            <a:prstGeom prst="rect">
              <a:avLst/>
            </a:prstGeom>
            <a:noFill/>
          </p:spPr>
          <p:txBody>
            <a:bodyPr wrap="square" lIns="0" tIns="0" rIns="0" bIns="0" rtlCol="0">
              <a:spAutoFit/>
            </a:bodyPr>
            <a:lstStyle/>
            <a:p>
              <a:pPr algn="ctr"/>
              <a:r>
                <a:rPr lang="en-US" sz="800" b="1" dirty="0"/>
                <a:t>Product Safety Engineer</a:t>
              </a:r>
            </a:p>
          </p:txBody>
        </p:sp>
      </p:grpSp>
      <p:grpSp>
        <p:nvGrpSpPr>
          <p:cNvPr id="29" name="Groupe 28">
            <a:extLst>
              <a:ext uri="{FF2B5EF4-FFF2-40B4-BE49-F238E27FC236}">
                <a16:creationId xmlns:a16="http://schemas.microsoft.com/office/drawing/2014/main" id="{7DB50449-60FD-4018-8D7E-A69454CBBE11}"/>
              </a:ext>
            </a:extLst>
          </p:cNvPr>
          <p:cNvGrpSpPr/>
          <p:nvPr/>
        </p:nvGrpSpPr>
        <p:grpSpPr>
          <a:xfrm>
            <a:off x="937979" y="2282919"/>
            <a:ext cx="8043505" cy="629910"/>
            <a:chOff x="937979" y="2635673"/>
            <a:chExt cx="8043505" cy="629910"/>
          </a:xfrm>
        </p:grpSpPr>
        <p:sp>
          <p:nvSpPr>
            <p:cNvPr id="17" name="Forme libre : forme 16">
              <a:extLst>
                <a:ext uri="{FF2B5EF4-FFF2-40B4-BE49-F238E27FC236}">
                  <a16:creationId xmlns:a16="http://schemas.microsoft.com/office/drawing/2014/main" id="{D416C75C-8E6B-459D-BD92-0AF6A51E97B5}"/>
                </a:ext>
              </a:extLst>
            </p:cNvPr>
            <p:cNvSpPr/>
            <p:nvPr/>
          </p:nvSpPr>
          <p:spPr>
            <a:xfrm>
              <a:off x="1252935" y="2698664"/>
              <a:ext cx="7728549" cy="503928"/>
            </a:xfrm>
            <a:custGeom>
              <a:avLst/>
              <a:gdLst>
                <a:gd name="connsiteX0" fmla="*/ 0 w 7728549"/>
                <a:gd name="connsiteY0" fmla="*/ 0 h 503928"/>
                <a:gd name="connsiteX1" fmla="*/ 7728549 w 7728549"/>
                <a:gd name="connsiteY1" fmla="*/ 0 h 503928"/>
                <a:gd name="connsiteX2" fmla="*/ 7728549 w 7728549"/>
                <a:gd name="connsiteY2" fmla="*/ 503928 h 503928"/>
                <a:gd name="connsiteX3" fmla="*/ 0 w 7728549"/>
                <a:gd name="connsiteY3" fmla="*/ 503928 h 503928"/>
                <a:gd name="connsiteX4" fmla="*/ 0 w 7728549"/>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549" h="503928">
                  <a:moveTo>
                    <a:pt x="0" y="0"/>
                  </a:moveTo>
                  <a:lnTo>
                    <a:pt x="7728549" y="0"/>
                  </a:lnTo>
                  <a:lnTo>
                    <a:pt x="7728549"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Owns the SIF/SIS SIL assessment and creation of documentation for the customer safety manual</a:t>
              </a:r>
            </a:p>
            <a:p>
              <a:pPr marL="0" lvl="0" indent="0" algn="l" defTabSz="400050">
                <a:lnSpc>
                  <a:spcPct val="90000"/>
                </a:lnSpc>
                <a:spcBef>
                  <a:spcPct val="0"/>
                </a:spcBef>
                <a:spcAft>
                  <a:spcPct val="35000"/>
                </a:spcAft>
                <a:buNone/>
              </a:pPr>
              <a:r>
                <a:rPr lang="en-US" sz="900" kern="1200" dirty="0"/>
                <a:t>- Communicates safety requirements to applicable design/controls engineers</a:t>
              </a:r>
            </a:p>
          </p:txBody>
        </p:sp>
        <p:sp>
          <p:nvSpPr>
            <p:cNvPr id="18" name="Ellipse 17">
              <a:extLst>
                <a:ext uri="{FF2B5EF4-FFF2-40B4-BE49-F238E27FC236}">
                  <a16:creationId xmlns:a16="http://schemas.microsoft.com/office/drawing/2014/main" id="{DA660E56-CC0C-45AE-A5C3-7433469548DF}"/>
                </a:ext>
              </a:extLst>
            </p:cNvPr>
            <p:cNvSpPr/>
            <p:nvPr/>
          </p:nvSpPr>
          <p:spPr>
            <a:xfrm>
              <a:off x="937979" y="2635673"/>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9" name="TextBox 8"/>
            <p:cNvSpPr txBox="1"/>
            <p:nvPr/>
          </p:nvSpPr>
          <p:spPr>
            <a:xfrm>
              <a:off x="975577" y="2772697"/>
              <a:ext cx="574635" cy="369332"/>
            </a:xfrm>
            <a:prstGeom prst="rect">
              <a:avLst/>
            </a:prstGeom>
            <a:noFill/>
          </p:spPr>
          <p:txBody>
            <a:bodyPr wrap="square" lIns="0" tIns="0" rIns="0" bIns="0" rtlCol="0">
              <a:spAutoFit/>
            </a:bodyPr>
            <a:lstStyle/>
            <a:p>
              <a:pPr algn="ctr"/>
              <a:r>
                <a:rPr lang="en-US" sz="800" b="1" dirty="0"/>
                <a:t>Systems Reliability Engineer</a:t>
              </a:r>
            </a:p>
          </p:txBody>
        </p:sp>
      </p:grpSp>
      <p:grpSp>
        <p:nvGrpSpPr>
          <p:cNvPr id="30" name="Groupe 29">
            <a:extLst>
              <a:ext uri="{FF2B5EF4-FFF2-40B4-BE49-F238E27FC236}">
                <a16:creationId xmlns:a16="http://schemas.microsoft.com/office/drawing/2014/main" id="{89C761C0-8078-4530-B68D-A4C54F884763}"/>
              </a:ext>
            </a:extLst>
          </p:cNvPr>
          <p:cNvGrpSpPr/>
          <p:nvPr/>
        </p:nvGrpSpPr>
        <p:grpSpPr>
          <a:xfrm>
            <a:off x="1017828" y="2938733"/>
            <a:ext cx="7963656" cy="629910"/>
            <a:chOff x="1017827" y="3392009"/>
            <a:chExt cx="7963656" cy="629910"/>
          </a:xfrm>
        </p:grpSpPr>
        <p:sp>
          <p:nvSpPr>
            <p:cNvPr id="19" name="Forme libre : forme 18">
              <a:extLst>
                <a:ext uri="{FF2B5EF4-FFF2-40B4-BE49-F238E27FC236}">
                  <a16:creationId xmlns:a16="http://schemas.microsoft.com/office/drawing/2014/main" id="{E29D61DC-468A-4368-9787-727CF7A41EE4}"/>
                </a:ext>
              </a:extLst>
            </p:cNvPr>
            <p:cNvSpPr/>
            <p:nvPr/>
          </p:nvSpPr>
          <p:spPr>
            <a:xfrm>
              <a:off x="1332782" y="3455000"/>
              <a:ext cx="7648701" cy="503928"/>
            </a:xfrm>
            <a:custGeom>
              <a:avLst/>
              <a:gdLst>
                <a:gd name="connsiteX0" fmla="*/ 0 w 7648701"/>
                <a:gd name="connsiteY0" fmla="*/ 0 h 503928"/>
                <a:gd name="connsiteX1" fmla="*/ 7648701 w 7648701"/>
                <a:gd name="connsiteY1" fmla="*/ 0 h 503928"/>
                <a:gd name="connsiteX2" fmla="*/ 7648701 w 7648701"/>
                <a:gd name="connsiteY2" fmla="*/ 503928 h 503928"/>
                <a:gd name="connsiteX3" fmla="*/ 0 w 7648701"/>
                <a:gd name="connsiteY3" fmla="*/ 503928 h 503928"/>
                <a:gd name="connsiteX4" fmla="*/ 0 w 7648701"/>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8701" h="503928">
                  <a:moveTo>
                    <a:pt x="0" y="0"/>
                  </a:moveTo>
                  <a:lnTo>
                    <a:pt x="7648701" y="0"/>
                  </a:lnTo>
                  <a:lnTo>
                    <a:pt x="7648701"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Ensures equipment under their ownership meets SIL target requirements through technical reviews and applicable change control</a:t>
              </a:r>
            </a:p>
          </p:txBody>
        </p:sp>
        <p:sp>
          <p:nvSpPr>
            <p:cNvPr id="20" name="Ellipse 19">
              <a:extLst>
                <a:ext uri="{FF2B5EF4-FFF2-40B4-BE49-F238E27FC236}">
                  <a16:creationId xmlns:a16="http://schemas.microsoft.com/office/drawing/2014/main" id="{B97565D6-804D-485B-9927-9E2E906C8F79}"/>
                </a:ext>
              </a:extLst>
            </p:cNvPr>
            <p:cNvSpPr/>
            <p:nvPr/>
          </p:nvSpPr>
          <p:spPr>
            <a:xfrm>
              <a:off x="1017827" y="3392009"/>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TextBox 9"/>
            <p:cNvSpPr txBox="1"/>
            <p:nvPr/>
          </p:nvSpPr>
          <p:spPr>
            <a:xfrm>
              <a:off x="1047136" y="3564192"/>
              <a:ext cx="574635" cy="246221"/>
            </a:xfrm>
            <a:prstGeom prst="rect">
              <a:avLst/>
            </a:prstGeom>
            <a:noFill/>
          </p:spPr>
          <p:txBody>
            <a:bodyPr wrap="square" lIns="0" tIns="0" rIns="0" bIns="0" rtlCol="0">
              <a:spAutoFit/>
            </a:bodyPr>
            <a:lstStyle/>
            <a:p>
              <a:pPr algn="ctr"/>
              <a:r>
                <a:rPr lang="en-US" sz="800" b="1" dirty="0"/>
                <a:t>Design Engineer</a:t>
              </a:r>
            </a:p>
          </p:txBody>
        </p:sp>
      </p:grpSp>
      <p:grpSp>
        <p:nvGrpSpPr>
          <p:cNvPr id="31" name="Groupe 30">
            <a:extLst>
              <a:ext uri="{FF2B5EF4-FFF2-40B4-BE49-F238E27FC236}">
                <a16:creationId xmlns:a16="http://schemas.microsoft.com/office/drawing/2014/main" id="{91061847-19E7-448E-B328-29D615E4815B}"/>
              </a:ext>
            </a:extLst>
          </p:cNvPr>
          <p:cNvGrpSpPr/>
          <p:nvPr/>
        </p:nvGrpSpPr>
        <p:grpSpPr>
          <a:xfrm>
            <a:off x="1018661" y="3594547"/>
            <a:ext cx="7962823" cy="629910"/>
            <a:chOff x="1018661" y="4148345"/>
            <a:chExt cx="7962823" cy="629910"/>
          </a:xfrm>
        </p:grpSpPr>
        <p:sp>
          <p:nvSpPr>
            <p:cNvPr id="21" name="Forme libre : forme 20">
              <a:extLst>
                <a:ext uri="{FF2B5EF4-FFF2-40B4-BE49-F238E27FC236}">
                  <a16:creationId xmlns:a16="http://schemas.microsoft.com/office/drawing/2014/main" id="{893C19C5-D91D-4A90-B51E-4A33BCE0600D}"/>
                </a:ext>
              </a:extLst>
            </p:cNvPr>
            <p:cNvSpPr/>
            <p:nvPr/>
          </p:nvSpPr>
          <p:spPr>
            <a:xfrm>
              <a:off x="1373374" y="4211336"/>
              <a:ext cx="7608110" cy="503928"/>
            </a:xfrm>
            <a:custGeom>
              <a:avLst/>
              <a:gdLst>
                <a:gd name="connsiteX0" fmla="*/ 0 w 7728549"/>
                <a:gd name="connsiteY0" fmla="*/ 0 h 503928"/>
                <a:gd name="connsiteX1" fmla="*/ 7728549 w 7728549"/>
                <a:gd name="connsiteY1" fmla="*/ 0 h 503928"/>
                <a:gd name="connsiteX2" fmla="*/ 7728549 w 7728549"/>
                <a:gd name="connsiteY2" fmla="*/ 503928 h 503928"/>
                <a:gd name="connsiteX3" fmla="*/ 0 w 7728549"/>
                <a:gd name="connsiteY3" fmla="*/ 503928 h 503928"/>
                <a:gd name="connsiteX4" fmla="*/ 0 w 7728549"/>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549" h="503928">
                  <a:moveTo>
                    <a:pt x="0" y="0"/>
                  </a:moveTo>
                  <a:lnTo>
                    <a:pt x="7728549" y="0"/>
                  </a:lnTo>
                  <a:lnTo>
                    <a:pt x="7728549"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Develops the safety controller system (includes software, hardware, and firmware) </a:t>
              </a:r>
            </a:p>
            <a:p>
              <a:pPr marL="0" lvl="0" indent="0" algn="l" defTabSz="400050">
                <a:lnSpc>
                  <a:spcPct val="90000"/>
                </a:lnSpc>
                <a:spcBef>
                  <a:spcPct val="0"/>
                </a:spcBef>
                <a:spcAft>
                  <a:spcPct val="35000"/>
                </a:spcAft>
                <a:buNone/>
              </a:pPr>
              <a:r>
                <a:rPr lang="en-US" sz="900" kern="1200" dirty="0"/>
                <a:t>- Specifies requirements, creates SAT  specifications and performs SWAT for safety controller</a:t>
              </a:r>
            </a:p>
          </p:txBody>
        </p:sp>
        <p:sp>
          <p:nvSpPr>
            <p:cNvPr id="22" name="Ellipse 21">
              <a:extLst>
                <a:ext uri="{FF2B5EF4-FFF2-40B4-BE49-F238E27FC236}">
                  <a16:creationId xmlns:a16="http://schemas.microsoft.com/office/drawing/2014/main" id="{4BC02A84-2076-42E3-B766-B56FCE83ADFC}"/>
                </a:ext>
              </a:extLst>
            </p:cNvPr>
            <p:cNvSpPr/>
            <p:nvPr/>
          </p:nvSpPr>
          <p:spPr>
            <a:xfrm>
              <a:off x="1018661" y="4148345"/>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 name="TextBox 10"/>
            <p:cNvSpPr txBox="1"/>
            <p:nvPr/>
          </p:nvSpPr>
          <p:spPr>
            <a:xfrm>
              <a:off x="1036595" y="4345855"/>
              <a:ext cx="574635" cy="246221"/>
            </a:xfrm>
            <a:prstGeom prst="rect">
              <a:avLst/>
            </a:prstGeom>
            <a:noFill/>
          </p:spPr>
          <p:txBody>
            <a:bodyPr wrap="square" lIns="0" tIns="0" rIns="0" bIns="0" rtlCol="0">
              <a:spAutoFit/>
            </a:bodyPr>
            <a:lstStyle/>
            <a:p>
              <a:pPr algn="ctr"/>
              <a:r>
                <a:rPr lang="en-US" sz="800" b="1" dirty="0"/>
                <a:t>Controls Engineer</a:t>
              </a:r>
            </a:p>
          </p:txBody>
        </p:sp>
      </p:grpSp>
      <p:grpSp>
        <p:nvGrpSpPr>
          <p:cNvPr id="32" name="Groupe 31">
            <a:extLst>
              <a:ext uri="{FF2B5EF4-FFF2-40B4-BE49-F238E27FC236}">
                <a16:creationId xmlns:a16="http://schemas.microsoft.com/office/drawing/2014/main" id="{C1B6393C-001E-4E4F-BC78-B68BF0D22258}"/>
              </a:ext>
            </a:extLst>
          </p:cNvPr>
          <p:cNvGrpSpPr/>
          <p:nvPr/>
        </p:nvGrpSpPr>
        <p:grpSpPr>
          <a:xfrm>
            <a:off x="687901" y="4906175"/>
            <a:ext cx="8293583" cy="629910"/>
            <a:chOff x="687901" y="4904127"/>
            <a:chExt cx="8293583" cy="629910"/>
          </a:xfrm>
        </p:grpSpPr>
        <p:sp>
          <p:nvSpPr>
            <p:cNvPr id="23" name="Forme libre : forme 22">
              <a:extLst>
                <a:ext uri="{FF2B5EF4-FFF2-40B4-BE49-F238E27FC236}">
                  <a16:creationId xmlns:a16="http://schemas.microsoft.com/office/drawing/2014/main" id="{2A11AED8-A673-4BA4-8E5B-2AB34D526CBE}"/>
                </a:ext>
              </a:extLst>
            </p:cNvPr>
            <p:cNvSpPr/>
            <p:nvPr/>
          </p:nvSpPr>
          <p:spPr>
            <a:xfrm>
              <a:off x="1002856" y="4967118"/>
              <a:ext cx="7978628" cy="503928"/>
            </a:xfrm>
            <a:custGeom>
              <a:avLst/>
              <a:gdLst>
                <a:gd name="connsiteX0" fmla="*/ 0 w 7978628"/>
                <a:gd name="connsiteY0" fmla="*/ 0 h 503928"/>
                <a:gd name="connsiteX1" fmla="*/ 7978628 w 7978628"/>
                <a:gd name="connsiteY1" fmla="*/ 0 h 503928"/>
                <a:gd name="connsiteX2" fmla="*/ 7978628 w 7978628"/>
                <a:gd name="connsiteY2" fmla="*/ 503928 h 503928"/>
                <a:gd name="connsiteX3" fmla="*/ 0 w 7978628"/>
                <a:gd name="connsiteY3" fmla="*/ 503928 h 503928"/>
                <a:gd name="connsiteX4" fmla="*/ 0 w 7978628"/>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8628" h="503928">
                  <a:moveTo>
                    <a:pt x="0" y="0"/>
                  </a:moveTo>
                  <a:lnTo>
                    <a:pt x="7978628" y="0"/>
                  </a:lnTo>
                  <a:lnTo>
                    <a:pt x="7978628"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Communicates the need to conform to IEC 61511 and schedules SIL activities to meet customer contract requirements</a:t>
              </a:r>
            </a:p>
            <a:p>
              <a:pPr marL="0" lvl="0" indent="0" algn="l" defTabSz="400050">
                <a:lnSpc>
                  <a:spcPct val="90000"/>
                </a:lnSpc>
                <a:spcBef>
                  <a:spcPct val="0"/>
                </a:spcBef>
                <a:spcAft>
                  <a:spcPct val="35000"/>
                </a:spcAft>
                <a:buNone/>
              </a:pPr>
              <a:r>
                <a:rPr lang="en-US" sz="900" kern="1200" dirty="0"/>
                <a:t>- Approves all design changes impacting safety functions/systems </a:t>
              </a:r>
            </a:p>
            <a:p>
              <a:pPr marL="0" lvl="0" indent="0" algn="l" defTabSz="400050">
                <a:lnSpc>
                  <a:spcPct val="90000"/>
                </a:lnSpc>
                <a:spcBef>
                  <a:spcPct val="0"/>
                </a:spcBef>
                <a:spcAft>
                  <a:spcPct val="35000"/>
                </a:spcAft>
                <a:buNone/>
              </a:pPr>
              <a:r>
                <a:rPr lang="en-US" sz="900" kern="1200" dirty="0"/>
                <a:t>- Assembles and distributes the customer safety manual</a:t>
              </a:r>
            </a:p>
          </p:txBody>
        </p:sp>
        <p:sp>
          <p:nvSpPr>
            <p:cNvPr id="24" name="Ellipse 23">
              <a:extLst>
                <a:ext uri="{FF2B5EF4-FFF2-40B4-BE49-F238E27FC236}">
                  <a16:creationId xmlns:a16="http://schemas.microsoft.com/office/drawing/2014/main" id="{EE40DCEE-4F76-4CB1-9F1E-80D63C3979A8}"/>
                </a:ext>
              </a:extLst>
            </p:cNvPr>
            <p:cNvSpPr/>
            <p:nvPr/>
          </p:nvSpPr>
          <p:spPr>
            <a:xfrm>
              <a:off x="687901" y="4904127"/>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TextBox 11"/>
            <p:cNvSpPr txBox="1"/>
            <p:nvPr/>
          </p:nvSpPr>
          <p:spPr>
            <a:xfrm>
              <a:off x="727037" y="5039029"/>
              <a:ext cx="574635" cy="369332"/>
            </a:xfrm>
            <a:prstGeom prst="rect">
              <a:avLst/>
            </a:prstGeom>
            <a:noFill/>
          </p:spPr>
          <p:txBody>
            <a:bodyPr wrap="square" lIns="0" tIns="0" rIns="0" bIns="0" rtlCol="0">
              <a:spAutoFit/>
            </a:bodyPr>
            <a:lstStyle/>
            <a:p>
              <a:pPr algn="ctr"/>
              <a:r>
                <a:rPr lang="en-US" sz="800" b="1" dirty="0"/>
                <a:t>Project/ Requisition Engineer</a:t>
              </a:r>
            </a:p>
          </p:txBody>
        </p:sp>
      </p:grpSp>
      <p:grpSp>
        <p:nvGrpSpPr>
          <p:cNvPr id="33" name="Groupe 32">
            <a:extLst>
              <a:ext uri="{FF2B5EF4-FFF2-40B4-BE49-F238E27FC236}">
                <a16:creationId xmlns:a16="http://schemas.microsoft.com/office/drawing/2014/main" id="{8A936E51-0C06-40B1-A64B-5F9902D1516D}"/>
              </a:ext>
            </a:extLst>
          </p:cNvPr>
          <p:cNvGrpSpPr/>
          <p:nvPr/>
        </p:nvGrpSpPr>
        <p:grpSpPr>
          <a:xfrm>
            <a:off x="231549" y="5561987"/>
            <a:ext cx="8749935" cy="629910"/>
            <a:chOff x="231548" y="5660463"/>
            <a:chExt cx="8749935" cy="629910"/>
          </a:xfrm>
        </p:grpSpPr>
        <p:sp>
          <p:nvSpPr>
            <p:cNvPr id="25" name="Forme libre : forme 24">
              <a:extLst>
                <a:ext uri="{FF2B5EF4-FFF2-40B4-BE49-F238E27FC236}">
                  <a16:creationId xmlns:a16="http://schemas.microsoft.com/office/drawing/2014/main" id="{4CFF7E66-0E1E-49FC-991C-EFA094E1587E}"/>
                </a:ext>
              </a:extLst>
            </p:cNvPr>
            <p:cNvSpPr/>
            <p:nvPr/>
          </p:nvSpPr>
          <p:spPr>
            <a:xfrm>
              <a:off x="546503" y="5723454"/>
              <a:ext cx="8434980" cy="503928"/>
            </a:xfrm>
            <a:custGeom>
              <a:avLst/>
              <a:gdLst>
                <a:gd name="connsiteX0" fmla="*/ 0 w 8434980"/>
                <a:gd name="connsiteY0" fmla="*/ 0 h 503928"/>
                <a:gd name="connsiteX1" fmla="*/ 8434980 w 8434980"/>
                <a:gd name="connsiteY1" fmla="*/ 0 h 503928"/>
                <a:gd name="connsiteX2" fmla="*/ 8434980 w 8434980"/>
                <a:gd name="connsiteY2" fmla="*/ 503928 h 503928"/>
                <a:gd name="connsiteX3" fmla="*/ 0 w 8434980"/>
                <a:gd name="connsiteY3" fmla="*/ 503928 h 503928"/>
                <a:gd name="connsiteX4" fmla="*/ 0 w 8434980"/>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4980" h="503928">
                  <a:moveTo>
                    <a:pt x="0" y="0"/>
                  </a:moveTo>
                  <a:lnTo>
                    <a:pt x="8434980" y="0"/>
                  </a:lnTo>
                  <a:lnTo>
                    <a:pt x="8434980"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Verifies that the design meets the requirements by ensuring adequate reviews have been held</a:t>
              </a:r>
            </a:p>
            <a:p>
              <a:pPr marL="0" lvl="0" indent="0" algn="l" defTabSz="400050">
                <a:lnSpc>
                  <a:spcPct val="90000"/>
                </a:lnSpc>
                <a:spcBef>
                  <a:spcPct val="0"/>
                </a:spcBef>
                <a:spcAft>
                  <a:spcPct val="35000"/>
                </a:spcAft>
                <a:buNone/>
              </a:pPr>
              <a:r>
                <a:rPr lang="en-US" sz="900" kern="1200" dirty="0"/>
                <a:t>- Approves the final ASR and functional safety documentation in a secured database</a:t>
              </a:r>
            </a:p>
          </p:txBody>
        </p:sp>
        <p:sp>
          <p:nvSpPr>
            <p:cNvPr id="26" name="Ellipse 25">
              <a:extLst>
                <a:ext uri="{FF2B5EF4-FFF2-40B4-BE49-F238E27FC236}">
                  <a16:creationId xmlns:a16="http://schemas.microsoft.com/office/drawing/2014/main" id="{9ED0B0C9-35D4-4B9A-BB46-72CEEEF7EDF0}"/>
                </a:ext>
              </a:extLst>
            </p:cNvPr>
            <p:cNvSpPr/>
            <p:nvPr/>
          </p:nvSpPr>
          <p:spPr>
            <a:xfrm>
              <a:off x="231548" y="5660463"/>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3" name="TextBox 12"/>
            <p:cNvSpPr txBox="1"/>
            <p:nvPr/>
          </p:nvSpPr>
          <p:spPr>
            <a:xfrm>
              <a:off x="251144" y="5821705"/>
              <a:ext cx="574635" cy="369332"/>
            </a:xfrm>
            <a:prstGeom prst="rect">
              <a:avLst/>
            </a:prstGeom>
            <a:noFill/>
          </p:spPr>
          <p:txBody>
            <a:bodyPr wrap="square" lIns="0" tIns="0" rIns="0" bIns="0" rtlCol="0">
              <a:spAutoFit/>
            </a:bodyPr>
            <a:lstStyle/>
            <a:p>
              <a:pPr algn="ctr"/>
              <a:r>
                <a:rPr lang="en-US" sz="800" b="1" dirty="0"/>
                <a:t>Controlled Title</a:t>
              </a:r>
            </a:p>
            <a:p>
              <a:pPr algn="ctr"/>
              <a:r>
                <a:rPr lang="en-US" sz="800" b="1" dirty="0"/>
                <a:t>Holder</a:t>
              </a:r>
            </a:p>
          </p:txBody>
        </p:sp>
      </p:grpSp>
      <p:grpSp>
        <p:nvGrpSpPr>
          <p:cNvPr id="34" name="Groupe 33">
            <a:extLst>
              <a:ext uri="{FF2B5EF4-FFF2-40B4-BE49-F238E27FC236}">
                <a16:creationId xmlns:a16="http://schemas.microsoft.com/office/drawing/2014/main" id="{DF3B0DB6-A40A-4CC5-8757-A33C5D0739A5}"/>
              </a:ext>
            </a:extLst>
          </p:cNvPr>
          <p:cNvGrpSpPr/>
          <p:nvPr/>
        </p:nvGrpSpPr>
        <p:grpSpPr>
          <a:xfrm>
            <a:off x="937979" y="4250361"/>
            <a:ext cx="8043505" cy="629910"/>
            <a:chOff x="937979" y="4148345"/>
            <a:chExt cx="8043505" cy="629910"/>
          </a:xfrm>
        </p:grpSpPr>
        <p:sp>
          <p:nvSpPr>
            <p:cNvPr id="35" name="Forme libre : forme 34">
              <a:extLst>
                <a:ext uri="{FF2B5EF4-FFF2-40B4-BE49-F238E27FC236}">
                  <a16:creationId xmlns:a16="http://schemas.microsoft.com/office/drawing/2014/main" id="{583033A3-7653-4156-994E-2E17219D2B27}"/>
                </a:ext>
              </a:extLst>
            </p:cNvPr>
            <p:cNvSpPr/>
            <p:nvPr/>
          </p:nvSpPr>
          <p:spPr>
            <a:xfrm>
              <a:off x="1252935" y="4211336"/>
              <a:ext cx="7728549" cy="503928"/>
            </a:xfrm>
            <a:custGeom>
              <a:avLst/>
              <a:gdLst>
                <a:gd name="connsiteX0" fmla="*/ 0 w 7728549"/>
                <a:gd name="connsiteY0" fmla="*/ 0 h 503928"/>
                <a:gd name="connsiteX1" fmla="*/ 7728549 w 7728549"/>
                <a:gd name="connsiteY1" fmla="*/ 0 h 503928"/>
                <a:gd name="connsiteX2" fmla="*/ 7728549 w 7728549"/>
                <a:gd name="connsiteY2" fmla="*/ 503928 h 503928"/>
                <a:gd name="connsiteX3" fmla="*/ 0 w 7728549"/>
                <a:gd name="connsiteY3" fmla="*/ 503928 h 503928"/>
                <a:gd name="connsiteX4" fmla="*/ 0 w 7728549"/>
                <a:gd name="connsiteY4" fmla="*/ 0 h 503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8549" h="503928">
                  <a:moveTo>
                    <a:pt x="0" y="0"/>
                  </a:moveTo>
                  <a:lnTo>
                    <a:pt x="7728549" y="0"/>
                  </a:lnTo>
                  <a:lnTo>
                    <a:pt x="7728549" y="503928"/>
                  </a:lnTo>
                  <a:lnTo>
                    <a:pt x="0" y="50392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99993" tIns="22860" rIns="22860" bIns="22860" numCol="1" spcCol="1270" anchor="ctr" anchorCtr="0">
              <a:noAutofit/>
            </a:bodyPr>
            <a:lstStyle/>
            <a:p>
              <a:pPr marL="0" lvl="0" indent="0" algn="l" defTabSz="400050">
                <a:lnSpc>
                  <a:spcPct val="90000"/>
                </a:lnSpc>
                <a:spcBef>
                  <a:spcPct val="0"/>
                </a:spcBef>
                <a:spcAft>
                  <a:spcPct val="35000"/>
                </a:spcAft>
                <a:buNone/>
              </a:pPr>
              <a:r>
                <a:rPr lang="en-US" sz="900" kern="1200" dirty="0"/>
                <a:t>- Performs the validation tests of the SIFs </a:t>
              </a:r>
            </a:p>
            <a:p>
              <a:pPr marL="0" lvl="0" indent="0" algn="l" defTabSz="400050">
                <a:lnSpc>
                  <a:spcPct val="90000"/>
                </a:lnSpc>
                <a:spcBef>
                  <a:spcPct val="0"/>
                </a:spcBef>
                <a:spcAft>
                  <a:spcPct val="35000"/>
                </a:spcAft>
                <a:buNone/>
              </a:pPr>
              <a:r>
                <a:rPr lang="en-US" sz="900" kern="1200" dirty="0"/>
                <a:t>- Transmits &amp; records the tests results</a:t>
              </a:r>
            </a:p>
          </p:txBody>
        </p:sp>
        <p:sp>
          <p:nvSpPr>
            <p:cNvPr id="36" name="Ellipse 35">
              <a:extLst>
                <a:ext uri="{FF2B5EF4-FFF2-40B4-BE49-F238E27FC236}">
                  <a16:creationId xmlns:a16="http://schemas.microsoft.com/office/drawing/2014/main" id="{142D75F3-7A01-42E1-A7D2-468F038666BC}"/>
                </a:ext>
              </a:extLst>
            </p:cNvPr>
            <p:cNvSpPr/>
            <p:nvPr/>
          </p:nvSpPr>
          <p:spPr>
            <a:xfrm>
              <a:off x="937979" y="4148345"/>
              <a:ext cx="629910" cy="629910"/>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7" name="TextBox 10">
              <a:extLst>
                <a:ext uri="{FF2B5EF4-FFF2-40B4-BE49-F238E27FC236}">
                  <a16:creationId xmlns:a16="http://schemas.microsoft.com/office/drawing/2014/main" id="{DA745C4C-B97D-44FF-9FEF-AD612ED57BFA}"/>
                </a:ext>
              </a:extLst>
            </p:cNvPr>
            <p:cNvSpPr txBox="1"/>
            <p:nvPr/>
          </p:nvSpPr>
          <p:spPr>
            <a:xfrm>
              <a:off x="955913" y="4345855"/>
              <a:ext cx="574635" cy="246221"/>
            </a:xfrm>
            <a:prstGeom prst="rect">
              <a:avLst/>
            </a:prstGeom>
            <a:noFill/>
          </p:spPr>
          <p:txBody>
            <a:bodyPr wrap="square" lIns="0" tIns="0" rIns="0" bIns="0" rtlCol="0">
              <a:spAutoFit/>
            </a:bodyPr>
            <a:lstStyle/>
            <a:p>
              <a:pPr algn="ctr"/>
              <a:r>
                <a:rPr lang="en-US" sz="800" b="1" dirty="0"/>
                <a:t>Field Engineer</a:t>
              </a:r>
            </a:p>
          </p:txBody>
        </p:sp>
      </p:grpSp>
    </p:spTree>
    <p:extLst>
      <p:ext uri="{BB962C8B-B14F-4D97-AF65-F5344CB8AC3E}">
        <p14:creationId xmlns:p14="http://schemas.microsoft.com/office/powerpoint/2010/main" val="1013250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87" y="305045"/>
            <a:ext cx="8352156" cy="1021002"/>
          </a:xfrm>
        </p:spPr>
        <p:txBody>
          <a:bodyPr/>
          <a:lstStyle/>
          <a:p>
            <a:r>
              <a:rPr lang="en-US" dirty="0"/>
              <a:t>Roles and Responsibilities</a:t>
            </a:r>
          </a:p>
        </p:txBody>
      </p:sp>
      <p:sp>
        <p:nvSpPr>
          <p:cNvPr id="38" name="Flèche : pentagone 37">
            <a:extLst>
              <a:ext uri="{FF2B5EF4-FFF2-40B4-BE49-F238E27FC236}">
                <a16:creationId xmlns:a16="http://schemas.microsoft.com/office/drawing/2014/main" id="{625450BC-3041-4C08-BDF0-71735259EED2}"/>
              </a:ext>
            </a:extLst>
          </p:cNvPr>
          <p:cNvSpPr/>
          <p:nvPr/>
        </p:nvSpPr>
        <p:spPr>
          <a:xfrm flipH="1">
            <a:off x="831052" y="978554"/>
            <a:ext cx="3522613"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spcFirstLastPara="0" vert="horz" wrap="square" lIns="288000" tIns="36000" rIns="72000" bIns="36000" numCol="1" spcCol="1270" anchor="ctr" anchorCtr="0">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Coordinates all activities related to SIL</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Creates the  Proof test procedures</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Works with 3rd party to gain certification</a:t>
            </a:r>
          </a:p>
        </p:txBody>
      </p:sp>
      <p:sp>
        <p:nvSpPr>
          <p:cNvPr id="39" name="Ellipse 38">
            <a:extLst>
              <a:ext uri="{FF2B5EF4-FFF2-40B4-BE49-F238E27FC236}">
                <a16:creationId xmlns:a16="http://schemas.microsoft.com/office/drawing/2014/main" id="{8E01DCD8-944C-4908-A3A2-7F96BDB9F77E}"/>
              </a:ext>
            </a:extLst>
          </p:cNvPr>
          <p:cNvSpPr/>
          <p:nvPr/>
        </p:nvSpPr>
        <p:spPr>
          <a:xfrm>
            <a:off x="228391" y="979161"/>
            <a:ext cx="1079959" cy="975795"/>
          </a:xfrm>
          <a:prstGeom prst="ellipse">
            <a:avLst/>
          </a:prstGeom>
          <a:gradFill rotWithShape="1">
            <a:gsLst>
              <a:gs pos="0">
                <a:srgbClr val="EBD70A">
                  <a:shade val="51000"/>
                  <a:satMod val="130000"/>
                </a:srgbClr>
              </a:gs>
              <a:gs pos="80000">
                <a:srgbClr val="EBD70A">
                  <a:shade val="93000"/>
                  <a:satMod val="130000"/>
                </a:srgbClr>
              </a:gs>
              <a:gs pos="100000">
                <a:srgbClr val="EBD70A">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SIL Compliance Leader</a:t>
            </a:r>
          </a:p>
        </p:txBody>
      </p:sp>
      <p:sp>
        <p:nvSpPr>
          <p:cNvPr id="40" name="Flèche : pentagone 39">
            <a:extLst>
              <a:ext uri="{FF2B5EF4-FFF2-40B4-BE49-F238E27FC236}">
                <a16:creationId xmlns:a16="http://schemas.microsoft.com/office/drawing/2014/main" id="{EF685A87-1805-4582-8C6B-ED0A6A6952D3}"/>
              </a:ext>
            </a:extLst>
          </p:cNvPr>
          <p:cNvSpPr/>
          <p:nvPr/>
        </p:nvSpPr>
        <p:spPr>
          <a:xfrm flipH="1">
            <a:off x="5171938" y="978554"/>
            <a:ext cx="3743670"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36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Develops the safety controller system (includes software, hardware, and firmware) </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Specifies requirements, creates SAT  specifications and performs SWAT for safety controller</a:t>
            </a:r>
          </a:p>
        </p:txBody>
      </p:sp>
      <p:sp>
        <p:nvSpPr>
          <p:cNvPr id="41" name="Ellipse 40">
            <a:extLst>
              <a:ext uri="{FF2B5EF4-FFF2-40B4-BE49-F238E27FC236}">
                <a16:creationId xmlns:a16="http://schemas.microsoft.com/office/drawing/2014/main" id="{496EB0FB-96D7-4EAA-AE9D-CA3D3A7D7C30}"/>
              </a:ext>
            </a:extLst>
          </p:cNvPr>
          <p:cNvSpPr/>
          <p:nvPr/>
        </p:nvSpPr>
        <p:spPr>
          <a:xfrm>
            <a:off x="4569278" y="979161"/>
            <a:ext cx="1079959" cy="975795"/>
          </a:xfrm>
          <a:prstGeom prst="ellipse">
            <a:avLst/>
          </a:prstGeom>
          <a:solidFill>
            <a:srgbClr val="00B0F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Controls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
        <p:nvSpPr>
          <p:cNvPr id="42" name="Flèche : pentagone 41">
            <a:extLst>
              <a:ext uri="{FF2B5EF4-FFF2-40B4-BE49-F238E27FC236}">
                <a16:creationId xmlns:a16="http://schemas.microsoft.com/office/drawing/2014/main" id="{1A747D70-69A7-4DB4-88D8-0F52DB013783}"/>
              </a:ext>
            </a:extLst>
          </p:cNvPr>
          <p:cNvSpPr/>
          <p:nvPr/>
        </p:nvSpPr>
        <p:spPr>
          <a:xfrm flipH="1">
            <a:off x="831052" y="2254694"/>
            <a:ext cx="3522613"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72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Performs SIL targeting, and creates the SIF/SIS functional safety requirements</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Communicates needs and opportunities for functional safety improvement within the installed fleet</a:t>
            </a:r>
          </a:p>
        </p:txBody>
      </p:sp>
      <p:sp>
        <p:nvSpPr>
          <p:cNvPr id="43" name="Ellipse 42">
            <a:extLst>
              <a:ext uri="{FF2B5EF4-FFF2-40B4-BE49-F238E27FC236}">
                <a16:creationId xmlns:a16="http://schemas.microsoft.com/office/drawing/2014/main" id="{97D23101-8DB8-4392-AA1F-70C6FF4C4964}"/>
              </a:ext>
            </a:extLst>
          </p:cNvPr>
          <p:cNvSpPr/>
          <p:nvPr/>
        </p:nvSpPr>
        <p:spPr>
          <a:xfrm>
            <a:off x="228391" y="2255301"/>
            <a:ext cx="1079959" cy="975795"/>
          </a:xfrm>
          <a:prstGeom prst="ellipse">
            <a:avLst/>
          </a:prstGeom>
          <a:solidFill>
            <a:srgbClr val="FF66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Product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Safety</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
        <p:nvSpPr>
          <p:cNvPr id="44" name="Flèche : pentagone 43">
            <a:extLst>
              <a:ext uri="{FF2B5EF4-FFF2-40B4-BE49-F238E27FC236}">
                <a16:creationId xmlns:a16="http://schemas.microsoft.com/office/drawing/2014/main" id="{51B363B0-71BC-4DCC-B1A6-34256ED1C1E2}"/>
              </a:ext>
            </a:extLst>
          </p:cNvPr>
          <p:cNvSpPr/>
          <p:nvPr/>
        </p:nvSpPr>
        <p:spPr>
          <a:xfrm flipH="1">
            <a:off x="5171938" y="2254694"/>
            <a:ext cx="3743670"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36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Communicates the contractual functional safety requirements and schedules SIL activities </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Approves all design changes impacting safety functions/systems </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Assembles and distributes the customer safety manual</a:t>
            </a:r>
          </a:p>
        </p:txBody>
      </p:sp>
      <p:sp>
        <p:nvSpPr>
          <p:cNvPr id="45" name="Ellipse 44">
            <a:extLst>
              <a:ext uri="{FF2B5EF4-FFF2-40B4-BE49-F238E27FC236}">
                <a16:creationId xmlns:a16="http://schemas.microsoft.com/office/drawing/2014/main" id="{405FB2B4-64BF-4927-8F90-E320BF3B3300}"/>
              </a:ext>
            </a:extLst>
          </p:cNvPr>
          <p:cNvSpPr/>
          <p:nvPr/>
        </p:nvSpPr>
        <p:spPr>
          <a:xfrm>
            <a:off x="4569278" y="2255301"/>
            <a:ext cx="1079959" cy="975795"/>
          </a:xfrm>
          <a:prstGeom prst="ellipse">
            <a:avLst/>
          </a:prstGeom>
          <a:solidFill>
            <a:srgbClr val="FFFFFF">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Project/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Requisition</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
        <p:nvSpPr>
          <p:cNvPr id="46" name="Flèche : pentagone 45">
            <a:extLst>
              <a:ext uri="{FF2B5EF4-FFF2-40B4-BE49-F238E27FC236}">
                <a16:creationId xmlns:a16="http://schemas.microsoft.com/office/drawing/2014/main" id="{9CA367F4-653A-4620-A578-88DFD5A9EA55}"/>
              </a:ext>
            </a:extLst>
          </p:cNvPr>
          <p:cNvSpPr/>
          <p:nvPr/>
        </p:nvSpPr>
        <p:spPr>
          <a:xfrm flipH="1">
            <a:off x="831052" y="3556506"/>
            <a:ext cx="3522613"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72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Owns the SIF/SIS SIL assessment and creation of documentation for the customer safety manual</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Communicates safety requirements to applicable design/controls engineers</a:t>
            </a:r>
          </a:p>
        </p:txBody>
      </p:sp>
      <p:sp>
        <p:nvSpPr>
          <p:cNvPr id="47" name="Ellipse 46">
            <a:extLst>
              <a:ext uri="{FF2B5EF4-FFF2-40B4-BE49-F238E27FC236}">
                <a16:creationId xmlns:a16="http://schemas.microsoft.com/office/drawing/2014/main" id="{20398E81-4DBC-4430-A678-7B4408D073EC}"/>
              </a:ext>
            </a:extLst>
          </p:cNvPr>
          <p:cNvSpPr/>
          <p:nvPr/>
        </p:nvSpPr>
        <p:spPr>
          <a:xfrm>
            <a:off x="228391" y="3557113"/>
            <a:ext cx="1079959" cy="975795"/>
          </a:xfrm>
          <a:prstGeom prst="ellipse">
            <a:avLst/>
          </a:prstGeom>
          <a:solidFill>
            <a:srgbClr val="76B900">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Systems</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Reliability</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
        <p:nvSpPr>
          <p:cNvPr id="48" name="Flèche : pentagone 47">
            <a:extLst>
              <a:ext uri="{FF2B5EF4-FFF2-40B4-BE49-F238E27FC236}">
                <a16:creationId xmlns:a16="http://schemas.microsoft.com/office/drawing/2014/main" id="{831C8E44-1CA3-40D3-9CF2-3186C34BF7C4}"/>
              </a:ext>
            </a:extLst>
          </p:cNvPr>
          <p:cNvSpPr/>
          <p:nvPr/>
        </p:nvSpPr>
        <p:spPr>
          <a:xfrm flipH="1">
            <a:off x="5171938" y="3556506"/>
            <a:ext cx="3743670"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36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Verifies that the design meets the requirements by ensuring adequate reviews have been held</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Approves the final ASR and functional safety documentation in a secured database</a:t>
            </a:r>
          </a:p>
        </p:txBody>
      </p:sp>
      <p:sp>
        <p:nvSpPr>
          <p:cNvPr id="49" name="Ellipse 48">
            <a:extLst>
              <a:ext uri="{FF2B5EF4-FFF2-40B4-BE49-F238E27FC236}">
                <a16:creationId xmlns:a16="http://schemas.microsoft.com/office/drawing/2014/main" id="{96087D2D-21F9-4481-8015-EA30A28EF3C0}"/>
              </a:ext>
            </a:extLst>
          </p:cNvPr>
          <p:cNvSpPr/>
          <p:nvPr/>
        </p:nvSpPr>
        <p:spPr>
          <a:xfrm>
            <a:off x="4569278" y="3557113"/>
            <a:ext cx="1079959" cy="975795"/>
          </a:xfrm>
          <a:prstGeom prst="ellipse">
            <a:avLst/>
          </a:prstGeom>
          <a:solidFill>
            <a:srgbClr val="CD0078">
              <a:lumMod val="20000"/>
              <a:lumOff val="8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Controlled</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Title</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Holder</a:t>
            </a:r>
          </a:p>
        </p:txBody>
      </p:sp>
      <p:sp>
        <p:nvSpPr>
          <p:cNvPr id="50" name="Flèche : pentagone 49">
            <a:extLst>
              <a:ext uri="{FF2B5EF4-FFF2-40B4-BE49-F238E27FC236}">
                <a16:creationId xmlns:a16="http://schemas.microsoft.com/office/drawing/2014/main" id="{4C9A6E43-B7D2-4157-A343-DF809D94664E}"/>
              </a:ext>
            </a:extLst>
          </p:cNvPr>
          <p:cNvSpPr/>
          <p:nvPr/>
        </p:nvSpPr>
        <p:spPr>
          <a:xfrm flipH="1">
            <a:off x="831052" y="4858318"/>
            <a:ext cx="3522613"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72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Participate to Risk analysis, propose design and component test, inform any modification on SIS </a:t>
            </a:r>
          </a:p>
        </p:txBody>
      </p:sp>
      <p:sp>
        <p:nvSpPr>
          <p:cNvPr id="51" name="Ellipse 50">
            <a:extLst>
              <a:ext uri="{FF2B5EF4-FFF2-40B4-BE49-F238E27FC236}">
                <a16:creationId xmlns:a16="http://schemas.microsoft.com/office/drawing/2014/main" id="{D4775382-0988-4AF3-9129-ACFD07A9C54D}"/>
              </a:ext>
            </a:extLst>
          </p:cNvPr>
          <p:cNvSpPr/>
          <p:nvPr/>
        </p:nvSpPr>
        <p:spPr>
          <a:xfrm>
            <a:off x="228391" y="4858925"/>
            <a:ext cx="1079959" cy="975795"/>
          </a:xfrm>
          <a:prstGeom prst="ellipse">
            <a:avLst/>
          </a:prstGeom>
          <a:solidFill>
            <a:srgbClr val="3AB03A"/>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Design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Engineers</a:t>
            </a:r>
            <a:r>
              <a:rPr kumimoji="0" lang="fr-FR" sz="1100" b="1" i="0" u="none" strike="noStrike" kern="0" cap="none" spc="0" normalizeH="0" baseline="0" noProof="0" dirty="0">
                <a:ln>
                  <a:noFill/>
                </a:ln>
                <a:solidFill>
                  <a:srgbClr val="1E4191"/>
                </a:solidFill>
                <a:effectLst/>
                <a:uLnTx/>
                <a:uFillTx/>
                <a:latin typeface="GE Inspira Pitch"/>
                <a:ea typeface="+mn-ea"/>
                <a:cs typeface="+mn-cs"/>
              </a:rPr>
              <a:t> &amp; Item</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Owners</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
        <p:nvSpPr>
          <p:cNvPr id="52" name="Flèche : pentagone 51">
            <a:extLst>
              <a:ext uri="{FF2B5EF4-FFF2-40B4-BE49-F238E27FC236}">
                <a16:creationId xmlns:a16="http://schemas.microsoft.com/office/drawing/2014/main" id="{8B469D42-C56E-4109-A27E-C794C7B31E3E}"/>
              </a:ext>
            </a:extLst>
          </p:cNvPr>
          <p:cNvSpPr/>
          <p:nvPr/>
        </p:nvSpPr>
        <p:spPr>
          <a:xfrm flipH="1">
            <a:off x="5171938" y="4858318"/>
            <a:ext cx="3743670" cy="976402"/>
          </a:xfrm>
          <a:prstGeom prst="homePlate">
            <a:avLst/>
          </a:prstGeom>
          <a:gradFill rotWithShape="1">
            <a:gsLst>
              <a:gs pos="0">
                <a:srgbClr val="28B9F5">
                  <a:tint val="50000"/>
                  <a:satMod val="300000"/>
                </a:srgbClr>
              </a:gs>
              <a:gs pos="35000">
                <a:srgbClr val="28B9F5">
                  <a:tint val="37000"/>
                  <a:satMod val="300000"/>
                </a:srgbClr>
              </a:gs>
              <a:gs pos="100000">
                <a:srgbClr val="28B9F5">
                  <a:tint val="15000"/>
                  <a:satMod val="350000"/>
                </a:srgbClr>
              </a:gs>
            </a:gsLst>
            <a:lin ang="16200000" scaled="1"/>
          </a:gradFill>
          <a:ln w="9525" cap="flat" cmpd="sng" algn="ctr">
            <a:solidFill>
              <a:srgbClr val="28B9F5">
                <a:shade val="95000"/>
                <a:satMod val="105000"/>
              </a:srgbClr>
            </a:solidFill>
            <a:prstDash val="solid"/>
          </a:ln>
          <a:effectLst>
            <a:outerShdw blurRad="40000" dist="20000" dir="5400000" rotWithShape="0">
              <a:srgbClr val="000000">
                <a:alpha val="38000"/>
              </a:srgbClr>
            </a:outerShdw>
          </a:effectLst>
        </p:spPr>
        <p:txBody>
          <a:bodyPr rot="0" spcFirstLastPara="0" vertOverflow="overflow" horzOverflow="overflow" vert="horz" wrap="square" lIns="288000" tIns="36000" rIns="36000" bIns="36000" numCol="1" spcCol="1270" rtlCol="0" fromWordArt="0" anchor="ctr" anchorCtr="0" forceAA="0" compatLnSpc="1">
            <a:prstTxWarp prst="textNoShape">
              <a:avLst/>
            </a:prstTxWarp>
            <a:noAutofit/>
          </a:bodyPr>
          <a:lstStyle/>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Verifies all tools needed for Site Acceptance Tests are available, calibrated and certificates are available</a:t>
            </a:r>
          </a:p>
          <a:p>
            <a:pPr marL="171450" marR="0" lvl="0" indent="-171450" defTabSz="1155700" eaLnBrk="1" fontAlgn="base" latinLnBrk="0" hangingPunct="1">
              <a:lnSpc>
                <a:spcPct val="90000"/>
              </a:lnSpc>
              <a:spcBef>
                <a:spcPct val="0"/>
              </a:spcBef>
              <a:spcAft>
                <a:spcPct val="35000"/>
              </a:spcAft>
              <a:buClrTx/>
              <a:buSzTx/>
              <a:buFont typeface="Arial" panose="020B0604020202020204" pitchFamily="34" charset="0"/>
              <a:buChar char="•"/>
              <a:tabLst/>
              <a:defRPr/>
            </a:pPr>
            <a:r>
              <a:rPr kumimoji="0" lang="en-US" sz="1000" b="1" i="0" u="none" strike="noStrike" kern="0" cap="none" spc="0" normalizeH="0" baseline="0" noProof="0" dirty="0">
                <a:ln>
                  <a:noFill/>
                </a:ln>
                <a:solidFill>
                  <a:srgbClr val="1E4191"/>
                </a:solidFill>
                <a:effectLst/>
                <a:uLnTx/>
                <a:uFillTx/>
                <a:latin typeface="GE Inspira Pitch"/>
                <a:ea typeface="+mn-ea"/>
                <a:cs typeface="+mn-cs"/>
              </a:rPr>
              <a:t>Conducts Site Acceptance Tests, and provides results to the SIL Compliance Leader</a:t>
            </a:r>
          </a:p>
        </p:txBody>
      </p:sp>
      <p:sp>
        <p:nvSpPr>
          <p:cNvPr id="53" name="Ellipse 52">
            <a:extLst>
              <a:ext uri="{FF2B5EF4-FFF2-40B4-BE49-F238E27FC236}">
                <a16:creationId xmlns:a16="http://schemas.microsoft.com/office/drawing/2014/main" id="{E288CB8F-E8FA-4757-BB1E-D11ED73E38F6}"/>
              </a:ext>
            </a:extLst>
          </p:cNvPr>
          <p:cNvSpPr/>
          <p:nvPr/>
        </p:nvSpPr>
        <p:spPr>
          <a:xfrm>
            <a:off x="4569278" y="4858925"/>
            <a:ext cx="1079959" cy="975795"/>
          </a:xfrm>
          <a:prstGeom prst="ellipse">
            <a:avLst/>
          </a:prstGeom>
          <a:solidFill>
            <a:srgbClr val="CC99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lIns="0" tIns="0" rIns="0" bIns="0" anchor="ctr" anchorCtr="0"/>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fr-FR" sz="1100" b="1" i="0" u="none" strike="noStrike" kern="0" cap="none" spc="0" normalizeH="0" baseline="0" noProof="0" dirty="0">
                <a:ln>
                  <a:noFill/>
                </a:ln>
                <a:solidFill>
                  <a:srgbClr val="1E4191"/>
                </a:solidFill>
                <a:effectLst/>
                <a:uLnTx/>
                <a:uFillTx/>
                <a:latin typeface="GE Inspira Pitch"/>
                <a:ea typeface="+mn-ea"/>
                <a:cs typeface="+mn-cs"/>
              </a:rPr>
              <a:t>Controls Field </a:t>
            </a:r>
            <a:r>
              <a:rPr kumimoji="0" lang="fr-FR" sz="1100" b="1" i="0" u="none" strike="noStrike" kern="0" cap="none" spc="0" normalizeH="0" baseline="0" noProof="0" dirty="0" err="1">
                <a:ln>
                  <a:noFill/>
                </a:ln>
                <a:solidFill>
                  <a:srgbClr val="1E4191"/>
                </a:solidFill>
                <a:effectLst/>
                <a:uLnTx/>
                <a:uFillTx/>
                <a:latin typeface="GE Inspira Pitch"/>
                <a:ea typeface="+mn-ea"/>
                <a:cs typeface="+mn-cs"/>
              </a:rPr>
              <a:t>Engineer</a:t>
            </a:r>
            <a:endParaRPr kumimoji="0" lang="fr-FR" sz="1100" b="1" i="0" u="none" strike="noStrike" kern="0" cap="none" spc="0" normalizeH="0" baseline="0" noProof="0" dirty="0">
              <a:ln>
                <a:noFill/>
              </a:ln>
              <a:solidFill>
                <a:srgbClr val="1E4191"/>
              </a:solidFill>
              <a:effectLst/>
              <a:uLnTx/>
              <a:uFillTx/>
              <a:latin typeface="GE Inspira Pitch"/>
              <a:ea typeface="+mn-ea"/>
              <a:cs typeface="+mn-cs"/>
            </a:endParaRPr>
          </a:p>
        </p:txBody>
      </p:sp>
    </p:spTree>
    <p:extLst>
      <p:ext uri="{BB962C8B-B14F-4D97-AF65-F5344CB8AC3E}">
        <p14:creationId xmlns:p14="http://schemas.microsoft.com/office/powerpoint/2010/main" val="17844473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12">
            <a:extLst>
              <a:ext uri="{FF2B5EF4-FFF2-40B4-BE49-F238E27FC236}">
                <a16:creationId xmlns:a16="http://schemas.microsoft.com/office/drawing/2014/main" id="{F63C5935-4179-43F0-9665-9B27405968B7}"/>
              </a:ext>
            </a:extLst>
          </p:cNvPr>
          <p:cNvSpPr>
            <a:spLocks noChangeShapeType="1"/>
          </p:cNvSpPr>
          <p:nvPr/>
        </p:nvSpPr>
        <p:spPr bwMode="auto">
          <a:xfrm>
            <a:off x="199550" y="906120"/>
            <a:ext cx="0" cy="5648483"/>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7422" tIns="45460" rIns="87422" bIns="45460" anchor="ctr"/>
          <a:lstStyle/>
          <a:p>
            <a:pPr marL="0" marR="0" lvl="0" indent="0" algn="l" defTabSz="781903" rtl="0" eaLnBrk="0" fontAlgn="base" latinLnBrk="0" hangingPunct="0">
              <a:lnSpc>
                <a:spcPct val="100000"/>
              </a:lnSpc>
              <a:spcBef>
                <a:spcPct val="0"/>
              </a:spcBef>
              <a:spcAft>
                <a:spcPct val="0"/>
              </a:spcAft>
              <a:buClrTx/>
              <a:buSzTx/>
              <a:buFontTx/>
              <a:buNone/>
              <a:tabLst/>
              <a:defRPr/>
            </a:pPr>
            <a:endParaRPr kumimoji="0" lang="en-US" sz="1539" b="0" i="0" u="none" strike="noStrike" kern="1200" cap="none" spc="0" normalizeH="0" baseline="0" noProof="0">
              <a:ln>
                <a:noFill/>
              </a:ln>
              <a:solidFill>
                <a:srgbClr val="000099"/>
              </a:solidFill>
              <a:effectLst/>
              <a:uLnTx/>
              <a:uFillTx/>
              <a:latin typeface="GE Inspira Pitch" pitchFamily="34" charset="0"/>
              <a:ea typeface="+mn-ea"/>
              <a:cs typeface="+mn-cs"/>
            </a:endParaRPr>
          </a:p>
        </p:txBody>
      </p:sp>
      <p:sp>
        <p:nvSpPr>
          <p:cNvPr id="2" name="Rectangle 3">
            <a:extLst>
              <a:ext uri="{FF2B5EF4-FFF2-40B4-BE49-F238E27FC236}">
                <a16:creationId xmlns:a16="http://schemas.microsoft.com/office/drawing/2014/main" id="{2EAA23D7-9699-4854-BCD5-D0D798E8E636}"/>
              </a:ext>
            </a:extLst>
          </p:cNvPr>
          <p:cNvSpPr>
            <a:spLocks noChangeArrowheads="1"/>
          </p:cNvSpPr>
          <p:nvPr/>
        </p:nvSpPr>
        <p:spPr bwMode="auto">
          <a:xfrm>
            <a:off x="1549626" y="1528727"/>
            <a:ext cx="1240990" cy="619790"/>
          </a:xfrm>
          <a:prstGeom prst="rect">
            <a:avLst/>
          </a:prstGeom>
          <a:ln>
            <a:headEnd/>
            <a:tailEnd/>
          </a:ln>
        </p:spPr>
        <p:style>
          <a:lnRef idx="0">
            <a:schemeClr val="dk1"/>
          </a:lnRef>
          <a:fillRef idx="3">
            <a:schemeClr val="dk1"/>
          </a:fillRef>
          <a:effectRef idx="3">
            <a:schemeClr val="dk1"/>
          </a:effectRef>
          <a:fontRef idx="minor">
            <a:schemeClr val="lt1"/>
          </a:fontRef>
        </p:style>
        <p:txBody>
          <a:bodyPr wrap="none" lIns="88777" tIns="44389" rIns="88777" bIns="44389" anchor="ctr">
            <a:spAutoFit/>
          </a:bodyPr>
          <a:lstStyle/>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a:ln>
                  <a:noFill/>
                </a:ln>
                <a:solidFill>
                  <a:srgbClr val="FFFFFF"/>
                </a:solidFill>
                <a:effectLst/>
                <a:uLnTx/>
                <a:uFillTx/>
                <a:latin typeface="GE Inspira" pitchFamily="34" charset="0"/>
                <a:ea typeface="+mn-ea"/>
                <a:cs typeface="+mn-cs"/>
              </a:rPr>
              <a:t>SIL Targeting</a:t>
            </a:r>
          </a:p>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a:ln>
                  <a:noFill/>
                </a:ln>
                <a:solidFill>
                  <a:srgbClr val="FFFFFF"/>
                </a:solidFill>
                <a:effectLst/>
                <a:uLnTx/>
                <a:uFillTx/>
                <a:latin typeface="GE Inspira" pitchFamily="34" charset="0"/>
                <a:ea typeface="+mn-ea"/>
                <a:cs typeface="+mn-cs"/>
              </a:rPr>
              <a:t>(Safety)</a:t>
            </a:r>
          </a:p>
        </p:txBody>
      </p:sp>
      <p:sp>
        <p:nvSpPr>
          <p:cNvPr id="7171" name="Rectangle 4">
            <a:extLst>
              <a:ext uri="{FF2B5EF4-FFF2-40B4-BE49-F238E27FC236}">
                <a16:creationId xmlns:a16="http://schemas.microsoft.com/office/drawing/2014/main" id="{ECB51B4D-7200-40E6-99C4-54938E4383D8}"/>
              </a:ext>
            </a:extLst>
          </p:cNvPr>
          <p:cNvSpPr>
            <a:spLocks noChangeArrowheads="1"/>
          </p:cNvSpPr>
          <p:nvPr/>
        </p:nvSpPr>
        <p:spPr bwMode="auto">
          <a:xfrm>
            <a:off x="1058946" y="2209894"/>
            <a:ext cx="2222348" cy="619790"/>
          </a:xfrm>
          <a:prstGeom prst="rect">
            <a:avLst/>
          </a:prstGeom>
          <a:ln>
            <a:headEnd/>
            <a:tailEnd/>
          </a:ln>
        </p:spPr>
        <p:style>
          <a:lnRef idx="0">
            <a:schemeClr val="dk1"/>
          </a:lnRef>
          <a:fillRef idx="3">
            <a:schemeClr val="dk1"/>
          </a:fillRef>
          <a:effectRef idx="3">
            <a:schemeClr val="dk1"/>
          </a:effectRef>
          <a:fontRef idx="minor">
            <a:schemeClr val="lt1"/>
          </a:fontRef>
        </p:style>
        <p:txBody>
          <a:bodyPr wrap="none" lIns="88777" tIns="44389" rIns="88777" bIns="44389" anchor="ctr">
            <a:spAutoFit/>
          </a:bodyPr>
          <a:lstStyle/>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dirty="0">
                <a:ln>
                  <a:noFill/>
                </a:ln>
                <a:solidFill>
                  <a:srgbClr val="FFFFFF"/>
                </a:solidFill>
                <a:effectLst/>
                <a:uLnTx/>
                <a:uFillTx/>
                <a:latin typeface="GE Inspira" pitchFamily="34" charset="0"/>
                <a:ea typeface="+mn-ea"/>
                <a:cs typeface="+mn-cs"/>
              </a:rPr>
              <a:t>SIS design</a:t>
            </a:r>
          </a:p>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dirty="0">
                <a:ln>
                  <a:noFill/>
                </a:ln>
                <a:solidFill>
                  <a:srgbClr val="FFFFFF"/>
                </a:solidFill>
                <a:effectLst/>
                <a:uLnTx/>
                <a:uFillTx/>
                <a:latin typeface="GE Inspira" pitchFamily="34" charset="0"/>
                <a:ea typeface="+mn-ea"/>
                <a:cs typeface="+mn-cs"/>
              </a:rPr>
              <a:t>&amp; Reliability assessment</a:t>
            </a:r>
          </a:p>
        </p:txBody>
      </p:sp>
      <p:sp>
        <p:nvSpPr>
          <p:cNvPr id="7172" name="Rectangle 5">
            <a:extLst>
              <a:ext uri="{FF2B5EF4-FFF2-40B4-BE49-F238E27FC236}">
                <a16:creationId xmlns:a16="http://schemas.microsoft.com/office/drawing/2014/main" id="{CA348FE1-0D67-49C5-916F-1147CAB58AE0}"/>
              </a:ext>
            </a:extLst>
          </p:cNvPr>
          <p:cNvSpPr>
            <a:spLocks noChangeArrowheads="1"/>
          </p:cNvSpPr>
          <p:nvPr/>
        </p:nvSpPr>
        <p:spPr bwMode="auto">
          <a:xfrm>
            <a:off x="938249" y="3926789"/>
            <a:ext cx="2435226" cy="694811"/>
          </a:xfrm>
          <a:prstGeom prst="rect">
            <a:avLst/>
          </a:prstGeom>
          <a:ln>
            <a:headEnd/>
            <a:tailEnd/>
          </a:ln>
        </p:spPr>
        <p:style>
          <a:lnRef idx="0">
            <a:schemeClr val="dk1"/>
          </a:lnRef>
          <a:fillRef idx="3">
            <a:schemeClr val="dk1"/>
          </a:fillRef>
          <a:effectRef idx="3">
            <a:schemeClr val="dk1"/>
          </a:effectRef>
          <a:fontRef idx="minor">
            <a:schemeClr val="lt1"/>
          </a:fontRef>
        </p:style>
        <p:txBody>
          <a:bodyPr lIns="88777" tIns="44389" rIns="88777" bIns="44389" anchor="ctr">
            <a:spAutoFit/>
          </a:bodyPr>
          <a:lstStyle/>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a:ln>
                  <a:noFill/>
                </a:ln>
                <a:solidFill>
                  <a:srgbClr val="FFFFFF"/>
                </a:solidFill>
                <a:effectLst/>
                <a:uLnTx/>
                <a:uFillTx/>
                <a:latin typeface="GE Inspira" pitchFamily="34" charset="0"/>
                <a:ea typeface="+mn-ea"/>
                <a:cs typeface="+mn-cs"/>
              </a:rPr>
              <a:t>Installation, commissioning SIL validation (Field)</a:t>
            </a:r>
          </a:p>
        </p:txBody>
      </p:sp>
      <p:sp>
        <p:nvSpPr>
          <p:cNvPr id="7176" name="Text Box 9">
            <a:extLst>
              <a:ext uri="{FF2B5EF4-FFF2-40B4-BE49-F238E27FC236}">
                <a16:creationId xmlns:a16="http://schemas.microsoft.com/office/drawing/2014/main" id="{CCEB3D4C-9EA1-473A-BEC4-BA63E29A26B0}"/>
              </a:ext>
            </a:extLst>
          </p:cNvPr>
          <p:cNvSpPr txBox="1">
            <a:spLocks noChangeArrowheads="1"/>
          </p:cNvSpPr>
          <p:nvPr/>
        </p:nvSpPr>
        <p:spPr bwMode="auto">
          <a:xfrm>
            <a:off x="2" y="831826"/>
            <a:ext cx="3473450" cy="494756"/>
          </a:xfrm>
          <a:prstGeom prst="rect">
            <a:avLst/>
          </a:prstGeom>
          <a:ln>
            <a:headEnd/>
            <a:tailEnd/>
          </a:ln>
        </p:spPr>
        <p:style>
          <a:lnRef idx="0">
            <a:schemeClr val="dk1"/>
          </a:lnRef>
          <a:fillRef idx="3">
            <a:schemeClr val="dk1"/>
          </a:fillRef>
          <a:effectRef idx="3">
            <a:schemeClr val="dk1"/>
          </a:effectRef>
          <a:fontRef idx="minor">
            <a:schemeClr val="lt1"/>
          </a:fontRef>
        </p:style>
        <p:txBody>
          <a:bodyPr lIns="88777" tIns="44389" rIns="88777" bIns="44389" anchor="ctr">
            <a:spAutoFit/>
          </a:bodyPr>
          <a:lstStyle>
            <a:lvl1pPr>
              <a:defRPr sz="2000">
                <a:solidFill>
                  <a:schemeClr val="tx1"/>
                </a:solidFill>
                <a:latin typeface="GE Inspira Pitch" pitchFamily="34" charset="0"/>
                <a:cs typeface="Times New Roman" charset="0"/>
              </a:defRPr>
            </a:lvl1pPr>
            <a:lvl2pPr marL="742950" indent="-285750">
              <a:defRPr sz="2000">
                <a:solidFill>
                  <a:schemeClr val="tx1"/>
                </a:solidFill>
                <a:latin typeface="GE Inspira Pitch" pitchFamily="34" charset="0"/>
                <a:cs typeface="Times New Roman" charset="0"/>
              </a:defRPr>
            </a:lvl2pPr>
            <a:lvl3pPr marL="1143000" indent="-228600">
              <a:defRPr sz="2000">
                <a:solidFill>
                  <a:schemeClr val="tx1"/>
                </a:solidFill>
                <a:latin typeface="GE Inspira Pitch" pitchFamily="34" charset="0"/>
                <a:cs typeface="Times New Roman" charset="0"/>
              </a:defRPr>
            </a:lvl3pPr>
            <a:lvl4pPr marL="1600200" indent="-228600">
              <a:defRPr sz="2000">
                <a:solidFill>
                  <a:schemeClr val="tx1"/>
                </a:solidFill>
                <a:latin typeface="GE Inspira Pitch" pitchFamily="34" charset="0"/>
                <a:cs typeface="Times New Roman" charset="0"/>
              </a:defRPr>
            </a:lvl4pPr>
            <a:lvl5pPr marL="2057400" indent="-228600">
              <a:defRPr sz="2000">
                <a:solidFill>
                  <a:schemeClr val="tx1"/>
                </a:solidFill>
                <a:latin typeface="GE Inspira Pitch" pitchFamily="34" charset="0"/>
                <a:cs typeface="Times New Roman" charset="0"/>
              </a:defRPr>
            </a:lvl5pPr>
            <a:lvl6pPr marL="2514600" indent="-228600" eaLnBrk="0" fontAlgn="base" hangingPunct="0">
              <a:spcBef>
                <a:spcPct val="0"/>
              </a:spcBef>
              <a:spcAft>
                <a:spcPct val="0"/>
              </a:spcAft>
              <a:defRPr sz="2000">
                <a:solidFill>
                  <a:schemeClr val="tx1"/>
                </a:solidFill>
                <a:latin typeface="GE Inspira Pitch" pitchFamily="34" charset="0"/>
                <a:cs typeface="Times New Roman" charset="0"/>
              </a:defRPr>
            </a:lvl6pPr>
            <a:lvl7pPr marL="2971800" indent="-228600" eaLnBrk="0" fontAlgn="base" hangingPunct="0">
              <a:spcBef>
                <a:spcPct val="0"/>
              </a:spcBef>
              <a:spcAft>
                <a:spcPct val="0"/>
              </a:spcAft>
              <a:defRPr sz="2000">
                <a:solidFill>
                  <a:schemeClr val="tx1"/>
                </a:solidFill>
                <a:latin typeface="GE Inspira Pitch" pitchFamily="34" charset="0"/>
                <a:cs typeface="Times New Roman" charset="0"/>
              </a:defRPr>
            </a:lvl7pPr>
            <a:lvl8pPr marL="3429000" indent="-228600" eaLnBrk="0" fontAlgn="base" hangingPunct="0">
              <a:spcBef>
                <a:spcPct val="0"/>
              </a:spcBef>
              <a:spcAft>
                <a:spcPct val="0"/>
              </a:spcAft>
              <a:defRPr sz="2000">
                <a:solidFill>
                  <a:schemeClr val="tx1"/>
                </a:solidFill>
                <a:latin typeface="GE Inspira Pitch" pitchFamily="34" charset="0"/>
                <a:cs typeface="Times New Roman" charset="0"/>
              </a:defRPr>
            </a:lvl8pPr>
            <a:lvl9pPr marL="3886200" indent="-228600" eaLnBrk="0" fontAlgn="base" hangingPunct="0">
              <a:spcBef>
                <a:spcPct val="0"/>
              </a:spcBef>
              <a:spcAft>
                <a:spcPct val="0"/>
              </a:spcAft>
              <a:defRPr sz="2000">
                <a:solidFill>
                  <a:schemeClr val="tx1"/>
                </a:solidFill>
                <a:latin typeface="GE Inspira Pitch" pitchFamily="34" charset="0"/>
                <a:cs typeface="Times New Roman" charset="0"/>
              </a:defRPr>
            </a:lvl9pPr>
          </a:lstStyle>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a:ln>
                  <a:noFill/>
                </a:ln>
                <a:solidFill>
                  <a:srgbClr val="FFFFFF"/>
                </a:solidFill>
                <a:effectLst/>
                <a:uLnTx/>
                <a:uFillTx/>
                <a:latin typeface="GE Inspira" pitchFamily="34" charset="0"/>
                <a:ea typeface="+mn-ea"/>
                <a:cs typeface="Times New Roman" charset="0"/>
              </a:rPr>
              <a:t>IEC 61511 compliance management (compliance leader)</a:t>
            </a:r>
          </a:p>
        </p:txBody>
      </p:sp>
      <p:sp>
        <p:nvSpPr>
          <p:cNvPr id="7177" name="Rectangle 10">
            <a:extLst>
              <a:ext uri="{FF2B5EF4-FFF2-40B4-BE49-F238E27FC236}">
                <a16:creationId xmlns:a16="http://schemas.microsoft.com/office/drawing/2014/main" id="{96BE0D22-B1BE-4AFF-9378-16F33C80CEB9}"/>
              </a:ext>
            </a:extLst>
          </p:cNvPr>
          <p:cNvSpPr>
            <a:spLocks noChangeArrowheads="1"/>
          </p:cNvSpPr>
          <p:nvPr/>
        </p:nvSpPr>
        <p:spPr bwMode="auto">
          <a:xfrm>
            <a:off x="1961648" y="5565519"/>
            <a:ext cx="1219188" cy="619790"/>
          </a:xfrm>
          <a:prstGeom prst="rect">
            <a:avLst/>
          </a:prstGeom>
          <a:ln>
            <a:headEnd/>
            <a:tailEnd/>
          </a:ln>
        </p:spPr>
        <p:style>
          <a:lnRef idx="0">
            <a:schemeClr val="dk1"/>
          </a:lnRef>
          <a:fillRef idx="3">
            <a:schemeClr val="dk1"/>
          </a:fillRef>
          <a:effectRef idx="3">
            <a:schemeClr val="dk1"/>
          </a:effectRef>
          <a:fontRef idx="minor">
            <a:schemeClr val="lt1"/>
          </a:fontRef>
        </p:style>
        <p:txBody>
          <a:bodyPr wrap="none" lIns="88777" tIns="44389" rIns="88777" bIns="44389" anchor="ctr">
            <a:spAutoFit/>
          </a:bodyPr>
          <a:lstStyle/>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dirty="0">
                <a:ln>
                  <a:noFill/>
                </a:ln>
                <a:solidFill>
                  <a:srgbClr val="FFFFFF"/>
                </a:solidFill>
                <a:effectLst/>
                <a:uLnTx/>
                <a:uFillTx/>
                <a:latin typeface="GE Inspira" pitchFamily="34" charset="0"/>
                <a:ea typeface="+mn-ea"/>
                <a:cs typeface="+mn-cs"/>
              </a:rPr>
              <a:t>Certification</a:t>
            </a:r>
          </a:p>
          <a:p>
            <a:pPr marL="0" marR="0" lvl="0" indent="0" algn="ctr" defTabSz="781903" rtl="0" eaLnBrk="1" fontAlgn="base" latinLnBrk="0" hangingPunct="1">
              <a:lnSpc>
                <a:spcPct val="80000"/>
              </a:lnSpc>
              <a:spcBef>
                <a:spcPct val="50000"/>
              </a:spcBef>
              <a:spcAft>
                <a:spcPct val="0"/>
              </a:spcAft>
              <a:buClrTx/>
              <a:buSzTx/>
              <a:buFontTx/>
              <a:buNone/>
              <a:tabLst/>
              <a:defRPr/>
            </a:pPr>
            <a:r>
              <a:rPr kumimoji="0" lang="en-US" sz="1625" b="0" i="0" u="none" strike="noStrike" kern="1200" cap="none" spc="0" normalizeH="0" baseline="0" noProof="0" dirty="0">
                <a:ln>
                  <a:noFill/>
                </a:ln>
                <a:solidFill>
                  <a:srgbClr val="FFFFFF"/>
                </a:solidFill>
                <a:effectLst/>
                <a:uLnTx/>
                <a:uFillTx/>
                <a:latin typeface="GE Inspira" pitchFamily="34" charset="0"/>
                <a:ea typeface="+mn-ea"/>
                <a:cs typeface="+mn-cs"/>
              </a:rPr>
              <a:t>(3</a:t>
            </a:r>
            <a:r>
              <a:rPr kumimoji="0" lang="en-US" sz="1625" b="0" i="0" u="none" strike="noStrike" kern="1200" cap="none" spc="0" normalizeH="0" baseline="30000" noProof="0" dirty="0">
                <a:ln>
                  <a:noFill/>
                </a:ln>
                <a:solidFill>
                  <a:srgbClr val="FFFFFF"/>
                </a:solidFill>
                <a:effectLst/>
                <a:uLnTx/>
                <a:uFillTx/>
                <a:latin typeface="GE Inspira" pitchFamily="34" charset="0"/>
                <a:ea typeface="+mn-ea"/>
                <a:cs typeface="+mn-cs"/>
              </a:rPr>
              <a:t>rd</a:t>
            </a:r>
            <a:r>
              <a:rPr kumimoji="0" lang="en-US" sz="1625" b="0" i="0" u="none" strike="noStrike" kern="1200" cap="none" spc="0" normalizeH="0" baseline="0" noProof="0" dirty="0">
                <a:ln>
                  <a:noFill/>
                </a:ln>
                <a:solidFill>
                  <a:srgbClr val="FFFFFF"/>
                </a:solidFill>
                <a:effectLst/>
                <a:uLnTx/>
                <a:uFillTx/>
                <a:latin typeface="GE Inspira" pitchFamily="34" charset="0"/>
                <a:ea typeface="+mn-ea"/>
                <a:cs typeface="+mn-cs"/>
              </a:rPr>
              <a:t> party)</a:t>
            </a:r>
          </a:p>
        </p:txBody>
      </p:sp>
      <p:sp>
        <p:nvSpPr>
          <p:cNvPr id="9234" name="Rectangle 13">
            <a:extLst>
              <a:ext uri="{FF2B5EF4-FFF2-40B4-BE49-F238E27FC236}">
                <a16:creationId xmlns:a16="http://schemas.microsoft.com/office/drawing/2014/main" id="{4BA7D752-43A2-4DA7-89B9-9E63C577626E}"/>
              </a:ext>
            </a:extLst>
          </p:cNvPr>
          <p:cNvSpPr>
            <a:spLocks noChangeArrowheads="1"/>
          </p:cNvSpPr>
          <p:nvPr/>
        </p:nvSpPr>
        <p:spPr bwMode="auto">
          <a:xfrm>
            <a:off x="727611" y="3249008"/>
            <a:ext cx="1153860" cy="255460"/>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777" tIns="44389" rIns="88777" bIns="44389" anchor="ctr">
            <a:spAutoFit/>
          </a:bodyPr>
          <a:lstStyle/>
          <a:p>
            <a:pPr marL="0" marR="0" lvl="0" indent="0" algn="ctr" defTabSz="781903" rtl="0" eaLnBrk="1" fontAlgn="base" latinLnBrk="0" hangingPunct="1">
              <a:lnSpc>
                <a:spcPct val="90000"/>
              </a:lnSpc>
              <a:spcBef>
                <a:spcPct val="50000"/>
              </a:spcBef>
              <a:spcAft>
                <a:spcPct val="0"/>
              </a:spcAft>
              <a:buClrTx/>
              <a:buSzTx/>
              <a:buFontTx/>
              <a:buNone/>
              <a:tabLst/>
              <a:defRPr/>
            </a:pPr>
            <a:r>
              <a:rPr kumimoji="0" lang="en-US" altLang="fr-FR" sz="1197" b="0" i="0" u="none" strike="noStrike" kern="1200" cap="none" spc="0" normalizeH="0" baseline="0" noProof="0">
                <a:ln>
                  <a:noFill/>
                </a:ln>
                <a:solidFill>
                  <a:srgbClr val="000099"/>
                </a:solidFill>
                <a:effectLst/>
                <a:uLnTx/>
                <a:uFillTx/>
                <a:latin typeface="GE Inspira Pitch" pitchFamily="34" charset="0"/>
                <a:ea typeface="+mn-ea"/>
                <a:cs typeface="+mn-cs"/>
              </a:rPr>
              <a:t>Design update</a:t>
            </a:r>
          </a:p>
        </p:txBody>
      </p:sp>
      <p:grpSp>
        <p:nvGrpSpPr>
          <p:cNvPr id="9235" name="Group 14">
            <a:extLst>
              <a:ext uri="{FF2B5EF4-FFF2-40B4-BE49-F238E27FC236}">
                <a16:creationId xmlns:a16="http://schemas.microsoft.com/office/drawing/2014/main" id="{5C24B454-461B-4B16-942E-36FA7ABB95E0}"/>
              </a:ext>
            </a:extLst>
          </p:cNvPr>
          <p:cNvGrpSpPr>
            <a:grpSpLocks/>
          </p:cNvGrpSpPr>
          <p:nvPr/>
        </p:nvGrpSpPr>
        <p:grpSpPr bwMode="auto">
          <a:xfrm>
            <a:off x="2070161" y="3051183"/>
            <a:ext cx="1147072" cy="654099"/>
            <a:chOff x="1304" y="2148"/>
            <a:chExt cx="723" cy="437"/>
          </a:xfrm>
        </p:grpSpPr>
        <p:sp>
          <p:nvSpPr>
            <p:cNvPr id="9266" name="AutoShape 15">
              <a:extLst>
                <a:ext uri="{FF2B5EF4-FFF2-40B4-BE49-F238E27FC236}">
                  <a16:creationId xmlns:a16="http://schemas.microsoft.com/office/drawing/2014/main" id="{534BC4D4-DCB5-44CB-B28A-7DDBB008FF85}"/>
                </a:ext>
              </a:extLst>
            </p:cNvPr>
            <p:cNvSpPr>
              <a:spLocks noChangeArrowheads="1"/>
            </p:cNvSpPr>
            <p:nvPr/>
          </p:nvSpPr>
          <p:spPr bwMode="auto">
            <a:xfrm>
              <a:off x="1304" y="2148"/>
              <a:ext cx="723" cy="437"/>
            </a:xfrm>
            <a:prstGeom prst="diamond">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781903" rtl="0" eaLnBrk="1" fontAlgn="base" latinLnBrk="0" hangingPunct="1">
                <a:lnSpc>
                  <a:spcPct val="100000"/>
                </a:lnSpc>
                <a:spcBef>
                  <a:spcPct val="50000"/>
                </a:spcBef>
                <a:spcAft>
                  <a:spcPct val="0"/>
                </a:spcAft>
                <a:buClrTx/>
                <a:buSzTx/>
                <a:buFontTx/>
                <a:buNone/>
                <a:tabLst/>
                <a:defRPr/>
              </a:pPr>
              <a:endParaRPr kumimoji="0" lang="fr-FR" altLang="fr-FR" sz="1539" b="0" i="0" u="none" strike="noStrike" kern="1200" cap="none" spc="0" normalizeH="0" baseline="0" noProof="0">
                <a:ln>
                  <a:noFill/>
                </a:ln>
                <a:solidFill>
                  <a:srgbClr val="000099"/>
                </a:solidFill>
                <a:effectLst/>
                <a:uLnTx/>
                <a:uFillTx/>
                <a:latin typeface="GE Inspira Pitch" pitchFamily="34" charset="0"/>
                <a:ea typeface="+mn-ea"/>
                <a:cs typeface="+mn-cs"/>
              </a:endParaRPr>
            </a:p>
          </p:txBody>
        </p:sp>
        <p:sp>
          <p:nvSpPr>
            <p:cNvPr id="9267" name="Text Box 16">
              <a:extLst>
                <a:ext uri="{FF2B5EF4-FFF2-40B4-BE49-F238E27FC236}">
                  <a16:creationId xmlns:a16="http://schemas.microsoft.com/office/drawing/2014/main" id="{DA1E68A1-FAB4-48B1-AE65-137DD854DD13}"/>
                </a:ext>
              </a:extLst>
            </p:cNvPr>
            <p:cNvSpPr txBox="1">
              <a:spLocks noChangeArrowheads="1"/>
            </p:cNvSpPr>
            <p:nvPr/>
          </p:nvSpPr>
          <p:spPr bwMode="auto">
            <a:xfrm>
              <a:off x="1329" y="2284"/>
              <a:ext cx="673"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8150" tIns="39075" rIns="78150" bIns="39075">
              <a:spAutoFit/>
            </a:bodyPr>
            <a:lstStyle>
              <a:lvl1pPr>
                <a:lnSpc>
                  <a:spcPct val="90000"/>
                </a:lnSpc>
                <a:spcBef>
                  <a:spcPct val="50000"/>
                </a:spcBef>
                <a:buClr>
                  <a:srgbClr val="004880"/>
                </a:buClr>
                <a:defRPr sz="3700">
                  <a:solidFill>
                    <a:srgbClr val="1E4191"/>
                  </a:solidFill>
                  <a:latin typeface="GE Inspira Pitch" pitchFamily="34" charset="0"/>
                </a:defRPr>
              </a:lvl1pPr>
              <a:lvl2pPr marL="742950" indent="-28575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a:lnSpc>
                  <a:spcPct val="90000"/>
                </a:lnSpc>
                <a:spcBef>
                  <a:spcPct val="20000"/>
                </a:spcBef>
                <a:buClr>
                  <a:srgbClr val="004880"/>
                </a:buClr>
                <a:buChar char="–"/>
                <a:defRPr sz="3700">
                  <a:solidFill>
                    <a:srgbClr val="1E4191"/>
                  </a:solidFill>
                  <a:latin typeface="GE Inspira Pitch" pitchFamily="34" charset="0"/>
                </a:defRPr>
              </a:lvl3pPr>
              <a:lvl4pPr marL="1600200" indent="-228600">
                <a:lnSpc>
                  <a:spcPct val="90000"/>
                </a:lnSpc>
                <a:spcBef>
                  <a:spcPct val="10000"/>
                </a:spcBef>
                <a:buClr>
                  <a:srgbClr val="004880"/>
                </a:buClr>
                <a:buChar char="–"/>
                <a:defRPr sz="3700">
                  <a:solidFill>
                    <a:srgbClr val="1E4191"/>
                  </a:solidFill>
                  <a:latin typeface="GE Inspira Pitch" pitchFamily="34" charset="0"/>
                </a:defRPr>
              </a:lvl4pPr>
              <a:lvl5pPr marL="2057400" indent="-228600">
                <a:lnSpc>
                  <a:spcPct val="90000"/>
                </a:lnSpc>
                <a:buClr>
                  <a:srgbClr val="004880"/>
                </a:buClr>
                <a:buChar char="–"/>
                <a:defRPr sz="3700">
                  <a:solidFill>
                    <a:srgbClr val="1E4191"/>
                  </a:solidFill>
                  <a:latin typeface="GE Inspira Pitch" pitchFamily="34" charset="0"/>
                </a:defRPr>
              </a:lvl5pPr>
              <a:lvl6pPr marL="25146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81903" rtl="0" eaLnBrk="1" fontAlgn="base" latinLnBrk="0" hangingPunct="1">
                <a:lnSpc>
                  <a:spcPct val="100000"/>
                </a:lnSpc>
                <a:spcBef>
                  <a:spcPct val="50000"/>
                </a:spcBef>
                <a:spcAft>
                  <a:spcPct val="0"/>
                </a:spcAft>
                <a:buClrTx/>
                <a:buSzTx/>
                <a:buFontTx/>
                <a:buNone/>
                <a:tabLst/>
                <a:defRPr/>
              </a:pPr>
              <a:r>
                <a:rPr kumimoji="0" lang="en-US" altLang="fr-FR" sz="1368" b="0" i="0" u="none" strike="noStrike" kern="1200" cap="none" spc="0" normalizeH="0" baseline="0" noProof="0">
                  <a:ln>
                    <a:noFill/>
                  </a:ln>
                  <a:solidFill>
                    <a:srgbClr val="1E4191"/>
                  </a:solidFill>
                  <a:effectLst/>
                  <a:uLnTx/>
                  <a:uFillTx/>
                  <a:latin typeface="GE Inspira Pitch" pitchFamily="34" charset="0"/>
                  <a:ea typeface="+mn-ea"/>
                  <a:cs typeface="Times New Roman" panose="02020603050405020304" pitchFamily="18" charset="0"/>
                </a:rPr>
                <a:t>SIL(a)</a:t>
              </a:r>
              <a:r>
                <a:rPr kumimoji="0" lang="en-US" altLang="fr-FR" sz="1368" b="0" i="0" u="none" strike="noStrike" kern="1200" cap="none" spc="0" normalizeH="0" baseline="0" noProof="0">
                  <a:ln>
                    <a:noFill/>
                  </a:ln>
                  <a:solidFill>
                    <a:srgbClr val="1E4191"/>
                  </a:solidFill>
                  <a:effectLst/>
                  <a:uLnTx/>
                  <a:uFillTx/>
                  <a:latin typeface="GE Inspira Pitch" pitchFamily="34" charset="0"/>
                  <a:ea typeface="Arial Unicode MS" pitchFamily="34" charset="-128"/>
                  <a:cs typeface="+mn-cs"/>
                </a:rPr>
                <a:t>&gt; SIL</a:t>
              </a:r>
              <a:endParaRPr kumimoji="0" lang="en-US" altLang="fr-FR" sz="1368" b="0" i="0" u="none" strike="noStrike" kern="1200" cap="none" spc="0" normalizeH="0" baseline="0" noProof="0">
                <a:ln>
                  <a:noFill/>
                </a:ln>
                <a:solidFill>
                  <a:srgbClr val="1E4191"/>
                </a:solidFill>
                <a:effectLst/>
                <a:uLnTx/>
                <a:uFillTx/>
                <a:latin typeface="GE Inspira Pitch" pitchFamily="34" charset="0"/>
                <a:ea typeface="+mn-ea"/>
                <a:cs typeface="Times New Roman" panose="02020603050405020304" pitchFamily="18" charset="0"/>
              </a:endParaRPr>
            </a:p>
          </p:txBody>
        </p:sp>
      </p:grpSp>
      <p:sp>
        <p:nvSpPr>
          <p:cNvPr id="7182" name="AutoShape 17">
            <a:extLst>
              <a:ext uri="{FF2B5EF4-FFF2-40B4-BE49-F238E27FC236}">
                <a16:creationId xmlns:a16="http://schemas.microsoft.com/office/drawing/2014/main" id="{64DCFF35-7299-4DA6-BFB8-151F3F79955E}"/>
              </a:ext>
            </a:extLst>
          </p:cNvPr>
          <p:cNvSpPr>
            <a:spLocks noChangeArrowheads="1"/>
          </p:cNvSpPr>
          <p:nvPr/>
        </p:nvSpPr>
        <p:spPr bwMode="auto">
          <a:xfrm>
            <a:off x="3893259" y="831806"/>
            <a:ext cx="4269282" cy="334603"/>
          </a:xfrm>
          <a:prstGeom prst="foldedCorner">
            <a:avLst>
              <a:gd name="adj" fmla="val 12500"/>
            </a:avLst>
          </a:prstGeom>
          <a:ln>
            <a:headEnd/>
            <a:tailEnd/>
          </a:ln>
        </p:spPr>
        <p:style>
          <a:lnRef idx="1">
            <a:schemeClr val="dk1"/>
          </a:lnRef>
          <a:fillRef idx="2">
            <a:schemeClr val="dk1"/>
          </a:fillRef>
          <a:effectRef idx="1">
            <a:schemeClr val="dk1"/>
          </a:effectRef>
          <a:fontRef idx="minor">
            <a:schemeClr val="dk1"/>
          </a:fontRef>
        </p:style>
        <p:txBody>
          <a:bodyPr lIns="88777" tIns="44389" rIns="88777" bIns="44389" anchor="ctr">
            <a:spAutoFit/>
          </a:bodyPr>
          <a:lstStyle/>
          <a:p>
            <a:pPr marL="0" marR="0" lvl="0" indent="0" algn="l" defTabSz="781903" rtl="0" eaLnBrk="1" fontAlgn="base" latinLnBrk="0" hangingPunct="1">
              <a:lnSpc>
                <a:spcPct val="80000"/>
              </a:lnSpc>
              <a:spcBef>
                <a:spcPct val="5000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Team and planning definition and follow up</a:t>
            </a:r>
          </a:p>
        </p:txBody>
      </p:sp>
      <p:sp>
        <p:nvSpPr>
          <p:cNvPr id="7183" name="AutoShape 18">
            <a:extLst>
              <a:ext uri="{FF2B5EF4-FFF2-40B4-BE49-F238E27FC236}">
                <a16:creationId xmlns:a16="http://schemas.microsoft.com/office/drawing/2014/main" id="{E2BFEED8-9254-4EB5-A204-92A1078A649F}"/>
              </a:ext>
            </a:extLst>
          </p:cNvPr>
          <p:cNvSpPr>
            <a:spLocks noChangeArrowheads="1"/>
          </p:cNvSpPr>
          <p:nvPr/>
        </p:nvSpPr>
        <p:spPr bwMode="auto">
          <a:xfrm>
            <a:off x="3893259" y="1337621"/>
            <a:ext cx="4990105" cy="878648"/>
          </a:xfrm>
          <a:prstGeom prst="foldedCorner">
            <a:avLst>
              <a:gd name="adj" fmla="val 12500"/>
            </a:avLst>
          </a:prstGeom>
          <a:ln>
            <a:headEnd/>
            <a:tailEnd/>
          </a:ln>
        </p:spPr>
        <p:style>
          <a:lnRef idx="1">
            <a:schemeClr val="dk1"/>
          </a:lnRef>
          <a:fillRef idx="2">
            <a:schemeClr val="dk1"/>
          </a:fillRef>
          <a:effectRef idx="1">
            <a:schemeClr val="dk1"/>
          </a:effectRef>
          <a:fontRef idx="minor">
            <a:schemeClr val="dk1"/>
          </a:fontRef>
        </p:style>
        <p:txBody>
          <a:bodyPr lIns="87380" tIns="45436" rIns="87380" bIns="45436" anchor="ctr">
            <a:spAutoFit/>
          </a:bodyPr>
          <a:lstStyle/>
          <a:p>
            <a:pPr marL="0" marR="0" lvl="0" indent="0" algn="l" defTabSz="781903" rtl="0" eaLnBrk="1" fontAlgn="base" latinLnBrk="0" hangingPunct="1">
              <a:lnSpc>
                <a:spcPct val="8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Scope of supply (Global Functional Block diagram)</a:t>
            </a:r>
          </a:p>
          <a:p>
            <a:pPr marL="0" marR="0" lvl="0" indent="0" algn="l" defTabSz="781903" rtl="0" eaLnBrk="1" fontAlgn="base" latinLnBrk="0" hangingPunct="1">
              <a:lnSpc>
                <a:spcPct val="8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Safety  integrated functions and related SIL targets </a:t>
            </a:r>
          </a:p>
          <a:p>
            <a:pPr marL="0" marR="0" lvl="0" indent="0" algn="l" defTabSz="781903" rtl="0" eaLnBrk="1" fontAlgn="base" latinLnBrk="0" hangingPunct="1">
              <a:lnSpc>
                <a:spcPct val="8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Safety Requirements Specification</a:t>
            </a:r>
          </a:p>
        </p:txBody>
      </p:sp>
      <p:sp>
        <p:nvSpPr>
          <p:cNvPr id="7184" name="AutoShape 19">
            <a:extLst>
              <a:ext uri="{FF2B5EF4-FFF2-40B4-BE49-F238E27FC236}">
                <a16:creationId xmlns:a16="http://schemas.microsoft.com/office/drawing/2014/main" id="{EC1CE768-E446-42A0-8984-857106FB9E30}"/>
              </a:ext>
            </a:extLst>
          </p:cNvPr>
          <p:cNvSpPr>
            <a:spLocks noChangeArrowheads="1"/>
          </p:cNvSpPr>
          <p:nvPr/>
        </p:nvSpPr>
        <p:spPr bwMode="auto">
          <a:xfrm>
            <a:off x="3871539" y="2419712"/>
            <a:ext cx="4584218" cy="1479656"/>
          </a:xfrm>
          <a:prstGeom prst="foldedCorner">
            <a:avLst>
              <a:gd name="adj" fmla="val 12500"/>
            </a:avLst>
          </a:prstGeom>
          <a:ln>
            <a:headEnd/>
            <a:tailEnd/>
          </a:ln>
        </p:spPr>
        <p:style>
          <a:lnRef idx="1">
            <a:schemeClr val="dk1"/>
          </a:lnRef>
          <a:fillRef idx="2">
            <a:schemeClr val="dk1"/>
          </a:fillRef>
          <a:effectRef idx="1">
            <a:schemeClr val="dk1"/>
          </a:effectRef>
          <a:fontRef idx="minor">
            <a:schemeClr val="dk1"/>
          </a:fontRef>
        </p:style>
        <p:txBody>
          <a:bodyPr wrap="none" lIns="0" tIns="0" rIns="0" bIns="0" anchor="ctr"/>
          <a:lstStyle/>
          <a:p>
            <a:pPr marL="0" marR="0" lvl="0" indent="0" algn="l" defTabSz="781903" rtl="0" eaLnBrk="1" fontAlgn="base" latinLnBrk="0" hangingPunct="1">
              <a:lnSpc>
                <a:spcPct val="60000"/>
              </a:lnSpc>
              <a:spcBef>
                <a:spcPts val="280"/>
              </a:spcBef>
              <a:spcAft>
                <a:spcPct val="0"/>
              </a:spcAft>
              <a:buClrTx/>
              <a:buSzTx/>
              <a:buFontTx/>
              <a:buChar char="•"/>
              <a:tabLst/>
              <a:defRPr/>
            </a:pPr>
            <a:endParaRPr kumimoji="0" lang="en-US" sz="1625" b="0" i="0" u="none" strike="noStrike" kern="1200" cap="none" spc="0" normalizeH="0" baseline="0" noProof="0" dirty="0">
              <a:ln>
                <a:noFill/>
              </a:ln>
              <a:solidFill>
                <a:srgbClr val="1E4191"/>
              </a:solidFill>
              <a:effectLst/>
              <a:uLnTx/>
              <a:uFillTx/>
              <a:latin typeface="GE Inspira Pitch"/>
              <a:ea typeface="+mn-ea"/>
              <a:cs typeface="+mn-cs"/>
            </a:endParaRP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SIS Functional Block Diagrams</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SIL verification SIL(a), Reliability Block Diagrams</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Component requirements documentation</a:t>
            </a:r>
          </a:p>
          <a:p>
            <a:pPr marL="445251" marR="0" lvl="1" indent="-54299" algn="l" defTabSz="781903" rtl="0" eaLnBrk="1" fontAlgn="base" latinLnBrk="0" hangingPunct="1">
              <a:lnSpc>
                <a:spcPct val="60000"/>
              </a:lnSpc>
              <a:spcBef>
                <a:spcPts val="280"/>
              </a:spcBef>
              <a:spcAft>
                <a:spcPct val="0"/>
              </a:spcAft>
              <a:buClrTx/>
              <a:buSzTx/>
              <a:buFont typeface="Wingdings" pitchFamily="2" charset="2"/>
              <a:buChar char="Ø"/>
              <a:tabLst/>
              <a:defRPr/>
            </a:pPr>
            <a:r>
              <a:rPr kumimoji="0" lang="en-US" sz="1454" b="0" i="0" u="none" strike="noStrike" kern="1200" cap="none" spc="0" normalizeH="0" baseline="0" noProof="0" dirty="0">
                <a:ln>
                  <a:noFill/>
                </a:ln>
                <a:solidFill>
                  <a:srgbClr val="1E4191"/>
                </a:solidFill>
                <a:effectLst/>
                <a:uLnTx/>
                <a:uFillTx/>
                <a:latin typeface="GE Inspira Pitch"/>
                <a:ea typeface="+mn-ea"/>
                <a:cs typeface="+mn-cs"/>
              </a:rPr>
              <a:t> SIS </a:t>
            </a: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description</a:t>
            </a:r>
          </a:p>
          <a:p>
            <a:pPr marL="445251" marR="0" lvl="1" indent="-54299" algn="l" defTabSz="781903" rtl="0" eaLnBrk="1" fontAlgn="base" latinLnBrk="0" hangingPunct="1">
              <a:lnSpc>
                <a:spcPct val="60000"/>
              </a:lnSpc>
              <a:spcBef>
                <a:spcPts val="280"/>
              </a:spcBef>
              <a:spcAft>
                <a:spcPct val="0"/>
              </a:spcAft>
              <a:buClrTx/>
              <a:buSzTx/>
              <a:buFont typeface="Wingdings" pitchFamily="2" charset="2"/>
              <a:buChar char="Ø"/>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 Maintenance requirements</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Proof tests spec, FATs</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CRS, diagrams, ratio table, code</a:t>
            </a:r>
          </a:p>
        </p:txBody>
      </p:sp>
      <p:sp>
        <p:nvSpPr>
          <p:cNvPr id="7185" name="AutoShape 20">
            <a:extLst>
              <a:ext uri="{FF2B5EF4-FFF2-40B4-BE49-F238E27FC236}">
                <a16:creationId xmlns:a16="http://schemas.microsoft.com/office/drawing/2014/main" id="{53719C23-2561-408A-9A63-51A386799770}"/>
              </a:ext>
            </a:extLst>
          </p:cNvPr>
          <p:cNvSpPr>
            <a:spLocks noChangeArrowheads="1"/>
          </p:cNvSpPr>
          <p:nvPr/>
        </p:nvSpPr>
        <p:spPr bwMode="auto">
          <a:xfrm>
            <a:off x="3889187" y="4307359"/>
            <a:ext cx="3404273" cy="936526"/>
          </a:xfrm>
          <a:prstGeom prst="foldedCorner">
            <a:avLst>
              <a:gd name="adj" fmla="val 12500"/>
            </a:avLst>
          </a:prstGeom>
          <a:ln>
            <a:headEnd/>
            <a:tailEnd/>
          </a:ln>
        </p:spPr>
        <p:style>
          <a:lnRef idx="1">
            <a:schemeClr val="dk1"/>
          </a:lnRef>
          <a:fillRef idx="2">
            <a:schemeClr val="dk1"/>
          </a:fillRef>
          <a:effectRef idx="1">
            <a:schemeClr val="dk1"/>
          </a:effectRef>
          <a:fontRef idx="minor">
            <a:schemeClr val="dk1"/>
          </a:fontRef>
        </p:style>
        <p:txBody>
          <a:bodyPr wrap="none" lIns="87380" tIns="45436" rIns="87380" bIns="45436" anchor="ctr">
            <a:spAutoFit/>
          </a:bodyPr>
          <a:lstStyle/>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Planning</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Safety controller software simulation</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Installation quality document</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dirty="0">
                <a:ln>
                  <a:noFill/>
                </a:ln>
                <a:solidFill>
                  <a:srgbClr val="1E4191"/>
                </a:solidFill>
                <a:effectLst/>
                <a:uLnTx/>
                <a:uFillTx/>
                <a:latin typeface="GE Inspira Pitch"/>
                <a:ea typeface="+mn-ea"/>
                <a:cs typeface="+mn-cs"/>
              </a:rPr>
              <a:t>Validation test results</a:t>
            </a:r>
          </a:p>
        </p:txBody>
      </p:sp>
      <p:sp>
        <p:nvSpPr>
          <p:cNvPr id="3" name="AutoShape 21">
            <a:extLst>
              <a:ext uri="{FF2B5EF4-FFF2-40B4-BE49-F238E27FC236}">
                <a16:creationId xmlns:a16="http://schemas.microsoft.com/office/drawing/2014/main" id="{AFB7A4D1-5EFB-462B-8090-A591298E0EEB}"/>
              </a:ext>
            </a:extLst>
          </p:cNvPr>
          <p:cNvSpPr>
            <a:spLocks noChangeArrowheads="1"/>
          </p:cNvSpPr>
          <p:nvPr/>
        </p:nvSpPr>
        <p:spPr bwMode="auto">
          <a:xfrm>
            <a:off x="3893259" y="5422309"/>
            <a:ext cx="2495052" cy="722489"/>
          </a:xfrm>
          <a:prstGeom prst="foldedCorner">
            <a:avLst>
              <a:gd name="adj" fmla="val 12500"/>
            </a:avLst>
          </a:prstGeom>
          <a:ln>
            <a:headEnd/>
            <a:tailEnd/>
          </a:ln>
        </p:spPr>
        <p:style>
          <a:lnRef idx="1">
            <a:schemeClr val="dk1"/>
          </a:lnRef>
          <a:fillRef idx="2">
            <a:schemeClr val="dk1"/>
          </a:fillRef>
          <a:effectRef idx="1">
            <a:schemeClr val="dk1"/>
          </a:effectRef>
          <a:fontRef idx="minor">
            <a:schemeClr val="dk1"/>
          </a:fontRef>
        </p:style>
        <p:txBody>
          <a:bodyPr lIns="87380" tIns="45436" rIns="87380" bIns="45436" anchor="ctr">
            <a:spAutoFit/>
          </a:bodyPr>
          <a:lstStyle/>
          <a:p>
            <a:pPr marL="0" marR="0" lvl="0" indent="0" algn="l" defTabSz="781903" rtl="0" eaLnBrk="1" fontAlgn="base" latinLnBrk="0" hangingPunct="1">
              <a:lnSpc>
                <a:spcPct val="60000"/>
              </a:lnSpc>
              <a:spcBef>
                <a:spcPts val="280"/>
              </a:spcBef>
              <a:spcAft>
                <a:spcPct val="0"/>
              </a:spcAft>
              <a:buClrTx/>
              <a:buSzTx/>
              <a:buFontTx/>
              <a:buNone/>
              <a:tabLst/>
              <a:defRPr/>
            </a:pPr>
            <a:endParaRPr kumimoji="0" lang="en-US" sz="1625" b="0" i="0" u="none" strike="noStrike" kern="1200" cap="none" spc="0" normalizeH="0" baseline="0" noProof="0">
              <a:ln>
                <a:noFill/>
              </a:ln>
              <a:solidFill>
                <a:srgbClr val="1E4191"/>
              </a:solidFill>
              <a:effectLst/>
              <a:uLnTx/>
              <a:uFillTx/>
              <a:latin typeface="GE Inspira Pitch"/>
              <a:ea typeface="+mn-ea"/>
              <a:cs typeface="+mn-cs"/>
            </a:endParaRP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a:ln>
                  <a:noFill/>
                </a:ln>
                <a:solidFill>
                  <a:srgbClr val="1E4191"/>
                </a:solidFill>
                <a:effectLst/>
                <a:uLnTx/>
                <a:uFillTx/>
                <a:latin typeface="GE Inspira Pitch"/>
                <a:ea typeface="+mn-ea"/>
                <a:cs typeface="+mn-cs"/>
              </a:rPr>
              <a:t>IEC 61511 Certificate</a:t>
            </a:r>
          </a:p>
          <a:p>
            <a:pPr marL="0" marR="0" lvl="0" indent="0" algn="l" defTabSz="781903" rtl="0" eaLnBrk="1" fontAlgn="base" latinLnBrk="0" hangingPunct="1">
              <a:lnSpc>
                <a:spcPct val="60000"/>
              </a:lnSpc>
              <a:spcBef>
                <a:spcPts val="280"/>
              </a:spcBef>
              <a:spcAft>
                <a:spcPct val="0"/>
              </a:spcAft>
              <a:buClrTx/>
              <a:buSzTx/>
              <a:buFontTx/>
              <a:buChar char="•"/>
              <a:tabLst/>
              <a:defRPr/>
            </a:pPr>
            <a:r>
              <a:rPr kumimoji="0" lang="en-US" sz="1625" b="0" i="0" u="none" strike="noStrike" kern="1200" cap="none" spc="0" normalizeH="0" baseline="0" noProof="0">
                <a:ln>
                  <a:noFill/>
                </a:ln>
                <a:solidFill>
                  <a:srgbClr val="1E4191"/>
                </a:solidFill>
                <a:effectLst/>
                <a:uLnTx/>
                <a:uFillTx/>
                <a:latin typeface="GE Inspira Pitch"/>
                <a:ea typeface="+mn-ea"/>
                <a:cs typeface="+mn-cs"/>
              </a:rPr>
              <a:t>Safety manual</a:t>
            </a:r>
          </a:p>
        </p:txBody>
      </p:sp>
      <p:cxnSp>
        <p:nvCxnSpPr>
          <p:cNvPr id="9241" name="AutoShape 22">
            <a:extLst>
              <a:ext uri="{FF2B5EF4-FFF2-40B4-BE49-F238E27FC236}">
                <a16:creationId xmlns:a16="http://schemas.microsoft.com/office/drawing/2014/main" id="{1F4B6CE7-4BE1-4363-8038-721DB5FD2FCC}"/>
              </a:ext>
            </a:extLst>
          </p:cNvPr>
          <p:cNvCxnSpPr>
            <a:cxnSpLocks noChangeShapeType="1"/>
            <a:endCxn id="7182" idx="1"/>
          </p:cNvCxnSpPr>
          <p:nvPr/>
        </p:nvCxnSpPr>
        <p:spPr bwMode="auto">
          <a:xfrm flipV="1">
            <a:off x="3473798" y="999108"/>
            <a:ext cx="419461" cy="80771"/>
          </a:xfrm>
          <a:prstGeom prst="bentConnector3">
            <a:avLst>
              <a:gd name="adj1" fmla="val 50000"/>
            </a:avLst>
          </a:prstGeom>
          <a:noFill/>
          <a:ln w="28575">
            <a:solidFill>
              <a:schemeClr val="tx1"/>
            </a:solidFill>
            <a:prstDash val="sysDot"/>
            <a:miter lim="800000"/>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2" name="AutoShape 23">
            <a:extLst>
              <a:ext uri="{FF2B5EF4-FFF2-40B4-BE49-F238E27FC236}">
                <a16:creationId xmlns:a16="http://schemas.microsoft.com/office/drawing/2014/main" id="{26D52867-8ED3-4E25-B64E-8B2F40A65383}"/>
              </a:ext>
            </a:extLst>
          </p:cNvPr>
          <p:cNvCxnSpPr>
            <a:cxnSpLocks noChangeShapeType="1"/>
            <a:endCxn id="7183" idx="1"/>
          </p:cNvCxnSpPr>
          <p:nvPr/>
        </p:nvCxnSpPr>
        <p:spPr bwMode="auto">
          <a:xfrm flipV="1">
            <a:off x="2827636" y="1776945"/>
            <a:ext cx="1065623" cy="61766"/>
          </a:xfrm>
          <a:prstGeom prst="bentConnector3">
            <a:avLst>
              <a:gd name="adj1" fmla="val 50000"/>
            </a:avLst>
          </a:prstGeom>
          <a:noFill/>
          <a:ln w="28575">
            <a:solidFill>
              <a:schemeClr val="tx1"/>
            </a:solidFill>
            <a:prstDash val="sysDot"/>
            <a:miter lim="800000"/>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3" name="AutoShape 24">
            <a:extLst>
              <a:ext uri="{FF2B5EF4-FFF2-40B4-BE49-F238E27FC236}">
                <a16:creationId xmlns:a16="http://schemas.microsoft.com/office/drawing/2014/main" id="{71C0D5A0-FC97-49EE-86DA-7293B15E8146}"/>
              </a:ext>
            </a:extLst>
          </p:cNvPr>
          <p:cNvCxnSpPr>
            <a:cxnSpLocks noChangeShapeType="1"/>
          </p:cNvCxnSpPr>
          <p:nvPr/>
        </p:nvCxnSpPr>
        <p:spPr bwMode="auto">
          <a:xfrm rot="16200000" flipH="1">
            <a:off x="1848213" y="1209517"/>
            <a:ext cx="210409" cy="434394"/>
          </a:xfrm>
          <a:prstGeom prst="bentConnector3">
            <a:avLst>
              <a:gd name="adj1" fmla="val 50000"/>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4" name="AutoShape 25">
            <a:extLst>
              <a:ext uri="{FF2B5EF4-FFF2-40B4-BE49-F238E27FC236}">
                <a16:creationId xmlns:a16="http://schemas.microsoft.com/office/drawing/2014/main" id="{3A09EFC2-75D5-4F3F-B91A-F4EFBF554037}"/>
              </a:ext>
            </a:extLst>
          </p:cNvPr>
          <p:cNvCxnSpPr>
            <a:cxnSpLocks noChangeShapeType="1"/>
            <a:endCxn id="7184" idx="1"/>
          </p:cNvCxnSpPr>
          <p:nvPr/>
        </p:nvCxnSpPr>
        <p:spPr bwMode="auto">
          <a:xfrm>
            <a:off x="3308184" y="2520166"/>
            <a:ext cx="563355" cy="639375"/>
          </a:xfrm>
          <a:prstGeom prst="bentConnector3">
            <a:avLst>
              <a:gd name="adj1" fmla="val 50000"/>
            </a:avLst>
          </a:prstGeom>
          <a:noFill/>
          <a:ln w="28575">
            <a:solidFill>
              <a:schemeClr val="tx1"/>
            </a:solidFill>
            <a:prstDash val="sysDot"/>
            <a:miter lim="800000"/>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5" name="AutoShape 26">
            <a:extLst>
              <a:ext uri="{FF2B5EF4-FFF2-40B4-BE49-F238E27FC236}">
                <a16:creationId xmlns:a16="http://schemas.microsoft.com/office/drawing/2014/main" id="{71D0925B-CA82-478C-A3A3-7B7B62B78862}"/>
              </a:ext>
            </a:extLst>
          </p:cNvPr>
          <p:cNvCxnSpPr>
            <a:cxnSpLocks noChangeShapeType="1"/>
          </p:cNvCxnSpPr>
          <p:nvPr/>
        </p:nvCxnSpPr>
        <p:spPr bwMode="auto">
          <a:xfrm flipH="1">
            <a:off x="2170614" y="2145501"/>
            <a:ext cx="0" cy="66517"/>
          </a:xfrm>
          <a:prstGeom prst="straightConnector1">
            <a:avLst/>
          </a:prstGeom>
          <a:noFill/>
          <a:ln w="12700">
            <a:solidFill>
              <a:schemeClr val="tx1"/>
            </a:solidFill>
            <a:round/>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6" name="AutoShape 27">
            <a:extLst>
              <a:ext uri="{FF2B5EF4-FFF2-40B4-BE49-F238E27FC236}">
                <a16:creationId xmlns:a16="http://schemas.microsoft.com/office/drawing/2014/main" id="{1BDCA157-A522-4ACC-9FE6-9469F86BA2FF}"/>
              </a:ext>
            </a:extLst>
          </p:cNvPr>
          <p:cNvCxnSpPr>
            <a:cxnSpLocks noChangeShapeType="1"/>
            <a:endCxn id="9266" idx="0"/>
          </p:cNvCxnSpPr>
          <p:nvPr/>
        </p:nvCxnSpPr>
        <p:spPr bwMode="auto">
          <a:xfrm>
            <a:off x="2170614" y="2826957"/>
            <a:ext cx="473083" cy="224226"/>
          </a:xfrm>
          <a:prstGeom prst="bentConnector2">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7" name="AutoShape 28">
            <a:extLst>
              <a:ext uri="{FF2B5EF4-FFF2-40B4-BE49-F238E27FC236}">
                <a16:creationId xmlns:a16="http://schemas.microsoft.com/office/drawing/2014/main" id="{2C43C0BF-4667-467C-9E21-0F466F264B68}"/>
              </a:ext>
            </a:extLst>
          </p:cNvPr>
          <p:cNvCxnSpPr>
            <a:cxnSpLocks noChangeShapeType="1"/>
            <a:stCxn id="9266" idx="2"/>
          </p:cNvCxnSpPr>
          <p:nvPr/>
        </p:nvCxnSpPr>
        <p:spPr bwMode="auto">
          <a:xfrm rot="5400000">
            <a:off x="2287716" y="3573251"/>
            <a:ext cx="223951" cy="488013"/>
          </a:xfrm>
          <a:prstGeom prst="bentConnector2">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8" name="AutoShape 29">
            <a:extLst>
              <a:ext uri="{FF2B5EF4-FFF2-40B4-BE49-F238E27FC236}">
                <a16:creationId xmlns:a16="http://schemas.microsoft.com/office/drawing/2014/main" id="{123E9093-C892-4BDF-8D68-A31B03C7D58E}"/>
              </a:ext>
            </a:extLst>
          </p:cNvPr>
          <p:cNvCxnSpPr>
            <a:cxnSpLocks noChangeShapeType="1"/>
            <a:stCxn id="9266" idx="1"/>
            <a:endCxn id="9234" idx="3"/>
          </p:cNvCxnSpPr>
          <p:nvPr/>
        </p:nvCxnSpPr>
        <p:spPr bwMode="auto">
          <a:xfrm rot="10800000">
            <a:off x="1881471" y="3376739"/>
            <a:ext cx="188690" cy="1495"/>
          </a:xfrm>
          <a:prstGeom prst="bentConnector3">
            <a:avLst>
              <a:gd name="adj1" fmla="val 50000"/>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49" name="AutoShape 30">
            <a:extLst>
              <a:ext uri="{FF2B5EF4-FFF2-40B4-BE49-F238E27FC236}">
                <a16:creationId xmlns:a16="http://schemas.microsoft.com/office/drawing/2014/main" id="{FD5C56DD-3239-421E-8AFB-5E42FA9B75B9}"/>
              </a:ext>
            </a:extLst>
          </p:cNvPr>
          <p:cNvCxnSpPr>
            <a:cxnSpLocks noChangeShapeType="1"/>
            <a:stCxn id="9234" idx="1"/>
          </p:cNvCxnSpPr>
          <p:nvPr/>
        </p:nvCxnSpPr>
        <p:spPr bwMode="auto">
          <a:xfrm rot="10800000" flipH="1">
            <a:off x="727610" y="2520168"/>
            <a:ext cx="304075" cy="856570"/>
          </a:xfrm>
          <a:prstGeom prst="bentConnector4">
            <a:avLst>
              <a:gd name="adj1" fmla="val -75179"/>
              <a:gd name="adj2" fmla="val 57456"/>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50" name="AutoShape 31">
            <a:extLst>
              <a:ext uri="{FF2B5EF4-FFF2-40B4-BE49-F238E27FC236}">
                <a16:creationId xmlns:a16="http://schemas.microsoft.com/office/drawing/2014/main" id="{9DBDDDB5-8F8C-4CD4-BDD5-910D8BE74C57}"/>
              </a:ext>
            </a:extLst>
          </p:cNvPr>
          <p:cNvCxnSpPr>
            <a:cxnSpLocks noChangeShapeType="1"/>
            <a:endCxn id="7185" idx="1"/>
          </p:cNvCxnSpPr>
          <p:nvPr/>
        </p:nvCxnSpPr>
        <p:spPr bwMode="auto">
          <a:xfrm>
            <a:off x="3373344" y="4274034"/>
            <a:ext cx="515843" cy="501588"/>
          </a:xfrm>
          <a:prstGeom prst="bentConnector3">
            <a:avLst>
              <a:gd name="adj1" fmla="val 50000"/>
            </a:avLst>
          </a:prstGeom>
          <a:noFill/>
          <a:ln w="28575">
            <a:solidFill>
              <a:schemeClr val="tx1"/>
            </a:solidFill>
            <a:prstDash val="sysDot"/>
            <a:miter lim="800000"/>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251" name="Group 32">
            <a:extLst>
              <a:ext uri="{FF2B5EF4-FFF2-40B4-BE49-F238E27FC236}">
                <a16:creationId xmlns:a16="http://schemas.microsoft.com/office/drawing/2014/main" id="{DB0ED9BF-1F72-451F-9ACA-F2BEFEBB7ADE}"/>
              </a:ext>
            </a:extLst>
          </p:cNvPr>
          <p:cNvGrpSpPr>
            <a:grpSpLocks/>
          </p:cNvGrpSpPr>
          <p:nvPr/>
        </p:nvGrpSpPr>
        <p:grpSpPr bwMode="auto">
          <a:xfrm>
            <a:off x="1991427" y="4802335"/>
            <a:ext cx="1147072" cy="654099"/>
            <a:chOff x="1369" y="3387"/>
            <a:chExt cx="723" cy="437"/>
          </a:xfrm>
        </p:grpSpPr>
        <p:sp>
          <p:nvSpPr>
            <p:cNvPr id="9264" name="AutoShape 33">
              <a:extLst>
                <a:ext uri="{FF2B5EF4-FFF2-40B4-BE49-F238E27FC236}">
                  <a16:creationId xmlns:a16="http://schemas.microsoft.com/office/drawing/2014/main" id="{DBAE2B9F-AAC9-4081-A6CD-B65AAF3C41C1}"/>
                </a:ext>
              </a:extLst>
            </p:cNvPr>
            <p:cNvSpPr>
              <a:spLocks noChangeArrowheads="1"/>
            </p:cNvSpPr>
            <p:nvPr/>
          </p:nvSpPr>
          <p:spPr bwMode="auto">
            <a:xfrm>
              <a:off x="1369" y="3387"/>
              <a:ext cx="723" cy="437"/>
            </a:xfrm>
            <a:prstGeom prst="diamond">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algn="l" defTabSz="781903" rtl="0" eaLnBrk="1" fontAlgn="base" latinLnBrk="0" hangingPunct="1">
                <a:lnSpc>
                  <a:spcPct val="100000"/>
                </a:lnSpc>
                <a:spcBef>
                  <a:spcPct val="50000"/>
                </a:spcBef>
                <a:spcAft>
                  <a:spcPct val="0"/>
                </a:spcAft>
                <a:buClrTx/>
                <a:buSzTx/>
                <a:buFontTx/>
                <a:buNone/>
                <a:tabLst/>
                <a:defRPr/>
              </a:pPr>
              <a:endParaRPr kumimoji="0" lang="fr-FR" altLang="fr-FR" sz="1539" b="0" i="0" u="none" strike="noStrike" kern="1200" cap="none" spc="0" normalizeH="0" baseline="0" noProof="0">
                <a:ln>
                  <a:noFill/>
                </a:ln>
                <a:solidFill>
                  <a:srgbClr val="000099"/>
                </a:solidFill>
                <a:effectLst/>
                <a:uLnTx/>
                <a:uFillTx/>
                <a:latin typeface="GE Inspira Pitch" pitchFamily="34" charset="0"/>
                <a:ea typeface="+mn-ea"/>
                <a:cs typeface="+mn-cs"/>
              </a:endParaRPr>
            </a:p>
          </p:txBody>
        </p:sp>
        <p:sp>
          <p:nvSpPr>
            <p:cNvPr id="9265" name="Text Box 34">
              <a:extLst>
                <a:ext uri="{FF2B5EF4-FFF2-40B4-BE49-F238E27FC236}">
                  <a16:creationId xmlns:a16="http://schemas.microsoft.com/office/drawing/2014/main" id="{40620ED2-317E-418B-A695-41DE606D93F8}"/>
                </a:ext>
              </a:extLst>
            </p:cNvPr>
            <p:cNvSpPr txBox="1">
              <a:spLocks noChangeArrowheads="1"/>
            </p:cNvSpPr>
            <p:nvPr/>
          </p:nvSpPr>
          <p:spPr bwMode="auto">
            <a:xfrm>
              <a:off x="1394" y="3523"/>
              <a:ext cx="673"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8150" tIns="39075" rIns="78150" bIns="39075">
              <a:spAutoFit/>
            </a:bodyPr>
            <a:lstStyle>
              <a:lvl1pPr>
                <a:lnSpc>
                  <a:spcPct val="90000"/>
                </a:lnSpc>
                <a:spcBef>
                  <a:spcPct val="50000"/>
                </a:spcBef>
                <a:buClr>
                  <a:srgbClr val="004880"/>
                </a:buClr>
                <a:defRPr sz="3700">
                  <a:solidFill>
                    <a:srgbClr val="1E4191"/>
                  </a:solidFill>
                  <a:latin typeface="GE Inspira Pitch" pitchFamily="34" charset="0"/>
                </a:defRPr>
              </a:lvl1pPr>
              <a:lvl2pPr marL="742950" indent="-28575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a:lnSpc>
                  <a:spcPct val="90000"/>
                </a:lnSpc>
                <a:spcBef>
                  <a:spcPct val="20000"/>
                </a:spcBef>
                <a:buClr>
                  <a:srgbClr val="004880"/>
                </a:buClr>
                <a:buChar char="–"/>
                <a:defRPr sz="3700">
                  <a:solidFill>
                    <a:srgbClr val="1E4191"/>
                  </a:solidFill>
                  <a:latin typeface="GE Inspira Pitch" pitchFamily="34" charset="0"/>
                </a:defRPr>
              </a:lvl3pPr>
              <a:lvl4pPr marL="1600200" indent="-228600">
                <a:lnSpc>
                  <a:spcPct val="90000"/>
                </a:lnSpc>
                <a:spcBef>
                  <a:spcPct val="10000"/>
                </a:spcBef>
                <a:buClr>
                  <a:srgbClr val="004880"/>
                </a:buClr>
                <a:buChar char="–"/>
                <a:defRPr sz="3700">
                  <a:solidFill>
                    <a:srgbClr val="1E4191"/>
                  </a:solidFill>
                  <a:latin typeface="GE Inspira Pitch" pitchFamily="34" charset="0"/>
                </a:defRPr>
              </a:lvl4pPr>
              <a:lvl5pPr marL="2057400" indent="-228600">
                <a:lnSpc>
                  <a:spcPct val="90000"/>
                </a:lnSpc>
                <a:buClr>
                  <a:srgbClr val="004880"/>
                </a:buClr>
                <a:buChar char="–"/>
                <a:defRPr sz="3700">
                  <a:solidFill>
                    <a:srgbClr val="1E4191"/>
                  </a:solidFill>
                  <a:latin typeface="GE Inspira Pitch" pitchFamily="34" charset="0"/>
                </a:defRPr>
              </a:lvl5pPr>
              <a:lvl6pPr marL="25146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81903" rtl="0" eaLnBrk="1" fontAlgn="base" latinLnBrk="0" hangingPunct="1">
                <a:lnSpc>
                  <a:spcPct val="100000"/>
                </a:lnSpc>
                <a:spcBef>
                  <a:spcPct val="50000"/>
                </a:spcBef>
                <a:spcAft>
                  <a:spcPct val="0"/>
                </a:spcAft>
                <a:buClrTx/>
                <a:buSzTx/>
                <a:buFontTx/>
                <a:buNone/>
                <a:tabLst/>
                <a:defRPr/>
              </a:pPr>
              <a:r>
                <a:rPr kumimoji="0" lang="en-US" altLang="fr-FR" sz="1368" b="0" i="0" u="none" strike="noStrike" kern="1200" cap="none" spc="0" normalizeH="0" baseline="0" noProof="0">
                  <a:ln>
                    <a:noFill/>
                  </a:ln>
                  <a:solidFill>
                    <a:srgbClr val="1E4191"/>
                  </a:solidFill>
                  <a:effectLst/>
                  <a:uLnTx/>
                  <a:uFillTx/>
                  <a:latin typeface="GE Inspira Pitch" pitchFamily="34" charset="0"/>
                  <a:ea typeface="+mn-ea"/>
                  <a:cs typeface="Times New Roman" panose="02020603050405020304" pitchFamily="18" charset="0"/>
                </a:rPr>
                <a:t>Validation</a:t>
              </a:r>
            </a:p>
          </p:txBody>
        </p:sp>
      </p:grpSp>
      <p:cxnSp>
        <p:nvCxnSpPr>
          <p:cNvPr id="9252" name="AutoShape 35">
            <a:extLst>
              <a:ext uri="{FF2B5EF4-FFF2-40B4-BE49-F238E27FC236}">
                <a16:creationId xmlns:a16="http://schemas.microsoft.com/office/drawing/2014/main" id="{55A70057-7C40-4FEC-819E-B779555066C0}"/>
              </a:ext>
            </a:extLst>
          </p:cNvPr>
          <p:cNvCxnSpPr>
            <a:cxnSpLocks noChangeShapeType="1"/>
            <a:endCxn id="9264" idx="0"/>
          </p:cNvCxnSpPr>
          <p:nvPr/>
        </p:nvCxnSpPr>
        <p:spPr bwMode="auto">
          <a:xfrm>
            <a:off x="2155681" y="4618834"/>
            <a:ext cx="409282" cy="183501"/>
          </a:xfrm>
          <a:prstGeom prst="bentConnector2">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53" name="AutoShape 36">
            <a:extLst>
              <a:ext uri="{FF2B5EF4-FFF2-40B4-BE49-F238E27FC236}">
                <a16:creationId xmlns:a16="http://schemas.microsoft.com/office/drawing/2014/main" id="{FD434368-2ED5-42A6-BDA6-5226FE99276C}"/>
              </a:ext>
            </a:extLst>
          </p:cNvPr>
          <p:cNvCxnSpPr>
            <a:cxnSpLocks noChangeShapeType="1"/>
            <a:stCxn id="9264" idx="2"/>
          </p:cNvCxnSpPr>
          <p:nvPr/>
        </p:nvCxnSpPr>
        <p:spPr bwMode="auto">
          <a:xfrm rot="16200000" flipH="1">
            <a:off x="2512378" y="5509018"/>
            <a:ext cx="111279" cy="6109"/>
          </a:xfrm>
          <a:prstGeom prst="bentConnector3">
            <a:avLst>
              <a:gd name="adj1" fmla="val 50000"/>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54" name="Rectangle 37">
            <a:extLst>
              <a:ext uri="{FF2B5EF4-FFF2-40B4-BE49-F238E27FC236}">
                <a16:creationId xmlns:a16="http://schemas.microsoft.com/office/drawing/2014/main" id="{D40CAB53-F16B-4E90-8E24-D5DFF8066447}"/>
              </a:ext>
            </a:extLst>
          </p:cNvPr>
          <p:cNvSpPr>
            <a:spLocks noChangeArrowheads="1"/>
          </p:cNvSpPr>
          <p:nvPr/>
        </p:nvSpPr>
        <p:spPr bwMode="auto">
          <a:xfrm>
            <a:off x="723538" y="4915896"/>
            <a:ext cx="1084628" cy="421274"/>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777" tIns="44389" rIns="88777" bIns="44389" anchor="ctr">
            <a:spAutoFit/>
          </a:bodyPr>
          <a:lstStyle/>
          <a:p>
            <a:pPr marL="0" marR="0" lvl="0" indent="0" algn="ctr" defTabSz="781903" rtl="0" eaLnBrk="1" fontAlgn="base" latinLnBrk="0" hangingPunct="1">
              <a:lnSpc>
                <a:spcPct val="90000"/>
              </a:lnSpc>
              <a:spcBef>
                <a:spcPct val="50000"/>
              </a:spcBef>
              <a:spcAft>
                <a:spcPct val="0"/>
              </a:spcAft>
              <a:buClrTx/>
              <a:buSzTx/>
              <a:buFontTx/>
              <a:buNone/>
              <a:tabLst/>
              <a:defRPr/>
            </a:pPr>
            <a:r>
              <a:rPr kumimoji="0" lang="en-US" altLang="fr-FR" sz="1197" b="0" i="0" u="none" strike="noStrike" kern="1200" cap="none" spc="0" normalizeH="0" baseline="0" noProof="0">
                <a:ln>
                  <a:noFill/>
                </a:ln>
                <a:solidFill>
                  <a:srgbClr val="000099"/>
                </a:solidFill>
                <a:effectLst/>
                <a:uLnTx/>
                <a:uFillTx/>
                <a:latin typeface="GE Inspira Pitch" pitchFamily="34" charset="0"/>
                <a:ea typeface="+mn-ea"/>
                <a:cs typeface="+mn-cs"/>
              </a:rPr>
              <a:t>Corrective actions</a:t>
            </a:r>
          </a:p>
        </p:txBody>
      </p:sp>
      <p:cxnSp>
        <p:nvCxnSpPr>
          <p:cNvPr id="9255" name="AutoShape 38">
            <a:extLst>
              <a:ext uri="{FF2B5EF4-FFF2-40B4-BE49-F238E27FC236}">
                <a16:creationId xmlns:a16="http://schemas.microsoft.com/office/drawing/2014/main" id="{63FF621E-9A69-4E24-8513-8AFFD980BD68}"/>
              </a:ext>
            </a:extLst>
          </p:cNvPr>
          <p:cNvCxnSpPr>
            <a:cxnSpLocks noChangeShapeType="1"/>
            <a:stCxn id="9264" idx="1"/>
            <a:endCxn id="9254" idx="3"/>
          </p:cNvCxnSpPr>
          <p:nvPr/>
        </p:nvCxnSpPr>
        <p:spPr bwMode="auto">
          <a:xfrm rot="10800000">
            <a:off x="1808167" y="5126533"/>
            <a:ext cx="183261" cy="2852"/>
          </a:xfrm>
          <a:prstGeom prst="bentConnector3">
            <a:avLst>
              <a:gd name="adj1" fmla="val 50000"/>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56" name="AutoShape 39">
            <a:extLst>
              <a:ext uri="{FF2B5EF4-FFF2-40B4-BE49-F238E27FC236}">
                <a16:creationId xmlns:a16="http://schemas.microsoft.com/office/drawing/2014/main" id="{7C8FFF20-8EA4-4EA1-A947-5846DFF78C69}"/>
              </a:ext>
            </a:extLst>
          </p:cNvPr>
          <p:cNvCxnSpPr>
            <a:cxnSpLocks noChangeShapeType="1"/>
            <a:stCxn id="9254" idx="1"/>
          </p:cNvCxnSpPr>
          <p:nvPr/>
        </p:nvCxnSpPr>
        <p:spPr bwMode="auto">
          <a:xfrm rot="10800000" flipH="1">
            <a:off x="723538" y="4274035"/>
            <a:ext cx="214482" cy="852499"/>
          </a:xfrm>
          <a:prstGeom prst="bentConnector4">
            <a:avLst>
              <a:gd name="adj1" fmla="val -106582"/>
              <a:gd name="adj2" fmla="val 62354"/>
            </a:avLst>
          </a:prstGeom>
          <a:noFill/>
          <a:ln w="12700">
            <a:solidFill>
              <a:schemeClr val="tx1"/>
            </a:solidFill>
            <a:miter lim="800000"/>
            <a:headEnd/>
            <a:tailEnd type="triangl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57" name="AutoShape 40">
            <a:extLst>
              <a:ext uri="{FF2B5EF4-FFF2-40B4-BE49-F238E27FC236}">
                <a16:creationId xmlns:a16="http://schemas.microsoft.com/office/drawing/2014/main" id="{A3CEB0E9-5A0D-4AE7-9C73-E0F68F433C5E}"/>
              </a:ext>
            </a:extLst>
          </p:cNvPr>
          <p:cNvCxnSpPr>
            <a:cxnSpLocks noChangeShapeType="1"/>
            <a:stCxn id="9254" idx="1"/>
            <a:endCxn id="9234" idx="1"/>
          </p:cNvCxnSpPr>
          <p:nvPr/>
        </p:nvCxnSpPr>
        <p:spPr bwMode="auto">
          <a:xfrm rot="10800000" flipH="1">
            <a:off x="723537" y="3376739"/>
            <a:ext cx="4073" cy="1749795"/>
          </a:xfrm>
          <a:prstGeom prst="bentConnector3">
            <a:avLst>
              <a:gd name="adj1" fmla="val -5612571"/>
            </a:avLst>
          </a:prstGeom>
          <a:noFill/>
          <a:ln w="12700">
            <a:solidFill>
              <a:schemeClr val="tx1"/>
            </a:solidFill>
            <a:miter lim="800000"/>
            <a:headEnd/>
            <a:tailEnd type="none" w="med"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58" name="AutoShape 41">
            <a:extLst>
              <a:ext uri="{FF2B5EF4-FFF2-40B4-BE49-F238E27FC236}">
                <a16:creationId xmlns:a16="http://schemas.microsoft.com/office/drawing/2014/main" id="{C9E26BDD-6722-4CDF-8DE1-C9DE21D64F45}"/>
              </a:ext>
            </a:extLst>
          </p:cNvPr>
          <p:cNvCxnSpPr>
            <a:cxnSpLocks noChangeShapeType="1"/>
          </p:cNvCxnSpPr>
          <p:nvPr/>
        </p:nvCxnSpPr>
        <p:spPr bwMode="auto">
          <a:xfrm flipV="1">
            <a:off x="3194156" y="5783553"/>
            <a:ext cx="699103" cy="92309"/>
          </a:xfrm>
          <a:prstGeom prst="bentConnector3">
            <a:avLst>
              <a:gd name="adj1" fmla="val 50000"/>
            </a:avLst>
          </a:prstGeom>
          <a:noFill/>
          <a:ln w="28575">
            <a:solidFill>
              <a:schemeClr val="tx1"/>
            </a:solidFill>
            <a:prstDash val="sysDot"/>
            <a:miter lim="800000"/>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59" name="Text Box 42">
            <a:extLst>
              <a:ext uri="{FF2B5EF4-FFF2-40B4-BE49-F238E27FC236}">
                <a16:creationId xmlns:a16="http://schemas.microsoft.com/office/drawing/2014/main" id="{BFD48394-3FFB-4079-BBDA-35BDD611812C}"/>
              </a:ext>
            </a:extLst>
          </p:cNvPr>
          <p:cNvSpPr txBox="1">
            <a:spLocks noChangeArrowheads="1"/>
          </p:cNvSpPr>
          <p:nvPr/>
        </p:nvSpPr>
        <p:spPr bwMode="auto">
          <a:xfrm>
            <a:off x="1778302" y="3189406"/>
            <a:ext cx="532133" cy="25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224" tIns="40117" rIns="80224" bIns="40117">
            <a:spAutoFit/>
          </a:bodyPr>
          <a:lstStyle>
            <a:lvl1pPr defTabSz="825500">
              <a:lnSpc>
                <a:spcPct val="90000"/>
              </a:lnSpc>
              <a:spcBef>
                <a:spcPct val="50000"/>
              </a:spcBef>
              <a:buClr>
                <a:srgbClr val="004880"/>
              </a:buClr>
              <a:defRPr sz="3700">
                <a:solidFill>
                  <a:srgbClr val="1E4191"/>
                </a:solidFill>
                <a:latin typeface="GE Inspira Pitch" pitchFamily="34" charset="0"/>
              </a:defRPr>
            </a:lvl1pPr>
            <a:lvl2pPr marL="742950" indent="-285750" defTabSz="82550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defTabSz="825500">
              <a:lnSpc>
                <a:spcPct val="90000"/>
              </a:lnSpc>
              <a:spcBef>
                <a:spcPct val="20000"/>
              </a:spcBef>
              <a:buClr>
                <a:srgbClr val="004880"/>
              </a:buClr>
              <a:buChar char="–"/>
              <a:defRPr sz="3700">
                <a:solidFill>
                  <a:srgbClr val="1E4191"/>
                </a:solidFill>
                <a:latin typeface="GE Inspira Pitch" pitchFamily="34" charset="0"/>
              </a:defRPr>
            </a:lvl3pPr>
            <a:lvl4pPr marL="1600200" indent="-228600" defTabSz="825500">
              <a:lnSpc>
                <a:spcPct val="90000"/>
              </a:lnSpc>
              <a:spcBef>
                <a:spcPct val="10000"/>
              </a:spcBef>
              <a:buClr>
                <a:srgbClr val="004880"/>
              </a:buClr>
              <a:buChar char="–"/>
              <a:defRPr sz="3700">
                <a:solidFill>
                  <a:srgbClr val="1E4191"/>
                </a:solidFill>
                <a:latin typeface="GE Inspira Pitch" pitchFamily="34" charset="0"/>
              </a:defRPr>
            </a:lvl4pPr>
            <a:lvl5pPr marL="2057400" indent="-228600" defTabSz="825500">
              <a:lnSpc>
                <a:spcPct val="90000"/>
              </a:lnSpc>
              <a:buClr>
                <a:srgbClr val="004880"/>
              </a:buClr>
              <a:buChar char="–"/>
              <a:defRPr sz="3700">
                <a:solidFill>
                  <a:srgbClr val="1E4191"/>
                </a:solidFill>
                <a:latin typeface="GE Inspira Pitch" pitchFamily="34" charset="0"/>
              </a:defRPr>
            </a:lvl5pPr>
            <a:lvl6pPr marL="25146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05885" rtl="0" eaLnBrk="1" fontAlgn="base" latinLnBrk="0" hangingPunct="1">
              <a:lnSpc>
                <a:spcPct val="100000"/>
              </a:lnSpc>
              <a:spcBef>
                <a:spcPct val="50000"/>
              </a:spcBef>
              <a:spcAft>
                <a:spcPct val="0"/>
              </a:spcAft>
              <a:buClrTx/>
              <a:buSzTx/>
              <a:buFontTx/>
              <a:buNone/>
              <a:tabLst/>
              <a:defRPr/>
            </a:pPr>
            <a:r>
              <a:rPr kumimoji="0" lang="en-GB"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rPr>
              <a:t>N</a:t>
            </a:r>
          </a:p>
        </p:txBody>
      </p:sp>
      <p:sp>
        <p:nvSpPr>
          <p:cNvPr id="9260" name="Text Box 43">
            <a:extLst>
              <a:ext uri="{FF2B5EF4-FFF2-40B4-BE49-F238E27FC236}">
                <a16:creationId xmlns:a16="http://schemas.microsoft.com/office/drawing/2014/main" id="{ABC0F498-B1CE-4FB2-AAB8-2E8F1D362BA1}"/>
              </a:ext>
            </a:extLst>
          </p:cNvPr>
          <p:cNvSpPr txBox="1">
            <a:spLocks noChangeArrowheads="1"/>
          </p:cNvSpPr>
          <p:nvPr/>
        </p:nvSpPr>
        <p:spPr bwMode="auto">
          <a:xfrm>
            <a:off x="2212696" y="3642805"/>
            <a:ext cx="532133" cy="25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224" tIns="40117" rIns="80224" bIns="40117">
            <a:spAutoFit/>
          </a:bodyPr>
          <a:lstStyle>
            <a:lvl1pPr defTabSz="825500">
              <a:lnSpc>
                <a:spcPct val="90000"/>
              </a:lnSpc>
              <a:spcBef>
                <a:spcPct val="50000"/>
              </a:spcBef>
              <a:buClr>
                <a:srgbClr val="004880"/>
              </a:buClr>
              <a:defRPr sz="3700">
                <a:solidFill>
                  <a:srgbClr val="1E4191"/>
                </a:solidFill>
                <a:latin typeface="GE Inspira Pitch" pitchFamily="34" charset="0"/>
              </a:defRPr>
            </a:lvl1pPr>
            <a:lvl2pPr marL="742950" indent="-285750" defTabSz="82550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defTabSz="825500">
              <a:lnSpc>
                <a:spcPct val="90000"/>
              </a:lnSpc>
              <a:spcBef>
                <a:spcPct val="20000"/>
              </a:spcBef>
              <a:buClr>
                <a:srgbClr val="004880"/>
              </a:buClr>
              <a:buChar char="–"/>
              <a:defRPr sz="3700">
                <a:solidFill>
                  <a:srgbClr val="1E4191"/>
                </a:solidFill>
                <a:latin typeface="GE Inspira Pitch" pitchFamily="34" charset="0"/>
              </a:defRPr>
            </a:lvl3pPr>
            <a:lvl4pPr marL="1600200" indent="-228600" defTabSz="825500">
              <a:lnSpc>
                <a:spcPct val="90000"/>
              </a:lnSpc>
              <a:spcBef>
                <a:spcPct val="10000"/>
              </a:spcBef>
              <a:buClr>
                <a:srgbClr val="004880"/>
              </a:buClr>
              <a:buChar char="–"/>
              <a:defRPr sz="3700">
                <a:solidFill>
                  <a:srgbClr val="1E4191"/>
                </a:solidFill>
                <a:latin typeface="GE Inspira Pitch" pitchFamily="34" charset="0"/>
              </a:defRPr>
            </a:lvl4pPr>
            <a:lvl5pPr marL="2057400" indent="-228600" defTabSz="825500">
              <a:lnSpc>
                <a:spcPct val="90000"/>
              </a:lnSpc>
              <a:buClr>
                <a:srgbClr val="004880"/>
              </a:buClr>
              <a:buChar char="–"/>
              <a:defRPr sz="3700">
                <a:solidFill>
                  <a:srgbClr val="1E4191"/>
                </a:solidFill>
                <a:latin typeface="GE Inspira Pitch" pitchFamily="34" charset="0"/>
              </a:defRPr>
            </a:lvl5pPr>
            <a:lvl6pPr marL="25146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05885" rtl="0" eaLnBrk="1" fontAlgn="base" latinLnBrk="0" hangingPunct="1">
              <a:lnSpc>
                <a:spcPct val="100000"/>
              </a:lnSpc>
              <a:spcBef>
                <a:spcPct val="50000"/>
              </a:spcBef>
              <a:spcAft>
                <a:spcPct val="0"/>
              </a:spcAft>
              <a:buClrTx/>
              <a:buSzTx/>
              <a:buFontTx/>
              <a:buNone/>
              <a:tabLst/>
              <a:defRPr/>
            </a:pPr>
            <a:r>
              <a:rPr kumimoji="0" lang="fr-FR"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rPr>
              <a:t>Y</a:t>
            </a:r>
            <a:endParaRPr kumimoji="0" lang="en-GB"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endParaRPr>
          </a:p>
        </p:txBody>
      </p:sp>
      <p:sp>
        <p:nvSpPr>
          <p:cNvPr id="9261" name="Rectangle 44">
            <a:extLst>
              <a:ext uri="{FF2B5EF4-FFF2-40B4-BE49-F238E27FC236}">
                <a16:creationId xmlns:a16="http://schemas.microsoft.com/office/drawing/2014/main" id="{08C2504F-E99C-40E8-8306-2ED8BF0BE699}"/>
              </a:ext>
            </a:extLst>
          </p:cNvPr>
          <p:cNvSpPr>
            <a:spLocks noGrp="1" noChangeArrowheads="1"/>
          </p:cNvSpPr>
          <p:nvPr>
            <p:ph type="title"/>
          </p:nvPr>
        </p:nvSpPr>
        <p:spPr>
          <a:xfrm>
            <a:off x="-66516" y="144573"/>
            <a:ext cx="7198728" cy="585075"/>
          </a:xfrm>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vert="horz" wrap="none" lIns="88823" tIns="44411" rIns="88823" bIns="44411" numCol="1" anchor="t" anchorCtr="0" compatLnSpc="1">
            <a:prstTxWarp prst="textNoShape">
              <a:avLst/>
            </a:prstTxWarp>
          </a:bodyPr>
          <a:lstStyle/>
          <a:p>
            <a:pPr>
              <a:lnSpc>
                <a:spcPct val="100000"/>
              </a:lnSpc>
            </a:pPr>
            <a:r>
              <a:rPr lang="en-US" altLang="fr-FR" sz="3420">
                <a:solidFill>
                  <a:srgbClr val="004880"/>
                </a:solidFill>
              </a:rPr>
              <a:t>Safety Management Life Cycle</a:t>
            </a:r>
          </a:p>
        </p:txBody>
      </p:sp>
      <p:sp>
        <p:nvSpPr>
          <p:cNvPr id="9262" name="Text Box 42">
            <a:extLst>
              <a:ext uri="{FF2B5EF4-FFF2-40B4-BE49-F238E27FC236}">
                <a16:creationId xmlns:a16="http://schemas.microsoft.com/office/drawing/2014/main" id="{8DAA4022-2A0A-4B8F-82E4-0A04673BDFFE}"/>
              </a:ext>
            </a:extLst>
          </p:cNvPr>
          <p:cNvSpPr txBox="1">
            <a:spLocks noChangeArrowheads="1"/>
          </p:cNvSpPr>
          <p:nvPr/>
        </p:nvSpPr>
        <p:spPr bwMode="auto">
          <a:xfrm>
            <a:off x="2207266" y="5427893"/>
            <a:ext cx="532133" cy="25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224" tIns="40117" rIns="80224" bIns="40117">
            <a:spAutoFit/>
          </a:bodyPr>
          <a:lstStyle>
            <a:lvl1pPr defTabSz="825500">
              <a:lnSpc>
                <a:spcPct val="90000"/>
              </a:lnSpc>
              <a:spcBef>
                <a:spcPct val="50000"/>
              </a:spcBef>
              <a:buClr>
                <a:srgbClr val="004880"/>
              </a:buClr>
              <a:defRPr sz="3700">
                <a:solidFill>
                  <a:srgbClr val="1E4191"/>
                </a:solidFill>
                <a:latin typeface="GE Inspira Pitch" pitchFamily="34" charset="0"/>
              </a:defRPr>
            </a:lvl1pPr>
            <a:lvl2pPr marL="742950" indent="-285750" defTabSz="82550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defTabSz="825500">
              <a:lnSpc>
                <a:spcPct val="90000"/>
              </a:lnSpc>
              <a:spcBef>
                <a:spcPct val="20000"/>
              </a:spcBef>
              <a:buClr>
                <a:srgbClr val="004880"/>
              </a:buClr>
              <a:buChar char="–"/>
              <a:defRPr sz="3700">
                <a:solidFill>
                  <a:srgbClr val="1E4191"/>
                </a:solidFill>
                <a:latin typeface="GE Inspira Pitch" pitchFamily="34" charset="0"/>
              </a:defRPr>
            </a:lvl3pPr>
            <a:lvl4pPr marL="1600200" indent="-228600" defTabSz="825500">
              <a:lnSpc>
                <a:spcPct val="90000"/>
              </a:lnSpc>
              <a:spcBef>
                <a:spcPct val="10000"/>
              </a:spcBef>
              <a:buClr>
                <a:srgbClr val="004880"/>
              </a:buClr>
              <a:buChar char="–"/>
              <a:defRPr sz="3700">
                <a:solidFill>
                  <a:srgbClr val="1E4191"/>
                </a:solidFill>
                <a:latin typeface="GE Inspira Pitch" pitchFamily="34" charset="0"/>
              </a:defRPr>
            </a:lvl4pPr>
            <a:lvl5pPr marL="2057400" indent="-228600" defTabSz="825500">
              <a:lnSpc>
                <a:spcPct val="90000"/>
              </a:lnSpc>
              <a:buClr>
                <a:srgbClr val="004880"/>
              </a:buClr>
              <a:buChar char="–"/>
              <a:defRPr sz="3700">
                <a:solidFill>
                  <a:srgbClr val="1E4191"/>
                </a:solidFill>
                <a:latin typeface="GE Inspira Pitch" pitchFamily="34" charset="0"/>
              </a:defRPr>
            </a:lvl5pPr>
            <a:lvl6pPr marL="25146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05885" rtl="0" eaLnBrk="1" fontAlgn="base" latinLnBrk="0" hangingPunct="1">
              <a:lnSpc>
                <a:spcPct val="100000"/>
              </a:lnSpc>
              <a:spcBef>
                <a:spcPct val="50000"/>
              </a:spcBef>
              <a:spcAft>
                <a:spcPct val="0"/>
              </a:spcAft>
              <a:buClrTx/>
              <a:buSzTx/>
              <a:buFontTx/>
              <a:buNone/>
              <a:tabLst/>
              <a:defRPr/>
            </a:pPr>
            <a:r>
              <a:rPr kumimoji="0" lang="fr-FR"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rPr>
              <a:t>Y</a:t>
            </a:r>
            <a:endParaRPr kumimoji="0" lang="en-GB"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endParaRPr>
          </a:p>
        </p:txBody>
      </p:sp>
      <p:sp>
        <p:nvSpPr>
          <p:cNvPr id="9263" name="Text Box 43">
            <a:extLst>
              <a:ext uri="{FF2B5EF4-FFF2-40B4-BE49-F238E27FC236}">
                <a16:creationId xmlns:a16="http://schemas.microsoft.com/office/drawing/2014/main" id="{F93833F1-AE72-45F3-8907-B699B9E25B98}"/>
              </a:ext>
            </a:extLst>
          </p:cNvPr>
          <p:cNvSpPr txBox="1">
            <a:spLocks noChangeArrowheads="1"/>
          </p:cNvSpPr>
          <p:nvPr/>
        </p:nvSpPr>
        <p:spPr bwMode="auto">
          <a:xfrm>
            <a:off x="1706356" y="4924268"/>
            <a:ext cx="532133" cy="252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0224" tIns="40117" rIns="80224" bIns="40117">
            <a:spAutoFit/>
          </a:bodyPr>
          <a:lstStyle>
            <a:lvl1pPr defTabSz="825500">
              <a:lnSpc>
                <a:spcPct val="90000"/>
              </a:lnSpc>
              <a:spcBef>
                <a:spcPct val="50000"/>
              </a:spcBef>
              <a:buClr>
                <a:srgbClr val="004880"/>
              </a:buClr>
              <a:defRPr sz="3700">
                <a:solidFill>
                  <a:srgbClr val="1E4191"/>
                </a:solidFill>
                <a:latin typeface="GE Inspira Pitch" pitchFamily="34" charset="0"/>
              </a:defRPr>
            </a:lvl1pPr>
            <a:lvl2pPr marL="742950" indent="-285750" defTabSz="825500">
              <a:lnSpc>
                <a:spcPct val="90000"/>
              </a:lnSpc>
              <a:spcBef>
                <a:spcPct val="30000"/>
              </a:spcBef>
              <a:buClr>
                <a:srgbClr val="004880"/>
              </a:buClr>
              <a:buFont typeface="GE Inspira Pitch" pitchFamily="34" charset="0"/>
              <a:buChar char="•"/>
              <a:defRPr sz="3700">
                <a:solidFill>
                  <a:srgbClr val="1E4191"/>
                </a:solidFill>
                <a:latin typeface="GE Inspira Pitch" pitchFamily="34" charset="0"/>
              </a:defRPr>
            </a:lvl2pPr>
            <a:lvl3pPr marL="1143000" indent="-228600" defTabSz="825500">
              <a:lnSpc>
                <a:spcPct val="90000"/>
              </a:lnSpc>
              <a:spcBef>
                <a:spcPct val="20000"/>
              </a:spcBef>
              <a:buClr>
                <a:srgbClr val="004880"/>
              </a:buClr>
              <a:buChar char="–"/>
              <a:defRPr sz="3700">
                <a:solidFill>
                  <a:srgbClr val="1E4191"/>
                </a:solidFill>
                <a:latin typeface="GE Inspira Pitch" pitchFamily="34" charset="0"/>
              </a:defRPr>
            </a:lvl3pPr>
            <a:lvl4pPr marL="1600200" indent="-228600" defTabSz="825500">
              <a:lnSpc>
                <a:spcPct val="90000"/>
              </a:lnSpc>
              <a:spcBef>
                <a:spcPct val="10000"/>
              </a:spcBef>
              <a:buClr>
                <a:srgbClr val="004880"/>
              </a:buClr>
              <a:buChar char="–"/>
              <a:defRPr sz="3700">
                <a:solidFill>
                  <a:srgbClr val="1E4191"/>
                </a:solidFill>
                <a:latin typeface="GE Inspira Pitch" pitchFamily="34" charset="0"/>
              </a:defRPr>
            </a:lvl4pPr>
            <a:lvl5pPr marL="2057400" indent="-228600" defTabSz="825500">
              <a:lnSpc>
                <a:spcPct val="90000"/>
              </a:lnSpc>
              <a:buClr>
                <a:srgbClr val="004880"/>
              </a:buClr>
              <a:buChar char="–"/>
              <a:defRPr sz="3700">
                <a:solidFill>
                  <a:srgbClr val="1E4191"/>
                </a:solidFill>
                <a:latin typeface="GE Inspira Pitch" pitchFamily="34" charset="0"/>
              </a:defRPr>
            </a:lvl5pPr>
            <a:lvl6pPr marL="25146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6pPr>
            <a:lvl7pPr marL="29718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7pPr>
            <a:lvl8pPr marL="34290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8pPr>
            <a:lvl9pPr marL="3886200" indent="-228600" defTabSz="825500" eaLnBrk="0" fontAlgn="base" hangingPunct="0">
              <a:lnSpc>
                <a:spcPct val="90000"/>
              </a:lnSpc>
              <a:spcBef>
                <a:spcPct val="0"/>
              </a:spcBef>
              <a:spcAft>
                <a:spcPct val="0"/>
              </a:spcAft>
              <a:buClr>
                <a:srgbClr val="004880"/>
              </a:buClr>
              <a:buChar char="–"/>
              <a:defRPr sz="3700">
                <a:solidFill>
                  <a:srgbClr val="1E4191"/>
                </a:solidFill>
                <a:latin typeface="GE Inspira Pitch" pitchFamily="34" charset="0"/>
              </a:defRPr>
            </a:lvl9pPr>
          </a:lstStyle>
          <a:p>
            <a:pPr marL="0" marR="0" lvl="0" indent="0" algn="ctr" defTabSz="705885" rtl="0" eaLnBrk="1" fontAlgn="base" latinLnBrk="0" hangingPunct="1">
              <a:lnSpc>
                <a:spcPct val="100000"/>
              </a:lnSpc>
              <a:spcBef>
                <a:spcPct val="50000"/>
              </a:spcBef>
              <a:spcAft>
                <a:spcPct val="0"/>
              </a:spcAft>
              <a:buClrTx/>
              <a:buSzTx/>
              <a:buFontTx/>
              <a:buNone/>
              <a:tabLst/>
              <a:defRPr/>
            </a:pPr>
            <a:r>
              <a:rPr kumimoji="0" lang="fr-FR"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rPr>
              <a:t>N</a:t>
            </a:r>
            <a:endParaRPr kumimoji="0" lang="en-GB" altLang="fr-FR" sz="1112" b="0" i="0" u="none" strike="noStrike" kern="1200" cap="none" spc="0" normalizeH="0" baseline="0" noProof="0">
              <a:ln>
                <a:noFill/>
              </a:ln>
              <a:solidFill>
                <a:srgbClr val="1E4191"/>
              </a:solidFill>
              <a:effectLst/>
              <a:uLnTx/>
              <a:uFillTx/>
              <a:latin typeface="Lucida Sans Unicode" panose="020B0602030504020204" pitchFamily="34" charset="0"/>
              <a:ea typeface="+mn-ea"/>
              <a:cs typeface="Times New Roman" panose="02020603050405020304" pitchFamily="18" charset="0"/>
            </a:endParaRPr>
          </a:p>
        </p:txBody>
      </p:sp>
    </p:spTree>
    <p:extLst>
      <p:ext uri="{BB962C8B-B14F-4D97-AF65-F5344CB8AC3E}">
        <p14:creationId xmlns:p14="http://schemas.microsoft.com/office/powerpoint/2010/main" val="4218466154"/>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68F16D3-BE7E-489F-A0DF-C81D5C9726A7}"/>
              </a:ext>
            </a:extLst>
          </p:cNvPr>
          <p:cNvSpPr>
            <a:spLocks noGrp="1" noChangeArrowheads="1"/>
          </p:cNvSpPr>
          <p:nvPr>
            <p:ph type="title" idx="4294967295"/>
          </p:nvPr>
        </p:nvSpPr>
        <p:spPr>
          <a:xfrm>
            <a:off x="0" y="196157"/>
            <a:ext cx="9540385" cy="616297"/>
          </a:xfrm>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vert="horz" wrap="none" lIns="88823" tIns="44411" rIns="88823" bIns="44411" rtlCol="0" anchor="t" anchorCtr="0">
            <a:noAutofit/>
          </a:bodyPr>
          <a:lstStyle/>
          <a:p>
            <a:pPr>
              <a:lnSpc>
                <a:spcPct val="100000"/>
              </a:lnSpc>
            </a:pPr>
            <a:r>
              <a:rPr lang="fr-FR" altLang="fr-FR" sz="3420">
                <a:solidFill>
                  <a:srgbClr val="004880"/>
                </a:solidFill>
              </a:rPr>
              <a:t>SIL compliance leader Missions–within baseline</a:t>
            </a:r>
          </a:p>
        </p:txBody>
      </p:sp>
      <p:sp>
        <p:nvSpPr>
          <p:cNvPr id="4" name="Flèche droite à entaille 3">
            <a:extLst>
              <a:ext uri="{FF2B5EF4-FFF2-40B4-BE49-F238E27FC236}">
                <a16:creationId xmlns:a16="http://schemas.microsoft.com/office/drawing/2014/main" id="{31BF5C1A-DFDA-43AE-9F2D-87F583D98B9E}"/>
              </a:ext>
            </a:extLst>
          </p:cNvPr>
          <p:cNvSpPr/>
          <p:nvPr/>
        </p:nvSpPr>
        <p:spPr>
          <a:xfrm>
            <a:off x="0" y="3037749"/>
            <a:ext cx="9072053" cy="642088"/>
          </a:xfrm>
          <a:prstGeom prst="notchedRightArrow">
            <a:avLst/>
          </a:prstGeom>
          <a:solidFill>
            <a:schemeClr val="accent3">
              <a:lumMod val="75000"/>
            </a:schemeClr>
          </a:solidFill>
        </p:spPr>
        <p:style>
          <a:lnRef idx="2">
            <a:schemeClr val="dk1">
              <a:shade val="50000"/>
            </a:schemeClr>
          </a:lnRef>
          <a:fillRef idx="1">
            <a:schemeClr val="dk1"/>
          </a:fillRef>
          <a:effectRef idx="0">
            <a:schemeClr val="dk1"/>
          </a:effectRef>
          <a:fontRef idx="minor">
            <a:schemeClr val="lt1"/>
          </a:fontRef>
        </p:style>
        <p:txBody>
          <a:bodyPr lIns="89194" tIns="44597" rIns="89194" bIns="44597" anchor="ct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fr-FR" sz="1539" b="0" i="0" u="none" strike="noStrike" kern="1200" cap="none" spc="0" normalizeH="0" baseline="0" noProof="0">
              <a:ln>
                <a:noFill/>
              </a:ln>
              <a:solidFill>
                <a:srgbClr val="FFFFFF"/>
              </a:solidFill>
              <a:effectLst/>
              <a:uLnTx/>
              <a:uFillTx/>
              <a:latin typeface="GE Inspira Pitch"/>
              <a:ea typeface="+mn-ea"/>
              <a:cs typeface="+mn-cs"/>
            </a:endParaRPr>
          </a:p>
        </p:txBody>
      </p:sp>
      <p:cxnSp>
        <p:nvCxnSpPr>
          <p:cNvPr id="7" name="Connecteur droit 6">
            <a:extLst>
              <a:ext uri="{FF2B5EF4-FFF2-40B4-BE49-F238E27FC236}">
                <a16:creationId xmlns:a16="http://schemas.microsoft.com/office/drawing/2014/main" id="{73822303-6D46-4DD6-AA1A-9E25BAF86444}"/>
              </a:ext>
            </a:extLst>
          </p:cNvPr>
          <p:cNvCxnSpPr/>
          <p:nvPr/>
        </p:nvCxnSpPr>
        <p:spPr bwMode="auto">
          <a:xfrm flipH="1">
            <a:off x="1031686" y="3113387"/>
            <a:ext cx="0" cy="1034401"/>
          </a:xfrm>
          <a:prstGeom prst="line">
            <a:avLst/>
          </a:prstGeom>
          <a:ln w="50800">
            <a:solidFill>
              <a:schemeClr val="bg2">
                <a:lumMod val="20000"/>
                <a:lumOff val="80000"/>
              </a:schemeClr>
            </a:solidFill>
            <a:head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11C736FB-8CE2-483C-978E-FCFE2AF2D40F}"/>
              </a:ext>
            </a:extLst>
          </p:cNvPr>
          <p:cNvSpPr txBox="1"/>
          <p:nvPr/>
        </p:nvSpPr>
        <p:spPr bwMode="auto">
          <a:xfrm>
            <a:off x="738470" y="2886686"/>
            <a:ext cx="901368" cy="248716"/>
          </a:xfrm>
          <a:prstGeom prst="rect">
            <a:avLst/>
          </a:prstGeom>
          <a:solidFill>
            <a:schemeClr val="bg1">
              <a:lumMod val="75000"/>
            </a:schemeClr>
          </a:solidFill>
        </p:spPr>
        <p:txBody>
          <a:bodyPr lIns="109467" tIns="54734" rIns="109467" bIns="54734">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project </a:t>
            </a:r>
            <a:r>
              <a:rPr kumimoji="0" lang="en-US" sz="898" b="1" i="0" u="none" strike="noStrike" kern="1200" cap="none" spc="0" normalizeH="0" baseline="0" noProof="0" dirty="0" err="1">
                <a:ln>
                  <a:noFill/>
                </a:ln>
                <a:solidFill>
                  <a:srgbClr val="1E4191"/>
                </a:solidFill>
                <a:effectLst/>
                <a:uLnTx/>
                <a:uFillTx/>
                <a:latin typeface="GE Inspira Pitch"/>
                <a:ea typeface="+mn-ea"/>
                <a:cs typeface="+mn-cs"/>
              </a:rPr>
              <a:t>KoM</a:t>
            </a:r>
            <a:endParaRPr kumimoji="0" lang="en-US" sz="898" b="1" i="1" u="none" strike="noStrike" kern="1200" cap="none" spc="0" normalizeH="0" baseline="0" noProof="0" dirty="0">
              <a:ln>
                <a:noFill/>
              </a:ln>
              <a:solidFill>
                <a:srgbClr val="1E4191"/>
              </a:solidFill>
              <a:effectLst/>
              <a:uLnTx/>
              <a:uFillTx/>
              <a:latin typeface="GE Inspira Pitch"/>
              <a:ea typeface="+mn-ea"/>
              <a:cs typeface="+mn-cs"/>
            </a:endParaRPr>
          </a:p>
        </p:txBody>
      </p:sp>
      <p:sp>
        <p:nvSpPr>
          <p:cNvPr id="9" name="ZoneTexte 8">
            <a:extLst>
              <a:ext uri="{FF2B5EF4-FFF2-40B4-BE49-F238E27FC236}">
                <a16:creationId xmlns:a16="http://schemas.microsoft.com/office/drawing/2014/main" id="{BD2FB97B-8CA5-4A67-BCD9-96881125BB21}"/>
              </a:ext>
            </a:extLst>
          </p:cNvPr>
          <p:cNvSpPr txBox="1"/>
          <p:nvPr/>
        </p:nvSpPr>
        <p:spPr bwMode="auto">
          <a:xfrm>
            <a:off x="559283" y="3699819"/>
            <a:ext cx="901368" cy="840802"/>
          </a:xfrm>
          <a:prstGeom prst="rect">
            <a:avLst/>
          </a:prstGeom>
          <a:solidFill>
            <a:srgbClr val="FFFF00"/>
          </a:solidFill>
          <a:ln>
            <a:solidFill>
              <a:schemeClr val="bg1">
                <a:lumMod val="65000"/>
              </a:schemeClr>
            </a:solidFill>
          </a:ln>
        </p:spPr>
        <p:txBody>
          <a:bodyPr lIns="109467" tIns="54734" rIns="109467" bIns="54734">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PLM</a:t>
            </a:r>
            <a:endParaRPr kumimoji="0" lang="en-US" sz="855" b="1" i="0" u="none" strike="noStrike" kern="1200" cap="none" spc="0" normalizeH="0" baseline="0" noProof="0" dirty="0">
              <a:ln>
                <a:noFill/>
              </a:ln>
              <a:solidFill>
                <a:srgbClr val="1E4191"/>
              </a:solidFill>
              <a:effectLst/>
              <a:uLnTx/>
              <a:uFillTx/>
              <a:latin typeface="GE Inspira Pitch"/>
              <a:ea typeface="+mn-ea"/>
              <a:cs typeface="+mn-cs"/>
            </a:endParaRPr>
          </a:p>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55" b="0" i="1" u="none" strike="noStrike" kern="1200" cap="none" spc="0" normalizeH="0" baseline="0" noProof="0" dirty="0">
                <a:ln>
                  <a:noFill/>
                </a:ln>
                <a:solidFill>
                  <a:srgbClr val="1E4191"/>
                </a:solidFill>
                <a:effectLst/>
                <a:uLnTx/>
                <a:uFillTx/>
                <a:latin typeface="GE Inspira Pitch"/>
                <a:ea typeface="+mn-ea"/>
                <a:cs typeface="+mn-cs"/>
              </a:rPr>
              <a:t>Option verification according to contract</a:t>
            </a:r>
          </a:p>
        </p:txBody>
      </p:sp>
      <p:cxnSp>
        <p:nvCxnSpPr>
          <p:cNvPr id="10" name="Connecteur droit 9">
            <a:extLst>
              <a:ext uri="{FF2B5EF4-FFF2-40B4-BE49-F238E27FC236}">
                <a16:creationId xmlns:a16="http://schemas.microsoft.com/office/drawing/2014/main" id="{1E3B1F0C-86CD-4036-AA17-8B8F3BC50CA6}"/>
              </a:ext>
            </a:extLst>
          </p:cNvPr>
          <p:cNvCxnSpPr>
            <a:stCxn id="11" idx="0"/>
          </p:cNvCxnSpPr>
          <p:nvPr/>
        </p:nvCxnSpPr>
        <p:spPr bwMode="auto">
          <a:xfrm flipH="1">
            <a:off x="6943522" y="3037367"/>
            <a:ext cx="8824" cy="1357482"/>
          </a:xfrm>
          <a:prstGeom prst="line">
            <a:avLst/>
          </a:prstGeom>
          <a:ln w="508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AE20ABCE-0CF3-4F03-9AA7-BA61A1193A15}"/>
              </a:ext>
            </a:extLst>
          </p:cNvPr>
          <p:cNvSpPr txBox="1"/>
          <p:nvPr/>
        </p:nvSpPr>
        <p:spPr bwMode="auto">
          <a:xfrm>
            <a:off x="6054370" y="4215662"/>
            <a:ext cx="1238024" cy="1179652"/>
          </a:xfrm>
          <a:prstGeom prst="rect">
            <a:avLst/>
          </a:prstGeom>
          <a:solidFill>
            <a:srgbClr val="FFFF00"/>
          </a:solidFill>
          <a:ln>
            <a:solidFill>
              <a:schemeClr val="bg1">
                <a:lumMod val="65000"/>
              </a:schemeClr>
            </a:solidFill>
          </a:ln>
        </p:spPr>
        <p:txBody>
          <a:bodyPr lIns="109467" tIns="54734" rIns="109467" bIns="54734"/>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RFR Portal-GE Folders</a:t>
            </a:r>
          </a:p>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Ta control coordination for SAT and results</a:t>
            </a:r>
          </a:p>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Green light in RFR</a:t>
            </a: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sz="898" b="1" i="0" u="none" strike="noStrike" kern="1200" cap="none" spc="0" normalizeH="0" baseline="0" noProof="0" dirty="0">
              <a:ln>
                <a:noFill/>
              </a:ln>
              <a:solidFill>
                <a:srgbClr val="1E4191"/>
              </a:solidFill>
              <a:effectLst/>
              <a:uLnTx/>
              <a:uFillTx/>
              <a:latin typeface="GE Inspira Pitch"/>
              <a:ea typeface="+mn-ea"/>
              <a:cs typeface="+mn-cs"/>
            </a:endParaRPr>
          </a:p>
        </p:txBody>
      </p:sp>
      <p:cxnSp>
        <p:nvCxnSpPr>
          <p:cNvPr id="14" name="Connecteur droit 13">
            <a:extLst>
              <a:ext uri="{FF2B5EF4-FFF2-40B4-BE49-F238E27FC236}">
                <a16:creationId xmlns:a16="http://schemas.microsoft.com/office/drawing/2014/main" id="{B088B7CE-6953-4A2A-ABD2-6DC4480F4B95}"/>
              </a:ext>
            </a:extLst>
          </p:cNvPr>
          <p:cNvCxnSpPr/>
          <p:nvPr/>
        </p:nvCxnSpPr>
        <p:spPr>
          <a:xfrm flipH="1">
            <a:off x="2602294" y="3006145"/>
            <a:ext cx="0" cy="540278"/>
          </a:xfrm>
          <a:prstGeom prst="line">
            <a:avLst/>
          </a:prstGeom>
          <a:solidFill>
            <a:schemeClr val="bg1">
              <a:lumMod val="85000"/>
            </a:schemeClr>
          </a:solidFill>
        </p:spPr>
      </p:cxnSp>
      <p:sp>
        <p:nvSpPr>
          <p:cNvPr id="11" name="ZoneTexte 10">
            <a:extLst>
              <a:ext uri="{FF2B5EF4-FFF2-40B4-BE49-F238E27FC236}">
                <a16:creationId xmlns:a16="http://schemas.microsoft.com/office/drawing/2014/main" id="{E707A4CC-FE53-4178-BBFF-431E2A1371EA}"/>
              </a:ext>
            </a:extLst>
          </p:cNvPr>
          <p:cNvSpPr txBox="1"/>
          <p:nvPr/>
        </p:nvSpPr>
        <p:spPr bwMode="auto">
          <a:xfrm>
            <a:off x="6579717" y="3037367"/>
            <a:ext cx="745257" cy="1035413"/>
          </a:xfrm>
          <a:prstGeom prst="rect">
            <a:avLst/>
          </a:prstGeom>
          <a:solidFill>
            <a:schemeClr val="bg1">
              <a:lumMod val="95000"/>
            </a:schemeClr>
          </a:solidFill>
          <a:ln w="19050">
            <a:solidFill>
              <a:schemeClr val="bg2">
                <a:lumMod val="60000"/>
                <a:lumOff val="40000"/>
              </a:schemeClr>
            </a:solidFill>
            <a:prstDash val="solid"/>
            <a:headEnd type="none" w="med" len="med"/>
            <a:tailEnd type="arrow" w="med" len="med"/>
          </a:ln>
        </p:spPr>
        <p:txBody>
          <a:bodyPr lIns="50166" tIns="25083" rIns="50166" bIns="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197" b="1" i="0" u="none" strike="noStrike" kern="1200" cap="none" spc="0" normalizeH="0" baseline="0" noProof="0" dirty="0">
                <a:ln>
                  <a:noFill/>
                </a:ln>
                <a:solidFill>
                  <a:srgbClr val="1E4191"/>
                </a:solidFill>
                <a:effectLst/>
                <a:uLnTx/>
                <a:uFillTx/>
                <a:latin typeface="GE Inspira Pitch"/>
                <a:ea typeface="+mn-ea"/>
                <a:cs typeface="+mn-cs"/>
              </a:rPr>
              <a:t>FIRST FIRE</a:t>
            </a:r>
          </a:p>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sz="941" b="1" i="0" u="none" strike="noStrike" kern="1200" cap="none" spc="0" normalizeH="0" baseline="0" noProof="0" dirty="0">
              <a:ln>
                <a:noFill/>
              </a:ln>
              <a:solidFill>
                <a:srgbClr val="1E4191"/>
              </a:solidFill>
              <a:effectLst/>
              <a:uLnTx/>
              <a:uFillTx/>
              <a:latin typeface="GE Inspira Pitch"/>
              <a:ea typeface="+mn-ea"/>
              <a:cs typeface="+mn-cs"/>
            </a:endParaRPr>
          </a:p>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941" b="1" i="0" u="none" strike="noStrike" kern="1200" cap="none" spc="0" normalizeH="0" baseline="0" noProof="0" dirty="0">
                <a:ln>
                  <a:noFill/>
                </a:ln>
                <a:solidFill>
                  <a:srgbClr val="1E4191"/>
                </a:solidFill>
                <a:effectLst/>
                <a:uLnTx/>
                <a:uFillTx/>
                <a:latin typeface="GE Inspira Pitch"/>
                <a:ea typeface="+mn-ea"/>
                <a:cs typeface="+mn-cs"/>
              </a:rPr>
              <a:t>SATs</a:t>
            </a:r>
            <a:endParaRPr kumimoji="0" lang="en-US" sz="898" b="1" i="0" u="none" strike="noStrike" kern="1200" cap="none" spc="0" normalizeH="0" baseline="0" noProof="0" dirty="0">
              <a:ln>
                <a:noFill/>
              </a:ln>
              <a:solidFill>
                <a:srgbClr val="1E4191"/>
              </a:solidFill>
              <a:effectLst/>
              <a:uLnTx/>
              <a:uFillTx/>
              <a:latin typeface="GE Inspira Pitch"/>
              <a:ea typeface="+mn-ea"/>
              <a:cs typeface="+mn-cs"/>
            </a:endParaRPr>
          </a:p>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98" b="0" i="0" u="none" strike="noStrike" kern="1200" cap="none" spc="0" normalizeH="0" baseline="0" noProof="0" dirty="0">
                <a:ln>
                  <a:noFill/>
                </a:ln>
                <a:solidFill>
                  <a:srgbClr val="1E4191"/>
                </a:solidFill>
                <a:effectLst/>
                <a:uLnTx/>
                <a:uFillTx/>
                <a:latin typeface="GE Inspira Pitch"/>
                <a:ea typeface="+mn-ea"/>
                <a:cs typeface="+mn-cs"/>
              </a:rPr>
              <a:t>2 weeks</a:t>
            </a:r>
          </a:p>
        </p:txBody>
      </p:sp>
      <p:sp>
        <p:nvSpPr>
          <p:cNvPr id="19" name="ZoneTexte 18">
            <a:extLst>
              <a:ext uri="{FF2B5EF4-FFF2-40B4-BE49-F238E27FC236}">
                <a16:creationId xmlns:a16="http://schemas.microsoft.com/office/drawing/2014/main" id="{86613E45-446E-4273-9F8E-844606C605A3}"/>
              </a:ext>
            </a:extLst>
          </p:cNvPr>
          <p:cNvSpPr txBox="1"/>
          <p:nvPr/>
        </p:nvSpPr>
        <p:spPr bwMode="auto">
          <a:xfrm>
            <a:off x="5529026" y="2646412"/>
            <a:ext cx="989604" cy="386895"/>
          </a:xfrm>
          <a:prstGeom prst="rect">
            <a:avLst/>
          </a:prstGeom>
          <a:solidFill>
            <a:schemeClr val="accent2">
              <a:lumMod val="60000"/>
              <a:lumOff val="40000"/>
            </a:schemeClr>
          </a:solidFill>
        </p:spPr>
        <p:txBody>
          <a:bodyPr lIns="109467" tIns="54734" rIns="109467" bIns="54734">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Safety Manual prelim</a:t>
            </a:r>
          </a:p>
        </p:txBody>
      </p:sp>
      <p:sp>
        <p:nvSpPr>
          <p:cNvPr id="23" name="ZoneTexte 22">
            <a:extLst>
              <a:ext uri="{FF2B5EF4-FFF2-40B4-BE49-F238E27FC236}">
                <a16:creationId xmlns:a16="http://schemas.microsoft.com/office/drawing/2014/main" id="{AD0ACBEB-7C51-47E0-A4B6-57548F084784}"/>
              </a:ext>
            </a:extLst>
          </p:cNvPr>
          <p:cNvSpPr txBox="1"/>
          <p:nvPr/>
        </p:nvSpPr>
        <p:spPr bwMode="auto">
          <a:xfrm>
            <a:off x="7334476" y="2433287"/>
            <a:ext cx="646162" cy="386895"/>
          </a:xfrm>
          <a:prstGeom prst="rect">
            <a:avLst/>
          </a:prstGeom>
          <a:solidFill>
            <a:schemeClr val="accent2">
              <a:lumMod val="60000"/>
              <a:lumOff val="40000"/>
            </a:schemeClr>
          </a:solidFill>
        </p:spPr>
        <p:txBody>
          <a:bodyPr lIns="109467" tIns="54734" rIns="109467" bIns="54734">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fr-FR" sz="898" b="1" i="0" u="none" strike="noStrike" kern="1200" cap="none" spc="0" normalizeH="0" baseline="0" noProof="0" dirty="0">
                <a:ln>
                  <a:noFill/>
                </a:ln>
                <a:solidFill>
                  <a:srgbClr val="1E4191"/>
                </a:solidFill>
                <a:effectLst/>
                <a:uLnTx/>
                <a:uFillTx/>
                <a:latin typeface="GE Inspira Pitch"/>
                <a:ea typeface="+mn-ea"/>
                <a:cs typeface="+mn-cs"/>
              </a:rPr>
              <a:t>Certif File</a:t>
            </a:r>
          </a:p>
        </p:txBody>
      </p:sp>
      <p:cxnSp>
        <p:nvCxnSpPr>
          <p:cNvPr id="25" name="Connecteur droit avec flèche 24">
            <a:extLst>
              <a:ext uri="{FF2B5EF4-FFF2-40B4-BE49-F238E27FC236}">
                <a16:creationId xmlns:a16="http://schemas.microsoft.com/office/drawing/2014/main" id="{14A083F8-EEC1-43F9-B26A-AF3A457D9C91}"/>
              </a:ext>
            </a:extLst>
          </p:cNvPr>
          <p:cNvCxnSpPr/>
          <p:nvPr/>
        </p:nvCxnSpPr>
        <p:spPr>
          <a:xfrm>
            <a:off x="6123603" y="2583968"/>
            <a:ext cx="799557"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186E950F-3B7C-41D4-842B-C8F4DE185C62}"/>
              </a:ext>
            </a:extLst>
          </p:cNvPr>
          <p:cNvCxnSpPr/>
          <p:nvPr/>
        </p:nvCxnSpPr>
        <p:spPr>
          <a:xfrm>
            <a:off x="6942164" y="2953203"/>
            <a:ext cx="658379"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7" name="ZoneTexte 67">
            <a:extLst>
              <a:ext uri="{FF2B5EF4-FFF2-40B4-BE49-F238E27FC236}">
                <a16:creationId xmlns:a16="http://schemas.microsoft.com/office/drawing/2014/main" id="{323D3C03-5964-453E-B2F3-C8146220F29D}"/>
              </a:ext>
            </a:extLst>
          </p:cNvPr>
          <p:cNvSpPr txBox="1">
            <a:spLocks noChangeArrowheads="1"/>
          </p:cNvSpPr>
          <p:nvPr/>
        </p:nvSpPr>
        <p:spPr bwMode="auto">
          <a:xfrm>
            <a:off x="6123603" y="2397992"/>
            <a:ext cx="788697" cy="228244"/>
          </a:xfrm>
          <a:prstGeom prst="rect">
            <a:avLst/>
          </a:prstGeom>
          <a:noFill/>
          <a:ln>
            <a:noFill/>
          </a:ln>
        </p:spPr>
        <p:txBody>
          <a:bodyPr lIns="89194" tIns="44597" rIns="89194" bIns="44597">
            <a:spAutoFit/>
          </a:bodyPr>
          <a:lstStyle>
            <a:lvl1pPr eaLnBrk="0" hangingPunct="0">
              <a:defRPr>
                <a:solidFill>
                  <a:srgbClr val="000099"/>
                </a:solidFill>
                <a:latin typeface="GE Inspira Pitch" pitchFamily="34" charset="0"/>
              </a:defRPr>
            </a:lvl1pPr>
            <a:lvl2pPr marL="742950" indent="-285750" eaLnBrk="0" hangingPunct="0">
              <a:defRPr>
                <a:solidFill>
                  <a:srgbClr val="000099"/>
                </a:solidFill>
                <a:latin typeface="GE Inspira Pitch" pitchFamily="34" charset="0"/>
              </a:defRPr>
            </a:lvl2pPr>
            <a:lvl3pPr marL="1143000" indent="-228600" eaLnBrk="0" hangingPunct="0">
              <a:defRPr>
                <a:solidFill>
                  <a:srgbClr val="000099"/>
                </a:solidFill>
                <a:latin typeface="GE Inspira Pitch" pitchFamily="34" charset="0"/>
              </a:defRPr>
            </a:lvl3pPr>
            <a:lvl4pPr marL="1600200" indent="-228600" eaLnBrk="0" hangingPunct="0">
              <a:defRPr>
                <a:solidFill>
                  <a:srgbClr val="000099"/>
                </a:solidFill>
                <a:latin typeface="GE Inspira Pitch" pitchFamily="34" charset="0"/>
              </a:defRPr>
            </a:lvl4pPr>
            <a:lvl5pPr marL="2057400" indent="-228600" eaLnBrk="0" hangingPunct="0">
              <a:defRPr>
                <a:solidFill>
                  <a:srgbClr val="000099"/>
                </a:solidFill>
                <a:latin typeface="GE Inspira Pitch" pitchFamily="34" charset="0"/>
              </a:defRPr>
            </a:lvl5pPr>
            <a:lvl6pPr marL="2514600" indent="-228600" eaLnBrk="0" fontAlgn="base" hangingPunct="0">
              <a:spcBef>
                <a:spcPct val="50000"/>
              </a:spcBef>
              <a:spcAft>
                <a:spcPct val="0"/>
              </a:spcAft>
              <a:defRPr>
                <a:solidFill>
                  <a:srgbClr val="000099"/>
                </a:solidFill>
                <a:latin typeface="GE Inspira Pitch" pitchFamily="34" charset="0"/>
              </a:defRPr>
            </a:lvl6pPr>
            <a:lvl7pPr marL="2971800" indent="-228600" eaLnBrk="0" fontAlgn="base" hangingPunct="0">
              <a:spcBef>
                <a:spcPct val="50000"/>
              </a:spcBef>
              <a:spcAft>
                <a:spcPct val="0"/>
              </a:spcAft>
              <a:defRPr>
                <a:solidFill>
                  <a:srgbClr val="000099"/>
                </a:solidFill>
                <a:latin typeface="GE Inspira Pitch" pitchFamily="34" charset="0"/>
              </a:defRPr>
            </a:lvl7pPr>
            <a:lvl8pPr marL="3429000" indent="-228600" eaLnBrk="0" fontAlgn="base" hangingPunct="0">
              <a:spcBef>
                <a:spcPct val="50000"/>
              </a:spcBef>
              <a:spcAft>
                <a:spcPct val="0"/>
              </a:spcAft>
              <a:defRPr>
                <a:solidFill>
                  <a:srgbClr val="000099"/>
                </a:solidFill>
                <a:latin typeface="GE Inspira Pitch" pitchFamily="34" charset="0"/>
              </a:defRPr>
            </a:lvl8pPr>
            <a:lvl9pPr marL="3886200" indent="-228600" eaLnBrk="0" fontAlgn="base" hangingPunct="0">
              <a:spcBef>
                <a:spcPct val="50000"/>
              </a:spcBef>
              <a:spcAft>
                <a:spcPct val="0"/>
              </a:spcAft>
              <a:defRPr>
                <a:solidFill>
                  <a:srgbClr val="000099"/>
                </a:solidFill>
                <a:latin typeface="GE Inspira Pitch" pitchFamily="34" charset="0"/>
              </a:defRPr>
            </a:lvl9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fr-FR" sz="898" b="0" i="0" u="none" strike="noStrike" kern="1200" cap="none" spc="0" normalizeH="0" baseline="0" noProof="0" dirty="0">
                <a:ln>
                  <a:noFill/>
                </a:ln>
                <a:solidFill>
                  <a:srgbClr val="1E4191"/>
                </a:solidFill>
                <a:effectLst/>
                <a:uLnTx/>
                <a:uFillTx/>
                <a:latin typeface="GE Inspira Pitch" pitchFamily="34" charset="0"/>
                <a:ea typeface="+mn-ea"/>
                <a:cs typeface="+mn-cs"/>
              </a:rPr>
              <a:t>2 </a:t>
            </a:r>
            <a:r>
              <a:rPr kumimoji="0" lang="fr-FR" sz="898" b="0" i="0" u="none" strike="noStrike" kern="1200" cap="none" spc="0" normalizeH="0" baseline="0" noProof="0" dirty="0" err="1">
                <a:ln>
                  <a:noFill/>
                </a:ln>
                <a:solidFill>
                  <a:srgbClr val="1E4191"/>
                </a:solidFill>
                <a:effectLst/>
                <a:uLnTx/>
                <a:uFillTx/>
                <a:latin typeface="GE Inspira Pitch" pitchFamily="34" charset="0"/>
                <a:ea typeface="+mn-ea"/>
                <a:cs typeface="+mn-cs"/>
              </a:rPr>
              <a:t>Months</a:t>
            </a:r>
            <a:endParaRPr kumimoji="0" lang="fr-FR" sz="599" b="0" i="0" u="none" strike="noStrike" kern="1200" cap="none" spc="0" normalizeH="0" baseline="0" noProof="0" dirty="0">
              <a:ln>
                <a:noFill/>
              </a:ln>
              <a:solidFill>
                <a:srgbClr val="1E4191"/>
              </a:solidFill>
              <a:effectLst/>
              <a:uLnTx/>
              <a:uFillTx/>
              <a:latin typeface="GE Inspira Pitch" pitchFamily="34" charset="0"/>
              <a:ea typeface="+mn-ea"/>
              <a:cs typeface="+mn-cs"/>
            </a:endParaRPr>
          </a:p>
        </p:txBody>
      </p:sp>
      <p:sp>
        <p:nvSpPr>
          <p:cNvPr id="28" name="ZoneTexte 68">
            <a:extLst>
              <a:ext uri="{FF2B5EF4-FFF2-40B4-BE49-F238E27FC236}">
                <a16:creationId xmlns:a16="http://schemas.microsoft.com/office/drawing/2014/main" id="{22407724-7172-46FA-9BB9-041004C7092C}"/>
              </a:ext>
            </a:extLst>
          </p:cNvPr>
          <p:cNvSpPr txBox="1">
            <a:spLocks noChangeArrowheads="1"/>
          </p:cNvSpPr>
          <p:nvPr/>
        </p:nvSpPr>
        <p:spPr bwMode="auto">
          <a:xfrm>
            <a:off x="6912299" y="2760440"/>
            <a:ext cx="738470" cy="228244"/>
          </a:xfrm>
          <a:prstGeom prst="rect">
            <a:avLst/>
          </a:prstGeom>
          <a:noFill/>
          <a:ln>
            <a:noFill/>
          </a:ln>
        </p:spPr>
        <p:txBody>
          <a:bodyPr lIns="89194" tIns="44597" rIns="89194" bIns="44597">
            <a:spAutoFit/>
          </a:bodyPr>
          <a:lstStyle>
            <a:lvl1pPr eaLnBrk="0" hangingPunct="0">
              <a:defRPr>
                <a:solidFill>
                  <a:srgbClr val="000099"/>
                </a:solidFill>
                <a:latin typeface="GE Inspira Pitch" pitchFamily="34" charset="0"/>
              </a:defRPr>
            </a:lvl1pPr>
            <a:lvl2pPr marL="742950" indent="-285750" eaLnBrk="0" hangingPunct="0">
              <a:defRPr>
                <a:solidFill>
                  <a:srgbClr val="000099"/>
                </a:solidFill>
                <a:latin typeface="GE Inspira Pitch" pitchFamily="34" charset="0"/>
              </a:defRPr>
            </a:lvl2pPr>
            <a:lvl3pPr marL="1143000" indent="-228600" eaLnBrk="0" hangingPunct="0">
              <a:defRPr>
                <a:solidFill>
                  <a:srgbClr val="000099"/>
                </a:solidFill>
                <a:latin typeface="GE Inspira Pitch" pitchFamily="34" charset="0"/>
              </a:defRPr>
            </a:lvl3pPr>
            <a:lvl4pPr marL="1600200" indent="-228600" eaLnBrk="0" hangingPunct="0">
              <a:defRPr>
                <a:solidFill>
                  <a:srgbClr val="000099"/>
                </a:solidFill>
                <a:latin typeface="GE Inspira Pitch" pitchFamily="34" charset="0"/>
              </a:defRPr>
            </a:lvl4pPr>
            <a:lvl5pPr marL="2057400" indent="-228600" eaLnBrk="0" hangingPunct="0">
              <a:defRPr>
                <a:solidFill>
                  <a:srgbClr val="000099"/>
                </a:solidFill>
                <a:latin typeface="GE Inspira Pitch" pitchFamily="34" charset="0"/>
              </a:defRPr>
            </a:lvl5pPr>
            <a:lvl6pPr marL="2514600" indent="-228600" eaLnBrk="0" fontAlgn="base" hangingPunct="0">
              <a:spcBef>
                <a:spcPct val="50000"/>
              </a:spcBef>
              <a:spcAft>
                <a:spcPct val="0"/>
              </a:spcAft>
              <a:defRPr>
                <a:solidFill>
                  <a:srgbClr val="000099"/>
                </a:solidFill>
                <a:latin typeface="GE Inspira Pitch" pitchFamily="34" charset="0"/>
              </a:defRPr>
            </a:lvl6pPr>
            <a:lvl7pPr marL="2971800" indent="-228600" eaLnBrk="0" fontAlgn="base" hangingPunct="0">
              <a:spcBef>
                <a:spcPct val="50000"/>
              </a:spcBef>
              <a:spcAft>
                <a:spcPct val="0"/>
              </a:spcAft>
              <a:defRPr>
                <a:solidFill>
                  <a:srgbClr val="000099"/>
                </a:solidFill>
                <a:latin typeface="GE Inspira Pitch" pitchFamily="34" charset="0"/>
              </a:defRPr>
            </a:lvl7pPr>
            <a:lvl8pPr marL="3429000" indent="-228600" eaLnBrk="0" fontAlgn="base" hangingPunct="0">
              <a:spcBef>
                <a:spcPct val="50000"/>
              </a:spcBef>
              <a:spcAft>
                <a:spcPct val="0"/>
              </a:spcAft>
              <a:defRPr>
                <a:solidFill>
                  <a:srgbClr val="000099"/>
                </a:solidFill>
                <a:latin typeface="GE Inspira Pitch" pitchFamily="34" charset="0"/>
              </a:defRPr>
            </a:lvl8pPr>
            <a:lvl9pPr marL="3886200" indent="-228600" eaLnBrk="0" fontAlgn="base" hangingPunct="0">
              <a:spcBef>
                <a:spcPct val="50000"/>
              </a:spcBef>
              <a:spcAft>
                <a:spcPct val="0"/>
              </a:spcAft>
              <a:defRPr>
                <a:solidFill>
                  <a:srgbClr val="000099"/>
                </a:solidFill>
                <a:latin typeface="GE Inspira Pitch" pitchFamily="34" charset="0"/>
              </a:defRPr>
            </a:lvl9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fr-FR" sz="898" b="0" i="0" u="none" strike="noStrike" kern="1200" cap="none" spc="0" normalizeH="0" baseline="0" noProof="0" dirty="0">
                <a:ln>
                  <a:noFill/>
                </a:ln>
                <a:solidFill>
                  <a:srgbClr val="1E4191"/>
                </a:solidFill>
                <a:effectLst/>
                <a:uLnTx/>
                <a:uFillTx/>
                <a:latin typeface="GE Inspira Pitch" pitchFamily="34" charset="0"/>
                <a:ea typeface="+mn-ea"/>
                <a:cs typeface="+mn-cs"/>
              </a:rPr>
              <a:t>1 </a:t>
            </a:r>
            <a:r>
              <a:rPr kumimoji="0" lang="fr-FR" sz="898" b="0" i="0" u="none" strike="noStrike" kern="1200" cap="none" spc="0" normalizeH="0" baseline="0" noProof="0" dirty="0" err="1">
                <a:ln>
                  <a:noFill/>
                </a:ln>
                <a:solidFill>
                  <a:srgbClr val="1E4191"/>
                </a:solidFill>
                <a:effectLst/>
                <a:uLnTx/>
                <a:uFillTx/>
                <a:latin typeface="GE Inspira Pitch" pitchFamily="34" charset="0"/>
                <a:ea typeface="+mn-ea"/>
                <a:cs typeface="+mn-cs"/>
              </a:rPr>
              <a:t>Month</a:t>
            </a:r>
            <a:endParaRPr kumimoji="0" lang="fr-FR" sz="898" b="0" i="0" u="none" strike="noStrike" kern="1200" cap="none" spc="0" normalizeH="0" baseline="0" noProof="0" dirty="0">
              <a:ln>
                <a:noFill/>
              </a:ln>
              <a:solidFill>
                <a:srgbClr val="1E4191"/>
              </a:solidFill>
              <a:effectLst/>
              <a:uLnTx/>
              <a:uFillTx/>
              <a:latin typeface="GE Inspira Pitch" pitchFamily="34" charset="0"/>
              <a:ea typeface="+mn-ea"/>
              <a:cs typeface="+mn-cs"/>
            </a:endParaRPr>
          </a:p>
        </p:txBody>
      </p:sp>
      <p:cxnSp>
        <p:nvCxnSpPr>
          <p:cNvPr id="30" name="Connecteur droit 29">
            <a:extLst>
              <a:ext uri="{FF2B5EF4-FFF2-40B4-BE49-F238E27FC236}">
                <a16:creationId xmlns:a16="http://schemas.microsoft.com/office/drawing/2014/main" id="{A0387034-B0A1-4E86-BBB5-95BC77391116}"/>
              </a:ext>
            </a:extLst>
          </p:cNvPr>
          <p:cNvCxnSpPr/>
          <p:nvPr/>
        </p:nvCxnSpPr>
        <p:spPr>
          <a:xfrm flipH="1">
            <a:off x="5153002" y="2647769"/>
            <a:ext cx="0" cy="3149359"/>
          </a:xfrm>
          <a:prstGeom prst="line">
            <a:avLst/>
          </a:prstGeom>
          <a:ln w="508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B1BC3409-0166-474C-B2E1-41B2AC932108}"/>
              </a:ext>
            </a:extLst>
          </p:cNvPr>
          <p:cNvCxnSpPr/>
          <p:nvPr/>
        </p:nvCxnSpPr>
        <p:spPr>
          <a:xfrm>
            <a:off x="5167936" y="2300254"/>
            <a:ext cx="175522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1E604645-0870-4B01-B257-E29BBBDCFE24}"/>
              </a:ext>
            </a:extLst>
          </p:cNvPr>
          <p:cNvSpPr txBox="1"/>
          <p:nvPr/>
        </p:nvSpPr>
        <p:spPr bwMode="auto">
          <a:xfrm>
            <a:off x="2522202" y="5797128"/>
            <a:ext cx="6316365" cy="511771"/>
          </a:xfrm>
          <a:prstGeom prst="rect">
            <a:avLst/>
          </a:prstGeom>
          <a:solidFill>
            <a:schemeClr val="tx1">
              <a:lumMod val="40000"/>
              <a:lumOff val="60000"/>
            </a:schemeClr>
          </a:solidFill>
        </p:spPr>
        <p:txBody>
          <a:bodyPr lIns="109467" tIns="54734" rIns="109467" bIns="54734"/>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Document </a:t>
            </a:r>
            <a:r>
              <a:rPr kumimoji="0" lang="en-US" sz="1368" b="1" i="0" u="none" strike="noStrike" kern="1200" cap="none" spc="0" normalizeH="0" baseline="0" noProof="0" dirty="0">
                <a:ln>
                  <a:noFill/>
                </a:ln>
                <a:solidFill>
                  <a:srgbClr val="1E4191"/>
                </a:solidFill>
                <a:effectLst/>
                <a:uLnTx/>
                <a:uFillTx/>
                <a:latin typeface="GE Inspira Pitch"/>
                <a:ea typeface="+mn-ea"/>
                <a:cs typeface="+mn-cs"/>
              </a:rPr>
              <a:t>delivery</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mainly</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en-US" sz="1368" b="1" i="0" u="none" strike="noStrike" kern="1200" cap="none" spc="0" normalizeH="0" baseline="0" noProof="0" dirty="0">
                <a:ln>
                  <a:noFill/>
                </a:ln>
                <a:solidFill>
                  <a:srgbClr val="1E4191"/>
                </a:solidFill>
                <a:effectLst/>
                <a:uLnTx/>
                <a:uFillTx/>
                <a:latin typeface="GE Inspira Pitch"/>
                <a:ea typeface="+mn-ea"/>
                <a:cs typeface="+mn-cs"/>
              </a:rPr>
              <a:t>linked</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en-US" sz="1368" b="1" i="0" u="none" strike="noStrike" kern="1200" cap="none" spc="0" normalizeH="0" baseline="0" noProof="0" dirty="0">
                <a:ln>
                  <a:noFill/>
                </a:ln>
                <a:solidFill>
                  <a:srgbClr val="1E4191"/>
                </a:solidFill>
                <a:effectLst/>
                <a:uLnTx/>
                <a:uFillTx/>
                <a:latin typeface="GE Inspira Pitch"/>
                <a:ea typeface="+mn-ea"/>
                <a:cs typeface="+mn-cs"/>
              </a:rPr>
              <a:t>to</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customer</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requests</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kks</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specific</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design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with</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no impact on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reliability</a:t>
            </a:r>
            <a:r>
              <a:rPr kumimoji="0" lang="fr-FR" sz="1368" b="1" i="0" u="none" strike="noStrike" kern="1200" cap="none" spc="0" normalizeH="0" baseline="0" noProof="0" dirty="0">
                <a:ln>
                  <a:noFill/>
                </a:ln>
                <a:solidFill>
                  <a:srgbClr val="1E4191"/>
                </a:solidFill>
                <a:effectLst/>
                <a:uLnTx/>
                <a:uFillTx/>
                <a:latin typeface="GE Inspira Pitch"/>
                <a:ea typeface="+mn-ea"/>
                <a:cs typeface="+mn-cs"/>
              </a:rPr>
              <a:t> </a:t>
            </a:r>
            <a:r>
              <a:rPr kumimoji="0" lang="fr-FR" sz="1368" b="1" i="0" u="none" strike="noStrike" kern="1200" cap="none" spc="0" normalizeH="0" baseline="0" noProof="0" dirty="0" err="1">
                <a:ln>
                  <a:noFill/>
                </a:ln>
                <a:solidFill>
                  <a:srgbClr val="1E4191"/>
                </a:solidFill>
                <a:effectLst/>
                <a:uLnTx/>
                <a:uFillTx/>
                <a:latin typeface="GE Inspira Pitch"/>
                <a:ea typeface="+mn-ea"/>
                <a:cs typeface="+mn-cs"/>
              </a:rPr>
              <a:t>calculation</a:t>
            </a:r>
            <a:endParaRPr kumimoji="0" lang="fr-FR" sz="1368" b="1" i="0" u="none" strike="noStrike" kern="1200" cap="none" spc="0" normalizeH="0" baseline="0" noProof="0" dirty="0">
              <a:ln>
                <a:noFill/>
              </a:ln>
              <a:solidFill>
                <a:srgbClr val="1E4191"/>
              </a:solidFill>
              <a:effectLst/>
              <a:uLnTx/>
              <a:uFillTx/>
              <a:latin typeface="GE Inspira Pitch"/>
              <a:ea typeface="+mn-ea"/>
              <a:cs typeface="+mn-cs"/>
            </a:endParaRPr>
          </a:p>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fr-FR" sz="1368" b="1" i="0" u="none" strike="noStrike" kern="1200" cap="none" spc="0" normalizeH="0" baseline="0" noProof="0" dirty="0">
              <a:ln>
                <a:noFill/>
              </a:ln>
              <a:solidFill>
                <a:srgbClr val="1E4191"/>
              </a:solidFill>
              <a:effectLst/>
              <a:uLnTx/>
              <a:uFillTx/>
              <a:latin typeface="GE Inspira Pitch"/>
              <a:ea typeface="+mn-ea"/>
              <a:cs typeface="+mn-cs"/>
            </a:endParaRPr>
          </a:p>
        </p:txBody>
      </p:sp>
      <p:sp>
        <p:nvSpPr>
          <p:cNvPr id="42" name="ZoneTexte 41">
            <a:extLst>
              <a:ext uri="{FF2B5EF4-FFF2-40B4-BE49-F238E27FC236}">
                <a16:creationId xmlns:a16="http://schemas.microsoft.com/office/drawing/2014/main" id="{7AD9B0E5-0F67-4BDE-8117-11E11283B94C}"/>
              </a:ext>
            </a:extLst>
          </p:cNvPr>
          <p:cNvSpPr txBox="1"/>
          <p:nvPr/>
        </p:nvSpPr>
        <p:spPr>
          <a:xfrm>
            <a:off x="1519023" y="4913408"/>
            <a:ext cx="1296395" cy="594196"/>
          </a:xfrm>
          <a:prstGeom prst="rect">
            <a:avLst/>
          </a:prstGeom>
          <a:solidFill>
            <a:srgbClr val="FFFF00"/>
          </a:solidFill>
          <a:ln>
            <a:solidFill>
              <a:schemeClr val="bg1">
                <a:lumMod val="65000"/>
              </a:schemeClr>
            </a:solidFill>
          </a:ln>
        </p:spPr>
        <p:txBody>
          <a:bodyPr lIns="109467" tIns="54734" rIns="109467" bIns="54734">
            <a:spAutoFit/>
          </a:bodyPr>
          <a:lstStyle>
            <a:defPPr>
              <a:defRPr lang="fr-FR"/>
            </a:defPPr>
            <a:lvl1pPr algn="ctr" eaLnBrk="0" hangingPunct="0">
              <a:defRPr sz="1050" b="1">
                <a:solidFill>
                  <a:srgbClr val="1E4191"/>
                </a:solidFill>
                <a:latin typeface="GE Inspira Pitch" pitchFamily="34" charset="0"/>
              </a:defRPr>
            </a:lvl1pPr>
            <a:lvl2pPr>
              <a:defRPr>
                <a:solidFill>
                  <a:srgbClr val="000099"/>
                </a:solidFill>
                <a:latin typeface="GE Inspira Pitch" pitchFamily="34" charset="0"/>
              </a:defRPr>
            </a:lvl2pPr>
            <a:lvl3pPr>
              <a:defRPr>
                <a:solidFill>
                  <a:srgbClr val="000099"/>
                </a:solidFill>
                <a:latin typeface="GE Inspira Pitch" pitchFamily="34" charset="0"/>
              </a:defRPr>
            </a:lvl3pPr>
            <a:lvl4pPr>
              <a:defRPr>
                <a:solidFill>
                  <a:srgbClr val="000099"/>
                </a:solidFill>
                <a:latin typeface="GE Inspira Pitch" pitchFamily="34" charset="0"/>
              </a:defRPr>
            </a:lvl4pPr>
            <a:lvl5pPr>
              <a:defRPr>
                <a:solidFill>
                  <a:srgbClr val="000099"/>
                </a:solidFill>
                <a:latin typeface="GE Inspira Pitch" pitchFamily="34" charset="0"/>
              </a:defRPr>
            </a:lvl5pPr>
            <a:lvl6pPr>
              <a:defRPr>
                <a:solidFill>
                  <a:srgbClr val="000099"/>
                </a:solidFill>
                <a:latin typeface="GE Inspira Pitch" pitchFamily="34" charset="0"/>
              </a:defRPr>
            </a:lvl6pPr>
            <a:lvl7pPr>
              <a:defRPr>
                <a:solidFill>
                  <a:srgbClr val="000099"/>
                </a:solidFill>
                <a:latin typeface="GE Inspira Pitch" pitchFamily="34" charset="0"/>
              </a:defRPr>
            </a:lvl7pPr>
            <a:lvl8pPr>
              <a:defRPr>
                <a:solidFill>
                  <a:srgbClr val="000099"/>
                </a:solidFill>
                <a:latin typeface="GE Inspira Pitch" pitchFamily="34" charset="0"/>
              </a:defRPr>
            </a:lvl8pPr>
            <a:lvl9pPr>
              <a:defRPr>
                <a:solidFill>
                  <a:srgbClr val="000099"/>
                </a:solidFill>
                <a:latin typeface="GE Inspira Pitch" pitchFamily="34" charset="0"/>
              </a:defRPr>
            </a:lvl9p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pitchFamily="34" charset="0"/>
                <a:ea typeface="+mn-ea"/>
                <a:cs typeface="+mn-cs"/>
              </a:rPr>
              <a:t>1. Dashboard and actions list</a:t>
            </a:r>
          </a:p>
          <a:p>
            <a:pPr marL="0" marR="0" lvl="0" indent="0" algn="ctr" defTabSz="914400" rtl="0" eaLnBrk="0" fontAlgn="auto" latinLnBrk="0" hangingPunct="0">
              <a:lnSpc>
                <a:spcPct val="100000"/>
              </a:lnSpc>
              <a:spcBef>
                <a:spcPct val="50000"/>
              </a:spcBef>
              <a:spcAft>
                <a:spcPts val="0"/>
              </a:spcAft>
              <a:buClrTx/>
              <a:buSzTx/>
              <a:buFontTx/>
              <a:buNone/>
              <a:tabLst/>
              <a:defRPr/>
            </a:pPr>
            <a:endParaRPr kumimoji="0" lang="en-US" sz="898" b="1" i="0" u="none" strike="noStrike" kern="1200" cap="none" spc="0" normalizeH="0" baseline="0" noProof="0" dirty="0">
              <a:ln>
                <a:noFill/>
              </a:ln>
              <a:solidFill>
                <a:srgbClr val="1E4191"/>
              </a:solidFill>
              <a:effectLst/>
              <a:uLnTx/>
              <a:uFillTx/>
              <a:latin typeface="GE Inspira Pitch" pitchFamily="34" charset="0"/>
              <a:ea typeface="+mn-ea"/>
              <a:cs typeface="+mn-cs"/>
            </a:endParaRPr>
          </a:p>
        </p:txBody>
      </p:sp>
      <p:cxnSp>
        <p:nvCxnSpPr>
          <p:cNvPr id="45" name="Connecteur droit avec flèche 44">
            <a:extLst>
              <a:ext uri="{FF2B5EF4-FFF2-40B4-BE49-F238E27FC236}">
                <a16:creationId xmlns:a16="http://schemas.microsoft.com/office/drawing/2014/main" id="{E52208BA-132B-4D28-971F-680CF707DA11}"/>
              </a:ext>
            </a:extLst>
          </p:cNvPr>
          <p:cNvCxnSpPr/>
          <p:nvPr/>
        </p:nvCxnSpPr>
        <p:spPr>
          <a:xfrm>
            <a:off x="7654843" y="2962705"/>
            <a:ext cx="901368"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6" name="ZoneTexte 53">
            <a:extLst>
              <a:ext uri="{FF2B5EF4-FFF2-40B4-BE49-F238E27FC236}">
                <a16:creationId xmlns:a16="http://schemas.microsoft.com/office/drawing/2014/main" id="{4A021FF8-222C-4DA4-978D-5937C8D5F52D}"/>
              </a:ext>
            </a:extLst>
          </p:cNvPr>
          <p:cNvSpPr txBox="1">
            <a:spLocks noChangeArrowheads="1"/>
          </p:cNvSpPr>
          <p:nvPr/>
        </p:nvSpPr>
        <p:spPr bwMode="auto">
          <a:xfrm>
            <a:off x="7555746" y="2772657"/>
            <a:ext cx="1077841" cy="228244"/>
          </a:xfrm>
          <a:prstGeom prst="rect">
            <a:avLst/>
          </a:prstGeom>
          <a:noFill/>
          <a:ln>
            <a:noFill/>
          </a:ln>
        </p:spPr>
        <p:txBody>
          <a:bodyPr lIns="89194" tIns="44597" rIns="89194" bIns="44597">
            <a:spAutoFit/>
          </a:bodyPr>
          <a:lstStyle>
            <a:lvl1pPr eaLnBrk="0" hangingPunct="0">
              <a:defRPr>
                <a:solidFill>
                  <a:srgbClr val="000099"/>
                </a:solidFill>
                <a:latin typeface="GE Inspira Pitch" pitchFamily="34" charset="0"/>
              </a:defRPr>
            </a:lvl1pPr>
            <a:lvl2pPr marL="742950" indent="-285750" eaLnBrk="0" hangingPunct="0">
              <a:defRPr>
                <a:solidFill>
                  <a:srgbClr val="000099"/>
                </a:solidFill>
                <a:latin typeface="GE Inspira Pitch" pitchFamily="34" charset="0"/>
              </a:defRPr>
            </a:lvl2pPr>
            <a:lvl3pPr marL="1143000" indent="-228600" eaLnBrk="0" hangingPunct="0">
              <a:defRPr>
                <a:solidFill>
                  <a:srgbClr val="000099"/>
                </a:solidFill>
                <a:latin typeface="GE Inspira Pitch" pitchFamily="34" charset="0"/>
              </a:defRPr>
            </a:lvl3pPr>
            <a:lvl4pPr marL="1600200" indent="-228600" eaLnBrk="0" hangingPunct="0">
              <a:defRPr>
                <a:solidFill>
                  <a:srgbClr val="000099"/>
                </a:solidFill>
                <a:latin typeface="GE Inspira Pitch" pitchFamily="34" charset="0"/>
              </a:defRPr>
            </a:lvl4pPr>
            <a:lvl5pPr marL="2057400" indent="-228600" eaLnBrk="0" hangingPunct="0">
              <a:defRPr>
                <a:solidFill>
                  <a:srgbClr val="000099"/>
                </a:solidFill>
                <a:latin typeface="GE Inspira Pitch" pitchFamily="34" charset="0"/>
              </a:defRPr>
            </a:lvl5pPr>
            <a:lvl6pPr marL="2514600" indent="-228600" eaLnBrk="0" fontAlgn="base" hangingPunct="0">
              <a:spcBef>
                <a:spcPct val="50000"/>
              </a:spcBef>
              <a:spcAft>
                <a:spcPct val="0"/>
              </a:spcAft>
              <a:defRPr>
                <a:solidFill>
                  <a:srgbClr val="000099"/>
                </a:solidFill>
                <a:latin typeface="GE Inspira Pitch" pitchFamily="34" charset="0"/>
              </a:defRPr>
            </a:lvl6pPr>
            <a:lvl7pPr marL="2971800" indent="-228600" eaLnBrk="0" fontAlgn="base" hangingPunct="0">
              <a:spcBef>
                <a:spcPct val="50000"/>
              </a:spcBef>
              <a:spcAft>
                <a:spcPct val="0"/>
              </a:spcAft>
              <a:defRPr>
                <a:solidFill>
                  <a:srgbClr val="000099"/>
                </a:solidFill>
                <a:latin typeface="GE Inspira Pitch" pitchFamily="34" charset="0"/>
              </a:defRPr>
            </a:lvl7pPr>
            <a:lvl8pPr marL="3429000" indent="-228600" eaLnBrk="0" fontAlgn="base" hangingPunct="0">
              <a:spcBef>
                <a:spcPct val="50000"/>
              </a:spcBef>
              <a:spcAft>
                <a:spcPct val="0"/>
              </a:spcAft>
              <a:defRPr>
                <a:solidFill>
                  <a:srgbClr val="000099"/>
                </a:solidFill>
                <a:latin typeface="GE Inspira Pitch" pitchFamily="34" charset="0"/>
              </a:defRPr>
            </a:lvl8pPr>
            <a:lvl9pPr marL="3886200" indent="-228600" eaLnBrk="0" fontAlgn="base" hangingPunct="0">
              <a:spcBef>
                <a:spcPct val="50000"/>
              </a:spcBef>
              <a:spcAft>
                <a:spcPct val="0"/>
              </a:spcAft>
              <a:defRPr>
                <a:solidFill>
                  <a:srgbClr val="000099"/>
                </a:solidFill>
                <a:latin typeface="GE Inspira Pitch" pitchFamily="34" charset="0"/>
              </a:defRPr>
            </a:lvl9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fr-FR" sz="898" b="0" i="0" u="none" strike="noStrike" kern="1200" cap="none" spc="0" normalizeH="0" baseline="0" noProof="0" dirty="0">
                <a:ln>
                  <a:noFill/>
                </a:ln>
                <a:solidFill>
                  <a:srgbClr val="1E4191"/>
                </a:solidFill>
                <a:effectLst/>
                <a:uLnTx/>
                <a:uFillTx/>
                <a:latin typeface="GE Inspira Pitch" pitchFamily="34" charset="0"/>
                <a:ea typeface="+mn-ea"/>
                <a:cs typeface="+mn-cs"/>
              </a:rPr>
              <a:t>1 to 2 </a:t>
            </a:r>
            <a:r>
              <a:rPr kumimoji="0" lang="fr-FR" sz="898" b="0" i="0" u="none" strike="noStrike" kern="1200" cap="none" spc="0" normalizeH="0" baseline="0" noProof="0" dirty="0" err="1">
                <a:ln>
                  <a:noFill/>
                </a:ln>
                <a:solidFill>
                  <a:srgbClr val="1E4191"/>
                </a:solidFill>
                <a:effectLst/>
                <a:uLnTx/>
                <a:uFillTx/>
                <a:latin typeface="GE Inspira Pitch" pitchFamily="34" charset="0"/>
                <a:ea typeface="+mn-ea"/>
                <a:cs typeface="+mn-cs"/>
              </a:rPr>
              <a:t>Months</a:t>
            </a:r>
            <a:endParaRPr kumimoji="0" lang="fr-FR" sz="898" b="0" i="0" u="none" strike="noStrike" kern="1200" cap="none" spc="0" normalizeH="0" baseline="0" noProof="0" dirty="0">
              <a:ln>
                <a:noFill/>
              </a:ln>
              <a:solidFill>
                <a:srgbClr val="1E4191"/>
              </a:solidFill>
              <a:effectLst/>
              <a:uLnTx/>
              <a:uFillTx/>
              <a:latin typeface="GE Inspira Pitch" pitchFamily="34" charset="0"/>
              <a:ea typeface="+mn-ea"/>
              <a:cs typeface="+mn-cs"/>
            </a:endParaRPr>
          </a:p>
        </p:txBody>
      </p:sp>
      <p:sp>
        <p:nvSpPr>
          <p:cNvPr id="47" name="ZoneTexte 46">
            <a:extLst>
              <a:ext uri="{FF2B5EF4-FFF2-40B4-BE49-F238E27FC236}">
                <a16:creationId xmlns:a16="http://schemas.microsoft.com/office/drawing/2014/main" id="{1DA94F74-662C-40FD-B79C-29EE2DBC737E}"/>
              </a:ext>
            </a:extLst>
          </p:cNvPr>
          <p:cNvSpPr txBox="1"/>
          <p:nvPr/>
        </p:nvSpPr>
        <p:spPr>
          <a:xfrm>
            <a:off x="1847534" y="1158612"/>
            <a:ext cx="6908226" cy="321044"/>
          </a:xfrm>
          <a:prstGeom prst="rect">
            <a:avLst/>
          </a:prstGeom>
          <a:solidFill>
            <a:schemeClr val="bg1">
              <a:lumMod val="95000"/>
            </a:schemeClr>
          </a:solidFill>
          <a:ln w="38100">
            <a:solidFill>
              <a:schemeClr val="tx2">
                <a:lumMod val="60000"/>
                <a:lumOff val="40000"/>
              </a:schemeClr>
            </a:solidFill>
          </a:ln>
        </p:spPr>
        <p:txBody>
          <a:bodyPr lIns="89194" tIns="54734" rIns="89194" bIns="54734">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368" b="1" i="0" u="none" strike="noStrike" kern="1200" cap="none" spc="0" normalizeH="0" baseline="0" noProof="0" dirty="0">
                <a:ln>
                  <a:noFill/>
                </a:ln>
                <a:solidFill>
                  <a:srgbClr val="BF4D00"/>
                </a:solidFill>
                <a:effectLst/>
                <a:uLnTx/>
                <a:uFillTx/>
                <a:latin typeface="GE Inspira Pitch"/>
                <a:ea typeface="+mn-ea"/>
                <a:cs typeface="+mn-cs"/>
              </a:rPr>
              <a:t>Interaction with 3rd Party (EXIDA or INERIS)</a:t>
            </a:r>
          </a:p>
        </p:txBody>
      </p:sp>
      <p:cxnSp>
        <p:nvCxnSpPr>
          <p:cNvPr id="48" name="Connecteur droit avec flèche 47">
            <a:extLst>
              <a:ext uri="{FF2B5EF4-FFF2-40B4-BE49-F238E27FC236}">
                <a16:creationId xmlns:a16="http://schemas.microsoft.com/office/drawing/2014/main" id="{691AD2B7-A114-4919-80F4-8C466AB2E152}"/>
              </a:ext>
            </a:extLst>
          </p:cNvPr>
          <p:cNvCxnSpPr/>
          <p:nvPr/>
        </p:nvCxnSpPr>
        <p:spPr>
          <a:xfrm flipV="1">
            <a:off x="1847534" y="1527847"/>
            <a:ext cx="0" cy="2268352"/>
          </a:xfrm>
          <a:prstGeom prst="straightConnector1">
            <a:avLst/>
          </a:prstGeom>
          <a:solidFill>
            <a:schemeClr val="bg1">
              <a:lumMod val="95000"/>
            </a:schemeClr>
          </a:solidFill>
          <a:ln w="38100">
            <a:solidFill>
              <a:schemeClr val="tx2">
                <a:lumMod val="60000"/>
                <a:lumOff val="40000"/>
              </a:schemeClr>
            </a:solidFill>
            <a:headEnd type="none" w="med" len="med"/>
            <a:tailEnd type="arrow" w="med" len="med"/>
          </a:ln>
        </p:spPr>
      </p:cxnSp>
      <p:cxnSp>
        <p:nvCxnSpPr>
          <p:cNvPr id="49" name="Connecteur droit avec flèche 48">
            <a:extLst>
              <a:ext uri="{FF2B5EF4-FFF2-40B4-BE49-F238E27FC236}">
                <a16:creationId xmlns:a16="http://schemas.microsoft.com/office/drawing/2014/main" id="{ED9256F0-1260-44BF-935C-335D291C9D61}"/>
              </a:ext>
            </a:extLst>
          </p:cNvPr>
          <p:cNvCxnSpPr/>
          <p:nvPr/>
        </p:nvCxnSpPr>
        <p:spPr>
          <a:xfrm flipH="1">
            <a:off x="8554853" y="1480335"/>
            <a:ext cx="19005" cy="1675133"/>
          </a:xfrm>
          <a:prstGeom prst="straightConnector1">
            <a:avLst/>
          </a:prstGeom>
          <a:solidFill>
            <a:schemeClr val="bg1">
              <a:lumMod val="95000"/>
            </a:schemeClr>
          </a:solidFill>
          <a:ln w="38100">
            <a:solidFill>
              <a:schemeClr val="tx2">
                <a:lumMod val="60000"/>
                <a:lumOff val="40000"/>
              </a:schemeClr>
            </a:solidFill>
            <a:headEnd type="none" w="med" len="med"/>
            <a:tailEnd type="arrow" w="med" len="med"/>
          </a:ln>
        </p:spPr>
      </p:cxnSp>
      <p:cxnSp>
        <p:nvCxnSpPr>
          <p:cNvPr id="50" name="Connecteur droit avec flèche 49">
            <a:extLst>
              <a:ext uri="{FF2B5EF4-FFF2-40B4-BE49-F238E27FC236}">
                <a16:creationId xmlns:a16="http://schemas.microsoft.com/office/drawing/2014/main" id="{B995D74B-9FC7-4DB0-A9EE-F0E104C50A52}"/>
              </a:ext>
            </a:extLst>
          </p:cNvPr>
          <p:cNvCxnSpPr/>
          <p:nvPr/>
        </p:nvCxnSpPr>
        <p:spPr>
          <a:xfrm flipV="1">
            <a:off x="5148930" y="1478978"/>
            <a:ext cx="0" cy="1463366"/>
          </a:xfrm>
          <a:prstGeom prst="straightConnector1">
            <a:avLst/>
          </a:prstGeom>
          <a:solidFill>
            <a:schemeClr val="bg1">
              <a:lumMod val="95000"/>
            </a:schemeClr>
          </a:solidFill>
          <a:ln w="38100">
            <a:solidFill>
              <a:schemeClr val="tx2">
                <a:lumMod val="60000"/>
                <a:lumOff val="40000"/>
              </a:schemeClr>
            </a:solidFill>
            <a:headEnd type="none" w="med" len="med"/>
            <a:tailEnd type="arrow" w="med" len="med"/>
          </a:ln>
        </p:spPr>
      </p:cxnSp>
      <p:cxnSp>
        <p:nvCxnSpPr>
          <p:cNvPr id="51" name="Connecteur droit avec flèche 50">
            <a:extLst>
              <a:ext uri="{FF2B5EF4-FFF2-40B4-BE49-F238E27FC236}">
                <a16:creationId xmlns:a16="http://schemas.microsoft.com/office/drawing/2014/main" id="{197D4682-DE41-465C-BA03-6BAA4DDEA2F9}"/>
              </a:ext>
            </a:extLst>
          </p:cNvPr>
          <p:cNvCxnSpPr>
            <a:stCxn id="23" idx="0"/>
          </p:cNvCxnSpPr>
          <p:nvPr/>
        </p:nvCxnSpPr>
        <p:spPr>
          <a:xfrm flipV="1">
            <a:off x="7657557" y="1480335"/>
            <a:ext cx="0" cy="952952"/>
          </a:xfrm>
          <a:prstGeom prst="straightConnector1">
            <a:avLst/>
          </a:prstGeom>
          <a:solidFill>
            <a:schemeClr val="bg1">
              <a:lumMod val="95000"/>
            </a:schemeClr>
          </a:solidFill>
          <a:ln w="38100">
            <a:solidFill>
              <a:schemeClr val="tx2">
                <a:lumMod val="60000"/>
                <a:lumOff val="40000"/>
              </a:schemeClr>
            </a:solidFill>
            <a:headEnd type="none" w="med" len="med"/>
            <a:tailEnd type="arrow" w="med" len="med"/>
          </a:ln>
        </p:spPr>
      </p:cxnSp>
      <p:cxnSp>
        <p:nvCxnSpPr>
          <p:cNvPr id="52" name="Connecteur droit avec flèche 51">
            <a:extLst>
              <a:ext uri="{FF2B5EF4-FFF2-40B4-BE49-F238E27FC236}">
                <a16:creationId xmlns:a16="http://schemas.microsoft.com/office/drawing/2014/main" id="{3F11A5C5-3AF7-4BCD-BCAF-DAC2D2163CD5}"/>
              </a:ext>
            </a:extLst>
          </p:cNvPr>
          <p:cNvCxnSpPr>
            <a:stCxn id="11" idx="0"/>
          </p:cNvCxnSpPr>
          <p:nvPr/>
        </p:nvCxnSpPr>
        <p:spPr>
          <a:xfrm flipV="1">
            <a:off x="6952346" y="1478977"/>
            <a:ext cx="678" cy="1558390"/>
          </a:xfrm>
          <a:prstGeom prst="straightConnector1">
            <a:avLst/>
          </a:prstGeom>
          <a:solidFill>
            <a:schemeClr val="bg1">
              <a:lumMod val="95000"/>
            </a:schemeClr>
          </a:solidFill>
          <a:ln w="38100">
            <a:solidFill>
              <a:schemeClr val="tx2">
                <a:lumMod val="60000"/>
                <a:lumOff val="40000"/>
              </a:schemeClr>
            </a:solidFill>
            <a:prstDash val="sysDash"/>
            <a:headEnd type="none" w="med" len="med"/>
            <a:tailEnd type="arrow" w="med" len="med"/>
          </a:ln>
        </p:spPr>
      </p:cxnSp>
      <p:sp>
        <p:nvSpPr>
          <p:cNvPr id="53" name="ZoneTexte 52">
            <a:extLst>
              <a:ext uri="{FF2B5EF4-FFF2-40B4-BE49-F238E27FC236}">
                <a16:creationId xmlns:a16="http://schemas.microsoft.com/office/drawing/2014/main" id="{3427D92E-77FF-49BC-B232-46D3DF4958FE}"/>
              </a:ext>
            </a:extLst>
          </p:cNvPr>
          <p:cNvSpPr txBox="1"/>
          <p:nvPr/>
        </p:nvSpPr>
        <p:spPr>
          <a:xfrm>
            <a:off x="1519151" y="3796424"/>
            <a:ext cx="657021" cy="230512"/>
          </a:xfrm>
          <a:prstGeom prst="rect">
            <a:avLst/>
          </a:prstGeom>
          <a:noFill/>
          <a:ln w="28575" cap="flat" cmpd="sng" algn="ctr">
            <a:solidFill>
              <a:srgbClr val="FFFF00"/>
            </a:solidFill>
            <a:prstDash val="solid"/>
            <a:round/>
            <a:headEnd type="none" w="med" len="med"/>
            <a:tailEnd type="none" w="med" len="med"/>
          </a:ln>
          <a:effectLst>
            <a:glow rad="63500">
              <a:srgbClr val="FFFF00"/>
            </a:glow>
          </a:effectLst>
        </p:spPr>
        <p:txBody>
          <a:bodyPr>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SIL </a:t>
            </a:r>
            <a:r>
              <a:rPr kumimoji="0" lang="en-US" sz="898" b="1" i="0" u="none" strike="noStrike" kern="1200" cap="none" spc="0" normalizeH="0" baseline="0" noProof="0" dirty="0" err="1">
                <a:ln>
                  <a:noFill/>
                </a:ln>
                <a:solidFill>
                  <a:srgbClr val="1E4191"/>
                </a:solidFill>
                <a:effectLst/>
                <a:uLnTx/>
                <a:uFillTx/>
                <a:latin typeface="GE Inspira Pitch"/>
                <a:ea typeface="+mn-ea"/>
                <a:cs typeface="+mn-cs"/>
              </a:rPr>
              <a:t>KoM</a:t>
            </a:r>
            <a:endParaRPr kumimoji="0" lang="en-US" sz="898" b="1" i="0" u="none" strike="noStrike" kern="1200" cap="none" spc="0" normalizeH="0" baseline="0" noProof="0" dirty="0">
              <a:ln>
                <a:noFill/>
              </a:ln>
              <a:solidFill>
                <a:srgbClr val="1E4191"/>
              </a:solidFill>
              <a:effectLst/>
              <a:uLnTx/>
              <a:uFillTx/>
              <a:latin typeface="GE Inspira Pitch"/>
              <a:ea typeface="+mn-ea"/>
              <a:cs typeface="+mn-cs"/>
            </a:endParaRPr>
          </a:p>
        </p:txBody>
      </p:sp>
      <p:cxnSp>
        <p:nvCxnSpPr>
          <p:cNvPr id="54" name="Connecteur droit avec flèche 53">
            <a:extLst>
              <a:ext uri="{FF2B5EF4-FFF2-40B4-BE49-F238E27FC236}">
                <a16:creationId xmlns:a16="http://schemas.microsoft.com/office/drawing/2014/main" id="{F8CFD58D-231F-42A2-9CD0-8811B3ED678B}"/>
              </a:ext>
            </a:extLst>
          </p:cNvPr>
          <p:cNvCxnSpPr/>
          <p:nvPr/>
        </p:nvCxnSpPr>
        <p:spPr>
          <a:xfrm>
            <a:off x="6636731" y="3528776"/>
            <a:ext cx="61765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 name="ZoneTexte 7187">
            <a:extLst>
              <a:ext uri="{FF2B5EF4-FFF2-40B4-BE49-F238E27FC236}">
                <a16:creationId xmlns:a16="http://schemas.microsoft.com/office/drawing/2014/main" id="{850B212E-39CA-4C92-B862-C2A86217F57F}"/>
              </a:ext>
            </a:extLst>
          </p:cNvPr>
          <p:cNvSpPr txBox="1"/>
          <p:nvPr/>
        </p:nvSpPr>
        <p:spPr>
          <a:xfrm>
            <a:off x="1140285" y="1730111"/>
            <a:ext cx="1493230" cy="366423"/>
          </a:xfrm>
          <a:prstGeom prst="rect">
            <a:avLst/>
          </a:prstGeom>
          <a:solidFill>
            <a:schemeClr val="accent2">
              <a:lumMod val="40000"/>
              <a:lumOff val="60000"/>
            </a:schemeClr>
          </a:solidFill>
        </p:spPr>
        <p:txBody>
          <a:bodyPr lIns="89194" tIns="44597" rIns="89194" bIns="44597">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CA" sz="898" b="1" i="0" u="none" strike="noStrike" kern="1200" cap="none" spc="0" normalizeH="0" baseline="0" noProof="0" dirty="0">
                <a:ln>
                  <a:noFill/>
                </a:ln>
                <a:solidFill>
                  <a:srgbClr val="1E4191"/>
                </a:solidFill>
                <a:effectLst/>
                <a:uLnTx/>
                <a:uFillTx/>
                <a:latin typeface="GE Inspira Pitch"/>
                <a:ea typeface="+mn-ea"/>
                <a:cs typeface="+mn-cs"/>
              </a:rPr>
              <a:t>Project information- quotation request</a:t>
            </a:r>
          </a:p>
        </p:txBody>
      </p:sp>
      <p:sp>
        <p:nvSpPr>
          <p:cNvPr id="78" name="ZoneTexte 77">
            <a:extLst>
              <a:ext uri="{FF2B5EF4-FFF2-40B4-BE49-F238E27FC236}">
                <a16:creationId xmlns:a16="http://schemas.microsoft.com/office/drawing/2014/main" id="{2D04B296-5B00-42DC-9115-3AB4A0BD5C19}"/>
              </a:ext>
            </a:extLst>
          </p:cNvPr>
          <p:cNvSpPr txBox="1"/>
          <p:nvPr/>
        </p:nvSpPr>
        <p:spPr bwMode="auto">
          <a:xfrm>
            <a:off x="3443933" y="2867681"/>
            <a:ext cx="1019469" cy="276358"/>
          </a:xfrm>
          <a:prstGeom prst="rect">
            <a:avLst/>
          </a:prstGeom>
          <a:solidFill>
            <a:schemeClr val="bg1">
              <a:lumMod val="75000"/>
            </a:schemeClr>
          </a:solidFill>
        </p:spPr>
        <p:txBody>
          <a:bodyPr lIns="109467" tIns="0" rIns="109467" bIns="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FR" sz="898" b="1" i="1" u="none" strike="noStrike" kern="1200" cap="none" spc="0" normalizeH="0" baseline="0" noProof="0" dirty="0" err="1">
                <a:ln>
                  <a:noFill/>
                </a:ln>
                <a:solidFill>
                  <a:srgbClr val="1E4191"/>
                </a:solidFill>
                <a:effectLst/>
                <a:uLnTx/>
                <a:uFillTx/>
                <a:latin typeface="GE Inspira Pitch"/>
                <a:ea typeface="+mn-ea"/>
                <a:cs typeface="+mn-cs"/>
              </a:rPr>
              <a:t>Pre</a:t>
            </a:r>
            <a:r>
              <a:rPr kumimoji="0" lang="fr-FR" sz="898" b="1" i="1" u="none" strike="noStrike" kern="1200" cap="none" spc="0" normalizeH="0" baseline="0" noProof="0" dirty="0">
                <a:ln>
                  <a:noFill/>
                </a:ln>
                <a:solidFill>
                  <a:srgbClr val="1E4191"/>
                </a:solidFill>
                <a:effectLst/>
                <a:uLnTx/>
                <a:uFillTx/>
                <a:latin typeface="GE Inspira Pitch"/>
                <a:ea typeface="+mn-ea"/>
                <a:cs typeface="+mn-cs"/>
              </a:rPr>
              <a:t> Installation Meeting</a:t>
            </a:r>
          </a:p>
        </p:txBody>
      </p:sp>
      <p:sp>
        <p:nvSpPr>
          <p:cNvPr id="59" name="ZoneTexte 58">
            <a:extLst>
              <a:ext uri="{FF2B5EF4-FFF2-40B4-BE49-F238E27FC236}">
                <a16:creationId xmlns:a16="http://schemas.microsoft.com/office/drawing/2014/main" id="{E072CC0F-0BD7-4AD1-A8C2-CBECE4FBFDE0}"/>
              </a:ext>
            </a:extLst>
          </p:cNvPr>
          <p:cNvSpPr txBox="1"/>
          <p:nvPr/>
        </p:nvSpPr>
        <p:spPr bwMode="auto">
          <a:xfrm>
            <a:off x="8534491" y="2487586"/>
            <a:ext cx="608152" cy="386895"/>
          </a:xfrm>
          <a:prstGeom prst="rect">
            <a:avLst/>
          </a:prstGeom>
          <a:solidFill>
            <a:schemeClr val="accent2">
              <a:lumMod val="60000"/>
              <a:lumOff val="40000"/>
            </a:schemeClr>
          </a:solidFill>
        </p:spPr>
        <p:txBody>
          <a:bodyPr lIns="109467" tIns="54734" rIns="109467" bIns="54734">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Safety Manual</a:t>
            </a:r>
          </a:p>
        </p:txBody>
      </p:sp>
      <p:cxnSp>
        <p:nvCxnSpPr>
          <p:cNvPr id="60" name="Connecteur droit 59">
            <a:extLst>
              <a:ext uri="{FF2B5EF4-FFF2-40B4-BE49-F238E27FC236}">
                <a16:creationId xmlns:a16="http://schemas.microsoft.com/office/drawing/2014/main" id="{1E63FF50-DAA8-4D09-B8A2-EEE08E2D6E30}"/>
              </a:ext>
            </a:extLst>
          </p:cNvPr>
          <p:cNvCxnSpPr/>
          <p:nvPr/>
        </p:nvCxnSpPr>
        <p:spPr bwMode="auto">
          <a:xfrm flipH="1">
            <a:off x="8815490" y="2839175"/>
            <a:ext cx="24435" cy="3014968"/>
          </a:xfrm>
          <a:prstGeom prst="line">
            <a:avLst/>
          </a:prstGeom>
          <a:ln w="508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5" name="Connecteur droit 64">
            <a:extLst>
              <a:ext uri="{FF2B5EF4-FFF2-40B4-BE49-F238E27FC236}">
                <a16:creationId xmlns:a16="http://schemas.microsoft.com/office/drawing/2014/main" id="{CD375DF4-3EF6-4C40-A445-8AB1283FF7AB}"/>
              </a:ext>
            </a:extLst>
          </p:cNvPr>
          <p:cNvCxnSpPr/>
          <p:nvPr/>
        </p:nvCxnSpPr>
        <p:spPr bwMode="auto">
          <a:xfrm>
            <a:off x="5972922" y="2962706"/>
            <a:ext cx="25793" cy="2880577"/>
          </a:xfrm>
          <a:prstGeom prst="line">
            <a:avLst/>
          </a:prstGeom>
          <a:ln w="508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31" name="ZoneTexte 30">
            <a:extLst>
              <a:ext uri="{FF2B5EF4-FFF2-40B4-BE49-F238E27FC236}">
                <a16:creationId xmlns:a16="http://schemas.microsoft.com/office/drawing/2014/main" id="{E2CC98EA-0D0E-47DE-AE9F-D00569A9BF68}"/>
              </a:ext>
            </a:extLst>
          </p:cNvPr>
          <p:cNvSpPr txBox="1"/>
          <p:nvPr/>
        </p:nvSpPr>
        <p:spPr>
          <a:xfrm>
            <a:off x="4819062" y="2353196"/>
            <a:ext cx="697746" cy="663252"/>
          </a:xfrm>
          <a:prstGeom prst="rect">
            <a:avLst/>
          </a:prstGeom>
          <a:solidFill>
            <a:schemeClr val="accent2">
              <a:lumMod val="60000"/>
              <a:lumOff val="40000"/>
            </a:schemeClr>
          </a:solidFill>
        </p:spPr>
        <p:txBody>
          <a:bodyPr lIns="109467" tIns="54734" rIns="109467" bIns="54734">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SAT Spec and cert file prelim</a:t>
            </a:r>
          </a:p>
        </p:txBody>
      </p:sp>
      <p:cxnSp>
        <p:nvCxnSpPr>
          <p:cNvPr id="77" name="Connecteur droit 76">
            <a:extLst>
              <a:ext uri="{FF2B5EF4-FFF2-40B4-BE49-F238E27FC236}">
                <a16:creationId xmlns:a16="http://schemas.microsoft.com/office/drawing/2014/main" id="{624E3B1F-7ADB-4D38-A67C-1CD66A741736}"/>
              </a:ext>
            </a:extLst>
          </p:cNvPr>
          <p:cNvCxnSpPr/>
          <p:nvPr/>
        </p:nvCxnSpPr>
        <p:spPr bwMode="auto">
          <a:xfrm>
            <a:off x="1847534" y="4013397"/>
            <a:ext cx="0" cy="900011"/>
          </a:xfrm>
          <a:prstGeom prst="line">
            <a:avLst/>
          </a:prstGeom>
          <a:ln w="50800">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ZoneTexte 83">
            <a:extLst>
              <a:ext uri="{FF2B5EF4-FFF2-40B4-BE49-F238E27FC236}">
                <a16:creationId xmlns:a16="http://schemas.microsoft.com/office/drawing/2014/main" id="{6097C3E2-DB26-4897-82AB-9E4EB34E372F}"/>
              </a:ext>
            </a:extLst>
          </p:cNvPr>
          <p:cNvSpPr txBox="1"/>
          <p:nvPr/>
        </p:nvSpPr>
        <p:spPr bwMode="auto">
          <a:xfrm>
            <a:off x="3443933" y="3701176"/>
            <a:ext cx="1023542" cy="505260"/>
          </a:xfrm>
          <a:prstGeom prst="rect">
            <a:avLst/>
          </a:prstGeom>
          <a:solidFill>
            <a:srgbClr val="FFFF00"/>
          </a:solidFill>
          <a:ln>
            <a:solidFill>
              <a:schemeClr val="bg1">
                <a:lumMod val="65000"/>
              </a:schemeClr>
            </a:solidFill>
          </a:ln>
        </p:spPr>
        <p:txBody>
          <a:bodyPr lIns="109467" tIns="54734" rIns="109467" bIns="54734">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855" b="1" i="1" u="none" strike="noStrike" kern="1200" cap="none" spc="0" normalizeH="0" baseline="0" noProof="0" dirty="0">
                <a:ln>
                  <a:noFill/>
                </a:ln>
                <a:solidFill>
                  <a:srgbClr val="1E4191"/>
                </a:solidFill>
                <a:effectLst/>
                <a:uLnTx/>
                <a:uFillTx/>
                <a:latin typeface="GE Inspira Pitch"/>
                <a:ea typeface="+mn-ea"/>
                <a:cs typeface="+mn-cs"/>
              </a:rPr>
              <a:t>Commissioning plan to include SAT</a:t>
            </a:r>
          </a:p>
        </p:txBody>
      </p:sp>
      <p:cxnSp>
        <p:nvCxnSpPr>
          <p:cNvPr id="85" name="Connecteur droit 84">
            <a:extLst>
              <a:ext uri="{FF2B5EF4-FFF2-40B4-BE49-F238E27FC236}">
                <a16:creationId xmlns:a16="http://schemas.microsoft.com/office/drawing/2014/main" id="{ACF03702-B0BA-4B9B-83E4-BDD4D623FFB4}"/>
              </a:ext>
            </a:extLst>
          </p:cNvPr>
          <p:cNvCxnSpPr>
            <a:stCxn id="78" idx="2"/>
            <a:endCxn id="84" idx="0"/>
          </p:cNvCxnSpPr>
          <p:nvPr/>
        </p:nvCxnSpPr>
        <p:spPr bwMode="auto">
          <a:xfrm>
            <a:off x="3953668" y="3144039"/>
            <a:ext cx="2036" cy="557137"/>
          </a:xfrm>
          <a:prstGeom prst="line">
            <a:avLst/>
          </a:prstGeom>
          <a:ln w="50800">
            <a:solidFill>
              <a:schemeClr val="bg2">
                <a:lumMod val="20000"/>
                <a:lumOff val="80000"/>
              </a:schemeClr>
            </a:solidFill>
            <a:headEnd type="triangle"/>
          </a:ln>
        </p:spPr>
        <p:style>
          <a:lnRef idx="1">
            <a:schemeClr val="accent1"/>
          </a:lnRef>
          <a:fillRef idx="0">
            <a:schemeClr val="accent1"/>
          </a:fillRef>
          <a:effectRef idx="0">
            <a:schemeClr val="accent1"/>
          </a:effectRef>
          <a:fontRef idx="minor">
            <a:schemeClr val="tx1"/>
          </a:fontRef>
        </p:style>
      </p:cxnSp>
      <p:sp>
        <p:nvSpPr>
          <p:cNvPr id="35" name="ZoneTexte 34">
            <a:extLst>
              <a:ext uri="{FF2B5EF4-FFF2-40B4-BE49-F238E27FC236}">
                <a16:creationId xmlns:a16="http://schemas.microsoft.com/office/drawing/2014/main" id="{1AF7FE7A-8C6E-46B2-A27B-AB305F23B2BE}"/>
              </a:ext>
            </a:extLst>
          </p:cNvPr>
          <p:cNvSpPr txBox="1"/>
          <p:nvPr/>
        </p:nvSpPr>
        <p:spPr>
          <a:xfrm>
            <a:off x="7831315" y="1569928"/>
            <a:ext cx="1276033" cy="247929"/>
          </a:xfrm>
          <a:prstGeom prst="rect">
            <a:avLst/>
          </a:prstGeom>
          <a:solidFill>
            <a:schemeClr val="accent2">
              <a:lumMod val="40000"/>
              <a:lumOff val="60000"/>
            </a:schemeClr>
          </a:solidFill>
          <a:ln>
            <a:solidFill>
              <a:schemeClr val="accent2">
                <a:lumMod val="40000"/>
                <a:lumOff val="60000"/>
              </a:schemeClr>
            </a:solidFill>
          </a:ln>
        </p:spPr>
        <p:txBody>
          <a:bodyPr lIns="89194" tIns="44597" rIns="89194" bIns="44597">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026" b="1" i="0" u="none" strike="noStrike" kern="1200" cap="none" spc="0" normalizeH="0" baseline="0" noProof="0" dirty="0">
                <a:ln>
                  <a:noFill/>
                </a:ln>
                <a:solidFill>
                  <a:srgbClr val="1E4191"/>
                </a:solidFill>
                <a:effectLst/>
                <a:uLnTx/>
                <a:uFillTx/>
                <a:latin typeface="GE Inspira Pitch"/>
                <a:ea typeface="+mn-ea"/>
                <a:cs typeface="+mn-cs"/>
              </a:rPr>
              <a:t>SIL Certificate</a:t>
            </a:r>
          </a:p>
        </p:txBody>
      </p:sp>
      <p:sp>
        <p:nvSpPr>
          <p:cNvPr id="9245" name="Flèche droite à entaille 9244">
            <a:extLst>
              <a:ext uri="{FF2B5EF4-FFF2-40B4-BE49-F238E27FC236}">
                <a16:creationId xmlns:a16="http://schemas.microsoft.com/office/drawing/2014/main" id="{1EFBB196-0F2B-417D-A32D-D81D049B8DF2}"/>
              </a:ext>
            </a:extLst>
          </p:cNvPr>
          <p:cNvSpPr>
            <a:spLocks/>
          </p:cNvSpPr>
          <p:nvPr/>
        </p:nvSpPr>
        <p:spPr bwMode="auto">
          <a:xfrm>
            <a:off x="-11096" y="3037749"/>
            <a:ext cx="843779" cy="690259"/>
          </a:xfrm>
          <a:prstGeom prst="notchedRightArrow">
            <a:avLst/>
          </a:prstGeom>
          <a:solidFill>
            <a:srgbClr val="FFFF00"/>
          </a:solidFill>
          <a:ln w="28575" cap="flat" cmpd="sng" algn="ctr">
            <a:solidFill>
              <a:srgbClr val="FFFF00"/>
            </a:solidFill>
            <a:prstDash val="solid"/>
            <a:round/>
            <a:headEnd type="none" w="med" len="med"/>
            <a:tailEnd type="none" w="med" len="med"/>
          </a:ln>
          <a:effectLst>
            <a:glow rad="63500">
              <a:srgbClr val="FFFF00"/>
            </a:glow>
          </a:effectLst>
        </p:spPr>
        <p:txBody>
          <a:bodyPr lIns="0" tIns="0" rIns="0" bIns="0"/>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fr-FR" sz="1026" b="0" i="0" u="none" strike="noStrike" kern="1200" cap="none" spc="0" normalizeH="0" baseline="0" noProof="0" dirty="0">
                <a:ln>
                  <a:noFill/>
                </a:ln>
                <a:solidFill>
                  <a:srgbClr val="575757"/>
                </a:solidFill>
                <a:effectLst/>
                <a:uLnTx/>
                <a:uFillTx/>
                <a:latin typeface="GE Inspira Pitch"/>
                <a:ea typeface="+mn-ea"/>
                <a:cs typeface="+mn-cs"/>
              </a:rPr>
              <a:t>AE Support</a:t>
            </a:r>
          </a:p>
        </p:txBody>
      </p:sp>
      <p:sp>
        <p:nvSpPr>
          <p:cNvPr id="38" name="Rectangle 37">
            <a:extLst>
              <a:ext uri="{FF2B5EF4-FFF2-40B4-BE49-F238E27FC236}">
                <a16:creationId xmlns:a16="http://schemas.microsoft.com/office/drawing/2014/main" id="{59977CDC-F5E4-4E7D-B02A-07BA12A0FA6B}"/>
              </a:ext>
            </a:extLst>
          </p:cNvPr>
          <p:cNvSpPr/>
          <p:nvPr/>
        </p:nvSpPr>
        <p:spPr bwMode="auto">
          <a:xfrm>
            <a:off x="5015898" y="1899798"/>
            <a:ext cx="4091451" cy="209546"/>
          </a:xfrm>
          <a:prstGeom prst="rect">
            <a:avLst/>
          </a:prstGeom>
          <a:solidFill>
            <a:schemeClr val="bg1">
              <a:lumMod val="95000"/>
            </a:schemeClr>
          </a:solidFill>
          <a:ln w="19050">
            <a:solidFill>
              <a:schemeClr val="bg2">
                <a:lumMod val="60000"/>
                <a:lumOff val="40000"/>
              </a:schemeClr>
            </a:solidFill>
            <a:prstDash val="solid"/>
            <a:headEnd type="none" w="med" len="med"/>
            <a:tailEnd type="arrow" w="med" len="med"/>
          </a:ln>
        </p:spPr>
        <p:txBody>
          <a:bodyPr lIns="50166" tIns="25083" rIns="50166" bIns="0">
            <a:spAutoFit/>
          </a:body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sz="1197" b="1" i="0" u="none" strike="noStrike" kern="1200" cap="none" spc="0" normalizeH="0" baseline="0" noProof="0" dirty="0">
                <a:ln>
                  <a:noFill/>
                </a:ln>
                <a:solidFill>
                  <a:srgbClr val="1E4191"/>
                </a:solidFill>
                <a:effectLst/>
                <a:uLnTx/>
                <a:uFillTx/>
                <a:latin typeface="GE Inspira Pitch"/>
                <a:ea typeface="+mn-ea"/>
                <a:cs typeface="+mn-cs"/>
              </a:rPr>
              <a:t>Customer</a:t>
            </a:r>
          </a:p>
        </p:txBody>
      </p:sp>
      <p:cxnSp>
        <p:nvCxnSpPr>
          <p:cNvPr id="106" name="Connecteur droit 105">
            <a:extLst>
              <a:ext uri="{FF2B5EF4-FFF2-40B4-BE49-F238E27FC236}">
                <a16:creationId xmlns:a16="http://schemas.microsoft.com/office/drawing/2014/main" id="{C9A83911-119F-4467-B19A-FEEF4DB4DEB6}"/>
              </a:ext>
            </a:extLst>
          </p:cNvPr>
          <p:cNvCxnSpPr/>
          <p:nvPr/>
        </p:nvCxnSpPr>
        <p:spPr bwMode="auto">
          <a:xfrm flipH="1">
            <a:off x="7652127" y="2791662"/>
            <a:ext cx="5430" cy="3062480"/>
          </a:xfrm>
          <a:prstGeom prst="line">
            <a:avLst/>
          </a:prstGeom>
          <a:ln w="508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0AF8A85F-5CA7-4916-8F70-D9FDD8471D4B}"/>
              </a:ext>
            </a:extLst>
          </p:cNvPr>
          <p:cNvCxnSpPr>
            <a:stCxn id="59" idx="0"/>
          </p:cNvCxnSpPr>
          <p:nvPr/>
        </p:nvCxnSpPr>
        <p:spPr>
          <a:xfrm flipV="1">
            <a:off x="8838567" y="2072198"/>
            <a:ext cx="0" cy="415388"/>
          </a:xfrm>
          <a:prstGeom prst="straightConnector1">
            <a:avLst/>
          </a:prstGeom>
          <a:solidFill>
            <a:schemeClr val="accent1"/>
          </a:solidFill>
          <a:ln w="28575" cap="flat" cmpd="sng" algn="ctr">
            <a:solidFill>
              <a:schemeClr val="tx1">
                <a:lumMod val="20000"/>
                <a:lumOff val="80000"/>
              </a:schemeClr>
            </a:solidFill>
            <a:prstDash val="solid"/>
            <a:round/>
            <a:headEnd type="none" w="med" len="med"/>
            <a:tailEnd type="arrow"/>
          </a:ln>
          <a:effectLst/>
        </p:spPr>
      </p:cxnSp>
      <p:sp>
        <p:nvSpPr>
          <p:cNvPr id="14385" name="ZoneTexte 78">
            <a:extLst>
              <a:ext uri="{FF2B5EF4-FFF2-40B4-BE49-F238E27FC236}">
                <a16:creationId xmlns:a16="http://schemas.microsoft.com/office/drawing/2014/main" id="{3A868055-0BE2-48FB-9C06-A9548D9CE9D5}"/>
              </a:ext>
            </a:extLst>
          </p:cNvPr>
          <p:cNvSpPr txBox="1">
            <a:spLocks noChangeArrowheads="1"/>
          </p:cNvSpPr>
          <p:nvPr/>
        </p:nvSpPr>
        <p:spPr bwMode="auto">
          <a:xfrm>
            <a:off x="5587397" y="2091202"/>
            <a:ext cx="709964" cy="22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194" tIns="44597" rIns="89194" bIns="44597">
            <a:spAutoFit/>
          </a:bodyPr>
          <a:lstStyle>
            <a:lvl1pPr>
              <a:lnSpc>
                <a:spcPct val="90000"/>
              </a:lnSpc>
              <a:spcBef>
                <a:spcPct val="50000"/>
              </a:spcBef>
              <a:buClr>
                <a:srgbClr val="004880"/>
              </a:buClr>
              <a:defRPr sz="3300">
                <a:solidFill>
                  <a:srgbClr val="1E4191"/>
                </a:solidFill>
                <a:latin typeface="GE Inspira Pitch" pitchFamily="34" charset="0"/>
              </a:defRPr>
            </a:lvl1pPr>
            <a:lvl2pPr marL="742950" indent="-285750">
              <a:lnSpc>
                <a:spcPct val="90000"/>
              </a:lnSpc>
              <a:spcBef>
                <a:spcPct val="30000"/>
              </a:spcBef>
              <a:buClr>
                <a:srgbClr val="004880"/>
              </a:buClr>
              <a:buFont typeface="GE Inspira Pitch" pitchFamily="34" charset="0"/>
              <a:buChar char="•"/>
              <a:defRPr sz="3300">
                <a:solidFill>
                  <a:srgbClr val="1E4191"/>
                </a:solidFill>
                <a:latin typeface="GE Inspira Pitch" pitchFamily="34" charset="0"/>
              </a:defRPr>
            </a:lvl2pPr>
            <a:lvl3pPr marL="1143000" indent="-228600">
              <a:lnSpc>
                <a:spcPct val="90000"/>
              </a:lnSpc>
              <a:spcBef>
                <a:spcPct val="20000"/>
              </a:spcBef>
              <a:buClr>
                <a:srgbClr val="004880"/>
              </a:buClr>
              <a:buChar char="–"/>
              <a:defRPr sz="3300">
                <a:solidFill>
                  <a:srgbClr val="1E4191"/>
                </a:solidFill>
                <a:latin typeface="GE Inspira Pitch" pitchFamily="34" charset="0"/>
              </a:defRPr>
            </a:lvl3pPr>
            <a:lvl4pPr marL="1600200" indent="-228600">
              <a:lnSpc>
                <a:spcPct val="90000"/>
              </a:lnSpc>
              <a:spcBef>
                <a:spcPct val="10000"/>
              </a:spcBef>
              <a:buClr>
                <a:srgbClr val="004880"/>
              </a:buClr>
              <a:buChar char="–"/>
              <a:defRPr sz="3300">
                <a:solidFill>
                  <a:srgbClr val="1E4191"/>
                </a:solidFill>
                <a:latin typeface="GE Inspira Pitch" pitchFamily="34" charset="0"/>
              </a:defRPr>
            </a:lvl4pPr>
            <a:lvl5pPr marL="2057400" indent="-228600">
              <a:lnSpc>
                <a:spcPct val="90000"/>
              </a:lnSpc>
              <a:buClr>
                <a:srgbClr val="004880"/>
              </a:buClr>
              <a:buChar char="–"/>
              <a:defRPr sz="3300">
                <a:solidFill>
                  <a:srgbClr val="1E4191"/>
                </a:solidFill>
                <a:latin typeface="GE Inspira Pitch" pitchFamily="34" charset="0"/>
              </a:defRPr>
            </a:lvl5pPr>
            <a:lvl6pPr marL="2514600" indent="-228600" eaLnBrk="0" fontAlgn="base" hangingPunct="0">
              <a:lnSpc>
                <a:spcPct val="90000"/>
              </a:lnSpc>
              <a:spcBef>
                <a:spcPct val="0"/>
              </a:spcBef>
              <a:spcAft>
                <a:spcPct val="0"/>
              </a:spcAft>
              <a:buClr>
                <a:srgbClr val="004880"/>
              </a:buClr>
              <a:buChar char="–"/>
              <a:defRPr sz="3300">
                <a:solidFill>
                  <a:srgbClr val="1E4191"/>
                </a:solidFill>
                <a:latin typeface="GE Inspira Pitch" pitchFamily="34" charset="0"/>
              </a:defRPr>
            </a:lvl6pPr>
            <a:lvl7pPr marL="2971800" indent="-228600" eaLnBrk="0" fontAlgn="base" hangingPunct="0">
              <a:lnSpc>
                <a:spcPct val="90000"/>
              </a:lnSpc>
              <a:spcBef>
                <a:spcPct val="0"/>
              </a:spcBef>
              <a:spcAft>
                <a:spcPct val="0"/>
              </a:spcAft>
              <a:buClr>
                <a:srgbClr val="004880"/>
              </a:buClr>
              <a:buChar char="–"/>
              <a:defRPr sz="3300">
                <a:solidFill>
                  <a:srgbClr val="1E4191"/>
                </a:solidFill>
                <a:latin typeface="GE Inspira Pitch" pitchFamily="34" charset="0"/>
              </a:defRPr>
            </a:lvl7pPr>
            <a:lvl8pPr marL="3429000" indent="-228600" eaLnBrk="0" fontAlgn="base" hangingPunct="0">
              <a:lnSpc>
                <a:spcPct val="90000"/>
              </a:lnSpc>
              <a:spcBef>
                <a:spcPct val="0"/>
              </a:spcBef>
              <a:spcAft>
                <a:spcPct val="0"/>
              </a:spcAft>
              <a:buClr>
                <a:srgbClr val="004880"/>
              </a:buClr>
              <a:buChar char="–"/>
              <a:defRPr sz="3300">
                <a:solidFill>
                  <a:srgbClr val="1E4191"/>
                </a:solidFill>
                <a:latin typeface="GE Inspira Pitch" pitchFamily="34" charset="0"/>
              </a:defRPr>
            </a:lvl8pPr>
            <a:lvl9pPr marL="3886200" indent="-228600" eaLnBrk="0" fontAlgn="base" hangingPunct="0">
              <a:lnSpc>
                <a:spcPct val="90000"/>
              </a:lnSpc>
              <a:spcBef>
                <a:spcPct val="0"/>
              </a:spcBef>
              <a:spcAft>
                <a:spcPct val="0"/>
              </a:spcAft>
              <a:buClr>
                <a:srgbClr val="004880"/>
              </a:buClr>
              <a:buChar char="–"/>
              <a:defRPr sz="3300">
                <a:solidFill>
                  <a:srgbClr val="1E4191"/>
                </a:solidFill>
                <a:latin typeface="GE Inspira Pitch"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fr-FR" altLang="fr-FR" sz="855" b="0" i="0" u="none" strike="noStrike" kern="1200" cap="none" spc="0" normalizeH="0" baseline="0" noProof="0">
                <a:ln>
                  <a:noFill/>
                </a:ln>
                <a:solidFill>
                  <a:srgbClr val="1E4191"/>
                </a:solidFill>
                <a:effectLst/>
                <a:uLnTx/>
                <a:uFillTx/>
                <a:latin typeface="GE Inspira Pitch" pitchFamily="34" charset="0"/>
                <a:ea typeface="+mn-ea"/>
                <a:cs typeface="+mn-cs"/>
              </a:rPr>
              <a:t>3 Months</a:t>
            </a:r>
          </a:p>
        </p:txBody>
      </p:sp>
      <p:cxnSp>
        <p:nvCxnSpPr>
          <p:cNvPr id="124" name="Connecteur droit avec flèche 123">
            <a:extLst>
              <a:ext uri="{FF2B5EF4-FFF2-40B4-BE49-F238E27FC236}">
                <a16:creationId xmlns:a16="http://schemas.microsoft.com/office/drawing/2014/main" id="{5C529556-F61E-4AE9-A5DB-82758F1C8A9C}"/>
              </a:ext>
            </a:extLst>
          </p:cNvPr>
          <p:cNvCxnSpPr/>
          <p:nvPr/>
        </p:nvCxnSpPr>
        <p:spPr bwMode="auto">
          <a:xfrm flipV="1">
            <a:off x="6123603" y="2093917"/>
            <a:ext cx="0" cy="585075"/>
          </a:xfrm>
          <a:prstGeom prst="straightConnector1">
            <a:avLst/>
          </a:prstGeom>
          <a:solidFill>
            <a:schemeClr val="accent1"/>
          </a:solidFill>
          <a:ln w="28575" cap="flat" cmpd="sng" algn="ctr">
            <a:solidFill>
              <a:schemeClr val="tx1">
                <a:lumMod val="20000"/>
                <a:lumOff val="80000"/>
              </a:schemeClr>
            </a:solidFill>
            <a:prstDash val="solid"/>
            <a:round/>
            <a:headEnd type="none" w="med" len="med"/>
            <a:tailEnd type="arrow"/>
          </a:ln>
          <a:effectLst/>
        </p:spPr>
      </p:cxnSp>
      <p:sp>
        <p:nvSpPr>
          <p:cNvPr id="125" name="ZoneTexte 124">
            <a:extLst>
              <a:ext uri="{FF2B5EF4-FFF2-40B4-BE49-F238E27FC236}">
                <a16:creationId xmlns:a16="http://schemas.microsoft.com/office/drawing/2014/main" id="{D69BE99E-179A-432B-A20F-F91119524AD3}"/>
              </a:ext>
            </a:extLst>
          </p:cNvPr>
          <p:cNvSpPr txBox="1"/>
          <p:nvPr/>
        </p:nvSpPr>
        <p:spPr>
          <a:xfrm>
            <a:off x="2937592" y="4514308"/>
            <a:ext cx="1296396" cy="386895"/>
          </a:xfrm>
          <a:prstGeom prst="rect">
            <a:avLst/>
          </a:prstGeom>
          <a:solidFill>
            <a:srgbClr val="FFFF00"/>
          </a:solidFill>
          <a:ln>
            <a:solidFill>
              <a:schemeClr val="bg1">
                <a:lumMod val="65000"/>
              </a:schemeClr>
            </a:solidFill>
          </a:ln>
        </p:spPr>
        <p:txBody>
          <a:bodyPr lIns="109467" tIns="54734" rIns="109467" bIns="54734">
            <a:spAutoFit/>
          </a:bodyPr>
          <a:lstStyle>
            <a:defPPr>
              <a:defRPr lang="fr-FR"/>
            </a:defPPr>
            <a:lvl1pPr algn="ctr" eaLnBrk="0" hangingPunct="0">
              <a:defRPr sz="1050" b="1">
                <a:solidFill>
                  <a:srgbClr val="1E4191"/>
                </a:solidFill>
                <a:latin typeface="GE Inspira Pitch" pitchFamily="34" charset="0"/>
              </a:defRPr>
            </a:lvl1pPr>
            <a:lvl2pPr>
              <a:defRPr>
                <a:solidFill>
                  <a:srgbClr val="000099"/>
                </a:solidFill>
                <a:latin typeface="GE Inspira Pitch" pitchFamily="34" charset="0"/>
              </a:defRPr>
            </a:lvl2pPr>
            <a:lvl3pPr>
              <a:defRPr>
                <a:solidFill>
                  <a:srgbClr val="000099"/>
                </a:solidFill>
                <a:latin typeface="GE Inspira Pitch" pitchFamily="34" charset="0"/>
              </a:defRPr>
            </a:lvl3pPr>
            <a:lvl4pPr>
              <a:defRPr>
                <a:solidFill>
                  <a:srgbClr val="000099"/>
                </a:solidFill>
                <a:latin typeface="GE Inspira Pitch" pitchFamily="34" charset="0"/>
              </a:defRPr>
            </a:lvl4pPr>
            <a:lvl5pPr>
              <a:defRPr>
                <a:solidFill>
                  <a:srgbClr val="000099"/>
                </a:solidFill>
                <a:latin typeface="GE Inspira Pitch" pitchFamily="34" charset="0"/>
              </a:defRPr>
            </a:lvl5pPr>
            <a:lvl6pPr>
              <a:defRPr>
                <a:solidFill>
                  <a:srgbClr val="000099"/>
                </a:solidFill>
                <a:latin typeface="GE Inspira Pitch" pitchFamily="34" charset="0"/>
              </a:defRPr>
            </a:lvl6pPr>
            <a:lvl7pPr>
              <a:defRPr>
                <a:solidFill>
                  <a:srgbClr val="000099"/>
                </a:solidFill>
                <a:latin typeface="GE Inspira Pitch" pitchFamily="34" charset="0"/>
              </a:defRPr>
            </a:lvl7pPr>
            <a:lvl8pPr>
              <a:defRPr>
                <a:solidFill>
                  <a:srgbClr val="000099"/>
                </a:solidFill>
                <a:latin typeface="GE Inspira Pitch" pitchFamily="34" charset="0"/>
              </a:defRPr>
            </a:lvl8pPr>
            <a:lvl9pPr>
              <a:defRPr>
                <a:solidFill>
                  <a:srgbClr val="000099"/>
                </a:solidFill>
                <a:latin typeface="GE Inspira Pitch" pitchFamily="34" charset="0"/>
              </a:defRPr>
            </a:lvl9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pitchFamily="34" charset="0"/>
                <a:ea typeface="+mn-ea"/>
                <a:cs typeface="+mn-cs"/>
              </a:rPr>
              <a:t>Dashboard: it freezes input data for control</a:t>
            </a:r>
          </a:p>
        </p:txBody>
      </p:sp>
      <p:sp>
        <p:nvSpPr>
          <p:cNvPr id="127" name="ZoneTexte 126">
            <a:extLst>
              <a:ext uri="{FF2B5EF4-FFF2-40B4-BE49-F238E27FC236}">
                <a16:creationId xmlns:a16="http://schemas.microsoft.com/office/drawing/2014/main" id="{F2B48575-A6C7-425E-B3EF-3B569B40FE04}"/>
              </a:ext>
            </a:extLst>
          </p:cNvPr>
          <p:cNvSpPr txBox="1"/>
          <p:nvPr/>
        </p:nvSpPr>
        <p:spPr>
          <a:xfrm>
            <a:off x="2286000" y="3598701"/>
            <a:ext cx="1161705" cy="368691"/>
          </a:xfrm>
          <a:prstGeom prst="rect">
            <a:avLst/>
          </a:prstGeom>
          <a:noFill/>
          <a:ln w="28575" cap="flat" cmpd="sng" algn="ctr">
            <a:solidFill>
              <a:srgbClr val="FFFF00"/>
            </a:solidFill>
            <a:prstDash val="solid"/>
            <a:round/>
            <a:headEnd type="none" w="med" len="med"/>
            <a:tailEnd type="none" w="med" len="med"/>
          </a:ln>
          <a:effectLst>
            <a:glow rad="63500">
              <a:srgbClr val="FFFF00"/>
            </a:glow>
          </a:effectLst>
        </p:spPr>
        <p:txBody>
          <a:bodyPr>
            <a:spAutoFit/>
          </a:bodyPr>
          <a:lstStyle>
            <a:defPPr>
              <a:defRPr lang="fr-FR"/>
            </a:defPPr>
            <a:lvl1pPr algn="ctr" eaLnBrk="0" hangingPunct="0">
              <a:defRPr sz="1050" b="1">
                <a:solidFill>
                  <a:srgbClr val="1E4191"/>
                </a:solidFill>
              </a:defRPr>
            </a:lvl1pPr>
          </a:lstStyle>
          <a:p>
            <a:pPr marL="0" marR="0" lvl="0" indent="0" algn="ctr" defTabSz="914400" rtl="0" eaLnBrk="0" fontAlgn="auto" latinLnBrk="0" hangingPunct="0">
              <a:lnSpc>
                <a:spcPct val="100000"/>
              </a:lnSpc>
              <a:spcBef>
                <a:spcPct val="50000"/>
              </a:spcBef>
              <a:spcAft>
                <a:spcPts val="0"/>
              </a:spcAft>
              <a:buClrTx/>
              <a:buSzTx/>
              <a:buFontTx/>
              <a:buNone/>
              <a:tabLst/>
              <a:defRPr/>
            </a:pPr>
            <a:r>
              <a:rPr kumimoji="0" lang="en-US" sz="898" b="1" i="0" u="none" strike="noStrike" kern="1200" cap="none" spc="0" normalizeH="0" baseline="0" noProof="0" dirty="0">
                <a:ln>
                  <a:noFill/>
                </a:ln>
                <a:solidFill>
                  <a:srgbClr val="1E4191"/>
                </a:solidFill>
                <a:effectLst/>
                <a:uLnTx/>
                <a:uFillTx/>
                <a:latin typeface="GE Inspira Pitch"/>
                <a:ea typeface="+mn-ea"/>
                <a:cs typeface="+mn-cs"/>
              </a:rPr>
              <a:t>Assumption review with control</a:t>
            </a:r>
          </a:p>
        </p:txBody>
      </p:sp>
      <p:cxnSp>
        <p:nvCxnSpPr>
          <p:cNvPr id="136" name="Connecteur droit 135">
            <a:extLst>
              <a:ext uri="{FF2B5EF4-FFF2-40B4-BE49-F238E27FC236}">
                <a16:creationId xmlns:a16="http://schemas.microsoft.com/office/drawing/2014/main" id="{E972995B-654D-4CEC-8F6E-8B15B4AF69B7}"/>
              </a:ext>
            </a:extLst>
          </p:cNvPr>
          <p:cNvCxnSpPr/>
          <p:nvPr/>
        </p:nvCxnSpPr>
        <p:spPr bwMode="auto">
          <a:xfrm flipV="1">
            <a:off x="3278320" y="3952310"/>
            <a:ext cx="0" cy="561998"/>
          </a:xfrm>
          <a:prstGeom prst="line">
            <a:avLst/>
          </a:prstGeom>
          <a:ln w="50800">
            <a:solidFill>
              <a:schemeClr val="bg2">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5" name="ZoneTexte 1">
            <a:extLst>
              <a:ext uri="{FF2B5EF4-FFF2-40B4-BE49-F238E27FC236}">
                <a16:creationId xmlns:a16="http://schemas.microsoft.com/office/drawing/2014/main" id="{FF1A7AC5-FD19-462F-9719-8864F1A6CCF8}"/>
              </a:ext>
            </a:extLst>
          </p:cNvPr>
          <p:cNvSpPr txBox="1">
            <a:spLocks noChangeArrowheads="1"/>
          </p:cNvSpPr>
          <p:nvPr/>
        </p:nvSpPr>
        <p:spPr bwMode="auto">
          <a:xfrm>
            <a:off x="-38010" y="669918"/>
            <a:ext cx="9220019" cy="348878"/>
          </a:xfrm>
          <a:prstGeom prst="rect">
            <a:avLst/>
          </a:prstGeom>
          <a:solidFill>
            <a:schemeClr val="accent2">
              <a:lumMod val="75000"/>
            </a:schemeClr>
          </a:solidFill>
          <a:ln>
            <a:noFill/>
          </a:ln>
        </p:spPr>
        <p:txBody>
          <a:bodyPr>
            <a:spAutoFit/>
          </a:bodyPr>
          <a:lstStyle>
            <a:lvl1pPr eaLnBrk="0" hangingPunct="0">
              <a:defRPr>
                <a:solidFill>
                  <a:srgbClr val="000099"/>
                </a:solidFill>
                <a:latin typeface="GE Inspira Pitch" pitchFamily="34" charset="0"/>
              </a:defRPr>
            </a:lvl1pPr>
            <a:lvl2pPr marL="742950" indent="-285750" eaLnBrk="0" hangingPunct="0">
              <a:defRPr>
                <a:solidFill>
                  <a:srgbClr val="000099"/>
                </a:solidFill>
                <a:latin typeface="GE Inspira Pitch" pitchFamily="34" charset="0"/>
              </a:defRPr>
            </a:lvl2pPr>
            <a:lvl3pPr marL="1143000" indent="-228600" eaLnBrk="0" hangingPunct="0">
              <a:defRPr>
                <a:solidFill>
                  <a:srgbClr val="000099"/>
                </a:solidFill>
                <a:latin typeface="GE Inspira Pitch" pitchFamily="34" charset="0"/>
              </a:defRPr>
            </a:lvl3pPr>
            <a:lvl4pPr marL="1600200" indent="-228600" eaLnBrk="0" hangingPunct="0">
              <a:defRPr>
                <a:solidFill>
                  <a:srgbClr val="000099"/>
                </a:solidFill>
                <a:latin typeface="GE Inspira Pitch" pitchFamily="34" charset="0"/>
              </a:defRPr>
            </a:lvl4pPr>
            <a:lvl5pPr marL="2057400" indent="-228600" eaLnBrk="0" hangingPunct="0">
              <a:defRPr>
                <a:solidFill>
                  <a:srgbClr val="000099"/>
                </a:solidFill>
                <a:latin typeface="GE Inspira Pitch" pitchFamily="34" charset="0"/>
              </a:defRPr>
            </a:lvl5pPr>
            <a:lvl6pPr marL="2514600" indent="-228600" eaLnBrk="0" fontAlgn="base" hangingPunct="0">
              <a:spcBef>
                <a:spcPct val="50000"/>
              </a:spcBef>
              <a:spcAft>
                <a:spcPct val="0"/>
              </a:spcAft>
              <a:defRPr>
                <a:solidFill>
                  <a:srgbClr val="000099"/>
                </a:solidFill>
                <a:latin typeface="GE Inspira Pitch" pitchFamily="34" charset="0"/>
              </a:defRPr>
            </a:lvl6pPr>
            <a:lvl7pPr marL="2971800" indent="-228600" eaLnBrk="0" fontAlgn="base" hangingPunct="0">
              <a:spcBef>
                <a:spcPct val="50000"/>
              </a:spcBef>
              <a:spcAft>
                <a:spcPct val="0"/>
              </a:spcAft>
              <a:defRPr>
                <a:solidFill>
                  <a:srgbClr val="000099"/>
                </a:solidFill>
                <a:latin typeface="GE Inspira Pitch" pitchFamily="34" charset="0"/>
              </a:defRPr>
            </a:lvl7pPr>
            <a:lvl8pPr marL="3429000" indent="-228600" eaLnBrk="0" fontAlgn="base" hangingPunct="0">
              <a:spcBef>
                <a:spcPct val="50000"/>
              </a:spcBef>
              <a:spcAft>
                <a:spcPct val="0"/>
              </a:spcAft>
              <a:defRPr>
                <a:solidFill>
                  <a:srgbClr val="000099"/>
                </a:solidFill>
                <a:latin typeface="GE Inspira Pitch" pitchFamily="34" charset="0"/>
              </a:defRPr>
            </a:lvl8pPr>
            <a:lvl9pPr marL="3886200" indent="-228600" eaLnBrk="0" fontAlgn="base" hangingPunct="0">
              <a:spcBef>
                <a:spcPct val="50000"/>
              </a:spcBef>
              <a:spcAft>
                <a:spcPct val="0"/>
              </a:spcAft>
              <a:defRPr>
                <a:solidFill>
                  <a:srgbClr val="000099"/>
                </a:solidFill>
                <a:latin typeface="GE Inspira Pitch"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CA" altLang="fr-FR" sz="1667" b="0" i="0" u="none" strike="noStrike" kern="1200" cap="none" spc="0" normalizeH="0" baseline="0" noProof="0" dirty="0">
                <a:ln>
                  <a:noFill/>
                </a:ln>
                <a:solidFill>
                  <a:prstClr val="white"/>
                </a:solidFill>
                <a:effectLst/>
                <a:uLnTx/>
                <a:uFillTx/>
                <a:latin typeface="GE Inspira Pitch" pitchFamily="34" charset="0"/>
                <a:ea typeface="+mn-ea"/>
                <a:cs typeface="+mn-cs"/>
              </a:rPr>
              <a:t>From project kick-off up to final O&amp;MM delivery, manage the IEC61511 compliance and certification</a:t>
            </a:r>
          </a:p>
        </p:txBody>
      </p:sp>
      <p:sp>
        <p:nvSpPr>
          <p:cNvPr id="14393" name="Rectangle 2">
            <a:extLst>
              <a:ext uri="{FF2B5EF4-FFF2-40B4-BE49-F238E27FC236}">
                <a16:creationId xmlns:a16="http://schemas.microsoft.com/office/drawing/2014/main" id="{021DD7B5-D6E9-4206-8E6A-4A41F0B016C7}"/>
              </a:ext>
            </a:extLst>
          </p:cNvPr>
          <p:cNvSpPr>
            <a:spLocks noChangeArrowheads="1"/>
          </p:cNvSpPr>
          <p:nvPr/>
        </p:nvSpPr>
        <p:spPr bwMode="auto">
          <a:xfrm>
            <a:off x="5207302" y="3794843"/>
            <a:ext cx="1384995" cy="329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fr-FR" sz="1539" b="0" i="0" u="none" strike="noStrike" kern="1200" cap="none" spc="0" normalizeH="0" baseline="0" noProof="0">
                <a:ln>
                  <a:noFill/>
                </a:ln>
                <a:solidFill>
                  <a:srgbClr val="575757"/>
                </a:solidFill>
                <a:effectLst/>
                <a:uLnTx/>
                <a:uFillTx/>
                <a:latin typeface="GE Inspira Pitch"/>
                <a:ea typeface="+mn-ea"/>
                <a:cs typeface="+mn-cs"/>
              </a:rPr>
              <a:t>SAT Dashboard</a:t>
            </a:r>
          </a:p>
        </p:txBody>
      </p:sp>
    </p:spTree>
    <p:extLst>
      <p:ext uri="{BB962C8B-B14F-4D97-AF65-F5344CB8AC3E}">
        <p14:creationId xmlns:p14="http://schemas.microsoft.com/office/powerpoint/2010/main" val="2373578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Deliverables</a:t>
            </a:r>
          </a:p>
        </p:txBody>
      </p:sp>
    </p:spTree>
    <p:extLst>
      <p:ext uri="{BB962C8B-B14F-4D97-AF65-F5344CB8AC3E}">
        <p14:creationId xmlns:p14="http://schemas.microsoft.com/office/powerpoint/2010/main" val="17752667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Safety Manual</a:t>
            </a:r>
          </a:p>
        </p:txBody>
      </p:sp>
      <p:sp>
        <p:nvSpPr>
          <p:cNvPr id="3" name="Content Placeholder 2"/>
          <p:cNvSpPr>
            <a:spLocks noGrp="1"/>
          </p:cNvSpPr>
          <p:nvPr>
            <p:ph idx="1"/>
          </p:nvPr>
        </p:nvSpPr>
        <p:spPr>
          <a:xfrm>
            <a:off x="384048" y="1170432"/>
            <a:ext cx="8347202" cy="4346825"/>
          </a:xfrm>
        </p:spPr>
        <p:txBody>
          <a:bodyPr/>
          <a:lstStyle/>
          <a:p>
            <a:r>
              <a:rPr lang="en-US" sz="2000" dirty="0"/>
              <a:t>The Safety Manual is a customer deliverable compiled by the SIL Compliance Team. It provides the customer with all information for maintenance and future changes of the safety systems. </a:t>
            </a:r>
          </a:p>
          <a:p>
            <a:pPr marL="342900" indent="-342900">
              <a:buFont typeface="Arial" panose="020B0604020202020204" pitchFamily="34" charset="0"/>
              <a:buChar char="•"/>
            </a:pPr>
            <a:r>
              <a:rPr lang="en-US" sz="2000" dirty="0"/>
              <a:t>Safety precautions</a:t>
            </a:r>
          </a:p>
          <a:p>
            <a:pPr marL="342900" indent="-342900">
              <a:buFont typeface="Arial" panose="020B0604020202020204" pitchFamily="34" charset="0"/>
              <a:buChar char="•"/>
            </a:pPr>
            <a:r>
              <a:rPr lang="en-US" sz="2000" dirty="0"/>
              <a:t>Details of all SIFs</a:t>
            </a:r>
          </a:p>
          <a:p>
            <a:pPr marL="546100" lvl="1" indent="-342900"/>
            <a:r>
              <a:rPr lang="en-US" sz="1200" dirty="0"/>
              <a:t>Safety Requirements Specification (SRS) Summary</a:t>
            </a:r>
          </a:p>
          <a:p>
            <a:pPr marL="546100" lvl="1" indent="-342900"/>
            <a:r>
              <a:rPr lang="en-US" sz="1200" dirty="0"/>
              <a:t>SIF Summary</a:t>
            </a:r>
          </a:p>
          <a:p>
            <a:pPr marL="546100" lvl="1" indent="-342900"/>
            <a:r>
              <a:rPr lang="en-US" sz="1200" dirty="0"/>
              <a:t>Functional Block Diagrams (FBDs)</a:t>
            </a:r>
          </a:p>
          <a:p>
            <a:pPr marL="546100" lvl="1" indent="-342900"/>
            <a:r>
              <a:rPr lang="en-US" sz="1200" dirty="0"/>
              <a:t>Components Maintenance &amp; Requirements Summary (CMRS) </a:t>
            </a:r>
          </a:p>
          <a:p>
            <a:pPr marL="546100" lvl="1" indent="-342900"/>
            <a:r>
              <a:rPr lang="en-US" sz="1200" dirty="0"/>
              <a:t>Proof Tests with refurbishment/replacement requirements and procedures</a:t>
            </a:r>
          </a:p>
          <a:p>
            <a:pPr marL="342900" indent="-342900">
              <a:buFont typeface="Arial" panose="020B0604020202020204" pitchFamily="34" charset="0"/>
              <a:buChar char="•"/>
            </a:pPr>
            <a:r>
              <a:rPr lang="en-US" sz="2000" dirty="0"/>
              <a:t>Customer responsibilities</a:t>
            </a:r>
          </a:p>
        </p:txBody>
      </p:sp>
      <p:pic>
        <p:nvPicPr>
          <p:cNvPr id="5122" name="Picture 2" descr="C:\Users\hutchesa\AppData\Local\Microsoft\Windows\Temporary Internet Files\Content.IE5\OORXA00A\manual[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131" y="4188542"/>
            <a:ext cx="2178893" cy="25063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rot="20182716">
            <a:off x="7223726" y="5026845"/>
            <a:ext cx="1130710" cy="492443"/>
          </a:xfrm>
          <a:prstGeom prst="rect">
            <a:avLst/>
          </a:prstGeom>
          <a:noFill/>
        </p:spPr>
        <p:txBody>
          <a:bodyPr wrap="square" lIns="0" tIns="0" rIns="0" bIns="0" rtlCol="0">
            <a:spAutoFit/>
          </a:bodyPr>
          <a:lstStyle/>
          <a:p>
            <a:pPr algn="ctr"/>
            <a:r>
              <a:rPr lang="en-US" sz="1600" dirty="0">
                <a:latin typeface="Stencil" panose="040409050D0802020404" pitchFamily="82" charset="0"/>
              </a:rPr>
              <a:t>Safety Manual</a:t>
            </a:r>
          </a:p>
        </p:txBody>
      </p:sp>
    </p:spTree>
    <p:extLst>
      <p:ext uri="{BB962C8B-B14F-4D97-AF65-F5344CB8AC3E}">
        <p14:creationId xmlns:p14="http://schemas.microsoft.com/office/powerpoint/2010/main" val="13968909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257174" y="43747"/>
            <a:ext cx="8352156" cy="1021002"/>
          </a:xfrm>
        </p:spPr>
        <p:txBody>
          <a:bodyPr/>
          <a:lstStyle/>
          <a:p>
            <a:r>
              <a:rPr lang="en-US" dirty="0"/>
              <a:t>For Ex: Proof Test Procedure</a:t>
            </a:r>
          </a:p>
        </p:txBody>
      </p:sp>
      <p:sp>
        <p:nvSpPr>
          <p:cNvPr id="4" name="Content Placeholder 3"/>
          <p:cNvSpPr>
            <a:spLocks noGrp="1"/>
          </p:cNvSpPr>
          <p:nvPr>
            <p:ph idx="1"/>
          </p:nvPr>
        </p:nvSpPr>
        <p:spPr>
          <a:xfrm>
            <a:off x="262128" y="1460488"/>
            <a:ext cx="8347202" cy="4346825"/>
          </a:xfrm>
        </p:spPr>
        <p:txBody>
          <a:bodyPr/>
          <a:lstStyle/>
          <a:p>
            <a:r>
              <a:rPr lang="en-US" sz="2400" dirty="0"/>
              <a:t>Manual testing of safety system components to detect any failures not detected by automatic online diagnostics.</a:t>
            </a:r>
          </a:p>
          <a:p>
            <a:endParaRPr lang="en-US" sz="2400" dirty="0"/>
          </a:p>
          <a:p>
            <a:endParaRPr lang="en-US" sz="2400" dirty="0"/>
          </a:p>
          <a:p>
            <a:endParaRPr lang="en-US" sz="2400" dirty="0"/>
          </a:p>
          <a:p>
            <a:endParaRPr lang="en-US" sz="2400" dirty="0"/>
          </a:p>
          <a:p>
            <a:endParaRPr lang="en-US" sz="2400" dirty="0"/>
          </a:p>
          <a:p>
            <a:pPr marL="342900" indent="-342900">
              <a:buFont typeface="Arial" panose="020B0604020202020204" pitchFamily="34" charset="0"/>
              <a:buChar char="•"/>
            </a:pPr>
            <a:r>
              <a:rPr lang="en-US" sz="1800" dirty="0"/>
              <a:t>Definition of the procedure and frequency for proof testing of each component in the SIS</a:t>
            </a:r>
          </a:p>
          <a:p>
            <a:pPr marL="342900" indent="-342900">
              <a:buFont typeface="Arial" panose="020B0604020202020204" pitchFamily="34" charset="0"/>
              <a:buChar char="•"/>
            </a:pPr>
            <a:r>
              <a:rPr lang="en-US" sz="1800" dirty="0"/>
              <a:t>Troubleshooting instructions in case of unsuccessful proof test results</a:t>
            </a:r>
            <a:endParaRPr lang="en-US" sz="160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00" y="2349854"/>
            <a:ext cx="4872927" cy="231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9"/>
          <p:cNvPicPr>
            <a:picLocks noChangeAspect="1" noChangeArrowheads="1"/>
          </p:cNvPicPr>
          <p:nvPr/>
        </p:nvPicPr>
        <p:blipFill>
          <a:blip r:embed="rId4" cstate="print">
            <a:extLst>
              <a:ext uri="{28A0092B-C50C-407E-A947-70E740481C1C}">
                <a14:useLocalDpi xmlns:a14="http://schemas.microsoft.com/office/drawing/2010/main" val="0"/>
              </a:ext>
            </a:extLst>
          </a:blip>
          <a:srcRect l="78" t="12653" r="2733" b="8209"/>
          <a:stretch>
            <a:fillRect/>
          </a:stretch>
        </p:blipFill>
        <p:spPr bwMode="auto">
          <a:xfrm>
            <a:off x="4899827" y="2324095"/>
            <a:ext cx="4033085" cy="2543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44722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Party Certification</a:t>
            </a:r>
          </a:p>
        </p:txBody>
      </p:sp>
      <p:pic>
        <p:nvPicPr>
          <p:cNvPr id="6148" name="Picture 4" descr="C:\Users\hutchesa\AppData\Local\Microsoft\Windows\Temporary Internet Files\Content.IE5\H6D77DLG\190152680[1].jpg"/>
          <p:cNvPicPr>
            <a:picLocks noChangeAspect="1" noChangeArrowheads="1"/>
          </p:cNvPicPr>
          <p:nvPr/>
        </p:nvPicPr>
        <p:blipFill rotWithShape="1">
          <a:blip r:embed="rId3">
            <a:extLst>
              <a:ext uri="{28A0092B-C50C-407E-A947-70E740481C1C}">
                <a14:useLocalDpi xmlns:a14="http://schemas.microsoft.com/office/drawing/2010/main" val="0"/>
              </a:ext>
            </a:extLst>
          </a:blip>
          <a:srcRect r="18782"/>
          <a:stretch/>
        </p:blipFill>
        <p:spPr bwMode="auto">
          <a:xfrm>
            <a:off x="6647941" y="4262284"/>
            <a:ext cx="2083309" cy="230397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DC91359-2C46-46E9-BB30-2DC32C72EF71}"/>
              </a:ext>
            </a:extLst>
          </p:cNvPr>
          <p:cNvSpPr txBox="1"/>
          <p:nvPr/>
        </p:nvSpPr>
        <p:spPr>
          <a:xfrm>
            <a:off x="379094" y="1361440"/>
            <a:ext cx="7372986" cy="307777"/>
          </a:xfrm>
          <a:prstGeom prst="rect">
            <a:avLst/>
          </a:prstGeom>
          <a:noFill/>
        </p:spPr>
        <p:txBody>
          <a:bodyPr wrap="square" lIns="0" tIns="0" rIns="0" bIns="0" rtlCol="0">
            <a:spAutoFit/>
          </a:bodyPr>
          <a:lstStyle/>
          <a:p>
            <a:r>
              <a:rPr lang="en-US" sz="2000" dirty="0"/>
              <a:t>Confirmation of compliance with IEC 61511 by independent experts</a:t>
            </a:r>
          </a:p>
        </p:txBody>
      </p:sp>
      <p:pic>
        <p:nvPicPr>
          <p:cNvPr id="4" name="Picture 3">
            <a:extLst>
              <a:ext uri="{FF2B5EF4-FFF2-40B4-BE49-F238E27FC236}">
                <a16:creationId xmlns:a16="http://schemas.microsoft.com/office/drawing/2014/main" id="{5FE54423-F4FF-42A3-8A70-F82CEA0D02AB}"/>
              </a:ext>
            </a:extLst>
          </p:cNvPr>
          <p:cNvPicPr>
            <a:picLocks noChangeAspect="1"/>
          </p:cNvPicPr>
          <p:nvPr/>
        </p:nvPicPr>
        <p:blipFill>
          <a:blip r:embed="rId4"/>
          <a:stretch>
            <a:fillRect/>
          </a:stretch>
        </p:blipFill>
        <p:spPr>
          <a:xfrm>
            <a:off x="253682" y="1809433"/>
            <a:ext cx="2680383" cy="3433128"/>
          </a:xfrm>
          <a:prstGeom prst="rect">
            <a:avLst/>
          </a:prstGeom>
        </p:spPr>
      </p:pic>
      <p:pic>
        <p:nvPicPr>
          <p:cNvPr id="5" name="Picture 4">
            <a:extLst>
              <a:ext uri="{FF2B5EF4-FFF2-40B4-BE49-F238E27FC236}">
                <a16:creationId xmlns:a16="http://schemas.microsoft.com/office/drawing/2014/main" id="{8B3139E0-534F-4D82-B05B-7892196AA690}"/>
              </a:ext>
            </a:extLst>
          </p:cNvPr>
          <p:cNvPicPr>
            <a:picLocks noChangeAspect="1"/>
          </p:cNvPicPr>
          <p:nvPr/>
        </p:nvPicPr>
        <p:blipFill>
          <a:blip r:embed="rId5"/>
          <a:stretch>
            <a:fillRect/>
          </a:stretch>
        </p:blipFill>
        <p:spPr>
          <a:xfrm>
            <a:off x="3696971" y="1910080"/>
            <a:ext cx="2646478" cy="3332482"/>
          </a:xfrm>
          <a:prstGeom prst="rect">
            <a:avLst/>
          </a:prstGeom>
        </p:spPr>
      </p:pic>
    </p:spTree>
    <p:extLst>
      <p:ext uri="{BB962C8B-B14F-4D97-AF65-F5344CB8AC3E}">
        <p14:creationId xmlns:p14="http://schemas.microsoft.com/office/powerpoint/2010/main" val="35111367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Takeaways</a:t>
            </a:r>
          </a:p>
        </p:txBody>
      </p:sp>
    </p:spTree>
    <p:extLst>
      <p:ext uri="{BB962C8B-B14F-4D97-AF65-F5344CB8AC3E}">
        <p14:creationId xmlns:p14="http://schemas.microsoft.com/office/powerpoint/2010/main" val="2294270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948E-B8EC-4CC9-9535-8D2F4295DF4F}"/>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6786296C-0B04-45D9-9313-6F2066E97F9B}"/>
              </a:ext>
            </a:extLst>
          </p:cNvPr>
          <p:cNvSpPr>
            <a:spLocks noGrp="1"/>
          </p:cNvSpPr>
          <p:nvPr>
            <p:ph idx="1"/>
          </p:nvPr>
        </p:nvSpPr>
        <p:spPr>
          <a:xfrm>
            <a:off x="379094" y="1170432"/>
            <a:ext cx="8347202" cy="4346825"/>
          </a:xfrm>
        </p:spPr>
        <p:txBody>
          <a:bodyPr/>
          <a:lstStyle/>
          <a:p>
            <a:pPr marL="457200" indent="-457200">
              <a:buFont typeface="Arial" panose="020B0604020202020204" pitchFamily="34" charset="0"/>
              <a:buChar char="•"/>
            </a:pPr>
            <a:r>
              <a:rPr lang="en-US" dirty="0"/>
              <a:t>GE Gas Power plants follow </a:t>
            </a:r>
            <a:r>
              <a:rPr lang="en-US" b="1" dirty="0"/>
              <a:t>IEC61511</a:t>
            </a:r>
          </a:p>
          <a:p>
            <a:pPr marL="457200" indent="-457200">
              <a:buFont typeface="Arial" panose="020B0604020202020204" pitchFamily="34" charset="0"/>
              <a:buChar char="•"/>
            </a:pPr>
            <a:r>
              <a:rPr lang="en-US" dirty="0"/>
              <a:t>Functional Safety is about safety integrity through </a:t>
            </a:r>
            <a:r>
              <a:rPr lang="en-US" b="1" dirty="0"/>
              <a:t>structured</a:t>
            </a:r>
            <a:r>
              <a:rPr lang="en-US" dirty="0"/>
              <a:t> &amp; </a:t>
            </a:r>
            <a:r>
              <a:rPr lang="en-US" b="1" dirty="0"/>
              <a:t>documented</a:t>
            </a:r>
            <a:r>
              <a:rPr lang="en-US" dirty="0"/>
              <a:t> process up to </a:t>
            </a:r>
            <a:r>
              <a:rPr lang="en-US" b="1" dirty="0"/>
              <a:t>site validation</a:t>
            </a:r>
          </a:p>
          <a:p>
            <a:pPr marL="457200" indent="-457200">
              <a:buFont typeface="Arial" panose="020B0604020202020204" pitchFamily="34" charset="0"/>
              <a:buChar char="•"/>
            </a:pPr>
            <a:r>
              <a:rPr lang="en-US" b="1" dirty="0"/>
              <a:t>Segregation</a:t>
            </a:r>
            <a:r>
              <a:rPr lang="en-US" dirty="0"/>
              <a:t> of Protection &amp; Process control</a:t>
            </a:r>
          </a:p>
          <a:p>
            <a:pPr marL="457200" indent="-457200">
              <a:buFont typeface="Arial" panose="020B0604020202020204" pitchFamily="34" charset="0"/>
              <a:buChar char="•"/>
            </a:pPr>
            <a:r>
              <a:rPr lang="en-US" dirty="0"/>
              <a:t>Functional Safety means thinking as a system &amp; working as a </a:t>
            </a:r>
            <a:r>
              <a:rPr lang="en-US" b="1" dirty="0"/>
              <a:t>cross-functional</a:t>
            </a:r>
            <a:r>
              <a:rPr lang="en-US" dirty="0"/>
              <a:t> team</a:t>
            </a:r>
          </a:p>
          <a:p>
            <a:pPr marL="457200" indent="-457200">
              <a:buFont typeface="Arial" panose="020B0604020202020204" pitchFamily="34" charset="0"/>
              <a:buChar char="•"/>
            </a:pPr>
            <a:r>
              <a:rPr lang="en-US" b="1" dirty="0"/>
              <a:t>Verification &amp; traceability </a:t>
            </a:r>
            <a:r>
              <a:rPr lang="en-US" dirty="0"/>
              <a:t>are key requirements</a:t>
            </a:r>
          </a:p>
        </p:txBody>
      </p:sp>
      <p:sp>
        <p:nvSpPr>
          <p:cNvPr id="4" name="Date Placeholder 3">
            <a:extLst>
              <a:ext uri="{FF2B5EF4-FFF2-40B4-BE49-F238E27FC236}">
                <a16:creationId xmlns:a16="http://schemas.microsoft.com/office/drawing/2014/main" id="{358AB588-4DF0-4292-97A7-FAB1B4B877B2}"/>
              </a:ext>
            </a:extLst>
          </p:cNvPr>
          <p:cNvSpPr>
            <a:spLocks noGrp="1"/>
          </p:cNvSpPr>
          <p:nvPr>
            <p:ph type="dt" sz="half" idx="10"/>
          </p:nvPr>
        </p:nvSpPr>
        <p:spPr/>
        <p:txBody>
          <a:bodyPr/>
          <a:lstStyle/>
          <a:p>
            <a:r>
              <a:rPr lang="en-US"/>
              <a:t>Title or Job Number | XX Month 201X</a:t>
            </a:r>
            <a:endParaRPr lang="en-US" dirty="0"/>
          </a:p>
        </p:txBody>
      </p:sp>
      <p:sp>
        <p:nvSpPr>
          <p:cNvPr id="5" name="Slide Number Placeholder 4">
            <a:extLst>
              <a:ext uri="{FF2B5EF4-FFF2-40B4-BE49-F238E27FC236}">
                <a16:creationId xmlns:a16="http://schemas.microsoft.com/office/drawing/2014/main" id="{1D5D6558-1776-4BF3-83A9-8A9F9266911E}"/>
              </a:ext>
            </a:extLst>
          </p:cNvPr>
          <p:cNvSpPr>
            <a:spLocks noGrp="1"/>
          </p:cNvSpPr>
          <p:nvPr>
            <p:ph type="sldNum" sz="quarter" idx="12"/>
          </p:nvPr>
        </p:nvSpPr>
        <p:spPr/>
        <p:txBody>
          <a:bodyPr/>
          <a:lstStyle/>
          <a:p>
            <a:fld id="{0D558541-60C9-42A2-8392-FF12533A6B7A}" type="slidenum">
              <a:rPr lang="en-US" dirty="0" smtClean="0"/>
              <a:t>41</a:t>
            </a:fld>
            <a:endParaRPr lang="en-US" dirty="0"/>
          </a:p>
        </p:txBody>
      </p:sp>
    </p:spTree>
    <p:extLst>
      <p:ext uri="{BB962C8B-B14F-4D97-AF65-F5344CB8AC3E}">
        <p14:creationId xmlns:p14="http://schemas.microsoft.com/office/powerpoint/2010/main" val="2373050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to GE Functional Safety QMS Procedures :</a:t>
            </a:r>
          </a:p>
        </p:txBody>
      </p:sp>
      <p:sp>
        <p:nvSpPr>
          <p:cNvPr id="3" name="TextBox 2">
            <a:extLst>
              <a:ext uri="{FF2B5EF4-FFF2-40B4-BE49-F238E27FC236}">
                <a16:creationId xmlns:a16="http://schemas.microsoft.com/office/drawing/2014/main" id="{6AF6C8E2-C108-4B72-BE62-239D3320CBAE}"/>
              </a:ext>
            </a:extLst>
          </p:cNvPr>
          <p:cNvSpPr txBox="1"/>
          <p:nvPr/>
        </p:nvSpPr>
        <p:spPr>
          <a:xfrm>
            <a:off x="379094" y="1778000"/>
            <a:ext cx="8480426" cy="2154436"/>
          </a:xfrm>
          <a:prstGeom prst="rect">
            <a:avLst/>
          </a:prstGeom>
          <a:noFill/>
        </p:spPr>
        <p:txBody>
          <a:bodyPr wrap="square" lIns="0" tIns="0" rIns="0" bIns="0" rtlCol="0">
            <a:spAutoFit/>
          </a:bodyPr>
          <a:lstStyle/>
          <a:p>
            <a:r>
              <a:rPr lang="en-US" sz="2000" dirty="0"/>
              <a:t>EED – 400	Management of Functional Safety (IEC 61511) </a:t>
            </a:r>
          </a:p>
          <a:p>
            <a:endParaRPr lang="en-US" sz="2000" dirty="0"/>
          </a:p>
          <a:p>
            <a:r>
              <a:rPr lang="en-US" sz="2000" dirty="0"/>
              <a:t>EED – 415 	Safety Integrity Level Targeting &amp; Assessment Instruction</a:t>
            </a:r>
          </a:p>
          <a:p>
            <a:endParaRPr lang="en-US" sz="2000" dirty="0"/>
          </a:p>
          <a:p>
            <a:r>
              <a:rPr lang="en-US" sz="2000" dirty="0"/>
              <a:t>GPTC – 7.0.1.25	SCL Work Instruction</a:t>
            </a:r>
          </a:p>
          <a:p>
            <a:endParaRPr lang="en-US" sz="2000" dirty="0"/>
          </a:p>
          <a:p>
            <a:r>
              <a:rPr lang="en-US" sz="2000" dirty="0"/>
              <a:t>GPTC – 7.0.1.38	Safety Integrity level verification work instruction</a:t>
            </a:r>
          </a:p>
        </p:txBody>
      </p:sp>
    </p:spTree>
    <p:extLst>
      <p:ext uri="{BB962C8B-B14F-4D97-AF65-F5344CB8AC3E}">
        <p14:creationId xmlns:p14="http://schemas.microsoft.com/office/powerpoint/2010/main" val="3736255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948E-B8EC-4CC9-9535-8D2F4295DF4F}"/>
              </a:ext>
            </a:extLst>
          </p:cNvPr>
          <p:cNvSpPr>
            <a:spLocks noGrp="1"/>
          </p:cNvSpPr>
          <p:nvPr>
            <p:ph type="title"/>
          </p:nvPr>
        </p:nvSpPr>
        <p:spPr/>
        <p:txBody>
          <a:bodyPr/>
          <a:lstStyle/>
          <a:p>
            <a:r>
              <a:rPr lang="en-US" dirty="0"/>
              <a:t>Contacts</a:t>
            </a:r>
          </a:p>
        </p:txBody>
      </p:sp>
      <p:sp>
        <p:nvSpPr>
          <p:cNvPr id="3" name="Content Placeholder 2">
            <a:extLst>
              <a:ext uri="{FF2B5EF4-FFF2-40B4-BE49-F238E27FC236}">
                <a16:creationId xmlns:a16="http://schemas.microsoft.com/office/drawing/2014/main" id="{6786296C-0B04-45D9-9313-6F2066E97F9B}"/>
              </a:ext>
            </a:extLst>
          </p:cNvPr>
          <p:cNvSpPr>
            <a:spLocks noGrp="1"/>
          </p:cNvSpPr>
          <p:nvPr>
            <p:ph idx="1"/>
          </p:nvPr>
        </p:nvSpPr>
        <p:spPr/>
        <p:txBody>
          <a:bodyPr/>
          <a:lstStyle/>
          <a:p>
            <a:r>
              <a:rPr lang="en-US" dirty="0"/>
              <a:t>For any further question on SIL Compliance, please reference EED-400 in Confluence, or contact SIL Compliance team.</a:t>
            </a:r>
          </a:p>
        </p:txBody>
      </p:sp>
      <p:sp>
        <p:nvSpPr>
          <p:cNvPr id="4" name="Date Placeholder 3">
            <a:extLst>
              <a:ext uri="{FF2B5EF4-FFF2-40B4-BE49-F238E27FC236}">
                <a16:creationId xmlns:a16="http://schemas.microsoft.com/office/drawing/2014/main" id="{358AB588-4DF0-4292-97A7-FAB1B4B877B2}"/>
              </a:ext>
            </a:extLst>
          </p:cNvPr>
          <p:cNvSpPr>
            <a:spLocks noGrp="1"/>
          </p:cNvSpPr>
          <p:nvPr>
            <p:ph type="dt" sz="half" idx="10"/>
          </p:nvPr>
        </p:nvSpPr>
        <p:spPr/>
        <p:txBody>
          <a:bodyPr/>
          <a:lstStyle/>
          <a:p>
            <a:r>
              <a:rPr lang="en-US"/>
              <a:t>Title or Job Number | XX Month 201X</a:t>
            </a:r>
            <a:endParaRPr lang="en-US" dirty="0"/>
          </a:p>
        </p:txBody>
      </p:sp>
      <p:sp>
        <p:nvSpPr>
          <p:cNvPr id="5" name="Slide Number Placeholder 4">
            <a:extLst>
              <a:ext uri="{FF2B5EF4-FFF2-40B4-BE49-F238E27FC236}">
                <a16:creationId xmlns:a16="http://schemas.microsoft.com/office/drawing/2014/main" id="{1D5D6558-1776-4BF3-83A9-8A9F9266911E}"/>
              </a:ext>
            </a:extLst>
          </p:cNvPr>
          <p:cNvSpPr>
            <a:spLocks noGrp="1"/>
          </p:cNvSpPr>
          <p:nvPr>
            <p:ph type="sldNum" sz="quarter" idx="12"/>
          </p:nvPr>
        </p:nvSpPr>
        <p:spPr/>
        <p:txBody>
          <a:bodyPr/>
          <a:lstStyle/>
          <a:p>
            <a:fld id="{0D558541-60C9-42A2-8392-FF12533A6B7A}" type="slidenum">
              <a:rPr lang="en-US" dirty="0" smtClean="0"/>
              <a:t>43</a:t>
            </a:fld>
            <a:endParaRPr lang="en-US" dirty="0"/>
          </a:p>
        </p:txBody>
      </p:sp>
      <p:pic>
        <p:nvPicPr>
          <p:cNvPr id="6" name="Image 5">
            <a:extLst>
              <a:ext uri="{FF2B5EF4-FFF2-40B4-BE49-F238E27FC236}">
                <a16:creationId xmlns:a16="http://schemas.microsoft.com/office/drawing/2014/main" id="{D86D4A10-7135-4EC9-9CF6-E92C33E99535}"/>
              </a:ext>
            </a:extLst>
          </p:cNvPr>
          <p:cNvPicPr>
            <a:picLocks noChangeAspect="1"/>
          </p:cNvPicPr>
          <p:nvPr/>
        </p:nvPicPr>
        <p:blipFill>
          <a:blip r:embed="rId2"/>
          <a:stretch>
            <a:fillRect/>
          </a:stretch>
        </p:blipFill>
        <p:spPr>
          <a:xfrm>
            <a:off x="1116806" y="3184978"/>
            <a:ext cx="6910387" cy="24871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84246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717905"/>
      </p:ext>
    </p:extLst>
  </p:cSld>
  <p:clrMapOvr>
    <a:masterClrMapping/>
  </p:clrMapOvr>
</p:sld>
</file>

<file path=ppt/theme/theme1.xml><?xml version="1.0" encoding="utf-8"?>
<a:theme xmlns:a="http://schemas.openxmlformats.org/drawingml/2006/main" name="blank">
  <a:themeElements>
    <a:clrScheme name="GE 2014 V01 Interim 05 (probably final)">
      <a:dk1>
        <a:srgbClr val="575757"/>
      </a:dk1>
      <a:lt1>
        <a:sysClr val="window" lastClr="FFFFFF"/>
      </a:lt1>
      <a:dk2>
        <a:srgbClr val="005CB9"/>
      </a:dk2>
      <a:lt2>
        <a:srgbClr val="E9E9E9"/>
      </a:lt2>
      <a:accent1>
        <a:srgbClr val="3693F8"/>
      </a:accent1>
      <a:accent2>
        <a:srgbClr val="00366E"/>
      </a:accent2>
      <a:accent3>
        <a:srgbClr val="46AD00"/>
      </a:accent3>
      <a:accent4>
        <a:srgbClr val="1D5F11"/>
      </a:accent4>
      <a:accent5>
        <a:srgbClr val="FFCF45"/>
      </a:accent5>
      <a:accent6>
        <a:srgbClr val="841225"/>
      </a:accent6>
      <a:hlink>
        <a:srgbClr val="005CBA"/>
      </a:hlink>
      <a:folHlink>
        <a:srgbClr val="005CB9"/>
      </a:folHlink>
    </a:clrScheme>
    <a:fontScheme name="GE Inspira Pitch 2014">
      <a:majorFont>
        <a:latin typeface="GE Inspira Pitch"/>
        <a:ea typeface=""/>
        <a:cs typeface=""/>
      </a:majorFont>
      <a:minorFont>
        <a:latin typeface="GE Inspira Pitch"/>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2000" dirty="0" smtClean="0"/>
        </a:defPPr>
      </a:lstStyle>
    </a:txDef>
  </a:objectDefaults>
  <a:extraClrSchemeLst/>
</a:theme>
</file>

<file path=ppt/theme/theme2.xml><?xml version="1.0" encoding="utf-8"?>
<a:theme xmlns:a="http://schemas.openxmlformats.org/drawingml/2006/main" name="GE Powerpoint Template">
  <a:themeElements>
    <a:clrScheme name="">
      <a:dk1>
        <a:srgbClr val="1E4191"/>
      </a:dk1>
      <a:lt1>
        <a:srgbClr val="FFFFFF"/>
      </a:lt1>
      <a:dk2>
        <a:srgbClr val="FF6600"/>
      </a:dk2>
      <a:lt2>
        <a:srgbClr val="00AA50"/>
      </a:lt2>
      <a:accent1>
        <a:srgbClr val="9B50D7"/>
      </a:accent1>
      <a:accent2>
        <a:srgbClr val="28B9F5"/>
      </a:accent2>
      <a:accent3>
        <a:srgbClr val="FFFFFF"/>
      </a:accent3>
      <a:accent4>
        <a:srgbClr val="18367B"/>
      </a:accent4>
      <a:accent5>
        <a:srgbClr val="CBB3E8"/>
      </a:accent5>
      <a:accent6>
        <a:srgbClr val="23A7DE"/>
      </a:accent6>
      <a:hlink>
        <a:srgbClr val="CD0078"/>
      </a:hlink>
      <a:folHlink>
        <a:srgbClr val="23E100"/>
      </a:folHlink>
    </a:clrScheme>
    <a:fontScheme name="GE Inspira template">
      <a:majorFont>
        <a:latin typeface="GE Inspira Pitch"/>
        <a:ea typeface=""/>
        <a:cs typeface=""/>
      </a:majorFont>
      <a:minorFont>
        <a:latin typeface="GE Inspira Pitch"/>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GE Inspira Pitch"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GE Inspira Pitch" pitchFamily="34" charset="0"/>
          </a:defRPr>
        </a:defPPr>
      </a:lstStyle>
    </a:lnDef>
  </a:objectDefaults>
  <a:extraClrSchemeLst>
    <a:extraClrScheme>
      <a:clrScheme name="GE Inspira template 1">
        <a:dk1>
          <a:srgbClr val="1E4191"/>
        </a:dk1>
        <a:lt1>
          <a:srgbClr val="FFFFFF"/>
        </a:lt1>
        <a:dk2>
          <a:srgbClr val="FF6600"/>
        </a:dk2>
        <a:lt2>
          <a:srgbClr val="00AA50"/>
        </a:lt2>
        <a:accent1>
          <a:srgbClr val="9B50D7"/>
        </a:accent1>
        <a:accent2>
          <a:srgbClr val="28B9F5"/>
        </a:accent2>
        <a:accent3>
          <a:srgbClr val="FFFFFF"/>
        </a:accent3>
        <a:accent4>
          <a:srgbClr val="18367B"/>
        </a:accent4>
        <a:accent5>
          <a:srgbClr val="CBB3E8"/>
        </a:accent5>
        <a:accent6>
          <a:srgbClr val="23A7DE"/>
        </a:accent6>
        <a:hlink>
          <a:srgbClr val="EBD70A"/>
        </a:hlink>
        <a:folHlink>
          <a:srgbClr val="23E1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GE 2014 V01 Interim 05 (probably final)">
      <a:dk1>
        <a:srgbClr val="575757"/>
      </a:dk1>
      <a:lt1>
        <a:sysClr val="window" lastClr="FFFFFF"/>
      </a:lt1>
      <a:dk2>
        <a:srgbClr val="005CB9"/>
      </a:dk2>
      <a:lt2>
        <a:srgbClr val="E9E9E9"/>
      </a:lt2>
      <a:accent1>
        <a:srgbClr val="3693F8"/>
      </a:accent1>
      <a:accent2>
        <a:srgbClr val="00366E"/>
      </a:accent2>
      <a:accent3>
        <a:srgbClr val="46AD00"/>
      </a:accent3>
      <a:accent4>
        <a:srgbClr val="1D5F11"/>
      </a:accent4>
      <a:accent5>
        <a:srgbClr val="FFCF45"/>
      </a:accent5>
      <a:accent6>
        <a:srgbClr val="841225"/>
      </a:accent6>
      <a:hlink>
        <a:srgbClr val="005CBA"/>
      </a:hlink>
      <a:folHlink>
        <a:srgbClr val="005CB9"/>
      </a:folHlink>
    </a:clrScheme>
    <a:fontScheme name="GE Inspira Pitch 2014">
      <a:majorFont>
        <a:latin typeface="GE Inspira Pitch"/>
        <a:ea typeface=""/>
        <a:cs typeface=""/>
      </a:majorFont>
      <a:minorFont>
        <a:latin typeface="GE Inspira Pitch"/>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E 2014 V01 Interim 05 (probably final)">
      <a:dk1>
        <a:srgbClr val="575757"/>
      </a:dk1>
      <a:lt1>
        <a:sysClr val="window" lastClr="FFFFFF"/>
      </a:lt1>
      <a:dk2>
        <a:srgbClr val="005CB9"/>
      </a:dk2>
      <a:lt2>
        <a:srgbClr val="E9E9E9"/>
      </a:lt2>
      <a:accent1>
        <a:srgbClr val="3693F8"/>
      </a:accent1>
      <a:accent2>
        <a:srgbClr val="00366E"/>
      </a:accent2>
      <a:accent3>
        <a:srgbClr val="46AD00"/>
      </a:accent3>
      <a:accent4>
        <a:srgbClr val="1D5F11"/>
      </a:accent4>
      <a:accent5>
        <a:srgbClr val="FFCF45"/>
      </a:accent5>
      <a:accent6>
        <a:srgbClr val="841225"/>
      </a:accent6>
      <a:hlink>
        <a:srgbClr val="005CBA"/>
      </a:hlink>
      <a:folHlink>
        <a:srgbClr val="005CB9"/>
      </a:folHlink>
    </a:clrScheme>
    <a:fontScheme name="GE Inspira Pitch 2014">
      <a:majorFont>
        <a:latin typeface="GE Inspira Pitch"/>
        <a:ea typeface=""/>
        <a:cs typeface=""/>
      </a:majorFont>
      <a:minorFont>
        <a:latin typeface="GE Inspira Pitch"/>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18123</TotalTime>
  <Words>5047</Words>
  <Application>Microsoft Office PowerPoint</Application>
  <PresentationFormat>Affichage à l'écran (4:3)</PresentationFormat>
  <Paragraphs>688</Paragraphs>
  <Slides>44</Slides>
  <Notes>41</Notes>
  <HiddenSlides>5</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44</vt:i4>
      </vt:variant>
    </vt:vector>
  </HeadingPairs>
  <TitlesOfParts>
    <vt:vector size="53" baseType="lpstr">
      <vt:lpstr>Arial</vt:lpstr>
      <vt:lpstr>Arial Black</vt:lpstr>
      <vt:lpstr>GE Inspira</vt:lpstr>
      <vt:lpstr>GE Inspira Pitch</vt:lpstr>
      <vt:lpstr>Lucida Sans Unicode</vt:lpstr>
      <vt:lpstr>Stencil</vt:lpstr>
      <vt:lpstr>Wingdings</vt:lpstr>
      <vt:lpstr>blank</vt:lpstr>
      <vt:lpstr>GE Powerpoint Template</vt:lpstr>
      <vt:lpstr>General awareness  Functional Safety Training</vt:lpstr>
      <vt:lpstr>Purpose - </vt:lpstr>
      <vt:lpstr>Agenda -</vt:lpstr>
      <vt:lpstr>Introduction</vt:lpstr>
      <vt:lpstr>Introduction – Safety &amp; Functional Safety</vt:lpstr>
      <vt:lpstr>Introduction – Safety &amp; Functional Safety</vt:lpstr>
      <vt:lpstr>Introduction – Safety &amp; Functional Safety</vt:lpstr>
      <vt:lpstr>Présentation PowerPoint</vt:lpstr>
      <vt:lpstr>Functional Safety Standards</vt:lpstr>
      <vt:lpstr>Standards for Functional Safety</vt:lpstr>
      <vt:lpstr>Drivers for Functional Safety Compliance</vt:lpstr>
      <vt:lpstr>What is SIL (Safety Integrity Level) ?</vt:lpstr>
      <vt:lpstr>SIL – Safety Integrity Level</vt:lpstr>
      <vt:lpstr>SIL Process</vt:lpstr>
      <vt:lpstr>Safety Management Life Cycle (IEC 61511)</vt:lpstr>
      <vt:lpstr>Risk analysis &amp; SIL assignment (Targeting)</vt:lpstr>
      <vt:lpstr>Risk Analysis Process</vt:lpstr>
      <vt:lpstr>Risk Analysis Process</vt:lpstr>
      <vt:lpstr>Safety Requirements Specification  </vt:lpstr>
      <vt:lpstr>Technical Requirements to SIFs</vt:lpstr>
      <vt:lpstr>Design &amp; Design verification </vt:lpstr>
      <vt:lpstr>Safety Design Principles </vt:lpstr>
      <vt:lpstr>Functional Block Diagram (FBD)</vt:lpstr>
      <vt:lpstr>Verification requirements</vt:lpstr>
      <vt:lpstr>For Ex: Controls Requirement Specification</vt:lpstr>
      <vt:lpstr>Factory / Software Acceptance Tests (FAT/SWAT)</vt:lpstr>
      <vt:lpstr>Validation</vt:lpstr>
      <vt:lpstr>Validation</vt:lpstr>
      <vt:lpstr>Site Acceptance Tests</vt:lpstr>
      <vt:lpstr>Installation/Commissioning</vt:lpstr>
      <vt:lpstr>Organization of Functional Safety in GE Gas Power</vt:lpstr>
      <vt:lpstr>Roles and Responsibilities</vt:lpstr>
      <vt:lpstr>Roles and Responsibilities</vt:lpstr>
      <vt:lpstr>Safety Management Life Cycle</vt:lpstr>
      <vt:lpstr>SIL compliance leader Missions–within baseline</vt:lpstr>
      <vt:lpstr>Customer Deliverables</vt:lpstr>
      <vt:lpstr>Safety Manual</vt:lpstr>
      <vt:lpstr>For Ex: Proof Test Procedure</vt:lpstr>
      <vt:lpstr>Third Party Certification</vt:lpstr>
      <vt:lpstr>Takeaways</vt:lpstr>
      <vt:lpstr>Takeaways</vt:lpstr>
      <vt:lpstr>References to GE Functional Safety QMS Procedures :</vt:lpstr>
      <vt:lpstr>Contacts</vt:lpstr>
      <vt:lpstr>Présentation PowerPoint</vt:lpstr>
    </vt:vector>
  </TitlesOfParts>
  <Company>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Safety Training</dc:title>
  <dc:creator>GE User</dc:creator>
  <cp:lastModifiedBy>Couchot, Myriam (GE Gas Power)</cp:lastModifiedBy>
  <cp:revision>270</cp:revision>
  <cp:lastPrinted>2017-08-09T11:56:15Z</cp:lastPrinted>
  <dcterms:created xsi:type="dcterms:W3CDTF">2015-04-27T16:58:52Z</dcterms:created>
  <dcterms:modified xsi:type="dcterms:W3CDTF">2021-03-18T11:57:21Z</dcterms:modified>
</cp:coreProperties>
</file>