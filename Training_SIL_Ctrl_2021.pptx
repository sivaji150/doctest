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45897" showSpecialPlsOnTitleSld="0" strictFirstAndLastChars="0" bookmarkIdSeed="3">
  <p:sldMasterIdLst>
    <p:sldMasterId id="2147483664" r:id="rId1"/>
    <p:sldMasterId id="2147483681" r:id="rId2"/>
  </p:sldMasterIdLst>
  <p:notesMasterIdLst>
    <p:notesMasterId r:id="rId30"/>
  </p:notesMasterIdLst>
  <p:handoutMasterIdLst>
    <p:handoutMasterId r:id="rId31"/>
  </p:handoutMasterIdLst>
  <p:sldIdLst>
    <p:sldId id="286" r:id="rId3"/>
    <p:sldId id="349" r:id="rId4"/>
    <p:sldId id="350" r:id="rId5"/>
    <p:sldId id="352" r:id="rId6"/>
    <p:sldId id="351" r:id="rId7"/>
    <p:sldId id="355" r:id="rId8"/>
    <p:sldId id="353" r:id="rId9"/>
    <p:sldId id="356" r:id="rId10"/>
    <p:sldId id="346" r:id="rId11"/>
    <p:sldId id="357" r:id="rId12"/>
    <p:sldId id="358" r:id="rId13"/>
    <p:sldId id="362" r:id="rId14"/>
    <p:sldId id="363" r:id="rId15"/>
    <p:sldId id="379" r:id="rId16"/>
    <p:sldId id="365" r:id="rId17"/>
    <p:sldId id="366" r:id="rId18"/>
    <p:sldId id="367" r:id="rId19"/>
    <p:sldId id="368" r:id="rId20"/>
    <p:sldId id="369" r:id="rId21"/>
    <p:sldId id="370" r:id="rId22"/>
    <p:sldId id="372" r:id="rId23"/>
    <p:sldId id="373" r:id="rId24"/>
    <p:sldId id="374" r:id="rId25"/>
    <p:sldId id="375" r:id="rId26"/>
    <p:sldId id="376" r:id="rId27"/>
    <p:sldId id="377" r:id="rId28"/>
    <p:sldId id="378" r:id="rId29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GE Inspira Pitch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GE Inspira Pitch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GE Inspira Pitch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GE Inspira Pitch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GE Inspira Pitch" pitchFamily="34" charset="0"/>
        <a:ea typeface="+mn-ea"/>
        <a:cs typeface="+mn-cs"/>
      </a:defRPr>
    </a:lvl5pPr>
    <a:lvl6pPr marL="2286000" algn="l" defTabSz="914400" rtl="0" eaLnBrk="1" latinLnBrk="0" hangingPunct="1">
      <a:defRPr sz="3200" kern="1200">
        <a:solidFill>
          <a:schemeClr val="tx1"/>
        </a:solidFill>
        <a:latin typeface="GE Inspira Pitch" pitchFamily="34" charset="0"/>
        <a:ea typeface="+mn-ea"/>
        <a:cs typeface="+mn-cs"/>
      </a:defRPr>
    </a:lvl6pPr>
    <a:lvl7pPr marL="2743200" algn="l" defTabSz="914400" rtl="0" eaLnBrk="1" latinLnBrk="0" hangingPunct="1">
      <a:defRPr sz="3200" kern="1200">
        <a:solidFill>
          <a:schemeClr val="tx1"/>
        </a:solidFill>
        <a:latin typeface="GE Inspira Pitch" pitchFamily="34" charset="0"/>
        <a:ea typeface="+mn-ea"/>
        <a:cs typeface="+mn-cs"/>
      </a:defRPr>
    </a:lvl7pPr>
    <a:lvl8pPr marL="3200400" algn="l" defTabSz="914400" rtl="0" eaLnBrk="1" latinLnBrk="0" hangingPunct="1">
      <a:defRPr sz="3200" kern="1200">
        <a:solidFill>
          <a:schemeClr val="tx1"/>
        </a:solidFill>
        <a:latin typeface="GE Inspira Pitch" pitchFamily="34" charset="0"/>
        <a:ea typeface="+mn-ea"/>
        <a:cs typeface="+mn-cs"/>
      </a:defRPr>
    </a:lvl8pPr>
    <a:lvl9pPr marL="3657600" algn="l" defTabSz="914400" rtl="0" eaLnBrk="1" latinLnBrk="0" hangingPunct="1">
      <a:defRPr sz="3200" kern="1200">
        <a:solidFill>
          <a:schemeClr val="tx1"/>
        </a:solidFill>
        <a:latin typeface="GE Inspira Pitch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11">
          <p15:clr>
            <a:srgbClr val="A4A3A4"/>
          </p15:clr>
        </p15:guide>
        <p15:guide id="2" orient="horz" pos="3758">
          <p15:clr>
            <a:srgbClr val="A4A3A4"/>
          </p15:clr>
        </p15:guide>
        <p15:guide id="3" orient="horz" pos="1062">
          <p15:clr>
            <a:srgbClr val="A4A3A4"/>
          </p15:clr>
        </p15:guide>
        <p15:guide id="4" orient="horz" pos="449">
          <p15:clr>
            <a:srgbClr val="A4A3A4"/>
          </p15:clr>
        </p15:guide>
        <p15:guide id="5" orient="horz" pos="2849">
          <p15:clr>
            <a:srgbClr val="A4A3A4"/>
          </p15:clr>
        </p15:guide>
        <p15:guide id="6" orient="horz" pos="2153">
          <p15:clr>
            <a:srgbClr val="A4A3A4"/>
          </p15:clr>
        </p15:guide>
        <p15:guide id="7" orient="horz" pos="5442">
          <p15:clr>
            <a:srgbClr val="A4A3A4"/>
          </p15:clr>
        </p15:guide>
        <p15:guide id="8" orient="horz" pos="1954">
          <p15:clr>
            <a:srgbClr val="A4A3A4"/>
          </p15:clr>
        </p15:guide>
        <p15:guide id="9" pos="219">
          <p15:clr>
            <a:srgbClr val="A4A3A4"/>
          </p15:clr>
        </p15:guide>
        <p15:guide id="10" pos="5551">
          <p15:clr>
            <a:srgbClr val="A4A3A4"/>
          </p15:clr>
        </p15:guide>
        <p15:guide id="11" pos="2879">
          <p15:clr>
            <a:srgbClr val="A4A3A4"/>
          </p15:clr>
        </p15:guide>
        <p15:guide id="12" pos="1521">
          <p15:clr>
            <a:srgbClr val="A4A3A4"/>
          </p15:clr>
        </p15:guide>
        <p15:guide id="13" pos="421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orient="horz" pos="5906">
          <p15:clr>
            <a:srgbClr val="A4A3A4"/>
          </p15:clr>
        </p15:guide>
        <p15:guide id="3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CD0078"/>
    <a:srgbClr val="000000"/>
    <a:srgbClr val="66FF33"/>
    <a:srgbClr val="00AA50"/>
    <a:srgbClr val="7A7A7A"/>
    <a:srgbClr val="6B6B6B"/>
    <a:srgbClr val="767676"/>
    <a:srgbClr val="4C4C4C"/>
    <a:srgbClr val="6565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07" autoAdjust="0"/>
    <p:restoredTop sz="84499" autoAdjust="0"/>
  </p:normalViewPr>
  <p:slideViewPr>
    <p:cSldViewPr snapToGrid="0">
      <p:cViewPr varScale="1">
        <p:scale>
          <a:sx n="96" d="100"/>
          <a:sy n="96" d="100"/>
        </p:scale>
        <p:origin x="2118" y="90"/>
      </p:cViewPr>
      <p:guideLst>
        <p:guide orient="horz" pos="1311"/>
        <p:guide orient="horz" pos="3758"/>
        <p:guide orient="horz" pos="1062"/>
        <p:guide orient="horz" pos="449"/>
        <p:guide orient="horz" pos="2849"/>
        <p:guide orient="horz" pos="2153"/>
        <p:guide orient="horz" pos="5442"/>
        <p:guide orient="horz" pos="1954"/>
        <p:guide pos="219"/>
        <p:guide pos="5551"/>
        <p:guide pos="2879"/>
        <p:guide pos="1521"/>
        <p:guide pos="421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2" d="100"/>
          <a:sy n="82" d="100"/>
        </p:scale>
        <p:origin x="-1896" y="-102"/>
      </p:cViewPr>
      <p:guideLst>
        <p:guide orient="horz" pos="3024"/>
        <p:guide orient="horz" pos="5906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213" name="Picture 2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88" y="8916988"/>
            <a:ext cx="1600200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6214" name="Text Box 22"/>
          <p:cNvSpPr txBox="1">
            <a:spLocks noChangeArrowheads="1"/>
          </p:cNvSpPr>
          <p:nvPr/>
        </p:nvSpPr>
        <p:spPr bwMode="auto">
          <a:xfrm>
            <a:off x="2922588" y="8988425"/>
            <a:ext cx="4021137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algn="r">
              <a:lnSpc>
                <a:spcPts val="1100"/>
              </a:lnSpc>
            </a:pPr>
            <a:fld id="{248A7D45-D04D-4B80-90EF-34F48D18C37A}" type="slidenum">
              <a:rPr lang="en-US" sz="900">
                <a:solidFill>
                  <a:srgbClr val="1E4191"/>
                </a:solidFill>
              </a:rPr>
              <a:pPr algn="r">
                <a:lnSpc>
                  <a:spcPts val="1100"/>
                </a:lnSpc>
              </a:pPr>
              <a:t>‹#›</a:t>
            </a:fld>
            <a:r>
              <a:rPr lang="en-US" sz="900">
                <a:solidFill>
                  <a:srgbClr val="1E4191"/>
                </a:solidFill>
              </a:rPr>
              <a:t> /</a:t>
            </a:r>
          </a:p>
          <a:p>
            <a:pPr algn="r">
              <a:lnSpc>
                <a:spcPts val="1100"/>
              </a:lnSpc>
            </a:pPr>
            <a:r>
              <a:rPr lang="en-US" sz="900">
                <a:solidFill>
                  <a:srgbClr val="1E4191"/>
                </a:solidFill>
              </a:rPr>
              <a:t>GE  / </a:t>
            </a:r>
          </a:p>
          <a:p>
            <a:pPr algn="r"/>
            <a:endParaRPr lang="en-US" sz="900">
              <a:solidFill>
                <a:srgbClr val="1E419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687591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863" name="Picture 1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88" y="8916988"/>
            <a:ext cx="1600200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88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4400" y="228600"/>
            <a:ext cx="5730875" cy="42989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88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648200"/>
            <a:ext cx="5730875" cy="4295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44" tIns="48322" rIns="96644" bIns="4832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8862" name="Text Box 14"/>
          <p:cNvSpPr txBox="1">
            <a:spLocks noChangeArrowheads="1"/>
          </p:cNvSpPr>
          <p:nvPr/>
        </p:nvSpPr>
        <p:spPr bwMode="auto">
          <a:xfrm>
            <a:off x="2922588" y="8988425"/>
            <a:ext cx="4021137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algn="r">
              <a:lnSpc>
                <a:spcPts val="1100"/>
              </a:lnSpc>
            </a:pPr>
            <a:fld id="{AB69BBA2-4AEB-4B61-8393-54D11319A087}" type="slidenum">
              <a:rPr lang="en-US" sz="900">
                <a:solidFill>
                  <a:srgbClr val="1E4191"/>
                </a:solidFill>
              </a:rPr>
              <a:pPr algn="r">
                <a:lnSpc>
                  <a:spcPts val="1100"/>
                </a:lnSpc>
              </a:pPr>
              <a:t>‹#›</a:t>
            </a:fld>
            <a:r>
              <a:rPr lang="en-US" sz="900">
                <a:solidFill>
                  <a:srgbClr val="1E4191"/>
                </a:solidFill>
              </a:rPr>
              <a:t> /</a:t>
            </a:r>
          </a:p>
          <a:p>
            <a:pPr algn="r">
              <a:lnSpc>
                <a:spcPts val="1100"/>
              </a:lnSpc>
            </a:pPr>
            <a:r>
              <a:rPr lang="en-US" sz="900">
                <a:solidFill>
                  <a:srgbClr val="1E4191"/>
                </a:solidFill>
              </a:rPr>
              <a:t>GE  / </a:t>
            </a:r>
          </a:p>
          <a:p>
            <a:pPr algn="r"/>
            <a:endParaRPr lang="en-US" sz="900">
              <a:solidFill>
                <a:srgbClr val="1E419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170403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fontAlgn="base">
      <a:lnSpc>
        <a:spcPct val="90000"/>
      </a:lnSpc>
      <a:spcBef>
        <a:spcPct val="30000"/>
      </a:spcBef>
      <a:spcAft>
        <a:spcPct val="0"/>
      </a:spcAft>
      <a:defRPr sz="1200" kern="1200">
        <a:solidFill>
          <a:srgbClr val="4157AD"/>
        </a:solidFill>
        <a:latin typeface="GE Inspira Pitch" pitchFamily="34" charset="0"/>
        <a:ea typeface="+mn-ea"/>
        <a:cs typeface="+mn-cs"/>
      </a:defRPr>
    </a:lvl1pPr>
    <a:lvl2pPr marL="457200" algn="l" rtl="0" fontAlgn="base">
      <a:lnSpc>
        <a:spcPct val="90000"/>
      </a:lnSpc>
      <a:spcBef>
        <a:spcPct val="30000"/>
      </a:spcBef>
      <a:spcAft>
        <a:spcPct val="0"/>
      </a:spcAft>
      <a:defRPr sz="1200" kern="1200">
        <a:solidFill>
          <a:srgbClr val="4157AD"/>
        </a:solidFill>
        <a:latin typeface="GE Inspira Pitch" pitchFamily="34" charset="0"/>
        <a:ea typeface="+mn-ea"/>
        <a:cs typeface="+mn-cs"/>
      </a:defRPr>
    </a:lvl2pPr>
    <a:lvl3pPr marL="914400" algn="l" rtl="0" fontAlgn="base">
      <a:lnSpc>
        <a:spcPct val="90000"/>
      </a:lnSpc>
      <a:spcBef>
        <a:spcPct val="30000"/>
      </a:spcBef>
      <a:spcAft>
        <a:spcPct val="0"/>
      </a:spcAft>
      <a:defRPr sz="1200" kern="1200">
        <a:solidFill>
          <a:srgbClr val="4157AD"/>
        </a:solidFill>
        <a:latin typeface="GE Inspira Pitch" pitchFamily="34" charset="0"/>
        <a:ea typeface="+mn-ea"/>
        <a:cs typeface="+mn-cs"/>
      </a:defRPr>
    </a:lvl3pPr>
    <a:lvl4pPr marL="1371600" algn="l" rtl="0" fontAlgn="base">
      <a:lnSpc>
        <a:spcPct val="90000"/>
      </a:lnSpc>
      <a:spcBef>
        <a:spcPct val="30000"/>
      </a:spcBef>
      <a:spcAft>
        <a:spcPct val="0"/>
      </a:spcAft>
      <a:defRPr sz="1200" kern="1200">
        <a:solidFill>
          <a:srgbClr val="4157AD"/>
        </a:solidFill>
        <a:latin typeface="GE Inspira Pitch" pitchFamily="34" charset="0"/>
        <a:ea typeface="+mn-ea"/>
        <a:cs typeface="+mn-cs"/>
      </a:defRPr>
    </a:lvl4pPr>
    <a:lvl5pPr marL="1828800" algn="l" rtl="0" fontAlgn="base">
      <a:lnSpc>
        <a:spcPct val="90000"/>
      </a:lnSpc>
      <a:spcBef>
        <a:spcPct val="30000"/>
      </a:spcBef>
      <a:spcAft>
        <a:spcPct val="0"/>
      </a:spcAft>
      <a:defRPr sz="1200" kern="1200">
        <a:solidFill>
          <a:srgbClr val="4157AD"/>
        </a:solidFill>
        <a:latin typeface="GE Inspira Pitch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2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des </a:t>
            </a:r>
            <a:r>
              <a:rPr lang="en-US" dirty="0" err="1"/>
              <a:t>dessins</a:t>
            </a:r>
            <a:r>
              <a:rPr lang="en-US" baseline="0" dirty="0"/>
              <a:t> </a:t>
            </a:r>
            <a:r>
              <a:rPr lang="en-US" baseline="0" dirty="0" err="1"/>
              <a:t>dans</a:t>
            </a:r>
            <a:r>
              <a:rPr lang="en-US" baseline="0" dirty="0"/>
              <a:t> r:\OTR\_Consignes\Work\graphes_génériques.xlsx</a:t>
            </a:r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80755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80755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80755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80755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80755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80755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80755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98914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4143002" y="9119299"/>
            <a:ext cx="3170490" cy="480367"/>
          </a:xfrm>
          <a:prstGeom prst="rect">
            <a:avLst/>
          </a:prstGeom>
          <a:noFill/>
        </p:spPr>
        <p:txBody>
          <a:bodyPr/>
          <a:lstStyle>
            <a:lvl1pPr defTabSz="930275">
              <a:defRPr sz="2000">
                <a:solidFill>
                  <a:schemeClr val="tx1"/>
                </a:solidFill>
                <a:latin typeface="GE Inspira Pitch" pitchFamily="34" charset="0"/>
                <a:cs typeface="Times New Roman" pitchFamily="18" charset="0"/>
              </a:defRPr>
            </a:lvl1pPr>
            <a:lvl2pPr marL="742950" indent="-285750" defTabSz="930275">
              <a:defRPr sz="2000">
                <a:solidFill>
                  <a:schemeClr val="tx1"/>
                </a:solidFill>
                <a:latin typeface="GE Inspira Pitch" pitchFamily="34" charset="0"/>
                <a:cs typeface="Times New Roman" pitchFamily="18" charset="0"/>
              </a:defRPr>
            </a:lvl2pPr>
            <a:lvl3pPr marL="1143000" indent="-228600" defTabSz="930275">
              <a:defRPr sz="2000">
                <a:solidFill>
                  <a:schemeClr val="tx1"/>
                </a:solidFill>
                <a:latin typeface="GE Inspira Pitch" pitchFamily="34" charset="0"/>
                <a:cs typeface="Times New Roman" pitchFamily="18" charset="0"/>
              </a:defRPr>
            </a:lvl3pPr>
            <a:lvl4pPr marL="1600200" indent="-228600" defTabSz="930275">
              <a:defRPr sz="2000">
                <a:solidFill>
                  <a:schemeClr val="tx1"/>
                </a:solidFill>
                <a:latin typeface="GE Inspira Pitch" pitchFamily="34" charset="0"/>
                <a:cs typeface="Times New Roman" pitchFamily="18" charset="0"/>
              </a:defRPr>
            </a:lvl4pPr>
            <a:lvl5pPr marL="2057400" indent="-228600" defTabSz="930275">
              <a:defRPr sz="2000">
                <a:solidFill>
                  <a:schemeClr val="tx1"/>
                </a:solidFill>
                <a:latin typeface="GE Inspira Pitch" pitchFamily="34" charset="0"/>
                <a:cs typeface="Times New Roman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E Inspira Pitch" pitchFamily="34" charset="0"/>
                <a:cs typeface="Times New Roman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E Inspira Pitch" pitchFamily="34" charset="0"/>
                <a:cs typeface="Times New Roman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E Inspira Pitch" pitchFamily="34" charset="0"/>
                <a:cs typeface="Times New Roman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E Inspira Pitch" pitchFamily="34" charset="0"/>
                <a:cs typeface="Times New Roman" pitchFamily="18" charset="0"/>
              </a:defRPr>
            </a:lvl9pPr>
          </a:lstStyle>
          <a:p>
            <a:fld id="{FE68F994-C0FB-45BD-A2D6-BFE7D685B02E}" type="slidenum">
              <a:rPr lang="en-US" altLang="fr-FR" sz="1200" smtClean="0">
                <a:solidFill>
                  <a:prstClr val="black"/>
                </a:solidFill>
                <a:latin typeface="Arial" pitchFamily="34" charset="0"/>
              </a:rPr>
              <a:pPr/>
              <a:t>10</a:t>
            </a:fld>
            <a:endParaRPr lang="en-US" altLang="fr-FR" sz="120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4400" y="228600"/>
            <a:ext cx="5730875" cy="4298950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1" y="4648663"/>
            <a:ext cx="5730809" cy="4295677"/>
          </a:xfrm>
          <a:noFill/>
        </p:spPr>
        <p:txBody>
          <a:bodyPr/>
          <a:lstStyle/>
          <a:p>
            <a:pPr eaLnBrk="1" hangingPunct="1"/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9385316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89566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83466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4143002" y="9119299"/>
            <a:ext cx="3170490" cy="480367"/>
          </a:xfrm>
          <a:prstGeom prst="rect">
            <a:avLst/>
          </a:prstGeom>
          <a:noFill/>
        </p:spPr>
        <p:txBody>
          <a:bodyPr/>
          <a:lstStyle>
            <a:lvl1pPr defTabSz="930275">
              <a:defRPr sz="2000">
                <a:solidFill>
                  <a:schemeClr val="tx1"/>
                </a:solidFill>
                <a:latin typeface="GE Inspira Pitch" pitchFamily="34" charset="0"/>
                <a:cs typeface="Times New Roman" pitchFamily="18" charset="0"/>
              </a:defRPr>
            </a:lvl1pPr>
            <a:lvl2pPr marL="742950" indent="-285750" defTabSz="930275">
              <a:defRPr sz="2000">
                <a:solidFill>
                  <a:schemeClr val="tx1"/>
                </a:solidFill>
                <a:latin typeface="GE Inspira Pitch" pitchFamily="34" charset="0"/>
                <a:cs typeface="Times New Roman" pitchFamily="18" charset="0"/>
              </a:defRPr>
            </a:lvl2pPr>
            <a:lvl3pPr marL="1143000" indent="-228600" defTabSz="930275">
              <a:defRPr sz="2000">
                <a:solidFill>
                  <a:schemeClr val="tx1"/>
                </a:solidFill>
                <a:latin typeface="GE Inspira Pitch" pitchFamily="34" charset="0"/>
                <a:cs typeface="Times New Roman" pitchFamily="18" charset="0"/>
              </a:defRPr>
            </a:lvl3pPr>
            <a:lvl4pPr marL="1600200" indent="-228600" defTabSz="930275">
              <a:defRPr sz="2000">
                <a:solidFill>
                  <a:schemeClr val="tx1"/>
                </a:solidFill>
                <a:latin typeface="GE Inspira Pitch" pitchFamily="34" charset="0"/>
                <a:cs typeface="Times New Roman" pitchFamily="18" charset="0"/>
              </a:defRPr>
            </a:lvl4pPr>
            <a:lvl5pPr marL="2057400" indent="-228600" defTabSz="930275">
              <a:defRPr sz="2000">
                <a:solidFill>
                  <a:schemeClr val="tx1"/>
                </a:solidFill>
                <a:latin typeface="GE Inspira Pitch" pitchFamily="34" charset="0"/>
                <a:cs typeface="Times New Roman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E Inspira Pitch" pitchFamily="34" charset="0"/>
                <a:cs typeface="Times New Roman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E Inspira Pitch" pitchFamily="34" charset="0"/>
                <a:cs typeface="Times New Roman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E Inspira Pitch" pitchFamily="34" charset="0"/>
                <a:cs typeface="Times New Roman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E Inspira Pitch" pitchFamily="34" charset="0"/>
                <a:cs typeface="Times New Roman" pitchFamily="18" charset="0"/>
              </a:defRPr>
            </a:lvl9pPr>
          </a:lstStyle>
          <a:p>
            <a:pPr marL="0" marR="0" lvl="0" indent="0" defTabSz="93027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68F994-C0FB-45BD-A2D6-BFE7D685B02E}" type="slidenum">
              <a:rPr kumimoji="0" lang="en-US" altLang="fr-FR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cs typeface="Times New Roman" pitchFamily="18" charset="0"/>
              </a:rPr>
              <a:pPr marL="0" marR="0" lvl="0" indent="0" defTabSz="93027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fr-FR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cs typeface="Times New Roman" pitchFamily="18" charset="0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4400" y="228600"/>
            <a:ext cx="5730875" cy="4298950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1" y="4648663"/>
            <a:ext cx="5730809" cy="4295677"/>
          </a:xfrm>
          <a:noFill/>
        </p:spPr>
        <p:txBody>
          <a:bodyPr/>
          <a:lstStyle/>
          <a:p>
            <a:pPr eaLnBrk="1" hangingPunct="1"/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366577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4143002" y="9119299"/>
            <a:ext cx="3170490" cy="480367"/>
          </a:xfrm>
          <a:prstGeom prst="rect">
            <a:avLst/>
          </a:prstGeom>
          <a:noFill/>
        </p:spPr>
        <p:txBody>
          <a:bodyPr/>
          <a:lstStyle>
            <a:lvl1pPr defTabSz="930275">
              <a:defRPr sz="2000">
                <a:solidFill>
                  <a:schemeClr val="tx1"/>
                </a:solidFill>
                <a:latin typeface="GE Inspira Pitch" pitchFamily="34" charset="0"/>
                <a:cs typeface="Times New Roman" pitchFamily="18" charset="0"/>
              </a:defRPr>
            </a:lvl1pPr>
            <a:lvl2pPr marL="742950" indent="-285750" defTabSz="930275">
              <a:defRPr sz="2000">
                <a:solidFill>
                  <a:schemeClr val="tx1"/>
                </a:solidFill>
                <a:latin typeface="GE Inspira Pitch" pitchFamily="34" charset="0"/>
                <a:cs typeface="Times New Roman" pitchFamily="18" charset="0"/>
              </a:defRPr>
            </a:lvl2pPr>
            <a:lvl3pPr marL="1143000" indent="-228600" defTabSz="930275">
              <a:defRPr sz="2000">
                <a:solidFill>
                  <a:schemeClr val="tx1"/>
                </a:solidFill>
                <a:latin typeface="GE Inspira Pitch" pitchFamily="34" charset="0"/>
                <a:cs typeface="Times New Roman" pitchFamily="18" charset="0"/>
              </a:defRPr>
            </a:lvl3pPr>
            <a:lvl4pPr marL="1600200" indent="-228600" defTabSz="930275">
              <a:defRPr sz="2000">
                <a:solidFill>
                  <a:schemeClr val="tx1"/>
                </a:solidFill>
                <a:latin typeface="GE Inspira Pitch" pitchFamily="34" charset="0"/>
                <a:cs typeface="Times New Roman" pitchFamily="18" charset="0"/>
              </a:defRPr>
            </a:lvl4pPr>
            <a:lvl5pPr marL="2057400" indent="-228600" defTabSz="930275">
              <a:defRPr sz="2000">
                <a:solidFill>
                  <a:schemeClr val="tx1"/>
                </a:solidFill>
                <a:latin typeface="GE Inspira Pitch" pitchFamily="34" charset="0"/>
                <a:cs typeface="Times New Roman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E Inspira Pitch" pitchFamily="34" charset="0"/>
                <a:cs typeface="Times New Roman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E Inspira Pitch" pitchFamily="34" charset="0"/>
                <a:cs typeface="Times New Roman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E Inspira Pitch" pitchFamily="34" charset="0"/>
                <a:cs typeface="Times New Roman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E Inspira Pitch" pitchFamily="34" charset="0"/>
                <a:cs typeface="Times New Roman" pitchFamily="18" charset="0"/>
              </a:defRPr>
            </a:lvl9pPr>
          </a:lstStyle>
          <a:p>
            <a:fld id="{FE68F994-C0FB-45BD-A2D6-BFE7D685B02E}" type="slidenum">
              <a:rPr lang="en-US" altLang="fr-FR" sz="1200" smtClean="0">
                <a:solidFill>
                  <a:prstClr val="black"/>
                </a:solidFill>
                <a:latin typeface="Arial" pitchFamily="34" charset="0"/>
              </a:rPr>
              <a:pPr/>
              <a:t>23</a:t>
            </a:fld>
            <a:endParaRPr lang="en-US" altLang="fr-FR" sz="120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4400" y="228600"/>
            <a:ext cx="5730875" cy="4298950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1" y="4648663"/>
            <a:ext cx="5730809" cy="4295677"/>
          </a:xfrm>
          <a:noFill/>
        </p:spPr>
        <p:txBody>
          <a:bodyPr/>
          <a:lstStyle/>
          <a:p>
            <a:pPr eaLnBrk="1" hangingPunct="1"/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3964714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4143002" y="9119299"/>
            <a:ext cx="3170490" cy="480367"/>
          </a:xfrm>
          <a:prstGeom prst="rect">
            <a:avLst/>
          </a:prstGeom>
          <a:noFill/>
        </p:spPr>
        <p:txBody>
          <a:bodyPr/>
          <a:lstStyle>
            <a:lvl1pPr defTabSz="930275">
              <a:defRPr sz="2000">
                <a:solidFill>
                  <a:schemeClr val="tx1"/>
                </a:solidFill>
                <a:latin typeface="GE Inspira Pitch" pitchFamily="34" charset="0"/>
                <a:cs typeface="Times New Roman" pitchFamily="18" charset="0"/>
              </a:defRPr>
            </a:lvl1pPr>
            <a:lvl2pPr marL="742950" indent="-285750" defTabSz="930275">
              <a:defRPr sz="2000">
                <a:solidFill>
                  <a:schemeClr val="tx1"/>
                </a:solidFill>
                <a:latin typeface="GE Inspira Pitch" pitchFamily="34" charset="0"/>
                <a:cs typeface="Times New Roman" pitchFamily="18" charset="0"/>
              </a:defRPr>
            </a:lvl2pPr>
            <a:lvl3pPr marL="1143000" indent="-228600" defTabSz="930275">
              <a:defRPr sz="2000">
                <a:solidFill>
                  <a:schemeClr val="tx1"/>
                </a:solidFill>
                <a:latin typeface="GE Inspira Pitch" pitchFamily="34" charset="0"/>
                <a:cs typeface="Times New Roman" pitchFamily="18" charset="0"/>
              </a:defRPr>
            </a:lvl3pPr>
            <a:lvl4pPr marL="1600200" indent="-228600" defTabSz="930275">
              <a:defRPr sz="2000">
                <a:solidFill>
                  <a:schemeClr val="tx1"/>
                </a:solidFill>
                <a:latin typeface="GE Inspira Pitch" pitchFamily="34" charset="0"/>
                <a:cs typeface="Times New Roman" pitchFamily="18" charset="0"/>
              </a:defRPr>
            </a:lvl4pPr>
            <a:lvl5pPr marL="2057400" indent="-228600" defTabSz="930275">
              <a:defRPr sz="2000">
                <a:solidFill>
                  <a:schemeClr val="tx1"/>
                </a:solidFill>
                <a:latin typeface="GE Inspira Pitch" pitchFamily="34" charset="0"/>
                <a:cs typeface="Times New Roman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E Inspira Pitch" pitchFamily="34" charset="0"/>
                <a:cs typeface="Times New Roman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E Inspira Pitch" pitchFamily="34" charset="0"/>
                <a:cs typeface="Times New Roman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E Inspira Pitch" pitchFamily="34" charset="0"/>
                <a:cs typeface="Times New Roman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E Inspira Pitch" pitchFamily="34" charset="0"/>
                <a:cs typeface="Times New Roman" pitchFamily="18" charset="0"/>
              </a:defRPr>
            </a:lvl9pPr>
          </a:lstStyle>
          <a:p>
            <a:fld id="{FE68F994-C0FB-45BD-A2D6-BFE7D685B02E}" type="slidenum">
              <a:rPr lang="en-US" altLang="fr-FR" sz="1200" smtClean="0">
                <a:solidFill>
                  <a:prstClr val="black"/>
                </a:solidFill>
                <a:latin typeface="Arial" pitchFamily="34" charset="0"/>
              </a:rPr>
              <a:pPr/>
              <a:t>25</a:t>
            </a:fld>
            <a:endParaRPr lang="en-US" altLang="fr-FR" sz="120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4400" y="228600"/>
            <a:ext cx="5730875" cy="4298950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1" y="4648663"/>
            <a:ext cx="5730809" cy="4295677"/>
          </a:xfrm>
          <a:noFill/>
        </p:spPr>
        <p:txBody>
          <a:bodyPr/>
          <a:lstStyle/>
          <a:p>
            <a:pPr eaLnBrk="1" hangingPunct="1"/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5682587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4143002" y="9119299"/>
            <a:ext cx="3170490" cy="480367"/>
          </a:xfrm>
          <a:prstGeom prst="rect">
            <a:avLst/>
          </a:prstGeom>
          <a:noFill/>
        </p:spPr>
        <p:txBody>
          <a:bodyPr/>
          <a:lstStyle>
            <a:lvl1pPr defTabSz="930275">
              <a:defRPr sz="2000">
                <a:solidFill>
                  <a:schemeClr val="tx1"/>
                </a:solidFill>
                <a:latin typeface="GE Inspira Pitch" pitchFamily="34" charset="0"/>
                <a:cs typeface="Times New Roman" pitchFamily="18" charset="0"/>
              </a:defRPr>
            </a:lvl1pPr>
            <a:lvl2pPr marL="742950" indent="-285750" defTabSz="930275">
              <a:defRPr sz="2000">
                <a:solidFill>
                  <a:schemeClr val="tx1"/>
                </a:solidFill>
                <a:latin typeface="GE Inspira Pitch" pitchFamily="34" charset="0"/>
                <a:cs typeface="Times New Roman" pitchFamily="18" charset="0"/>
              </a:defRPr>
            </a:lvl2pPr>
            <a:lvl3pPr marL="1143000" indent="-228600" defTabSz="930275">
              <a:defRPr sz="2000">
                <a:solidFill>
                  <a:schemeClr val="tx1"/>
                </a:solidFill>
                <a:latin typeface="GE Inspira Pitch" pitchFamily="34" charset="0"/>
                <a:cs typeface="Times New Roman" pitchFamily="18" charset="0"/>
              </a:defRPr>
            </a:lvl3pPr>
            <a:lvl4pPr marL="1600200" indent="-228600" defTabSz="930275">
              <a:defRPr sz="2000">
                <a:solidFill>
                  <a:schemeClr val="tx1"/>
                </a:solidFill>
                <a:latin typeface="GE Inspira Pitch" pitchFamily="34" charset="0"/>
                <a:cs typeface="Times New Roman" pitchFamily="18" charset="0"/>
              </a:defRPr>
            </a:lvl4pPr>
            <a:lvl5pPr marL="2057400" indent="-228600" defTabSz="930275">
              <a:defRPr sz="2000">
                <a:solidFill>
                  <a:schemeClr val="tx1"/>
                </a:solidFill>
                <a:latin typeface="GE Inspira Pitch" pitchFamily="34" charset="0"/>
                <a:cs typeface="Times New Roman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E Inspira Pitch" pitchFamily="34" charset="0"/>
                <a:cs typeface="Times New Roman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E Inspira Pitch" pitchFamily="34" charset="0"/>
                <a:cs typeface="Times New Roman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E Inspira Pitch" pitchFamily="34" charset="0"/>
                <a:cs typeface="Times New Roman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E Inspira Pitch" pitchFamily="34" charset="0"/>
                <a:cs typeface="Times New Roman" pitchFamily="18" charset="0"/>
              </a:defRPr>
            </a:lvl9pPr>
          </a:lstStyle>
          <a:p>
            <a:fld id="{FE68F994-C0FB-45BD-A2D6-BFE7D685B02E}" type="slidenum">
              <a:rPr lang="en-US" altLang="fr-FR" sz="1200" smtClean="0">
                <a:solidFill>
                  <a:prstClr val="black"/>
                </a:solidFill>
                <a:latin typeface="Arial" pitchFamily="34" charset="0"/>
              </a:rPr>
              <a:pPr/>
              <a:t>27</a:t>
            </a:fld>
            <a:endParaRPr lang="en-US" altLang="fr-FR" sz="120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4400" y="228600"/>
            <a:ext cx="5730875" cy="4298950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1" y="4648663"/>
            <a:ext cx="5730809" cy="4295677"/>
          </a:xfrm>
          <a:noFill/>
        </p:spPr>
        <p:txBody>
          <a:bodyPr/>
          <a:lstStyle/>
          <a:p>
            <a:pPr eaLnBrk="1" hangingPunct="1"/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7200193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615" name="Rectangle 7"/>
          <p:cNvSpPr>
            <a:spLocks noGrp="1" noChangeArrowheads="1"/>
          </p:cNvSpPr>
          <p:nvPr>
            <p:ph type="ctrTitle" sz="quarter"/>
          </p:nvPr>
        </p:nvSpPr>
        <p:spPr>
          <a:xfrm>
            <a:off x="344488" y="263525"/>
            <a:ext cx="8401050" cy="1395413"/>
          </a:xfrm>
        </p:spPr>
        <p:txBody>
          <a:bodyPr/>
          <a:lstStyle>
            <a:lvl1pPr>
              <a:spcBef>
                <a:spcPct val="25000"/>
              </a:spcBef>
              <a:defRPr sz="5000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80616" name="Rectangle 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44488" y="1677988"/>
            <a:ext cx="8396287" cy="1752600"/>
          </a:xfrm>
        </p:spPr>
        <p:txBody>
          <a:bodyPr/>
          <a:lstStyle>
            <a:lvl1pPr>
              <a:spcBef>
                <a:spcPct val="0"/>
              </a:spcBef>
              <a:defRPr sz="50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pic>
        <p:nvPicPr>
          <p:cNvPr id="580619" name="Picture 1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050" y="5803900"/>
            <a:ext cx="2486025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7" name="Picture 14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6299200"/>
            <a:ext cx="16002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ZoneTexte 5"/>
          <p:cNvSpPr txBox="1"/>
          <p:nvPr userDrawn="1"/>
        </p:nvSpPr>
        <p:spPr>
          <a:xfrm>
            <a:off x="3061426" y="6577334"/>
            <a:ext cx="32308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solidFill>
                  <a:schemeClr val="bg1">
                    <a:lumMod val="65000"/>
                  </a:schemeClr>
                </a:solidFill>
              </a:rPr>
              <a:t>GE </a:t>
            </a:r>
            <a:r>
              <a:rPr lang="fr-FR" sz="1050" dirty="0" err="1">
                <a:solidFill>
                  <a:schemeClr val="bg1">
                    <a:lumMod val="65000"/>
                  </a:schemeClr>
                </a:solidFill>
              </a:rPr>
              <a:t>Proprietary</a:t>
            </a:r>
            <a:r>
              <a:rPr lang="fr-FR" sz="1050" dirty="0">
                <a:solidFill>
                  <a:schemeClr val="bg1">
                    <a:lumMod val="65000"/>
                  </a:schemeClr>
                </a:solidFill>
              </a:rPr>
              <a:t> – Class II (</a:t>
            </a:r>
            <a:r>
              <a:rPr lang="fr-FR" sz="1050" dirty="0" err="1">
                <a:solidFill>
                  <a:schemeClr val="bg1">
                    <a:lumMod val="65000"/>
                  </a:schemeClr>
                </a:solidFill>
              </a:rPr>
              <a:t>Internal</a:t>
            </a:r>
            <a:r>
              <a:rPr lang="fr-FR" sz="1050" dirty="0">
                <a:solidFill>
                  <a:schemeClr val="bg1">
                    <a:lumMod val="65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82190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Text Heav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60824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1115736"/>
            <a:ext cx="8459788" cy="4848503"/>
          </a:xfrm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pic>
        <p:nvPicPr>
          <p:cNvPr id="4" name="Picture 1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6299200"/>
            <a:ext cx="16002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ZoneTexte 5"/>
          <p:cNvSpPr txBox="1"/>
          <p:nvPr userDrawn="1"/>
        </p:nvSpPr>
        <p:spPr>
          <a:xfrm>
            <a:off x="3061426" y="6577334"/>
            <a:ext cx="32308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solidFill>
                  <a:schemeClr val="bg1">
                    <a:lumMod val="65000"/>
                  </a:schemeClr>
                </a:solidFill>
              </a:rPr>
              <a:t>GE </a:t>
            </a:r>
            <a:r>
              <a:rPr lang="fr-FR" sz="1050" dirty="0" err="1">
                <a:solidFill>
                  <a:schemeClr val="bg1">
                    <a:lumMod val="65000"/>
                  </a:schemeClr>
                </a:solidFill>
              </a:rPr>
              <a:t>Proprietary</a:t>
            </a:r>
            <a:r>
              <a:rPr lang="fr-FR" sz="1050" dirty="0">
                <a:solidFill>
                  <a:schemeClr val="bg1">
                    <a:lumMod val="65000"/>
                  </a:schemeClr>
                </a:solidFill>
              </a:rPr>
              <a:t> – Class II (</a:t>
            </a:r>
            <a:r>
              <a:rPr lang="fr-FR" sz="1050" dirty="0" err="1">
                <a:solidFill>
                  <a:schemeClr val="bg1">
                    <a:lumMod val="65000"/>
                  </a:schemeClr>
                </a:solidFill>
              </a:rPr>
              <a:t>Internal</a:t>
            </a:r>
            <a:r>
              <a:rPr lang="fr-FR" sz="1050" dirty="0">
                <a:solidFill>
                  <a:schemeClr val="bg1">
                    <a:lumMod val="65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52592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ZoneTexte 5"/>
          <p:cNvSpPr txBox="1"/>
          <p:nvPr userDrawn="1"/>
        </p:nvSpPr>
        <p:spPr>
          <a:xfrm>
            <a:off x="3061426" y="6577334"/>
            <a:ext cx="32308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solidFill>
                  <a:schemeClr val="bg1">
                    <a:lumMod val="65000"/>
                  </a:schemeClr>
                </a:solidFill>
              </a:rPr>
              <a:t>GE </a:t>
            </a:r>
            <a:r>
              <a:rPr lang="fr-FR" sz="1050" dirty="0" err="1">
                <a:solidFill>
                  <a:schemeClr val="bg1">
                    <a:lumMod val="65000"/>
                  </a:schemeClr>
                </a:solidFill>
              </a:rPr>
              <a:t>Proprietary</a:t>
            </a:r>
            <a:r>
              <a:rPr lang="fr-FR" sz="1050" dirty="0">
                <a:solidFill>
                  <a:schemeClr val="bg1">
                    <a:lumMod val="65000"/>
                  </a:schemeClr>
                </a:solidFill>
              </a:rPr>
              <a:t> – Class II (</a:t>
            </a:r>
            <a:r>
              <a:rPr lang="fr-FR" sz="1050" dirty="0" err="1">
                <a:solidFill>
                  <a:schemeClr val="bg1">
                    <a:lumMod val="65000"/>
                  </a:schemeClr>
                </a:solidFill>
              </a:rPr>
              <a:t>Internal</a:t>
            </a:r>
            <a:r>
              <a:rPr lang="fr-FR" sz="1050" dirty="0">
                <a:solidFill>
                  <a:schemeClr val="bg1">
                    <a:lumMod val="65000"/>
                  </a:schemeClr>
                </a:solidFill>
              </a:rPr>
              <a:t>)</a:t>
            </a:r>
          </a:p>
        </p:txBody>
      </p:sp>
      <p:pic>
        <p:nvPicPr>
          <p:cNvPr id="9" name="Picture 14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6299200"/>
            <a:ext cx="16002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5350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  <a:endParaRPr lang="en-GB" dirty="0"/>
          </a:p>
        </p:txBody>
      </p:sp>
      <p:pic>
        <p:nvPicPr>
          <p:cNvPr id="5" name="Picture 4" descr="GEMeatball&amp;Ta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8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73410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Gree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  <a:endParaRPr lang="en-GB" dirty="0"/>
          </a:p>
        </p:txBody>
      </p:sp>
      <p:pic>
        <p:nvPicPr>
          <p:cNvPr id="5" name="Picture 4" descr="GEMeatball&amp;Ta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8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33774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ran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  <a:endParaRPr lang="en-GB" dirty="0"/>
          </a:p>
        </p:txBody>
      </p:sp>
      <p:pic>
        <p:nvPicPr>
          <p:cNvPr id="5" name="Picture 4" descr="GEMeatball&amp;Ta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8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2275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  <a:endParaRPr lang="en-GB" dirty="0"/>
          </a:p>
        </p:txBody>
      </p:sp>
      <p:pic>
        <p:nvPicPr>
          <p:cNvPr id="5" name="Picture 4" descr="GEMeatball&amp;Ta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8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52938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Cya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  <a:endParaRPr lang="en-GB" dirty="0"/>
          </a:p>
        </p:txBody>
      </p:sp>
      <p:pic>
        <p:nvPicPr>
          <p:cNvPr id="5" name="Picture 4" descr="GEMeatball&amp;Ta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8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48079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D:\Documents and Settings\200015691\Desktop\Ivan Files\Downloads\IAW Tagline\IAW Tagline PPT use\One Line-Horizontal\GE_lockup_PMS7455_IaW_pp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7475" y="2733675"/>
            <a:ext cx="3687763" cy="1350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9507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1750" y="5803900"/>
            <a:ext cx="2486025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62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344488" y="263525"/>
            <a:ext cx="8401050" cy="1395413"/>
          </a:xfrm>
        </p:spPr>
        <p:txBody>
          <a:bodyPr/>
          <a:lstStyle>
            <a:lvl1pPr>
              <a:spcBef>
                <a:spcPct val="25000"/>
              </a:spcBef>
              <a:defRPr sz="3400"/>
            </a:lvl1pPr>
          </a:lstStyle>
          <a:p>
            <a:pPr lvl="0"/>
            <a:r>
              <a:rPr lang="en-US" altLang="fr-FR" noProof="0"/>
              <a:t>Cliquez pour modifier le style du titre du masque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44488" y="1677988"/>
            <a:ext cx="8396287" cy="1752600"/>
          </a:xfrm>
        </p:spPr>
        <p:txBody>
          <a:bodyPr/>
          <a:lstStyle>
            <a:lvl1pPr>
              <a:spcBef>
                <a:spcPct val="0"/>
              </a:spcBef>
              <a:defRPr sz="3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altLang="fr-FR" noProof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13025427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6"/>
          <p:cNvSpPr txBox="1">
            <a:spLocks noChangeArrowheads="1"/>
          </p:cNvSpPr>
          <p:nvPr userDrawn="1"/>
        </p:nvSpPr>
        <p:spPr bwMode="auto">
          <a:xfrm>
            <a:off x="2136775" y="6276975"/>
            <a:ext cx="5083175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GE Inspira Pitch" pitchFamily="34" charset="0"/>
                <a:cs typeface="Times New Roman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GE Inspira Pitch" pitchFamily="34" charset="0"/>
                <a:cs typeface="Times New Roman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GE Inspira Pitch" pitchFamily="34" charset="0"/>
                <a:cs typeface="Times New Roman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GE Inspira Pitch" pitchFamily="34" charset="0"/>
                <a:cs typeface="Times New Roman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GE Inspira Pitch" pitchFamily="34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E Inspira Pitch" pitchFamily="34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E Inspira Pitch" pitchFamily="34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E Inspira Pitch" pitchFamily="34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E Inspira Pitch" pitchFamily="34" charset="0"/>
                <a:cs typeface="Times New Roman" pitchFamily="18" charset="0"/>
              </a:defRPr>
            </a:lvl9pPr>
          </a:lstStyle>
          <a:p>
            <a:r>
              <a:rPr lang="fr-FR" altLang="fr-FR" sz="1200">
                <a:solidFill>
                  <a:srgbClr val="1E4191"/>
                </a:solidFill>
              </a:rPr>
              <a:t>GE proprietary information –Class II (internal)</a:t>
            </a:r>
          </a:p>
          <a:p>
            <a:r>
              <a:rPr lang="en-US" altLang="fr-FR" sz="900">
                <a:solidFill>
                  <a:srgbClr val="1E4191"/>
                </a:solidFill>
              </a:rPr>
              <a:t>Company Proprietary: This document contains GE proprietary information and may not be used or</a:t>
            </a:r>
          </a:p>
          <a:p>
            <a:r>
              <a:rPr lang="en-US" altLang="fr-FR" sz="900">
                <a:solidFill>
                  <a:srgbClr val="1E4191"/>
                </a:solidFill>
              </a:rPr>
              <a:t>disclosed to others, except with the written permission of GE.</a:t>
            </a:r>
            <a:endParaRPr lang="fr-FR" altLang="fr-FR" sz="900">
              <a:solidFill>
                <a:srgbClr val="1E4191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1508288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7064006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42900" y="1727200"/>
            <a:ext cx="4152900" cy="42370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727200"/>
            <a:ext cx="4154488" cy="42370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322126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0132000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pied de page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1200"/>
            </a:lvl1pPr>
          </a:lstStyle>
          <a:p>
            <a:pPr>
              <a:defRPr/>
            </a:pPr>
            <a:r>
              <a:rPr lang="fr-FR">
                <a:solidFill>
                  <a:srgbClr val="1E4191">
                    <a:tint val="75000"/>
                  </a:srgbClr>
                </a:solidFill>
              </a:rPr>
              <a:t>GE </a:t>
            </a:r>
            <a:r>
              <a:rPr lang="fr-FR" err="1">
                <a:solidFill>
                  <a:srgbClr val="1E4191">
                    <a:tint val="75000"/>
                  </a:srgbClr>
                </a:solidFill>
              </a:rPr>
              <a:t>proprietary</a:t>
            </a:r>
            <a:r>
              <a:rPr lang="fr-FR">
                <a:solidFill>
                  <a:srgbClr val="1E4191">
                    <a:tint val="75000"/>
                  </a:srgbClr>
                </a:solidFill>
              </a:rPr>
              <a:t> information – Class II (</a:t>
            </a:r>
            <a:r>
              <a:rPr lang="fr-FR" err="1">
                <a:solidFill>
                  <a:srgbClr val="1E4191">
                    <a:tint val="75000"/>
                  </a:srgbClr>
                </a:solidFill>
              </a:rPr>
              <a:t>internal</a:t>
            </a:r>
            <a:r>
              <a:rPr lang="fr-FR">
                <a:solidFill>
                  <a:srgbClr val="1E4191">
                    <a:tint val="75000"/>
                  </a:srgbClr>
                </a:solidFill>
              </a:rPr>
              <a:t>)</a:t>
            </a:r>
          </a:p>
          <a:p>
            <a:pPr>
              <a:defRPr/>
            </a:pPr>
            <a:r>
              <a:rPr lang="en-US" sz="900">
                <a:solidFill>
                  <a:srgbClr val="1E4191">
                    <a:tint val="75000"/>
                  </a:srgbClr>
                </a:solidFill>
              </a:rPr>
              <a:t>Company Proprietary: This document contains GE proprietary information and may not be used or</a:t>
            </a:r>
          </a:p>
          <a:p>
            <a:pPr>
              <a:defRPr/>
            </a:pPr>
            <a:r>
              <a:rPr lang="en-US" sz="900">
                <a:solidFill>
                  <a:srgbClr val="1E4191">
                    <a:tint val="75000"/>
                  </a:srgbClr>
                </a:solidFill>
              </a:rPr>
              <a:t>disclosed to others, except with the written permission of GE.</a:t>
            </a:r>
            <a:endParaRPr lang="fr-FR" sz="900">
              <a:solidFill>
                <a:srgbClr val="1E4191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2246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1200"/>
            </a:lvl1pPr>
          </a:lstStyle>
          <a:p>
            <a:pPr>
              <a:defRPr/>
            </a:pPr>
            <a:r>
              <a:rPr lang="fr-FR">
                <a:solidFill>
                  <a:srgbClr val="1E4191">
                    <a:tint val="75000"/>
                  </a:srgbClr>
                </a:solidFill>
              </a:rPr>
              <a:t>GE </a:t>
            </a:r>
            <a:r>
              <a:rPr lang="fr-FR" err="1">
                <a:solidFill>
                  <a:srgbClr val="1E4191">
                    <a:tint val="75000"/>
                  </a:srgbClr>
                </a:solidFill>
              </a:rPr>
              <a:t>proprietary</a:t>
            </a:r>
            <a:r>
              <a:rPr lang="fr-FR">
                <a:solidFill>
                  <a:srgbClr val="1E4191">
                    <a:tint val="75000"/>
                  </a:srgbClr>
                </a:solidFill>
              </a:rPr>
              <a:t> information – Class II (</a:t>
            </a:r>
            <a:r>
              <a:rPr lang="fr-FR" err="1">
                <a:solidFill>
                  <a:srgbClr val="1E4191">
                    <a:tint val="75000"/>
                  </a:srgbClr>
                </a:solidFill>
              </a:rPr>
              <a:t>internal</a:t>
            </a:r>
            <a:r>
              <a:rPr lang="fr-FR">
                <a:solidFill>
                  <a:srgbClr val="1E4191">
                    <a:tint val="75000"/>
                  </a:srgbClr>
                </a:solidFill>
              </a:rPr>
              <a:t>)</a:t>
            </a:r>
          </a:p>
          <a:p>
            <a:pPr>
              <a:defRPr/>
            </a:pPr>
            <a:r>
              <a:rPr lang="en-US" sz="900">
                <a:solidFill>
                  <a:srgbClr val="1E4191">
                    <a:tint val="75000"/>
                  </a:srgbClr>
                </a:solidFill>
              </a:rPr>
              <a:t>Company Proprietary: This document contains GE proprietary information and may not be used or</a:t>
            </a:r>
          </a:p>
          <a:p>
            <a:pPr>
              <a:defRPr/>
            </a:pPr>
            <a:r>
              <a:rPr lang="en-US" sz="900">
                <a:solidFill>
                  <a:srgbClr val="1E4191">
                    <a:tint val="75000"/>
                  </a:srgbClr>
                </a:solidFill>
              </a:rPr>
              <a:t>disclosed to others, except with the written permission of GE.</a:t>
            </a:r>
            <a:endParaRPr lang="fr-FR" sz="900">
              <a:solidFill>
                <a:srgbClr val="1E4191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03744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466420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1502627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3593379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88138" y="280988"/>
            <a:ext cx="2114550" cy="5683250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42900" y="280988"/>
            <a:ext cx="6192838" cy="5683250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775568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image" Target="../media/image5.jpeg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58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42900" y="280988"/>
            <a:ext cx="8459788" cy="998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795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1727200"/>
            <a:ext cx="8459788" cy="423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ZoneTexte 5"/>
          <p:cNvSpPr txBox="1"/>
          <p:nvPr userDrawn="1"/>
        </p:nvSpPr>
        <p:spPr>
          <a:xfrm>
            <a:off x="3061426" y="6577334"/>
            <a:ext cx="32308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solidFill>
                  <a:schemeClr val="bg1">
                    <a:lumMod val="65000"/>
                  </a:schemeClr>
                </a:solidFill>
              </a:rPr>
              <a:t>GE </a:t>
            </a:r>
            <a:r>
              <a:rPr lang="fr-FR" sz="1050" dirty="0" err="1">
                <a:solidFill>
                  <a:schemeClr val="bg1">
                    <a:lumMod val="65000"/>
                  </a:schemeClr>
                </a:solidFill>
              </a:rPr>
              <a:t>Proprietary</a:t>
            </a:r>
            <a:r>
              <a:rPr lang="fr-FR" sz="1050" dirty="0">
                <a:solidFill>
                  <a:schemeClr val="bg1">
                    <a:lumMod val="65000"/>
                  </a:schemeClr>
                </a:solidFill>
              </a:rPr>
              <a:t> – Class II (</a:t>
            </a:r>
            <a:r>
              <a:rPr lang="fr-FR" sz="1050" dirty="0" err="1">
                <a:solidFill>
                  <a:schemeClr val="bg1">
                    <a:lumMod val="65000"/>
                  </a:schemeClr>
                </a:solidFill>
              </a:rPr>
              <a:t>Internal</a:t>
            </a:r>
            <a:r>
              <a:rPr lang="fr-FR" sz="1050" dirty="0">
                <a:solidFill>
                  <a:schemeClr val="bg1">
                    <a:lumMod val="65000"/>
                  </a:schemeClr>
                </a:solidFill>
              </a:rPr>
              <a:t>)</a:t>
            </a:r>
          </a:p>
        </p:txBody>
      </p:sp>
      <p:sp>
        <p:nvSpPr>
          <p:cNvPr id="6" name="Text Box 18"/>
          <p:cNvSpPr txBox="1">
            <a:spLocks noChangeArrowheads="1"/>
          </p:cNvSpPr>
          <p:nvPr userDrawn="1"/>
        </p:nvSpPr>
        <p:spPr bwMode="auto">
          <a:xfrm>
            <a:off x="6688137" y="6398063"/>
            <a:ext cx="2455863" cy="466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lnSpc>
                <a:spcPct val="90000"/>
              </a:lnSpc>
            </a:pPr>
            <a:fld id="{95990F28-EF56-40AF-B6C1-2CF755EA3890}" type="slidenum">
              <a:rPr lang="en-US" sz="900">
                <a:solidFill>
                  <a:schemeClr val="bg1">
                    <a:lumMod val="65000"/>
                  </a:schemeClr>
                </a:solidFill>
              </a:rPr>
              <a:pPr algn="r">
                <a:lnSpc>
                  <a:spcPct val="90000"/>
                </a:lnSpc>
              </a:pPr>
              <a:t>‹#›</a:t>
            </a:fld>
            <a:r>
              <a:rPr lang="en-US" sz="900" dirty="0">
                <a:solidFill>
                  <a:schemeClr val="bg1">
                    <a:lumMod val="65000"/>
                  </a:schemeClr>
                </a:solidFill>
              </a:rPr>
              <a:t> </a:t>
            </a:r>
          </a:p>
          <a:p>
            <a:pPr algn="r">
              <a:lnSpc>
                <a:spcPct val="90000"/>
              </a:lnSpc>
            </a:pPr>
            <a:r>
              <a:rPr lang="en-US" sz="900" dirty="0">
                <a:solidFill>
                  <a:schemeClr val="bg1">
                    <a:lumMod val="65000"/>
                  </a:schemeClr>
                </a:solidFill>
              </a:rPr>
              <a:t>EPE Controls</a:t>
            </a:r>
          </a:p>
          <a:p>
            <a:pPr algn="r">
              <a:lnSpc>
                <a:spcPct val="90000"/>
              </a:lnSpc>
            </a:pPr>
            <a:r>
              <a:rPr lang="en-US" sz="900" baseline="0" dirty="0">
                <a:solidFill>
                  <a:schemeClr val="bg1">
                    <a:lumMod val="65000"/>
                  </a:schemeClr>
                </a:solidFill>
              </a:rPr>
              <a:t>2016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80" r:id="rId10"/>
  </p:sldLayoutIdLst>
  <p:hf sldNum="0"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1E419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1E4191"/>
          </a:solidFill>
          <a:latin typeface="GE Inspira Pitch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1E4191"/>
          </a:solidFill>
          <a:latin typeface="GE Inspira Pitch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1E4191"/>
          </a:solidFill>
          <a:latin typeface="GE Inspira Pitch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1E4191"/>
          </a:solidFill>
          <a:latin typeface="GE Inspira Pitch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1E4191"/>
          </a:solidFill>
          <a:latin typeface="GE Inspira Pitch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1E4191"/>
          </a:solidFill>
          <a:latin typeface="GE Inspira Pitch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1E4191"/>
          </a:solidFill>
          <a:latin typeface="GE Inspira Pitch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1E4191"/>
          </a:solidFill>
          <a:latin typeface="GE Inspira Pitch" pitchFamily="34" charset="0"/>
        </a:defRPr>
      </a:lvl9pPr>
    </p:titleStyle>
    <p:bodyStyle>
      <a:lvl1pPr algn="l" rtl="0" eaLnBrk="1" fontAlgn="base" hangingPunct="1">
        <a:lnSpc>
          <a:spcPct val="90000"/>
        </a:lnSpc>
        <a:spcBef>
          <a:spcPct val="50000"/>
        </a:spcBef>
        <a:spcAft>
          <a:spcPct val="0"/>
        </a:spcAft>
        <a:buClr>
          <a:srgbClr val="004880"/>
        </a:buClr>
        <a:defRPr sz="3200">
          <a:solidFill>
            <a:srgbClr val="1E4191"/>
          </a:solidFill>
          <a:latin typeface="+mn-lt"/>
          <a:ea typeface="+mn-ea"/>
          <a:cs typeface="+mn-cs"/>
        </a:defRPr>
      </a:lvl1pPr>
      <a:lvl2pPr marL="341313" indent="-339725" algn="l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rgbClr val="004880"/>
        </a:buClr>
        <a:buFont typeface="GE Inspira Pitch" pitchFamily="34" charset="0"/>
        <a:buChar char="•"/>
        <a:defRPr sz="3200">
          <a:solidFill>
            <a:srgbClr val="1E4191"/>
          </a:solidFill>
          <a:latin typeface="+mn-lt"/>
        </a:defRPr>
      </a:lvl2pPr>
      <a:lvl3pPr marL="744538" indent="-288925" algn="l" rtl="0" eaLnBrk="1" fontAlgn="base" hangingPunct="1">
        <a:lnSpc>
          <a:spcPct val="90000"/>
        </a:lnSpc>
        <a:spcBef>
          <a:spcPct val="20000"/>
        </a:spcBef>
        <a:spcAft>
          <a:spcPct val="0"/>
        </a:spcAft>
        <a:buClr>
          <a:srgbClr val="004880"/>
        </a:buClr>
        <a:buChar char="–"/>
        <a:defRPr sz="3200">
          <a:solidFill>
            <a:srgbClr val="1E4191"/>
          </a:solidFill>
          <a:latin typeface="+mn-lt"/>
        </a:defRPr>
      </a:lvl3pPr>
      <a:lvl4pPr marL="1146175" indent="-287338" algn="l" rtl="0" eaLnBrk="1" fontAlgn="base" hangingPunct="1">
        <a:lnSpc>
          <a:spcPct val="90000"/>
        </a:lnSpc>
        <a:spcBef>
          <a:spcPct val="10000"/>
        </a:spcBef>
        <a:spcAft>
          <a:spcPct val="0"/>
        </a:spcAft>
        <a:buClr>
          <a:srgbClr val="004880"/>
        </a:buClr>
        <a:buChar char="–"/>
        <a:defRPr sz="3200">
          <a:solidFill>
            <a:srgbClr val="1E4191"/>
          </a:solidFill>
          <a:latin typeface="+mn-lt"/>
        </a:defRPr>
      </a:lvl4pPr>
      <a:lvl5pPr marL="1546225" indent="-285750" algn="l" rtl="0" eaLnBrk="1" fontAlgn="base" hangingPunct="1">
        <a:lnSpc>
          <a:spcPct val="90000"/>
        </a:lnSpc>
        <a:spcBef>
          <a:spcPts val="240"/>
        </a:spcBef>
        <a:spcAft>
          <a:spcPct val="0"/>
        </a:spcAft>
        <a:buClr>
          <a:srgbClr val="004880"/>
        </a:buClr>
        <a:buChar char="–"/>
        <a:defRPr sz="3200">
          <a:solidFill>
            <a:srgbClr val="1E4191"/>
          </a:solidFill>
          <a:latin typeface="+mn-lt"/>
        </a:defRPr>
      </a:lvl5pPr>
      <a:lvl6pPr marL="2003425" indent="-2857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rgbClr val="004880"/>
        </a:buClr>
        <a:buChar char="–"/>
        <a:defRPr sz="3200">
          <a:solidFill>
            <a:srgbClr val="1E4191"/>
          </a:solidFill>
          <a:latin typeface="+mn-lt"/>
        </a:defRPr>
      </a:lvl6pPr>
      <a:lvl7pPr marL="2460625" indent="-2857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rgbClr val="004880"/>
        </a:buClr>
        <a:buChar char="–"/>
        <a:defRPr sz="3200">
          <a:solidFill>
            <a:srgbClr val="1E4191"/>
          </a:solidFill>
          <a:latin typeface="+mn-lt"/>
        </a:defRPr>
      </a:lvl7pPr>
      <a:lvl8pPr marL="2917825" indent="-2857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rgbClr val="004880"/>
        </a:buClr>
        <a:buChar char="–"/>
        <a:defRPr sz="3200">
          <a:solidFill>
            <a:srgbClr val="1E4191"/>
          </a:solidFill>
          <a:latin typeface="+mn-lt"/>
        </a:defRPr>
      </a:lvl8pPr>
      <a:lvl9pPr marL="3375025" indent="-2857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rgbClr val="004880"/>
        </a:buClr>
        <a:buChar char="–"/>
        <a:defRPr sz="3200">
          <a:solidFill>
            <a:srgbClr val="1E419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42900" y="280988"/>
            <a:ext cx="8459788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fr-FR"/>
              <a:t>Cliquez pour modifier le style du titre du masque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1727200"/>
            <a:ext cx="8459788" cy="423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r-FR"/>
              <a:t>Cliquez pour modifier les styles du texte du masque</a:t>
            </a:r>
          </a:p>
          <a:p>
            <a:pPr lvl="1"/>
            <a:r>
              <a:rPr lang="en-US" altLang="fr-FR"/>
              <a:t>Deuxième niveau</a:t>
            </a:r>
          </a:p>
          <a:p>
            <a:pPr lvl="2"/>
            <a:r>
              <a:rPr lang="en-US" altLang="fr-FR"/>
              <a:t>Troisième niveau</a:t>
            </a:r>
          </a:p>
          <a:p>
            <a:pPr lvl="3"/>
            <a:r>
              <a:rPr lang="en-US" altLang="fr-FR"/>
              <a:t>Quatrième niveau</a:t>
            </a:r>
          </a:p>
          <a:p>
            <a:pPr lvl="4"/>
            <a:r>
              <a:rPr lang="en-US" altLang="fr-FR"/>
              <a:t>Cinquième niveau</a:t>
            </a:r>
          </a:p>
        </p:txBody>
      </p:sp>
      <p:sp>
        <p:nvSpPr>
          <p:cNvPr id="1028" name="Text Box 5"/>
          <p:cNvSpPr txBox="1">
            <a:spLocks noChangeArrowheads="1"/>
          </p:cNvSpPr>
          <p:nvPr/>
        </p:nvSpPr>
        <p:spPr bwMode="auto">
          <a:xfrm>
            <a:off x="6442075" y="6407150"/>
            <a:ext cx="2455863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GE Inspira Pitch" pitchFamily="34" charset="0"/>
                <a:cs typeface="Times New Roman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GE Inspira Pitch" pitchFamily="34" charset="0"/>
                <a:cs typeface="Times New Roman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GE Inspira Pitch" pitchFamily="34" charset="0"/>
                <a:cs typeface="Times New Roman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GE Inspira Pitch" pitchFamily="34" charset="0"/>
                <a:cs typeface="Times New Roman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GE Inspira Pitch" pitchFamily="34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E Inspira Pitch" pitchFamily="34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E Inspira Pitch" pitchFamily="34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E Inspira Pitch" pitchFamily="34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E Inspira Pitch" pitchFamily="34" charset="0"/>
                <a:cs typeface="Times New Roman" pitchFamily="18" charset="0"/>
              </a:defRPr>
            </a:lvl9pPr>
          </a:lstStyle>
          <a:p>
            <a:pPr algn="r">
              <a:lnSpc>
                <a:spcPct val="90000"/>
              </a:lnSpc>
              <a:defRPr/>
            </a:pPr>
            <a:fld id="{E08E5D9A-F4BC-4C2E-AD32-9D8028E12DB4}" type="slidenum">
              <a:rPr lang="en-US" altLang="fr-FR" sz="900" smtClean="0">
                <a:solidFill>
                  <a:srgbClr val="1E4191"/>
                </a:solidFill>
              </a:rPr>
              <a:pPr algn="r">
                <a:lnSpc>
                  <a:spcPct val="90000"/>
                </a:lnSpc>
                <a:defRPr/>
              </a:pPr>
              <a:t>‹#›</a:t>
            </a:fld>
            <a:endParaRPr lang="en-US" altLang="fr-FR" sz="3200">
              <a:solidFill>
                <a:srgbClr val="1E4191"/>
              </a:solidFill>
            </a:endParaRPr>
          </a:p>
        </p:txBody>
      </p:sp>
      <p:pic>
        <p:nvPicPr>
          <p:cNvPr id="1029" name="Picture 7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88" y="6083300"/>
            <a:ext cx="16002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Espace réservé du pied de page 1"/>
          <p:cNvSpPr>
            <a:spLocks noGrp="1"/>
          </p:cNvSpPr>
          <p:nvPr>
            <p:ph type="ftr" sz="quarter" idx="3"/>
          </p:nvPr>
        </p:nvSpPr>
        <p:spPr>
          <a:xfrm>
            <a:off x="2085975" y="6256338"/>
            <a:ext cx="58769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dirty="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fr-FR" sz="1200">
                <a:solidFill>
                  <a:srgbClr val="1E4191">
                    <a:tint val="75000"/>
                  </a:srgbClr>
                </a:solidFill>
                <a:cs typeface="Times New Roman" pitchFamily="18" charset="0"/>
              </a:rPr>
              <a:t>GE </a:t>
            </a:r>
            <a:r>
              <a:rPr lang="fr-FR" sz="1200" err="1">
                <a:solidFill>
                  <a:srgbClr val="1E4191">
                    <a:tint val="75000"/>
                  </a:srgbClr>
                </a:solidFill>
                <a:cs typeface="Times New Roman" pitchFamily="18" charset="0"/>
              </a:rPr>
              <a:t>proprietary</a:t>
            </a:r>
            <a:r>
              <a:rPr lang="fr-FR" sz="1200">
                <a:solidFill>
                  <a:srgbClr val="1E4191">
                    <a:tint val="75000"/>
                  </a:srgbClr>
                </a:solidFill>
                <a:cs typeface="Times New Roman" pitchFamily="18" charset="0"/>
              </a:rPr>
              <a:t> information – Class II (</a:t>
            </a:r>
            <a:r>
              <a:rPr lang="fr-FR" sz="1200" err="1">
                <a:solidFill>
                  <a:srgbClr val="1E4191">
                    <a:tint val="75000"/>
                  </a:srgbClr>
                </a:solidFill>
                <a:cs typeface="Times New Roman" pitchFamily="18" charset="0"/>
              </a:rPr>
              <a:t>internal</a:t>
            </a:r>
            <a:r>
              <a:rPr lang="fr-FR" sz="1200">
                <a:solidFill>
                  <a:srgbClr val="1E4191">
                    <a:tint val="75000"/>
                  </a:srgbClr>
                </a:solidFill>
                <a:cs typeface="Times New Roman" pitchFamily="18" charset="0"/>
              </a:rPr>
              <a:t>)</a:t>
            </a:r>
          </a:p>
          <a:p>
            <a:pPr>
              <a:defRPr/>
            </a:pPr>
            <a:r>
              <a:rPr lang="en-US">
                <a:solidFill>
                  <a:srgbClr val="1E4191">
                    <a:tint val="75000"/>
                  </a:srgbClr>
                </a:solidFill>
                <a:cs typeface="Times New Roman" pitchFamily="18" charset="0"/>
              </a:rPr>
              <a:t>Company Proprietary: This document contains GE proprietary information and may not be used or</a:t>
            </a:r>
          </a:p>
          <a:p>
            <a:pPr>
              <a:defRPr/>
            </a:pPr>
            <a:r>
              <a:rPr lang="en-US">
                <a:solidFill>
                  <a:srgbClr val="1E4191">
                    <a:tint val="75000"/>
                  </a:srgbClr>
                </a:solidFill>
                <a:cs typeface="Times New Roman" pitchFamily="18" charset="0"/>
              </a:rPr>
              <a:t>disclosed to others, except with the written permission of GE.</a:t>
            </a:r>
            <a:endParaRPr lang="fr-FR">
              <a:solidFill>
                <a:srgbClr val="1E4191">
                  <a:tint val="75000"/>
                </a:srgbClr>
              </a:solidFill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2717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</p:sldLayoutIdLst>
  <p:hf sldNum="0" hd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1E419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1E4191"/>
          </a:solidFill>
          <a:latin typeface="GE Inspira Pitch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1E4191"/>
          </a:solidFill>
          <a:latin typeface="GE Inspira Pitch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1E4191"/>
          </a:solidFill>
          <a:latin typeface="GE Inspira Pitch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1E4191"/>
          </a:solidFill>
          <a:latin typeface="GE Inspira Pitch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1E4191"/>
          </a:solidFill>
          <a:latin typeface="GE Inspira Pitch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1E4191"/>
          </a:solidFill>
          <a:latin typeface="GE Inspira Pitch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1E4191"/>
          </a:solidFill>
          <a:latin typeface="GE Inspira Pitch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1E4191"/>
          </a:solidFill>
          <a:latin typeface="GE Inspira Pitch" pitchFamily="34" charset="0"/>
        </a:defRPr>
      </a:lvl9pPr>
    </p:titleStyle>
    <p:bodyStyle>
      <a:lvl1pPr algn="l" rtl="0" eaLnBrk="0" fontAlgn="base" hangingPunct="0">
        <a:lnSpc>
          <a:spcPct val="90000"/>
        </a:lnSpc>
        <a:spcBef>
          <a:spcPct val="50000"/>
        </a:spcBef>
        <a:spcAft>
          <a:spcPct val="0"/>
        </a:spcAft>
        <a:buClr>
          <a:srgbClr val="004880"/>
        </a:buClr>
        <a:defRPr sz="2800">
          <a:solidFill>
            <a:srgbClr val="1E4191"/>
          </a:solidFill>
          <a:latin typeface="+mn-lt"/>
          <a:ea typeface="+mn-ea"/>
          <a:cs typeface="+mn-cs"/>
        </a:defRPr>
      </a:lvl1pPr>
      <a:lvl2pPr marL="341313" indent="-339725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rgbClr val="004880"/>
        </a:buClr>
        <a:buFont typeface="GE Inspira Pitch" pitchFamily="34" charset="0"/>
        <a:buChar char="•"/>
        <a:defRPr sz="2800">
          <a:solidFill>
            <a:srgbClr val="1E4191"/>
          </a:solidFill>
          <a:latin typeface="+mn-lt"/>
        </a:defRPr>
      </a:lvl2pPr>
      <a:lvl3pPr marL="744538" indent="-288925" algn="l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004880"/>
        </a:buClr>
        <a:buChar char="–"/>
        <a:defRPr sz="2800">
          <a:solidFill>
            <a:srgbClr val="1E4191"/>
          </a:solidFill>
          <a:latin typeface="+mn-lt"/>
        </a:defRPr>
      </a:lvl3pPr>
      <a:lvl4pPr marL="1146175" indent="-287338" algn="l" rtl="0" eaLnBrk="0" fontAlgn="base" hangingPunct="0">
        <a:lnSpc>
          <a:spcPct val="90000"/>
        </a:lnSpc>
        <a:spcBef>
          <a:spcPct val="10000"/>
        </a:spcBef>
        <a:spcAft>
          <a:spcPct val="0"/>
        </a:spcAft>
        <a:buClr>
          <a:srgbClr val="004880"/>
        </a:buClr>
        <a:buChar char="–"/>
        <a:defRPr sz="2800">
          <a:solidFill>
            <a:srgbClr val="1E4191"/>
          </a:solidFill>
          <a:latin typeface="+mn-lt"/>
        </a:defRPr>
      </a:lvl4pPr>
      <a:lvl5pPr marL="1546225" indent="-2857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buClr>
          <a:srgbClr val="004880"/>
        </a:buClr>
        <a:buChar char="–"/>
        <a:defRPr sz="2800">
          <a:solidFill>
            <a:srgbClr val="1E4191"/>
          </a:solidFill>
          <a:latin typeface="+mn-lt"/>
        </a:defRPr>
      </a:lvl5pPr>
      <a:lvl6pPr marL="2003425" indent="-285750" algn="l" rtl="0" fontAlgn="base">
        <a:lnSpc>
          <a:spcPct val="90000"/>
        </a:lnSpc>
        <a:spcBef>
          <a:spcPct val="0"/>
        </a:spcBef>
        <a:spcAft>
          <a:spcPct val="0"/>
        </a:spcAft>
        <a:buClr>
          <a:srgbClr val="004880"/>
        </a:buClr>
        <a:buChar char="–"/>
        <a:defRPr sz="2800">
          <a:solidFill>
            <a:srgbClr val="1E4191"/>
          </a:solidFill>
          <a:latin typeface="+mn-lt"/>
        </a:defRPr>
      </a:lvl6pPr>
      <a:lvl7pPr marL="2460625" indent="-285750" algn="l" rtl="0" fontAlgn="base">
        <a:lnSpc>
          <a:spcPct val="90000"/>
        </a:lnSpc>
        <a:spcBef>
          <a:spcPct val="0"/>
        </a:spcBef>
        <a:spcAft>
          <a:spcPct val="0"/>
        </a:spcAft>
        <a:buClr>
          <a:srgbClr val="004880"/>
        </a:buClr>
        <a:buChar char="–"/>
        <a:defRPr sz="2800">
          <a:solidFill>
            <a:srgbClr val="1E4191"/>
          </a:solidFill>
          <a:latin typeface="+mn-lt"/>
        </a:defRPr>
      </a:lvl7pPr>
      <a:lvl8pPr marL="2917825" indent="-285750" algn="l" rtl="0" fontAlgn="base">
        <a:lnSpc>
          <a:spcPct val="90000"/>
        </a:lnSpc>
        <a:spcBef>
          <a:spcPct val="0"/>
        </a:spcBef>
        <a:spcAft>
          <a:spcPct val="0"/>
        </a:spcAft>
        <a:buClr>
          <a:srgbClr val="004880"/>
        </a:buClr>
        <a:buChar char="–"/>
        <a:defRPr sz="2800">
          <a:solidFill>
            <a:srgbClr val="1E4191"/>
          </a:solidFill>
          <a:latin typeface="+mn-lt"/>
        </a:defRPr>
      </a:lvl8pPr>
      <a:lvl9pPr marL="3375025" indent="-285750" algn="l" rtl="0" fontAlgn="base">
        <a:lnSpc>
          <a:spcPct val="90000"/>
        </a:lnSpc>
        <a:spcBef>
          <a:spcPct val="0"/>
        </a:spcBef>
        <a:spcAft>
          <a:spcPct val="0"/>
        </a:spcAft>
        <a:buClr>
          <a:srgbClr val="004880"/>
        </a:buClr>
        <a:buChar char="–"/>
        <a:defRPr sz="2800">
          <a:solidFill>
            <a:srgbClr val="1E419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gineeringconfluence.pw.ge.com/pages/releaseview.action?pageId=320176535" TargetMode="External"/><Relationship Id="rId5" Type="http://schemas.openxmlformats.org/officeDocument/2006/relationships/hyperlink" Target="https://engineeringconfluence.pw.ge.com/display/public/GPD/13.+SIL+Controller+-+GT" TargetMode="External"/><Relationship Id="rId4" Type="http://schemas.openxmlformats.org/officeDocument/2006/relationships/hyperlink" Target="https://engineeringconfluence.pw.ge.com/pages/releaseview.action?pageId=302448816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e.ent.box.com/file/513527184161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engineeringconfluence.pw.ge.com/pages/releaseview.action?pageId=302448816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gineeringconfluence.pw.ge.com/pages/releaseview.action?pageId=320176535" TargetMode="External"/><Relationship Id="rId4" Type="http://schemas.openxmlformats.org/officeDocument/2006/relationships/hyperlink" Target="https://engineeringconfluence.pw.ge.com/display/public/GPD/13.+SIL+Controller+-+GT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libraries.ge.com/foldersIndex.do?entity_id=38189161101&amp;sid=101&amp;SF=1#38189161101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Documents and Settings\501734604\Desktop\Work Folder\WORK Earl\CS01952 7FA Evolution and Growth_Gibson\7FA_2FRON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" b="-21"/>
          <a:stretch>
            <a:fillRect/>
          </a:stretch>
        </p:blipFill>
        <p:spPr bwMode="auto">
          <a:xfrm>
            <a:off x="3592513" y="1864101"/>
            <a:ext cx="5551487" cy="432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098" descr="D:\Users\GirardAm\My Documents\My Pictures\10 ans\collage_highres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7075" y="0"/>
            <a:ext cx="58769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114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344487" y="263525"/>
            <a:ext cx="6483695" cy="711835"/>
          </a:xfrm>
        </p:spPr>
        <p:txBody>
          <a:bodyPr/>
          <a:lstStyle/>
          <a:p>
            <a:r>
              <a:rPr lang="en-US" sz="3600" dirty="0"/>
              <a:t>Projects with SIL Quick HOWTO</a:t>
            </a:r>
          </a:p>
        </p:txBody>
      </p:sp>
      <p:sp>
        <p:nvSpPr>
          <p:cNvPr id="731141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18364" y="2652695"/>
            <a:ext cx="3701845" cy="1187786"/>
          </a:xfrm>
        </p:spPr>
        <p:txBody>
          <a:bodyPr/>
          <a:lstStyle/>
          <a:p>
            <a:r>
              <a:rPr lang="en-US" sz="2400" dirty="0"/>
              <a:t>Jean-Marc Ingremeau</a:t>
            </a:r>
          </a:p>
          <a:p>
            <a:endParaRPr lang="en-US" sz="1800" dirty="0"/>
          </a:p>
          <a:p>
            <a:r>
              <a:rPr lang="en-US" sz="1800" dirty="0"/>
              <a:t>GT Controls</a:t>
            </a:r>
          </a:p>
          <a:p>
            <a:endParaRPr lang="en-US" sz="1800" dirty="0"/>
          </a:p>
        </p:txBody>
      </p:sp>
      <p:sp>
        <p:nvSpPr>
          <p:cNvPr id="4" name="TextBox 3"/>
          <p:cNvSpPr txBox="1"/>
          <p:nvPr/>
        </p:nvSpPr>
        <p:spPr>
          <a:xfrm>
            <a:off x="218364" y="5365030"/>
            <a:ext cx="2305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  <a:latin typeface="+mn-lt"/>
              </a:rPr>
              <a:t>2021 | Belfort, France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Context</a:t>
            </a:r>
            <a:r>
              <a:rPr lang="fr-FR" dirty="0"/>
              <a:t>	</a:t>
            </a:r>
          </a:p>
        </p:txBody>
      </p:sp>
      <p:pic>
        <p:nvPicPr>
          <p:cNvPr id="1026" name="Picture 2" descr="p101006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7944" y="3282043"/>
            <a:ext cx="4973288" cy="3310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2"/>
          <p:cNvSpPr txBox="1"/>
          <p:nvPr/>
        </p:nvSpPr>
        <p:spPr>
          <a:xfrm>
            <a:off x="409303" y="1027611"/>
            <a:ext cx="72019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Safety controller added for compliance to IEC61511 (MkVIeS)</a:t>
            </a:r>
          </a:p>
          <a:p>
            <a:r>
              <a:rPr lang="en-US" sz="2000" dirty="0"/>
              <a:t>Contains only protections dedicated to the safety of personal</a:t>
            </a:r>
            <a:endParaRPr lang="fr-FR" sz="2000" dirty="0"/>
          </a:p>
        </p:txBody>
      </p:sp>
      <p:sp>
        <p:nvSpPr>
          <p:cNvPr id="4" name="Rectangle 3"/>
          <p:cNvSpPr/>
          <p:nvPr/>
        </p:nvSpPr>
        <p:spPr>
          <a:xfrm>
            <a:off x="1384664" y="2011681"/>
            <a:ext cx="2490652" cy="114082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MkVIe</a:t>
            </a:r>
            <a:endParaRPr lang="fr-FR" dirty="0"/>
          </a:p>
        </p:txBody>
      </p:sp>
      <p:sp>
        <p:nvSpPr>
          <p:cNvPr id="6" name="Rectangle 5"/>
          <p:cNvSpPr/>
          <p:nvPr/>
        </p:nvSpPr>
        <p:spPr>
          <a:xfrm>
            <a:off x="4676504" y="2011680"/>
            <a:ext cx="2490652" cy="114082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MkVIeS</a:t>
            </a:r>
            <a:endParaRPr lang="fr-FR" dirty="0"/>
          </a:p>
        </p:txBody>
      </p:sp>
      <p:sp>
        <p:nvSpPr>
          <p:cNvPr id="5" name="Ellipse 4"/>
          <p:cNvSpPr/>
          <p:nvPr/>
        </p:nvSpPr>
        <p:spPr>
          <a:xfrm>
            <a:off x="2418765" y="3640183"/>
            <a:ext cx="1456551" cy="1402080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8" name="Connecteur droit 7"/>
          <p:cNvCxnSpPr>
            <a:stCxn id="5" idx="0"/>
            <a:endCxn id="4" idx="2"/>
          </p:cNvCxnSpPr>
          <p:nvPr/>
        </p:nvCxnSpPr>
        <p:spPr>
          <a:xfrm flipH="1" flipV="1">
            <a:off x="2629990" y="3152504"/>
            <a:ext cx="517051" cy="48767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Ellipse 10"/>
          <p:cNvSpPr/>
          <p:nvPr/>
        </p:nvSpPr>
        <p:spPr>
          <a:xfrm>
            <a:off x="5024803" y="3640183"/>
            <a:ext cx="1323705" cy="1402080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2" name="Connecteur droit 11"/>
          <p:cNvCxnSpPr>
            <a:stCxn id="11" idx="0"/>
            <a:endCxn id="6" idx="2"/>
          </p:cNvCxnSpPr>
          <p:nvPr/>
        </p:nvCxnSpPr>
        <p:spPr>
          <a:xfrm flipV="1">
            <a:off x="5686656" y="3152503"/>
            <a:ext cx="235174" cy="48768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4241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85A7B7D-3F1E-4469-80DF-93E4ED1D4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SIS Architecture</a:t>
            </a:r>
          </a:p>
        </p:txBody>
      </p:sp>
      <p:pic>
        <p:nvPicPr>
          <p:cNvPr id="130" name="Picture 129">
            <a:extLst>
              <a:ext uri="{FF2B5EF4-FFF2-40B4-BE49-F238E27FC236}">
                <a16:creationId xmlns:a16="http://schemas.microsoft.com/office/drawing/2014/main" id="{53B56811-F48F-4406-9B13-7AEE22E453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93740"/>
            <a:ext cx="9144000" cy="5070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132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Image 59">
            <a:extLst>
              <a:ext uri="{FF2B5EF4-FFF2-40B4-BE49-F238E27FC236}">
                <a16:creationId xmlns:a16="http://schemas.microsoft.com/office/drawing/2014/main" id="{202B6663-17CD-45F1-A214-DED493AF18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2657" y="-155618"/>
            <a:ext cx="5838207" cy="1284406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05AF845E-3AED-4B15-89CB-38E54C1DB2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325" y="1607169"/>
            <a:ext cx="6410852" cy="343382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</p:pic>
      <p:sp>
        <p:nvSpPr>
          <p:cNvPr id="10" name="ZoneTexte 9"/>
          <p:cNvSpPr txBox="1"/>
          <p:nvPr/>
        </p:nvSpPr>
        <p:spPr>
          <a:xfrm>
            <a:off x="5934875" y="4758283"/>
            <a:ext cx="1733005" cy="5232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r"/>
            <a:r>
              <a:rPr lang="en-US" sz="1400" dirty="0"/>
              <a:t>Safety sensor </a:t>
            </a:r>
          </a:p>
          <a:p>
            <a:r>
              <a:rPr lang="en-US" sz="1400" dirty="0"/>
              <a:t>(</a:t>
            </a:r>
            <a:r>
              <a:rPr lang="en-US" sz="1400" dirty="0" err="1"/>
              <a:t>eg</a:t>
            </a:r>
            <a:r>
              <a:rPr lang="en-US" sz="1400" dirty="0"/>
              <a:t>. Flame detector)</a:t>
            </a:r>
            <a:endParaRPr lang="fr-FR" sz="1400" dirty="0"/>
          </a:p>
        </p:txBody>
      </p:sp>
      <p:cxnSp>
        <p:nvCxnSpPr>
          <p:cNvPr id="14" name="Connecteur droit 13"/>
          <p:cNvCxnSpPr>
            <a:cxnSpLocks/>
            <a:stCxn id="10" idx="0"/>
          </p:cNvCxnSpPr>
          <p:nvPr/>
        </p:nvCxnSpPr>
        <p:spPr>
          <a:xfrm flipH="1" flipV="1">
            <a:off x="5569440" y="4252593"/>
            <a:ext cx="1231938" cy="505690"/>
          </a:xfrm>
          <a:prstGeom prst="line">
            <a:avLst/>
          </a:prstGeom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7" name="ZoneTexte 26"/>
          <p:cNvSpPr txBox="1"/>
          <p:nvPr/>
        </p:nvSpPr>
        <p:spPr>
          <a:xfrm>
            <a:off x="661671" y="4970656"/>
            <a:ext cx="1733005" cy="73866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Control sensor </a:t>
            </a:r>
          </a:p>
          <a:p>
            <a:pPr algn="r"/>
            <a:r>
              <a:rPr lang="en-US" sz="1400" dirty="0"/>
              <a:t>(</a:t>
            </a:r>
            <a:r>
              <a:rPr lang="en-US" sz="1400" dirty="0" err="1"/>
              <a:t>eg</a:t>
            </a:r>
            <a:r>
              <a:rPr lang="en-US" sz="1400" dirty="0"/>
              <a:t>. Compressor </a:t>
            </a:r>
          </a:p>
          <a:p>
            <a:pPr algn="r"/>
            <a:r>
              <a:rPr lang="en-US" sz="1400" dirty="0"/>
              <a:t>Temperature CTD)</a:t>
            </a:r>
            <a:endParaRPr lang="fr-FR" sz="1400" dirty="0"/>
          </a:p>
        </p:txBody>
      </p:sp>
      <p:cxnSp>
        <p:nvCxnSpPr>
          <p:cNvPr id="28" name="Connecteur droit 27"/>
          <p:cNvCxnSpPr>
            <a:cxnSpLocks/>
          </p:cNvCxnSpPr>
          <p:nvPr/>
        </p:nvCxnSpPr>
        <p:spPr>
          <a:xfrm flipV="1">
            <a:off x="1590141" y="4207934"/>
            <a:ext cx="1088665" cy="766288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ZoneTexte 28"/>
          <p:cNvSpPr txBox="1"/>
          <p:nvPr/>
        </p:nvSpPr>
        <p:spPr>
          <a:xfrm>
            <a:off x="3591735" y="5836519"/>
            <a:ext cx="2343140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Safety Actuator (</a:t>
            </a:r>
            <a:r>
              <a:rPr lang="en-US" sz="1400" dirty="0" err="1"/>
              <a:t>eg</a:t>
            </a:r>
            <a:r>
              <a:rPr lang="en-US" sz="1400" dirty="0"/>
              <a:t>. GCV)</a:t>
            </a:r>
          </a:p>
          <a:p>
            <a:r>
              <a:rPr lang="en-US" sz="1400" dirty="0"/>
              <a:t>Powered by both controllers</a:t>
            </a:r>
            <a:endParaRPr lang="fr-FR" sz="1400" dirty="0"/>
          </a:p>
        </p:txBody>
      </p:sp>
      <p:sp>
        <p:nvSpPr>
          <p:cNvPr id="36" name="ZoneTexte 35"/>
          <p:cNvSpPr txBox="1"/>
          <p:nvPr/>
        </p:nvSpPr>
        <p:spPr>
          <a:xfrm>
            <a:off x="1267970" y="5836519"/>
            <a:ext cx="1733005" cy="5232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Control actuator</a:t>
            </a:r>
          </a:p>
          <a:p>
            <a:r>
              <a:rPr lang="en-US" sz="1400" dirty="0"/>
              <a:t>(</a:t>
            </a:r>
            <a:r>
              <a:rPr lang="en-US" sz="1400" dirty="0" err="1"/>
              <a:t>eg</a:t>
            </a:r>
            <a:r>
              <a:rPr lang="en-US" sz="1400" dirty="0"/>
              <a:t>. IGV)</a:t>
            </a:r>
            <a:endParaRPr lang="fr-FR" sz="1400" dirty="0"/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9F09D298-4E67-4F5F-A9CA-2255962F4D4D}"/>
              </a:ext>
            </a:extLst>
          </p:cNvPr>
          <p:cNvCxnSpPr>
            <a:cxnSpLocks/>
          </p:cNvCxnSpPr>
          <p:nvPr/>
        </p:nvCxnSpPr>
        <p:spPr>
          <a:xfrm flipV="1">
            <a:off x="3142445" y="1101146"/>
            <a:ext cx="0" cy="592007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43B2141B-825B-4D01-B4C3-2A6BB2792057}"/>
              </a:ext>
            </a:extLst>
          </p:cNvPr>
          <p:cNvCxnSpPr/>
          <p:nvPr/>
        </p:nvCxnSpPr>
        <p:spPr>
          <a:xfrm flipV="1">
            <a:off x="3431178" y="1101146"/>
            <a:ext cx="0" cy="592007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A2F35A69-5275-4082-ACB4-366AFA6D642C}"/>
              </a:ext>
            </a:extLst>
          </p:cNvPr>
          <p:cNvCxnSpPr/>
          <p:nvPr/>
        </p:nvCxnSpPr>
        <p:spPr>
          <a:xfrm flipV="1">
            <a:off x="3675877" y="1101146"/>
            <a:ext cx="0" cy="592007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258FDE8B-FB1F-415C-8B5D-7CD05169ACDE}"/>
              </a:ext>
            </a:extLst>
          </p:cNvPr>
          <p:cNvCxnSpPr>
            <a:cxnSpLocks/>
          </p:cNvCxnSpPr>
          <p:nvPr/>
        </p:nvCxnSpPr>
        <p:spPr>
          <a:xfrm flipV="1">
            <a:off x="5036008" y="1119060"/>
            <a:ext cx="0" cy="592007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3A0F7BA9-8C14-4CB6-A4CE-046F492FA28C}"/>
              </a:ext>
            </a:extLst>
          </p:cNvPr>
          <p:cNvCxnSpPr/>
          <p:nvPr/>
        </p:nvCxnSpPr>
        <p:spPr>
          <a:xfrm flipV="1">
            <a:off x="5324741" y="1119060"/>
            <a:ext cx="0" cy="592007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id="{2A25A2B4-6FDD-4FBD-9F2B-702E8783534A}"/>
              </a:ext>
            </a:extLst>
          </p:cNvPr>
          <p:cNvCxnSpPr/>
          <p:nvPr/>
        </p:nvCxnSpPr>
        <p:spPr>
          <a:xfrm flipV="1">
            <a:off x="5569440" y="1119060"/>
            <a:ext cx="0" cy="592007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0C069690-4156-488F-8138-AF6242D9BFBF}"/>
              </a:ext>
            </a:extLst>
          </p:cNvPr>
          <p:cNvCxnSpPr>
            <a:cxnSpLocks/>
          </p:cNvCxnSpPr>
          <p:nvPr/>
        </p:nvCxnSpPr>
        <p:spPr>
          <a:xfrm flipH="1">
            <a:off x="2712460" y="4330466"/>
            <a:ext cx="497377" cy="1506053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7ED44BBB-B294-4793-B8A2-8C1854E82CF0}"/>
              </a:ext>
            </a:extLst>
          </p:cNvPr>
          <p:cNvCxnSpPr>
            <a:cxnSpLocks/>
          </p:cNvCxnSpPr>
          <p:nvPr/>
        </p:nvCxnSpPr>
        <p:spPr>
          <a:xfrm>
            <a:off x="3378782" y="4252593"/>
            <a:ext cx="972979" cy="1583926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DECA6B59-04DB-4B37-860C-79F5FD64F9E0}"/>
              </a:ext>
            </a:extLst>
          </p:cNvPr>
          <p:cNvCxnSpPr>
            <a:cxnSpLocks/>
          </p:cNvCxnSpPr>
          <p:nvPr/>
        </p:nvCxnSpPr>
        <p:spPr>
          <a:xfrm flipH="1">
            <a:off x="4445465" y="4330466"/>
            <a:ext cx="44918" cy="1506053"/>
          </a:xfrm>
          <a:prstGeom prst="line">
            <a:avLst/>
          </a:prstGeom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59FE9896-9546-4374-8886-B5AEF0826EEC}"/>
              </a:ext>
            </a:extLst>
          </p:cNvPr>
          <p:cNvSpPr txBox="1"/>
          <p:nvPr/>
        </p:nvSpPr>
        <p:spPr>
          <a:xfrm>
            <a:off x="7292697" y="718339"/>
            <a:ext cx="13164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</a:rPr>
              <a:t>EGD</a:t>
            </a:r>
            <a:endParaRPr lang="fr-FR" sz="2400" dirty="0">
              <a:solidFill>
                <a:srgbClr val="000000"/>
              </a:solidFill>
            </a:endParaRPr>
          </a:p>
        </p:txBody>
      </p:sp>
      <p:cxnSp>
        <p:nvCxnSpPr>
          <p:cNvPr id="54" name="Connecteur droit avec flèche 53">
            <a:extLst>
              <a:ext uri="{FF2B5EF4-FFF2-40B4-BE49-F238E27FC236}">
                <a16:creationId xmlns:a16="http://schemas.microsoft.com/office/drawing/2014/main" id="{1FC5F5FA-0903-4940-8B27-5944D2BA16F4}"/>
              </a:ext>
            </a:extLst>
          </p:cNvPr>
          <p:cNvCxnSpPr>
            <a:cxnSpLocks/>
          </p:cNvCxnSpPr>
          <p:nvPr/>
        </p:nvCxnSpPr>
        <p:spPr>
          <a:xfrm>
            <a:off x="3015686" y="1199461"/>
            <a:ext cx="0" cy="427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ZoneTexte 56">
            <a:extLst>
              <a:ext uri="{FF2B5EF4-FFF2-40B4-BE49-F238E27FC236}">
                <a16:creationId xmlns:a16="http://schemas.microsoft.com/office/drawing/2014/main" id="{EBACD779-A43B-4766-9D7D-FD9E99D4808A}"/>
              </a:ext>
            </a:extLst>
          </p:cNvPr>
          <p:cNvSpPr txBox="1"/>
          <p:nvPr/>
        </p:nvSpPr>
        <p:spPr>
          <a:xfrm>
            <a:off x="1998077" y="1138064"/>
            <a:ext cx="100488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solidFill>
                  <a:srgbClr val="CD0078"/>
                </a:solidFill>
              </a:rPr>
              <a:t>Trip</a:t>
            </a:r>
          </a:p>
          <a:p>
            <a:pPr algn="r"/>
            <a:r>
              <a:rPr lang="en-US" sz="1000" dirty="0">
                <a:solidFill>
                  <a:srgbClr val="CD0078"/>
                </a:solidFill>
              </a:rPr>
              <a:t>Shutdown</a:t>
            </a:r>
          </a:p>
          <a:p>
            <a:pPr algn="r"/>
            <a:r>
              <a:rPr lang="en-US" sz="1000" dirty="0">
                <a:solidFill>
                  <a:srgbClr val="CD0078"/>
                </a:solidFill>
              </a:rPr>
              <a:t>Start </a:t>
            </a:r>
            <a:r>
              <a:rPr lang="en-US" sz="1000" dirty="0" err="1">
                <a:solidFill>
                  <a:srgbClr val="CD0078"/>
                </a:solidFill>
              </a:rPr>
              <a:t>Inh</a:t>
            </a:r>
            <a:endParaRPr lang="fr-FR" sz="1000" dirty="0">
              <a:solidFill>
                <a:srgbClr val="CD0078"/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4543EE9-A8D3-48E6-BFB6-9DF0C18FBFF0}"/>
              </a:ext>
            </a:extLst>
          </p:cNvPr>
          <p:cNvSpPr/>
          <p:nvPr/>
        </p:nvSpPr>
        <p:spPr>
          <a:xfrm>
            <a:off x="1161143" y="-391886"/>
            <a:ext cx="4644571" cy="986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8" name="Connecteur droit avec flèche 57">
            <a:extLst>
              <a:ext uri="{FF2B5EF4-FFF2-40B4-BE49-F238E27FC236}">
                <a16:creationId xmlns:a16="http://schemas.microsoft.com/office/drawing/2014/main" id="{D9AD76B2-5984-4CCF-B9FA-63A3AE2C4227}"/>
              </a:ext>
            </a:extLst>
          </p:cNvPr>
          <p:cNvCxnSpPr>
            <a:cxnSpLocks/>
          </p:cNvCxnSpPr>
          <p:nvPr/>
        </p:nvCxnSpPr>
        <p:spPr>
          <a:xfrm>
            <a:off x="5689329" y="1180004"/>
            <a:ext cx="0" cy="427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ZoneTexte 58">
            <a:extLst>
              <a:ext uri="{FF2B5EF4-FFF2-40B4-BE49-F238E27FC236}">
                <a16:creationId xmlns:a16="http://schemas.microsoft.com/office/drawing/2014/main" id="{D2265129-79E6-4BA7-8D5D-523013E7B4C8}"/>
              </a:ext>
            </a:extLst>
          </p:cNvPr>
          <p:cNvSpPr txBox="1"/>
          <p:nvPr/>
        </p:nvSpPr>
        <p:spPr>
          <a:xfrm>
            <a:off x="5663676" y="1154269"/>
            <a:ext cx="10048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CD0078"/>
                </a:solidFill>
              </a:rPr>
              <a:t>Exhaustive list in A312</a:t>
            </a:r>
            <a:endParaRPr lang="fr-FR" sz="1000" dirty="0">
              <a:solidFill>
                <a:srgbClr val="CD0078"/>
              </a:solidFill>
            </a:endParaRPr>
          </a:p>
        </p:txBody>
      </p:sp>
      <p:sp>
        <p:nvSpPr>
          <p:cNvPr id="64" name="ZoneTexte 63">
            <a:extLst>
              <a:ext uri="{FF2B5EF4-FFF2-40B4-BE49-F238E27FC236}">
                <a16:creationId xmlns:a16="http://schemas.microsoft.com/office/drawing/2014/main" id="{CA4ED2E9-C38B-4FE2-92D9-63BABA8AD2A5}"/>
              </a:ext>
            </a:extLst>
          </p:cNvPr>
          <p:cNvSpPr txBox="1"/>
          <p:nvPr/>
        </p:nvSpPr>
        <p:spPr>
          <a:xfrm>
            <a:off x="6612632" y="113430"/>
            <a:ext cx="21104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</a:rPr>
              <a:t>HMI Screen</a:t>
            </a:r>
            <a:endParaRPr lang="fr-FR" sz="2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22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</a:t>
            </a:r>
            <a:endParaRPr lang="fr-FR" dirty="0" err="1"/>
          </a:p>
        </p:txBody>
      </p:sp>
      <p:sp>
        <p:nvSpPr>
          <p:cNvPr id="19" name="ZoneTexte 18"/>
          <p:cNvSpPr txBox="1"/>
          <p:nvPr/>
        </p:nvSpPr>
        <p:spPr>
          <a:xfrm>
            <a:off x="409302" y="1027611"/>
            <a:ext cx="6935135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DoR</a:t>
            </a:r>
            <a:r>
              <a:rPr lang="en-US" sz="2000" dirty="0"/>
              <a:t> Controls:</a:t>
            </a:r>
          </a:p>
          <a:p>
            <a:pPr marL="342900" indent="-342900">
              <a:buFontTx/>
              <a:buChar char="-"/>
            </a:pPr>
            <a:r>
              <a:rPr lang="en-US" sz="2000" dirty="0"/>
              <a:t>Controls Requisition Engineering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000" dirty="0"/>
              <a:t>Device (G1S/GS1) – </a:t>
            </a:r>
            <a:r>
              <a:rPr lang="en-US" sz="2000" dirty="0" err="1"/>
              <a:t>Ios</a:t>
            </a:r>
            <a:r>
              <a:rPr lang="en-US" sz="2000" dirty="0"/>
              <a:t>, constants, etc.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000" dirty="0"/>
              <a:t>Interface with site / client (inc. customer SWAT)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000" dirty="0"/>
              <a:t>Project-specific documents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000" dirty="0"/>
              <a:t>Screens/Simulations </a:t>
            </a:r>
          </a:p>
          <a:p>
            <a:pPr marL="342900" indent="-342900">
              <a:buFontTx/>
              <a:buChar char="-"/>
            </a:pPr>
            <a:r>
              <a:rPr lang="en-US" sz="2000" dirty="0"/>
              <a:t>SIL Standard Team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000" dirty="0"/>
              <a:t>Maintain up-to-date standard software on-time for all projects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000" dirty="0"/>
              <a:t>Maintain up-to-date standard documentation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000" dirty="0"/>
              <a:t>Develop project-specific software in libraries, own the CIAs.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000" dirty="0"/>
              <a:t>Run SIL SWAT and interface with 3</a:t>
            </a:r>
            <a:r>
              <a:rPr lang="en-US" sz="2000" baseline="30000" dirty="0"/>
              <a:t>rd</a:t>
            </a:r>
            <a:r>
              <a:rPr lang="en-US" sz="2000" dirty="0"/>
              <a:t> party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000" dirty="0"/>
              <a:t>Audits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sz="2000" dirty="0"/>
          </a:p>
        </p:txBody>
      </p:sp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4438" y="3002962"/>
            <a:ext cx="124777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5201F8A-13F8-4F4E-B43A-751CA075A2FC}"/>
              </a:ext>
            </a:extLst>
          </p:cNvPr>
          <p:cNvSpPr txBox="1"/>
          <p:nvPr/>
        </p:nvSpPr>
        <p:spPr>
          <a:xfrm>
            <a:off x="626165" y="5347252"/>
            <a:ext cx="7966048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Confluence links to the detailed process:</a:t>
            </a:r>
          </a:p>
          <a:p>
            <a:r>
              <a:rPr lang="en-US" sz="1200" u="sng" dirty="0">
                <a:hlinkClick r:id="rId4"/>
              </a:rPr>
              <a:t>ST: </a:t>
            </a:r>
            <a:r>
              <a:rPr lang="en-US" sz="1200" dirty="0">
                <a:hlinkClick r:id="rId4"/>
              </a:rPr>
              <a:t>https://engineeringconfluence.pw.ge.com/pages/releaseview.action?pageId=302448816</a:t>
            </a:r>
            <a:endParaRPr lang="en-US" sz="1200" dirty="0"/>
          </a:p>
          <a:p>
            <a:r>
              <a:rPr lang="en-US" sz="1200" dirty="0"/>
              <a:t>GT: </a:t>
            </a:r>
            <a:r>
              <a:rPr lang="en-US" sz="1200" dirty="0">
                <a:hlinkClick r:id="rId5"/>
              </a:rPr>
              <a:t>https://engineeringconfluence.pw.ge.com/display/public/GPD/13.+SIL+Controller+-+GT</a:t>
            </a:r>
            <a:endParaRPr lang="en-US" sz="1200" dirty="0"/>
          </a:p>
          <a:p>
            <a:r>
              <a:rPr lang="en-US" sz="1200" dirty="0"/>
              <a:t>Plant: </a:t>
            </a:r>
            <a:r>
              <a:rPr lang="en-US" sz="1200" dirty="0">
                <a:hlinkClick r:id="rId6"/>
              </a:rPr>
              <a:t>https://engineeringconfluence.pw.ge.com/pages/releaseview.action?pageId=320176535</a:t>
            </a:r>
            <a:endParaRPr lang="en-US" sz="12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235201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</a:t>
            </a:r>
            <a:endParaRPr lang="fr-FR" dirty="0" err="1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1901" y="3945381"/>
            <a:ext cx="4822099" cy="206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ZoneTexte 18"/>
          <p:cNvSpPr txBox="1"/>
          <p:nvPr/>
        </p:nvSpPr>
        <p:spPr>
          <a:xfrm>
            <a:off x="409302" y="1027611"/>
            <a:ext cx="800317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DoR</a:t>
            </a:r>
            <a:r>
              <a:rPr lang="en-US" sz="2000" dirty="0"/>
              <a:t> outside Controls:</a:t>
            </a:r>
          </a:p>
          <a:p>
            <a:pPr marL="342900" indent="-342900">
              <a:buFontTx/>
              <a:buChar char="-"/>
            </a:pPr>
            <a:r>
              <a:rPr lang="en-US" sz="2000" dirty="0"/>
              <a:t>SIL Compliance Leader (Compliance Team)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000" dirty="0"/>
              <a:t>Gathers documentation for Safety Manual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000" dirty="0"/>
              <a:t>Project management for the SIL compliance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000" dirty="0"/>
              <a:t>Safety – reliability documentation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000" dirty="0"/>
              <a:t>Interface with 3</a:t>
            </a:r>
            <a:r>
              <a:rPr lang="en-US" sz="2000" baseline="30000" dirty="0"/>
              <a:t>rd</a:t>
            </a:r>
            <a:r>
              <a:rPr lang="en-US" sz="2000" dirty="0"/>
              <a:t> party certification company (</a:t>
            </a:r>
            <a:r>
              <a:rPr lang="en-US" sz="2000" dirty="0" err="1"/>
              <a:t>Exida</a:t>
            </a:r>
            <a:r>
              <a:rPr lang="en-US" sz="2000" dirty="0"/>
              <a:t> or </a:t>
            </a:r>
            <a:r>
              <a:rPr lang="en-US" sz="2000" dirty="0" err="1"/>
              <a:t>Ineris</a:t>
            </a:r>
            <a:r>
              <a:rPr lang="en-US" sz="2000" dirty="0"/>
              <a:t>)</a:t>
            </a:r>
          </a:p>
          <a:p>
            <a:pPr marL="342900" indent="-342900">
              <a:buFontTx/>
              <a:buChar char="-"/>
            </a:pPr>
            <a:r>
              <a:rPr lang="en-US" sz="2000" dirty="0"/>
              <a:t>Customer Engineer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000" dirty="0"/>
              <a:t>Interface with customer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000" dirty="0"/>
              <a:t>Interface with the rest of GE (SDA, …)</a:t>
            </a:r>
          </a:p>
          <a:p>
            <a:pPr marL="342900" indent="-342900">
              <a:buFontTx/>
              <a:buChar char="-"/>
            </a:pPr>
            <a:r>
              <a:rPr lang="en-US" sz="2000" dirty="0"/>
              <a:t>Site TA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000" dirty="0"/>
              <a:t>Realizes the SAT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70797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- Software</a:t>
            </a:r>
            <a:endParaRPr lang="fr-FR" dirty="0" err="1"/>
          </a:p>
        </p:txBody>
      </p:sp>
      <p:sp>
        <p:nvSpPr>
          <p:cNvPr id="19" name="ZoneTexte 18"/>
          <p:cNvSpPr txBox="1"/>
          <p:nvPr/>
        </p:nvSpPr>
        <p:spPr>
          <a:xfrm>
            <a:off x="409302" y="1027611"/>
            <a:ext cx="802930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Management of Change shared with 3</a:t>
            </a:r>
            <a:r>
              <a:rPr lang="en-US" sz="2000" baseline="30000" dirty="0"/>
              <a:t>rd</a:t>
            </a:r>
            <a:r>
              <a:rPr lang="en-US" sz="2000" dirty="0"/>
              <a:t> party certification company</a:t>
            </a:r>
          </a:p>
          <a:p>
            <a:pPr marL="342900" indent="-342900">
              <a:buFontTx/>
              <a:buChar char="-"/>
            </a:pPr>
            <a:r>
              <a:rPr lang="en-US" sz="2000" dirty="0"/>
              <a:t>Strong management of change in standard or on project with CIA process (Change Impact Analysis)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000" dirty="0"/>
              <a:t>CIA process: e-DRB EPE-3581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000" dirty="0"/>
              <a:t>CIA Template: </a:t>
            </a:r>
            <a:r>
              <a:rPr lang="en-US" sz="2000" dirty="0">
                <a:hlinkClick r:id="rId3"/>
              </a:rPr>
              <a:t>https://ge.ent.box.com/file/513527184161</a:t>
            </a:r>
            <a:endParaRPr lang="en-US" sz="2000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sz="2000" dirty="0"/>
          </a:p>
          <a:p>
            <a:endParaRPr lang="fr-FR" sz="2000" dirty="0"/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F271EB4F-9BB3-499A-966E-B4BCA60B9A1B}"/>
              </a:ext>
            </a:extLst>
          </p:cNvPr>
          <p:cNvCxnSpPr>
            <a:stCxn id="6" idx="3"/>
          </p:cNvCxnSpPr>
          <p:nvPr/>
        </p:nvCxnSpPr>
        <p:spPr>
          <a:xfrm>
            <a:off x="1876425" y="4006540"/>
            <a:ext cx="5943600" cy="0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Rectangle à coins arrondis 5">
            <a:extLst>
              <a:ext uri="{FF2B5EF4-FFF2-40B4-BE49-F238E27FC236}">
                <a16:creationId xmlns:a16="http://schemas.microsoft.com/office/drawing/2014/main" id="{04DA4BA1-EA31-4FAE-A7AB-87F076002EE6}"/>
              </a:ext>
            </a:extLst>
          </p:cNvPr>
          <p:cNvSpPr/>
          <p:nvPr/>
        </p:nvSpPr>
        <p:spPr>
          <a:xfrm>
            <a:off x="846828" y="3727964"/>
            <a:ext cx="1029597" cy="557152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/>
              <a:t>Initial  version</a:t>
            </a:r>
          </a:p>
          <a:p>
            <a:pPr algn="ctr"/>
            <a:r>
              <a:rPr lang="en-US" sz="900" dirty="0"/>
              <a:t>V01.00.00C</a:t>
            </a:r>
            <a:endParaRPr lang="fr-FR" sz="900" dirty="0"/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DE5E5DAD-D878-4417-8387-D5E93119B47E}"/>
              </a:ext>
            </a:extLst>
          </p:cNvPr>
          <p:cNvCxnSpPr/>
          <p:nvPr/>
        </p:nvCxnSpPr>
        <p:spPr>
          <a:xfrm>
            <a:off x="4572000" y="4006455"/>
            <a:ext cx="552450" cy="701572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Rectangle à coins arrondis 7">
            <a:extLst>
              <a:ext uri="{FF2B5EF4-FFF2-40B4-BE49-F238E27FC236}">
                <a16:creationId xmlns:a16="http://schemas.microsoft.com/office/drawing/2014/main" id="{E7558F3B-51E8-4FAC-BE97-558204180650}"/>
              </a:ext>
            </a:extLst>
          </p:cNvPr>
          <p:cNvSpPr/>
          <p:nvPr/>
        </p:nvSpPr>
        <p:spPr>
          <a:xfrm>
            <a:off x="2276475" y="4713741"/>
            <a:ext cx="1329690" cy="557152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 err="1"/>
              <a:t>Customization</a:t>
            </a:r>
            <a:r>
              <a:rPr lang="fr-FR" sz="900" dirty="0"/>
              <a:t> for </a:t>
            </a:r>
            <a:r>
              <a:rPr lang="fr-FR" sz="900" dirty="0" err="1"/>
              <a:t>project</a:t>
            </a:r>
            <a:r>
              <a:rPr lang="fr-FR" sz="900" dirty="0"/>
              <a:t> 745972</a:t>
            </a:r>
          </a:p>
          <a:p>
            <a:pPr algn="ctr"/>
            <a:r>
              <a:rPr lang="en-US" sz="900" dirty="0"/>
              <a:t>V01.00.00Cx745972</a:t>
            </a:r>
            <a:endParaRPr lang="fr-FR" sz="90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ED657CE-B613-44BC-B59B-891F1A1F05BB}"/>
              </a:ext>
            </a:extLst>
          </p:cNvPr>
          <p:cNvSpPr txBox="1"/>
          <p:nvPr/>
        </p:nvSpPr>
        <p:spPr>
          <a:xfrm>
            <a:off x="2276475" y="3303118"/>
            <a:ext cx="4591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Standard main branch</a:t>
            </a:r>
            <a:endParaRPr lang="fr-FR" sz="2000" dirty="0"/>
          </a:p>
        </p:txBody>
      </p:sp>
      <p:sp>
        <p:nvSpPr>
          <p:cNvPr id="10" name="Rectangle à coins arrondis 12">
            <a:extLst>
              <a:ext uri="{FF2B5EF4-FFF2-40B4-BE49-F238E27FC236}">
                <a16:creationId xmlns:a16="http://schemas.microsoft.com/office/drawing/2014/main" id="{191CC9BB-7DA7-4B20-BCBD-1B8118822F34}"/>
              </a:ext>
            </a:extLst>
          </p:cNvPr>
          <p:cNvSpPr/>
          <p:nvPr/>
        </p:nvSpPr>
        <p:spPr>
          <a:xfrm>
            <a:off x="3323328" y="3738415"/>
            <a:ext cx="1029597" cy="557152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/>
              <a:t>Evolution 1</a:t>
            </a:r>
          </a:p>
          <a:p>
            <a:pPr algn="ctr"/>
            <a:r>
              <a:rPr lang="en-US" sz="900" dirty="0"/>
              <a:t>V02.00.00C</a:t>
            </a:r>
            <a:endParaRPr lang="fr-FR" sz="900" dirty="0"/>
          </a:p>
        </p:txBody>
      </p:sp>
      <p:sp>
        <p:nvSpPr>
          <p:cNvPr id="11" name="Rectangle à coins arrondis 13">
            <a:extLst>
              <a:ext uri="{FF2B5EF4-FFF2-40B4-BE49-F238E27FC236}">
                <a16:creationId xmlns:a16="http://schemas.microsoft.com/office/drawing/2014/main" id="{5D405672-5C38-4070-93EA-9D81D8318B1C}"/>
              </a:ext>
            </a:extLst>
          </p:cNvPr>
          <p:cNvSpPr/>
          <p:nvPr/>
        </p:nvSpPr>
        <p:spPr>
          <a:xfrm>
            <a:off x="4489207" y="4708027"/>
            <a:ext cx="1270486" cy="557152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Evolution V02.00.00C applied to project 745972</a:t>
            </a:r>
          </a:p>
          <a:p>
            <a:pPr algn="ctr"/>
            <a:r>
              <a:rPr lang="en-US" sz="900" dirty="0"/>
              <a:t>V02.00.00Cx745972</a:t>
            </a:r>
            <a:endParaRPr lang="fr-FR" sz="900" dirty="0"/>
          </a:p>
        </p:txBody>
      </p:sp>
      <p:cxnSp>
        <p:nvCxnSpPr>
          <p:cNvPr id="12" name="Connecteur droit avec flèche 14">
            <a:extLst>
              <a:ext uri="{FF2B5EF4-FFF2-40B4-BE49-F238E27FC236}">
                <a16:creationId xmlns:a16="http://schemas.microsoft.com/office/drawing/2014/main" id="{912BA779-8D4D-4355-899B-8B13770F35B3}"/>
              </a:ext>
            </a:extLst>
          </p:cNvPr>
          <p:cNvCxnSpPr>
            <a:endCxn id="11" idx="1"/>
          </p:cNvCxnSpPr>
          <p:nvPr/>
        </p:nvCxnSpPr>
        <p:spPr>
          <a:xfrm>
            <a:off x="3664193" y="4986603"/>
            <a:ext cx="825014" cy="0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Connecteur droit avec flèche 16">
            <a:extLst>
              <a:ext uri="{FF2B5EF4-FFF2-40B4-BE49-F238E27FC236}">
                <a16:creationId xmlns:a16="http://schemas.microsoft.com/office/drawing/2014/main" id="{275349A4-BEE3-474A-9D8D-1ADFAD5D5A9D}"/>
              </a:ext>
            </a:extLst>
          </p:cNvPr>
          <p:cNvCxnSpPr/>
          <p:nvPr/>
        </p:nvCxnSpPr>
        <p:spPr>
          <a:xfrm>
            <a:off x="2105025" y="4006455"/>
            <a:ext cx="552450" cy="701572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à coins arrondis 17">
            <a:extLst>
              <a:ext uri="{FF2B5EF4-FFF2-40B4-BE49-F238E27FC236}">
                <a16:creationId xmlns:a16="http://schemas.microsoft.com/office/drawing/2014/main" id="{7F1003AB-B716-4069-BE79-8C153926DAFC}"/>
              </a:ext>
            </a:extLst>
          </p:cNvPr>
          <p:cNvSpPr/>
          <p:nvPr/>
        </p:nvSpPr>
        <p:spPr>
          <a:xfrm>
            <a:off x="5124450" y="3738415"/>
            <a:ext cx="1029597" cy="557152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/>
              <a:t>Evolution 2</a:t>
            </a:r>
          </a:p>
          <a:p>
            <a:pPr algn="ctr"/>
            <a:r>
              <a:rPr lang="en-US" sz="900" dirty="0"/>
              <a:t>V03.00.00C</a:t>
            </a:r>
            <a:endParaRPr lang="fr-FR" sz="900" dirty="0"/>
          </a:p>
        </p:txBody>
      </p:sp>
      <p:sp>
        <p:nvSpPr>
          <p:cNvPr id="15" name="ZoneTexte 18">
            <a:extLst>
              <a:ext uri="{FF2B5EF4-FFF2-40B4-BE49-F238E27FC236}">
                <a16:creationId xmlns:a16="http://schemas.microsoft.com/office/drawing/2014/main" id="{F073CBAC-CB96-477A-AF8C-F56BFACE2BFB}"/>
              </a:ext>
            </a:extLst>
          </p:cNvPr>
          <p:cNvSpPr txBox="1"/>
          <p:nvPr/>
        </p:nvSpPr>
        <p:spPr>
          <a:xfrm>
            <a:off x="2276475" y="5430279"/>
            <a:ext cx="4591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Customized branches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3667895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- Milestones</a:t>
            </a:r>
            <a:endParaRPr lang="fr-FR" dirty="0" err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6324C5-E4E4-4FEE-B317-C2544FF8CE06}"/>
              </a:ext>
            </a:extLst>
          </p:cNvPr>
          <p:cNvSpPr txBox="1"/>
          <p:nvPr/>
        </p:nvSpPr>
        <p:spPr>
          <a:xfrm>
            <a:off x="427382" y="1888435"/>
            <a:ext cx="7966048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Confluence links to the detailed process:</a:t>
            </a:r>
          </a:p>
          <a:p>
            <a:r>
              <a:rPr lang="en-US" sz="1200" u="sng" dirty="0">
                <a:hlinkClick r:id="rId3"/>
              </a:rPr>
              <a:t>ST: </a:t>
            </a:r>
            <a:r>
              <a:rPr lang="en-US" sz="1200" dirty="0">
                <a:hlinkClick r:id="rId3"/>
              </a:rPr>
              <a:t>https://engineeringconfluence.pw.ge.com/pages/releaseview.action?pageId=302448816</a:t>
            </a:r>
            <a:endParaRPr lang="en-US" sz="1200" dirty="0"/>
          </a:p>
          <a:p>
            <a:r>
              <a:rPr lang="en-US" sz="1200" dirty="0"/>
              <a:t>GT: </a:t>
            </a:r>
            <a:r>
              <a:rPr lang="en-US" sz="1200" dirty="0">
                <a:hlinkClick r:id="rId4"/>
              </a:rPr>
              <a:t>https://engineeringconfluence.pw.ge.com/display/public/GPD/13.+SIL+Controller+-+GT</a:t>
            </a:r>
            <a:endParaRPr lang="en-US" sz="1200" dirty="0"/>
          </a:p>
          <a:p>
            <a:r>
              <a:rPr lang="en-US" sz="1200" dirty="0"/>
              <a:t>Plant: </a:t>
            </a:r>
            <a:r>
              <a:rPr lang="en-US" sz="1200" dirty="0">
                <a:hlinkClick r:id="rId5"/>
              </a:rPr>
              <a:t>https://engineeringconfluence.pw.ge.com/pages/releaseview.action?pageId=320176535</a:t>
            </a:r>
            <a:endParaRPr lang="en-US" sz="12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725187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600" dirty="0"/>
              <a:t>SIL Team</a:t>
            </a:r>
          </a:p>
        </p:txBody>
      </p:sp>
      <p:sp>
        <p:nvSpPr>
          <p:cNvPr id="3" name="ZoneTexte 18">
            <a:extLst>
              <a:ext uri="{FF2B5EF4-FFF2-40B4-BE49-F238E27FC236}">
                <a16:creationId xmlns:a16="http://schemas.microsoft.com/office/drawing/2014/main" id="{B09C5142-710D-4D8E-A311-1FD7DDC4162C}"/>
              </a:ext>
            </a:extLst>
          </p:cNvPr>
          <p:cNvSpPr txBox="1"/>
          <p:nvPr/>
        </p:nvSpPr>
        <p:spPr>
          <a:xfrm>
            <a:off x="409302" y="1027611"/>
            <a:ext cx="800317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ALL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J-M Ingremeau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P-A Foinet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C Bach (Scrum Master)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GT: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M Faivre</a:t>
            </a:r>
          </a:p>
          <a:p>
            <a:pPr marL="342900" indent="-342900">
              <a:buFontTx/>
              <a:buChar char="-"/>
            </a:pP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ST: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M Pouret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A Staller</a:t>
            </a:r>
          </a:p>
          <a:p>
            <a:pPr marL="342900" indent="-342900">
              <a:buFontTx/>
              <a:buChar char="-"/>
            </a:pP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HRSG: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B Martin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S </a:t>
            </a:r>
            <a:r>
              <a:rPr lang="en-US" sz="2000" dirty="0" err="1">
                <a:solidFill>
                  <a:schemeClr val="bg1"/>
                </a:solidFill>
              </a:rPr>
              <a:t>Burcez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3197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 descr="GEMeatball&amp;Ta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5" name="Rectangle 3"/>
          <p:cNvSpPr>
            <a:spLocks noGrp="1" noChangeArrowheads="1"/>
          </p:cNvSpPr>
          <p:nvPr>
            <p:ph type="title"/>
          </p:nvPr>
        </p:nvSpPr>
        <p:spPr>
          <a:xfrm>
            <a:off x="271463" y="2952750"/>
            <a:ext cx="8459787" cy="997196"/>
          </a:xfrm>
        </p:spPr>
        <p:txBody>
          <a:bodyPr/>
          <a:lstStyle/>
          <a:p>
            <a:pPr algn="ctr" eaLnBrk="1" hangingPunct="1"/>
            <a:r>
              <a:rPr lang="fr-FR" altLang="fr-FR" sz="3600" dirty="0">
                <a:solidFill>
                  <a:schemeClr val="bg1"/>
                </a:solidFill>
              </a:rPr>
              <a:t>SIL </a:t>
            </a:r>
            <a:r>
              <a:rPr lang="fr-FR" altLang="fr-FR" sz="3600" dirty="0" err="1">
                <a:solidFill>
                  <a:schemeClr val="bg1"/>
                </a:solidFill>
              </a:rPr>
              <a:t>Coding</a:t>
            </a:r>
            <a:r>
              <a:rPr lang="fr-FR" altLang="fr-FR" sz="3600" dirty="0">
                <a:solidFill>
                  <a:schemeClr val="bg1"/>
                </a:solidFill>
              </a:rPr>
              <a:t> Practices</a:t>
            </a:r>
            <a:br>
              <a:rPr lang="fr-FR" altLang="fr-FR" sz="3600" dirty="0">
                <a:solidFill>
                  <a:schemeClr val="bg1"/>
                </a:solidFill>
              </a:rPr>
            </a:br>
            <a:endParaRPr lang="fr-FR" altLang="fr-FR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4661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IEC61511 – Independence of the safety controller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336428" y="2527539"/>
            <a:ext cx="8117457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It means:</a:t>
            </a:r>
          </a:p>
          <a:p>
            <a:pPr lvl="0"/>
            <a:r>
              <a:rPr lang="en-US" sz="1100" b="1" dirty="0"/>
              <a:t>- BPCS can read </a:t>
            </a:r>
            <a:r>
              <a:rPr lang="en-US" sz="1100" b="1" dirty="0" err="1"/>
              <a:t>MkVIeS</a:t>
            </a:r>
            <a:r>
              <a:rPr lang="en-US" sz="1100" b="1" dirty="0"/>
              <a:t> variables through EGD since it does not interfere with SIF</a:t>
            </a:r>
            <a:endParaRPr lang="en-US" sz="1100" dirty="0"/>
          </a:p>
          <a:p>
            <a:pPr lvl="0"/>
            <a:r>
              <a:rPr lang="en-US" sz="1100" b="1" dirty="0"/>
              <a:t>- </a:t>
            </a:r>
            <a:r>
              <a:rPr lang="en-US" sz="1100" b="1" dirty="0" err="1"/>
              <a:t>MkVIeS</a:t>
            </a:r>
            <a:r>
              <a:rPr lang="en-US" sz="1100" b="1" dirty="0"/>
              <a:t> can read (the least possible) </a:t>
            </a:r>
            <a:r>
              <a:rPr lang="en-US" sz="1100" b="1" dirty="0" err="1"/>
              <a:t>MkVIe</a:t>
            </a:r>
            <a:r>
              <a:rPr lang="en-US" sz="1100" b="1" dirty="0"/>
              <a:t> variables through EGD as long as the SIF can not lead to a situation with a SIF deactivated or negatively affected.</a:t>
            </a:r>
            <a:endParaRPr lang="en-US" sz="1100" dirty="0"/>
          </a:p>
          <a:p>
            <a:endParaRPr lang="en-US" sz="1100" dirty="0"/>
          </a:p>
        </p:txBody>
      </p:sp>
      <p:sp>
        <p:nvSpPr>
          <p:cNvPr id="6" name="ZoneTexte 5"/>
          <p:cNvSpPr txBox="1"/>
          <p:nvPr/>
        </p:nvSpPr>
        <p:spPr>
          <a:xfrm>
            <a:off x="336427" y="3502324"/>
            <a:ext cx="33643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Example: loop deactivated by an BPCS signal</a:t>
            </a:r>
            <a:endParaRPr lang="en-US" sz="1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185" y="4554842"/>
            <a:ext cx="3135162" cy="124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Connecteur droit 7"/>
          <p:cNvCxnSpPr/>
          <p:nvPr/>
        </p:nvCxnSpPr>
        <p:spPr>
          <a:xfrm flipH="1">
            <a:off x="811424" y="4415619"/>
            <a:ext cx="2522684" cy="1647646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 flipH="1" flipV="1">
            <a:off x="1088907" y="4479462"/>
            <a:ext cx="2436422" cy="1390889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6" name="ZoneTexte 15"/>
          <p:cNvSpPr txBox="1"/>
          <p:nvPr/>
        </p:nvSpPr>
        <p:spPr>
          <a:xfrm>
            <a:off x="4733197" y="3336450"/>
            <a:ext cx="3364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Example: BPCS cross-trip that can only trip the safety controller</a:t>
            </a:r>
            <a:endParaRPr lang="en-US" sz="1200" dirty="0"/>
          </a:p>
        </p:txBody>
      </p:sp>
      <p:sp>
        <p:nvSpPr>
          <p:cNvPr id="12" name="ZoneTexte 11"/>
          <p:cNvSpPr txBox="1"/>
          <p:nvPr/>
        </p:nvSpPr>
        <p:spPr>
          <a:xfrm>
            <a:off x="336429" y="1725283"/>
            <a:ext cx="81174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11.7.3 Communication interface </a:t>
            </a:r>
            <a:r>
              <a:rPr lang="fr-FR" sz="1000" b="1" dirty="0" err="1"/>
              <a:t>requirements</a:t>
            </a:r>
            <a:endParaRPr lang="fr-FR" sz="1000" b="1" dirty="0"/>
          </a:p>
          <a:p>
            <a:r>
              <a:rPr lang="en-US" sz="1000" b="1" dirty="0"/>
              <a:t>11.7.3.1 </a:t>
            </a:r>
            <a:r>
              <a:rPr lang="en-US" sz="1000" dirty="0"/>
              <a:t>The design of the SIS communication interface shall ensure that any failure of the communication interface shall not adversely affect the ability of the SIS to bring the process to </a:t>
            </a:r>
            <a:r>
              <a:rPr lang="fr-FR" sz="1000" dirty="0"/>
              <a:t>a </a:t>
            </a:r>
            <a:r>
              <a:rPr lang="fr-FR" sz="1000" dirty="0" err="1"/>
              <a:t>safe</a:t>
            </a:r>
            <a:r>
              <a:rPr lang="fr-FR" sz="1000" dirty="0"/>
              <a:t> state.</a:t>
            </a:r>
          </a:p>
          <a:p>
            <a:r>
              <a:rPr lang="en-US" sz="1000" b="1" dirty="0"/>
              <a:t>11.7.3.2 </a:t>
            </a:r>
            <a:r>
              <a:rPr lang="en-US" sz="1000" dirty="0"/>
              <a:t>The SIS shall be able to communicate with the BPCS and peripherals with no </a:t>
            </a:r>
            <a:r>
              <a:rPr lang="fr-FR" sz="1000" dirty="0"/>
              <a:t>impact on the SIF.</a:t>
            </a:r>
            <a:endParaRPr lang="en-US" sz="1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DAEBBE-6060-46A8-BAB3-985CD00278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6586" y="4726112"/>
            <a:ext cx="4397932" cy="111046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D1C4788-F8A2-4C29-A70D-B61E2B7435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2347" y="4313170"/>
            <a:ext cx="2312618" cy="536143"/>
          </a:xfrm>
          <a:prstGeom prst="rect">
            <a:avLst/>
          </a:prstGeom>
        </p:spPr>
      </p:pic>
      <p:sp>
        <p:nvSpPr>
          <p:cNvPr id="14" name="ZoneTexte 13"/>
          <p:cNvSpPr txBox="1"/>
          <p:nvPr/>
        </p:nvSpPr>
        <p:spPr>
          <a:xfrm>
            <a:off x="5747336" y="3907851"/>
            <a:ext cx="862641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OK</a:t>
            </a:r>
          </a:p>
        </p:txBody>
      </p:sp>
    </p:spTree>
    <p:extLst>
      <p:ext uri="{BB962C8B-B14F-4D97-AF65-F5344CB8AC3E}">
        <p14:creationId xmlns:p14="http://schemas.microsoft.com/office/powerpoint/2010/main" val="39870992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Exhaust Purge with Damper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0556" y="2436019"/>
            <a:ext cx="5324475" cy="28194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80999" y="1185416"/>
            <a:ext cx="764857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Position limit switches wired to </a:t>
            </a:r>
            <a:r>
              <a:rPr lang="en-US" sz="1600" dirty="0" err="1"/>
              <a:t>MkVIeS</a:t>
            </a:r>
            <a:r>
              <a:rPr lang="en-US" sz="1600" dirty="0"/>
              <a:t> (2x3)</a:t>
            </a:r>
          </a:p>
          <a:p>
            <a:r>
              <a:rPr lang="en-US" sz="1600" dirty="0"/>
              <a:t>Additional protection: Both paths have to be purged prior firing (except exceptions)</a:t>
            </a:r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4726522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Exhaust purge with damper</a:t>
            </a:r>
            <a:endParaRPr lang="fr-FR" dirty="0"/>
          </a:p>
        </p:txBody>
      </p:sp>
      <p:sp>
        <p:nvSpPr>
          <p:cNvPr id="5" name="ZoneTexte 4"/>
          <p:cNvSpPr txBox="1"/>
          <p:nvPr/>
        </p:nvSpPr>
        <p:spPr>
          <a:xfrm>
            <a:off x="295318" y="979965"/>
            <a:ext cx="541667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Starting sequence with damper. </a:t>
            </a:r>
          </a:p>
          <a:p>
            <a:endParaRPr lang="fr-FR" sz="1000" dirty="0"/>
          </a:p>
        </p:txBody>
      </p:sp>
      <p:sp>
        <p:nvSpPr>
          <p:cNvPr id="17" name="ZoneTexte 16"/>
          <p:cNvSpPr txBox="1"/>
          <p:nvPr/>
        </p:nvSpPr>
        <p:spPr>
          <a:xfrm>
            <a:off x="1331472" y="2404466"/>
            <a:ext cx="810883" cy="26161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accent3"/>
                </a:solidFill>
              </a:rPr>
              <a:t>Start order</a:t>
            </a:r>
            <a:endParaRPr lang="fr-FR" sz="1050" dirty="0">
              <a:solidFill>
                <a:schemeClr val="accent3"/>
              </a:solidFill>
            </a:endParaRPr>
          </a:p>
        </p:txBody>
      </p:sp>
      <p:cxnSp>
        <p:nvCxnSpPr>
          <p:cNvPr id="18" name="Connecteur droit avec flèche 17"/>
          <p:cNvCxnSpPr/>
          <p:nvPr/>
        </p:nvCxnSpPr>
        <p:spPr>
          <a:xfrm flipH="1">
            <a:off x="1736914" y="2666076"/>
            <a:ext cx="1" cy="56652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2" name="Connecteur droit 21"/>
          <p:cNvCxnSpPr/>
          <p:nvPr/>
        </p:nvCxnSpPr>
        <p:spPr>
          <a:xfrm flipV="1">
            <a:off x="2608733" y="1855660"/>
            <a:ext cx="507342" cy="13592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25"/>
          <p:cNvCxnSpPr/>
          <p:nvPr/>
        </p:nvCxnSpPr>
        <p:spPr>
          <a:xfrm>
            <a:off x="3116075" y="1859416"/>
            <a:ext cx="3894041" cy="130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ZoneTexte 26"/>
          <p:cNvSpPr txBox="1"/>
          <p:nvPr/>
        </p:nvSpPr>
        <p:spPr>
          <a:xfrm>
            <a:off x="221653" y="3083962"/>
            <a:ext cx="914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7030A0"/>
                </a:solidFill>
              </a:rPr>
              <a:t>speed</a:t>
            </a:r>
            <a:endParaRPr lang="fr-FR" sz="1200" dirty="0">
              <a:solidFill>
                <a:srgbClr val="7030A0"/>
              </a:solidFill>
            </a:endParaRPr>
          </a:p>
        </p:txBody>
      </p:sp>
      <p:cxnSp>
        <p:nvCxnSpPr>
          <p:cNvPr id="28" name="Connecteur droit avec flèche 27"/>
          <p:cNvCxnSpPr/>
          <p:nvPr/>
        </p:nvCxnSpPr>
        <p:spPr>
          <a:xfrm>
            <a:off x="3473982" y="4412187"/>
            <a:ext cx="1087826" cy="0"/>
          </a:xfrm>
          <a:prstGeom prst="straightConnector1">
            <a:avLst/>
          </a:prstGeom>
          <a:ln>
            <a:solidFill>
              <a:schemeClr val="bg2"/>
            </a:solidFill>
            <a:prstDash val="solid"/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ZoneTexte 30"/>
          <p:cNvSpPr txBox="1"/>
          <p:nvPr/>
        </p:nvSpPr>
        <p:spPr>
          <a:xfrm>
            <a:off x="1984861" y="3724717"/>
            <a:ext cx="2537500" cy="25391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050" dirty="0"/>
              <a:t>Closed</a:t>
            </a:r>
            <a:endParaRPr lang="fr-FR" sz="1050" dirty="0"/>
          </a:p>
        </p:txBody>
      </p:sp>
      <p:sp>
        <p:nvSpPr>
          <p:cNvPr id="33" name="ZoneTexte 32"/>
          <p:cNvSpPr txBox="1"/>
          <p:nvPr/>
        </p:nvSpPr>
        <p:spPr>
          <a:xfrm>
            <a:off x="3515946" y="4512640"/>
            <a:ext cx="1003898" cy="415498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050" dirty="0"/>
              <a:t>BP Purge timer</a:t>
            </a:r>
            <a:endParaRPr lang="fr-FR" sz="1050" dirty="0"/>
          </a:p>
        </p:txBody>
      </p:sp>
      <p:cxnSp>
        <p:nvCxnSpPr>
          <p:cNvPr id="34" name="Connecteur droit 33"/>
          <p:cNvCxnSpPr/>
          <p:nvPr/>
        </p:nvCxnSpPr>
        <p:spPr>
          <a:xfrm>
            <a:off x="7010116" y="1855660"/>
            <a:ext cx="514634" cy="6796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avec flèche 34"/>
          <p:cNvCxnSpPr/>
          <p:nvPr/>
        </p:nvCxnSpPr>
        <p:spPr>
          <a:xfrm>
            <a:off x="6438900" y="5327918"/>
            <a:ext cx="1508770" cy="0"/>
          </a:xfrm>
          <a:prstGeom prst="straightConnector1">
            <a:avLst/>
          </a:prstGeom>
          <a:ln>
            <a:solidFill>
              <a:schemeClr val="bg2"/>
            </a:solidFill>
            <a:prstDash val="solid"/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ZoneTexte 35"/>
          <p:cNvSpPr txBox="1"/>
          <p:nvPr/>
        </p:nvSpPr>
        <p:spPr>
          <a:xfrm>
            <a:off x="6457961" y="4512640"/>
            <a:ext cx="1508770" cy="415498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050" dirty="0"/>
              <a:t>Excess firing fuel flow active</a:t>
            </a:r>
            <a:endParaRPr lang="fr-FR" sz="1050" dirty="0"/>
          </a:p>
        </p:txBody>
      </p:sp>
      <p:sp>
        <p:nvSpPr>
          <p:cNvPr id="37" name="ZoneTexte 36"/>
          <p:cNvSpPr txBox="1"/>
          <p:nvPr/>
        </p:nvSpPr>
        <p:spPr>
          <a:xfrm>
            <a:off x="4972334" y="3725600"/>
            <a:ext cx="3704941" cy="25391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050" dirty="0"/>
              <a:t>Opened</a:t>
            </a:r>
            <a:endParaRPr lang="fr-FR" sz="1050" dirty="0"/>
          </a:p>
        </p:txBody>
      </p:sp>
      <p:sp>
        <p:nvSpPr>
          <p:cNvPr id="41" name="ZoneTexte 40"/>
          <p:cNvSpPr txBox="1"/>
          <p:nvPr/>
        </p:nvSpPr>
        <p:spPr>
          <a:xfrm>
            <a:off x="221900" y="3700158"/>
            <a:ext cx="1368775" cy="27699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3"/>
                </a:solidFill>
              </a:rPr>
              <a:t>Damper Position</a:t>
            </a:r>
            <a:endParaRPr lang="fr-FR" sz="1200" dirty="0">
              <a:solidFill>
                <a:schemeClr val="accent3"/>
              </a:solidFill>
            </a:endParaRPr>
          </a:p>
        </p:txBody>
      </p:sp>
      <p:sp>
        <p:nvSpPr>
          <p:cNvPr id="42" name="ZoneTexte 41"/>
          <p:cNvSpPr txBox="1"/>
          <p:nvPr/>
        </p:nvSpPr>
        <p:spPr>
          <a:xfrm>
            <a:off x="221901" y="4423606"/>
            <a:ext cx="914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chemeClr val="bg2"/>
                </a:solidFill>
              </a:rPr>
              <a:t>MarkVIeS</a:t>
            </a:r>
            <a:endParaRPr lang="fr-FR" sz="1200" dirty="0">
              <a:solidFill>
                <a:schemeClr val="bg2"/>
              </a:solidFill>
            </a:endParaRPr>
          </a:p>
        </p:txBody>
      </p:sp>
      <p:cxnSp>
        <p:nvCxnSpPr>
          <p:cNvPr id="43" name="Connecteur droit 42"/>
          <p:cNvCxnSpPr/>
          <p:nvPr/>
        </p:nvCxnSpPr>
        <p:spPr>
          <a:xfrm flipV="1">
            <a:off x="1360987" y="3229699"/>
            <a:ext cx="1247746" cy="29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eur droit 49"/>
          <p:cNvCxnSpPr/>
          <p:nvPr/>
        </p:nvCxnSpPr>
        <p:spPr>
          <a:xfrm flipV="1">
            <a:off x="7524750" y="1209675"/>
            <a:ext cx="883962" cy="13255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ZoneTexte 37"/>
          <p:cNvSpPr txBox="1"/>
          <p:nvPr/>
        </p:nvSpPr>
        <p:spPr>
          <a:xfrm>
            <a:off x="3528942" y="4083456"/>
            <a:ext cx="2001328" cy="2539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2"/>
                </a:solidFill>
              </a:rPr>
              <a:t>3 min</a:t>
            </a:r>
            <a:endParaRPr lang="fr-FR" sz="1050" dirty="0">
              <a:solidFill>
                <a:schemeClr val="bg2"/>
              </a:solidFill>
            </a:endParaRPr>
          </a:p>
        </p:txBody>
      </p:sp>
      <p:cxnSp>
        <p:nvCxnSpPr>
          <p:cNvPr id="45" name="Connecteur droit avec flèche 44"/>
          <p:cNvCxnSpPr/>
          <p:nvPr/>
        </p:nvCxnSpPr>
        <p:spPr>
          <a:xfrm>
            <a:off x="4953828" y="4412187"/>
            <a:ext cx="1551747" cy="0"/>
          </a:xfrm>
          <a:prstGeom prst="straightConnector1">
            <a:avLst/>
          </a:prstGeom>
          <a:ln>
            <a:solidFill>
              <a:schemeClr val="bg2"/>
            </a:solidFill>
            <a:prstDash val="solid"/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ZoneTexte 45"/>
          <p:cNvSpPr txBox="1"/>
          <p:nvPr/>
        </p:nvSpPr>
        <p:spPr>
          <a:xfrm>
            <a:off x="4995792" y="4512640"/>
            <a:ext cx="1443108" cy="253916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050" dirty="0"/>
              <a:t>HRSG Purge timer</a:t>
            </a:r>
            <a:endParaRPr lang="fr-FR" sz="1050" dirty="0"/>
          </a:p>
        </p:txBody>
      </p:sp>
      <p:sp>
        <p:nvSpPr>
          <p:cNvPr id="47" name="ZoneTexte 46"/>
          <p:cNvSpPr txBox="1"/>
          <p:nvPr/>
        </p:nvSpPr>
        <p:spPr>
          <a:xfrm>
            <a:off x="4398950" y="4901504"/>
            <a:ext cx="1229644" cy="272966"/>
          </a:xfrm>
          <a:custGeom>
            <a:avLst/>
            <a:gdLst>
              <a:gd name="connsiteX0" fmla="*/ 0 w 2344069"/>
              <a:gd name="connsiteY0" fmla="*/ 0 h 253916"/>
              <a:gd name="connsiteX1" fmla="*/ 2344069 w 2344069"/>
              <a:gd name="connsiteY1" fmla="*/ 0 h 253916"/>
              <a:gd name="connsiteX2" fmla="*/ 2344069 w 2344069"/>
              <a:gd name="connsiteY2" fmla="*/ 253916 h 253916"/>
              <a:gd name="connsiteX3" fmla="*/ 0 w 2344069"/>
              <a:gd name="connsiteY3" fmla="*/ 253916 h 253916"/>
              <a:gd name="connsiteX4" fmla="*/ 0 w 2344069"/>
              <a:gd name="connsiteY4" fmla="*/ 0 h 253916"/>
              <a:gd name="connsiteX0" fmla="*/ 0 w 2344069"/>
              <a:gd name="connsiteY0" fmla="*/ 0 h 253916"/>
              <a:gd name="connsiteX1" fmla="*/ 1153444 w 2344069"/>
              <a:gd name="connsiteY1" fmla="*/ 0 h 253916"/>
              <a:gd name="connsiteX2" fmla="*/ 2344069 w 2344069"/>
              <a:gd name="connsiteY2" fmla="*/ 253916 h 253916"/>
              <a:gd name="connsiteX3" fmla="*/ 0 w 2344069"/>
              <a:gd name="connsiteY3" fmla="*/ 253916 h 253916"/>
              <a:gd name="connsiteX4" fmla="*/ 0 w 2344069"/>
              <a:gd name="connsiteY4" fmla="*/ 0 h 253916"/>
              <a:gd name="connsiteX0" fmla="*/ 0 w 1220119"/>
              <a:gd name="connsiteY0" fmla="*/ 0 h 263441"/>
              <a:gd name="connsiteX1" fmla="*/ 1153444 w 1220119"/>
              <a:gd name="connsiteY1" fmla="*/ 0 h 263441"/>
              <a:gd name="connsiteX2" fmla="*/ 1220119 w 1220119"/>
              <a:gd name="connsiteY2" fmla="*/ 263441 h 263441"/>
              <a:gd name="connsiteX3" fmla="*/ 0 w 1220119"/>
              <a:gd name="connsiteY3" fmla="*/ 253916 h 263441"/>
              <a:gd name="connsiteX4" fmla="*/ 0 w 1220119"/>
              <a:gd name="connsiteY4" fmla="*/ 0 h 263441"/>
              <a:gd name="connsiteX0" fmla="*/ 0 w 1229644"/>
              <a:gd name="connsiteY0" fmla="*/ 9525 h 272966"/>
              <a:gd name="connsiteX1" fmla="*/ 1229644 w 1229644"/>
              <a:gd name="connsiteY1" fmla="*/ 0 h 272966"/>
              <a:gd name="connsiteX2" fmla="*/ 1220119 w 1229644"/>
              <a:gd name="connsiteY2" fmla="*/ 272966 h 272966"/>
              <a:gd name="connsiteX3" fmla="*/ 0 w 1229644"/>
              <a:gd name="connsiteY3" fmla="*/ 263441 h 272966"/>
              <a:gd name="connsiteX4" fmla="*/ 0 w 1229644"/>
              <a:gd name="connsiteY4" fmla="*/ 9525 h 27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9644" h="272966">
                <a:moveTo>
                  <a:pt x="0" y="9525"/>
                </a:moveTo>
                <a:lnTo>
                  <a:pt x="1229644" y="0"/>
                </a:lnTo>
                <a:lnTo>
                  <a:pt x="1220119" y="272966"/>
                </a:lnTo>
                <a:lnTo>
                  <a:pt x="0" y="263441"/>
                </a:lnTo>
                <a:lnTo>
                  <a:pt x="0" y="9525"/>
                </a:lnTo>
                <a:close/>
              </a:path>
            </a:pathLst>
          </a:cu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solidFill>
                  <a:schemeClr val="bg2"/>
                </a:solidFill>
              </a:rPr>
              <a:t>Spark plugs inhibited / P2=0</a:t>
            </a:r>
            <a:endParaRPr lang="fr-FR" sz="1050" dirty="0">
              <a:solidFill>
                <a:schemeClr val="bg2"/>
              </a:solidFill>
            </a:endParaRPr>
          </a:p>
        </p:txBody>
      </p:sp>
      <p:cxnSp>
        <p:nvCxnSpPr>
          <p:cNvPr id="48" name="Connecteur droit avec flèche 47"/>
          <p:cNvCxnSpPr/>
          <p:nvPr/>
        </p:nvCxnSpPr>
        <p:spPr>
          <a:xfrm>
            <a:off x="3528942" y="5327918"/>
            <a:ext cx="2909958" cy="0"/>
          </a:xfrm>
          <a:prstGeom prst="straightConnector1">
            <a:avLst/>
          </a:prstGeom>
          <a:ln>
            <a:solidFill>
              <a:schemeClr val="bg2"/>
            </a:solidFill>
            <a:prstDash val="solid"/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ZoneTexte 48"/>
          <p:cNvSpPr txBox="1"/>
          <p:nvPr/>
        </p:nvSpPr>
        <p:spPr>
          <a:xfrm>
            <a:off x="5008788" y="4083456"/>
            <a:ext cx="1239612" cy="2539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2"/>
                </a:solidFill>
              </a:rPr>
              <a:t>T*&gt;5 min</a:t>
            </a:r>
            <a:endParaRPr lang="fr-FR" sz="1050" dirty="0">
              <a:solidFill>
                <a:schemeClr val="bg2"/>
              </a:solidFill>
            </a:endParaRPr>
          </a:p>
        </p:txBody>
      </p:sp>
      <p:sp>
        <p:nvSpPr>
          <p:cNvPr id="51" name="ZoneTexte 50"/>
          <p:cNvSpPr txBox="1"/>
          <p:nvPr/>
        </p:nvSpPr>
        <p:spPr>
          <a:xfrm>
            <a:off x="320138" y="5950356"/>
            <a:ext cx="5661562" cy="57708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2"/>
                </a:solidFill>
              </a:rPr>
              <a:t>* For projects with IEC61511 compliance, NFPA085 is to be applied. Consider 5 times the exhaust volume up to temperature 100 F lower than </a:t>
            </a:r>
            <a:r>
              <a:rPr lang="en-US" sz="1050" dirty="0" err="1">
                <a:solidFill>
                  <a:schemeClr val="bg2"/>
                </a:solidFill>
              </a:rPr>
              <a:t>autoignition</a:t>
            </a:r>
            <a:r>
              <a:rPr lang="en-US" sz="1050" dirty="0">
                <a:solidFill>
                  <a:schemeClr val="bg2"/>
                </a:solidFill>
              </a:rPr>
              <a:t> temperature to be purged at purge speed.</a:t>
            </a:r>
            <a:endParaRPr lang="fr-FR" sz="1050" dirty="0">
              <a:solidFill>
                <a:schemeClr val="bg2"/>
              </a:solidFill>
            </a:endParaRPr>
          </a:p>
        </p:txBody>
      </p:sp>
      <p:sp>
        <p:nvSpPr>
          <p:cNvPr id="32" name="ZoneTexte 31"/>
          <p:cNvSpPr txBox="1"/>
          <p:nvPr/>
        </p:nvSpPr>
        <p:spPr>
          <a:xfrm>
            <a:off x="6540468" y="4912662"/>
            <a:ext cx="1229644" cy="253916"/>
          </a:xfrm>
          <a:custGeom>
            <a:avLst/>
            <a:gdLst>
              <a:gd name="connsiteX0" fmla="*/ 0 w 2344069"/>
              <a:gd name="connsiteY0" fmla="*/ 0 h 253916"/>
              <a:gd name="connsiteX1" fmla="*/ 2344069 w 2344069"/>
              <a:gd name="connsiteY1" fmla="*/ 0 h 253916"/>
              <a:gd name="connsiteX2" fmla="*/ 2344069 w 2344069"/>
              <a:gd name="connsiteY2" fmla="*/ 253916 h 253916"/>
              <a:gd name="connsiteX3" fmla="*/ 0 w 2344069"/>
              <a:gd name="connsiteY3" fmla="*/ 253916 h 253916"/>
              <a:gd name="connsiteX4" fmla="*/ 0 w 2344069"/>
              <a:gd name="connsiteY4" fmla="*/ 0 h 253916"/>
              <a:gd name="connsiteX0" fmla="*/ 0 w 2344069"/>
              <a:gd name="connsiteY0" fmla="*/ 0 h 253916"/>
              <a:gd name="connsiteX1" fmla="*/ 1153444 w 2344069"/>
              <a:gd name="connsiteY1" fmla="*/ 0 h 253916"/>
              <a:gd name="connsiteX2" fmla="*/ 2344069 w 2344069"/>
              <a:gd name="connsiteY2" fmla="*/ 253916 h 253916"/>
              <a:gd name="connsiteX3" fmla="*/ 0 w 2344069"/>
              <a:gd name="connsiteY3" fmla="*/ 253916 h 253916"/>
              <a:gd name="connsiteX4" fmla="*/ 0 w 2344069"/>
              <a:gd name="connsiteY4" fmla="*/ 0 h 253916"/>
              <a:gd name="connsiteX0" fmla="*/ 0 w 1220119"/>
              <a:gd name="connsiteY0" fmla="*/ 0 h 263441"/>
              <a:gd name="connsiteX1" fmla="*/ 1153444 w 1220119"/>
              <a:gd name="connsiteY1" fmla="*/ 0 h 263441"/>
              <a:gd name="connsiteX2" fmla="*/ 1220119 w 1220119"/>
              <a:gd name="connsiteY2" fmla="*/ 263441 h 263441"/>
              <a:gd name="connsiteX3" fmla="*/ 0 w 1220119"/>
              <a:gd name="connsiteY3" fmla="*/ 253916 h 263441"/>
              <a:gd name="connsiteX4" fmla="*/ 0 w 1220119"/>
              <a:gd name="connsiteY4" fmla="*/ 0 h 263441"/>
              <a:gd name="connsiteX0" fmla="*/ 0 w 1229644"/>
              <a:gd name="connsiteY0" fmla="*/ 9525 h 272966"/>
              <a:gd name="connsiteX1" fmla="*/ 1229644 w 1229644"/>
              <a:gd name="connsiteY1" fmla="*/ 0 h 272966"/>
              <a:gd name="connsiteX2" fmla="*/ 1220119 w 1229644"/>
              <a:gd name="connsiteY2" fmla="*/ 272966 h 272966"/>
              <a:gd name="connsiteX3" fmla="*/ 0 w 1229644"/>
              <a:gd name="connsiteY3" fmla="*/ 263441 h 272966"/>
              <a:gd name="connsiteX4" fmla="*/ 0 w 1229644"/>
              <a:gd name="connsiteY4" fmla="*/ 9525 h 27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9644" h="272966">
                <a:moveTo>
                  <a:pt x="0" y="9525"/>
                </a:moveTo>
                <a:lnTo>
                  <a:pt x="1229644" y="0"/>
                </a:lnTo>
                <a:lnTo>
                  <a:pt x="1220119" y="272966"/>
                </a:lnTo>
                <a:lnTo>
                  <a:pt x="0" y="263441"/>
                </a:lnTo>
                <a:lnTo>
                  <a:pt x="0" y="9525"/>
                </a:lnTo>
                <a:close/>
              </a:path>
            </a:pathLst>
          </a:cu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solidFill>
                  <a:schemeClr val="bg2"/>
                </a:solidFill>
              </a:rPr>
              <a:t>Firing permitted</a:t>
            </a:r>
            <a:endParaRPr lang="fr-FR" sz="105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41759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 descr="GEMeatball&amp;Ta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5" name="Rectangle 3"/>
          <p:cNvSpPr>
            <a:spLocks noGrp="1" noChangeArrowheads="1"/>
          </p:cNvSpPr>
          <p:nvPr>
            <p:ph type="title"/>
          </p:nvPr>
        </p:nvSpPr>
        <p:spPr>
          <a:xfrm>
            <a:off x="271463" y="2952750"/>
            <a:ext cx="8459787" cy="498598"/>
          </a:xfrm>
        </p:spPr>
        <p:txBody>
          <a:bodyPr/>
          <a:lstStyle/>
          <a:p>
            <a:pPr algn="ctr" eaLnBrk="1" hangingPunct="1"/>
            <a:r>
              <a:rPr lang="fr-FR" altLang="fr-FR" sz="3600" dirty="0" err="1">
                <a:solidFill>
                  <a:schemeClr val="bg1"/>
                </a:solidFill>
              </a:rPr>
              <a:t>Process</a:t>
            </a:r>
            <a:endParaRPr lang="fr-FR" altLang="fr-FR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8726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Impact Analysis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2271" y="1756229"/>
            <a:ext cx="8459788" cy="4237038"/>
          </a:xfrm>
        </p:spPr>
        <p:txBody>
          <a:bodyPr/>
          <a:lstStyle/>
          <a:p>
            <a:r>
              <a:rPr lang="en-US" sz="2000" dirty="0"/>
              <a:t>When is a CIA required? (extract from e-DRB EPE-3581)</a:t>
            </a:r>
          </a:p>
          <a:p>
            <a:pPr marL="342900" indent="-342900">
              <a:buFontTx/>
              <a:buChar char="-"/>
            </a:pPr>
            <a:r>
              <a:rPr lang="en-US" sz="2000" dirty="0"/>
              <a:t>CIA needed for any change in the algorithm/logic or hardware modification used by a safety loop.</a:t>
            </a:r>
          </a:p>
          <a:p>
            <a:pPr marL="342900" indent="-342900">
              <a:buFontTx/>
              <a:buChar char="-"/>
            </a:pPr>
            <a:r>
              <a:rPr lang="en-US" sz="2000" dirty="0"/>
              <a:t>CIA not needed if no impact on the software algorithm/safety loop, example:</a:t>
            </a:r>
          </a:p>
          <a:p>
            <a:pPr marL="684213" lvl="1" indent="-342900">
              <a:buFontTx/>
              <a:buChar char="-"/>
            </a:pPr>
            <a:r>
              <a:rPr lang="en-US" sz="1600" dirty="0"/>
              <a:t>Add point to EGD</a:t>
            </a:r>
          </a:p>
          <a:p>
            <a:pPr marL="684213" lvl="1" indent="-342900">
              <a:buFontTx/>
              <a:buChar char="-"/>
            </a:pPr>
            <a:r>
              <a:rPr lang="en-US" sz="1600" dirty="0"/>
              <a:t>Change Alarm class</a:t>
            </a:r>
          </a:p>
          <a:p>
            <a:pPr marL="684213" lvl="1" indent="-342900">
              <a:buFontTx/>
              <a:buChar char="-"/>
            </a:pPr>
            <a:r>
              <a:rPr lang="en-US" sz="1600" dirty="0"/>
              <a:t>Modify comment…</a:t>
            </a:r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28036054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Impact Analysis</a:t>
            </a:r>
            <a:endParaRPr lang="fr-F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413" y="905605"/>
            <a:ext cx="7558087" cy="4690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409" y="5605463"/>
            <a:ext cx="7558087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172068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Impact Analysis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42900" y="1727200"/>
            <a:ext cx="8459788" cy="1233714"/>
          </a:xfrm>
        </p:spPr>
        <p:txBody>
          <a:bodyPr/>
          <a:lstStyle/>
          <a:p>
            <a:r>
              <a:rPr lang="en-US" sz="2000" dirty="0"/>
              <a:t>CIA is identified by a unique number and e-DRB reference  (in CSE-12 or EPE-frame type -SIL folder)</a:t>
            </a:r>
          </a:p>
          <a:p>
            <a:r>
              <a:rPr lang="en-US" sz="2000" dirty="0"/>
              <a:t>Example: CIA103_CSE-61985</a:t>
            </a:r>
          </a:p>
          <a:p>
            <a:endParaRPr lang="en-US" sz="2000" dirty="0"/>
          </a:p>
          <a:p>
            <a:endParaRPr lang="en-US" sz="2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743" y="2958160"/>
            <a:ext cx="8536668" cy="9985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Espace réservé du contenu 2"/>
          <p:cNvSpPr txBox="1">
            <a:spLocks/>
          </p:cNvSpPr>
          <p:nvPr/>
        </p:nvSpPr>
        <p:spPr bwMode="auto">
          <a:xfrm>
            <a:off x="285183" y="4056743"/>
            <a:ext cx="8730230" cy="505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004880"/>
              </a:buClr>
              <a:defRPr sz="3200">
                <a:solidFill>
                  <a:srgbClr val="1E4191"/>
                </a:solidFill>
                <a:latin typeface="+mn-lt"/>
                <a:ea typeface="+mn-ea"/>
                <a:cs typeface="+mn-cs"/>
              </a:defRPr>
            </a:lvl1pPr>
            <a:lvl2pPr marL="341313" indent="-339725" algn="l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rgbClr val="004880"/>
              </a:buClr>
              <a:buFont typeface="GE Inspira Pitch" pitchFamily="34" charset="0"/>
              <a:buChar char="•"/>
              <a:defRPr sz="3200">
                <a:solidFill>
                  <a:srgbClr val="1E4191"/>
                </a:solidFill>
                <a:latin typeface="+mn-lt"/>
              </a:defRPr>
            </a:lvl2pPr>
            <a:lvl3pPr marL="744538" indent="-288925" algn="l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4880"/>
              </a:buClr>
              <a:buChar char="–"/>
              <a:defRPr sz="3200">
                <a:solidFill>
                  <a:srgbClr val="1E4191"/>
                </a:solidFill>
                <a:latin typeface="+mn-lt"/>
              </a:defRPr>
            </a:lvl3pPr>
            <a:lvl4pPr marL="1146175" indent="-287338" algn="l" rtl="0" eaLnBrk="1" fontAlgn="base" hangingPunct="1">
              <a:lnSpc>
                <a:spcPct val="90000"/>
              </a:lnSpc>
              <a:spcBef>
                <a:spcPct val="10000"/>
              </a:spcBef>
              <a:spcAft>
                <a:spcPct val="0"/>
              </a:spcAft>
              <a:buClr>
                <a:srgbClr val="004880"/>
              </a:buClr>
              <a:buChar char="–"/>
              <a:defRPr sz="3200">
                <a:solidFill>
                  <a:srgbClr val="1E4191"/>
                </a:solidFill>
                <a:latin typeface="+mn-lt"/>
              </a:defRPr>
            </a:lvl4pPr>
            <a:lvl5pPr marL="1546225" indent="-285750" algn="l" rtl="0" eaLnBrk="1" fontAlgn="base" hangingPunct="1">
              <a:lnSpc>
                <a:spcPct val="90000"/>
              </a:lnSpc>
              <a:spcBef>
                <a:spcPts val="240"/>
              </a:spcBef>
              <a:spcAft>
                <a:spcPct val="0"/>
              </a:spcAft>
              <a:buClr>
                <a:srgbClr val="004880"/>
              </a:buClr>
              <a:buChar char="–"/>
              <a:defRPr sz="3200">
                <a:solidFill>
                  <a:srgbClr val="1E4191"/>
                </a:solidFill>
                <a:latin typeface="+mn-lt"/>
              </a:defRPr>
            </a:lvl5pPr>
            <a:lvl6pPr marL="2003425" indent="-28575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4880"/>
              </a:buClr>
              <a:buChar char="–"/>
              <a:defRPr sz="3200">
                <a:solidFill>
                  <a:srgbClr val="1E4191"/>
                </a:solidFill>
                <a:latin typeface="+mn-lt"/>
              </a:defRPr>
            </a:lvl6pPr>
            <a:lvl7pPr marL="2460625" indent="-28575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4880"/>
              </a:buClr>
              <a:buChar char="–"/>
              <a:defRPr sz="3200">
                <a:solidFill>
                  <a:srgbClr val="1E4191"/>
                </a:solidFill>
                <a:latin typeface="+mn-lt"/>
              </a:defRPr>
            </a:lvl7pPr>
            <a:lvl8pPr marL="2917825" indent="-28575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4880"/>
              </a:buClr>
              <a:buChar char="–"/>
              <a:defRPr sz="3200">
                <a:solidFill>
                  <a:srgbClr val="1E4191"/>
                </a:solidFill>
                <a:latin typeface="+mn-lt"/>
              </a:defRPr>
            </a:lvl8pPr>
            <a:lvl9pPr marL="3375025" indent="-28575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4880"/>
              </a:buClr>
              <a:buChar char="–"/>
              <a:defRPr sz="3200">
                <a:solidFill>
                  <a:srgbClr val="1E4191"/>
                </a:solidFill>
                <a:latin typeface="+mn-lt"/>
              </a:defRPr>
            </a:lvl9pPr>
          </a:lstStyle>
          <a:p>
            <a:r>
              <a:rPr lang="en-US" sz="2000" kern="0" dirty="0"/>
              <a:t>CIA can be customer-specific or applied to standard.</a:t>
            </a:r>
          </a:p>
          <a:p>
            <a:r>
              <a:rPr lang="en-US" sz="2000" kern="0" dirty="0"/>
              <a:t>Add together with SIL compliance leader the CIA number to the CIA list table.</a:t>
            </a:r>
          </a:p>
          <a:p>
            <a:endParaRPr lang="en-US" sz="2000" kern="0" dirty="0"/>
          </a:p>
          <a:p>
            <a:endParaRPr lang="en-US" sz="2000" kern="0" dirty="0"/>
          </a:p>
        </p:txBody>
      </p:sp>
      <p:sp>
        <p:nvSpPr>
          <p:cNvPr id="7" name="Espace réservé du contenu 2"/>
          <p:cNvSpPr txBox="1">
            <a:spLocks/>
          </p:cNvSpPr>
          <p:nvPr/>
        </p:nvSpPr>
        <p:spPr bwMode="auto">
          <a:xfrm>
            <a:off x="246743" y="4809218"/>
            <a:ext cx="8459788" cy="505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004880"/>
              </a:buClr>
              <a:defRPr sz="3200">
                <a:solidFill>
                  <a:srgbClr val="1E4191"/>
                </a:solidFill>
                <a:latin typeface="+mn-lt"/>
                <a:ea typeface="+mn-ea"/>
                <a:cs typeface="+mn-cs"/>
              </a:defRPr>
            </a:lvl1pPr>
            <a:lvl2pPr marL="341313" indent="-339725" algn="l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rgbClr val="004880"/>
              </a:buClr>
              <a:buFont typeface="GE Inspira Pitch" pitchFamily="34" charset="0"/>
              <a:buChar char="•"/>
              <a:defRPr sz="3200">
                <a:solidFill>
                  <a:srgbClr val="1E4191"/>
                </a:solidFill>
                <a:latin typeface="+mn-lt"/>
              </a:defRPr>
            </a:lvl2pPr>
            <a:lvl3pPr marL="744538" indent="-288925" algn="l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4880"/>
              </a:buClr>
              <a:buChar char="–"/>
              <a:defRPr sz="3200">
                <a:solidFill>
                  <a:srgbClr val="1E4191"/>
                </a:solidFill>
                <a:latin typeface="+mn-lt"/>
              </a:defRPr>
            </a:lvl3pPr>
            <a:lvl4pPr marL="1146175" indent="-287338" algn="l" rtl="0" eaLnBrk="1" fontAlgn="base" hangingPunct="1">
              <a:lnSpc>
                <a:spcPct val="90000"/>
              </a:lnSpc>
              <a:spcBef>
                <a:spcPct val="10000"/>
              </a:spcBef>
              <a:spcAft>
                <a:spcPct val="0"/>
              </a:spcAft>
              <a:buClr>
                <a:srgbClr val="004880"/>
              </a:buClr>
              <a:buChar char="–"/>
              <a:defRPr sz="3200">
                <a:solidFill>
                  <a:srgbClr val="1E4191"/>
                </a:solidFill>
                <a:latin typeface="+mn-lt"/>
              </a:defRPr>
            </a:lvl4pPr>
            <a:lvl5pPr marL="1546225" indent="-285750" algn="l" rtl="0" eaLnBrk="1" fontAlgn="base" hangingPunct="1">
              <a:lnSpc>
                <a:spcPct val="90000"/>
              </a:lnSpc>
              <a:spcBef>
                <a:spcPts val="240"/>
              </a:spcBef>
              <a:spcAft>
                <a:spcPct val="0"/>
              </a:spcAft>
              <a:buClr>
                <a:srgbClr val="004880"/>
              </a:buClr>
              <a:buChar char="–"/>
              <a:defRPr sz="3200">
                <a:solidFill>
                  <a:srgbClr val="1E4191"/>
                </a:solidFill>
                <a:latin typeface="+mn-lt"/>
              </a:defRPr>
            </a:lvl5pPr>
            <a:lvl6pPr marL="2003425" indent="-28575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4880"/>
              </a:buClr>
              <a:buChar char="–"/>
              <a:defRPr sz="3200">
                <a:solidFill>
                  <a:srgbClr val="1E4191"/>
                </a:solidFill>
                <a:latin typeface="+mn-lt"/>
              </a:defRPr>
            </a:lvl6pPr>
            <a:lvl7pPr marL="2460625" indent="-28575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4880"/>
              </a:buClr>
              <a:buChar char="–"/>
              <a:defRPr sz="3200">
                <a:solidFill>
                  <a:srgbClr val="1E4191"/>
                </a:solidFill>
                <a:latin typeface="+mn-lt"/>
              </a:defRPr>
            </a:lvl7pPr>
            <a:lvl8pPr marL="2917825" indent="-28575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4880"/>
              </a:buClr>
              <a:buChar char="–"/>
              <a:defRPr sz="3200">
                <a:solidFill>
                  <a:srgbClr val="1E4191"/>
                </a:solidFill>
                <a:latin typeface="+mn-lt"/>
              </a:defRPr>
            </a:lvl8pPr>
            <a:lvl9pPr marL="3375025" indent="-28575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4880"/>
              </a:buClr>
              <a:buChar char="–"/>
              <a:defRPr sz="3200">
                <a:solidFill>
                  <a:srgbClr val="1E4191"/>
                </a:solidFill>
                <a:latin typeface="+mn-lt"/>
              </a:defRPr>
            </a:lvl9pPr>
          </a:lstStyle>
          <a:p>
            <a:r>
              <a:rPr lang="en-US" sz="1400" kern="0" dirty="0">
                <a:solidFill>
                  <a:schemeClr val="accent3"/>
                </a:solidFill>
              </a:rPr>
              <a:t>Template and unique numbers on the dedicated folder:</a:t>
            </a:r>
          </a:p>
          <a:p>
            <a:r>
              <a:rPr lang="en-US" sz="1400" kern="0" dirty="0">
                <a:solidFill>
                  <a:schemeClr val="accent3"/>
                </a:solidFill>
                <a:hlinkClick r:id="rId3"/>
              </a:rPr>
              <a:t>http://libraries.ge.com/foldersIndex.do?entity_id=38189161101&amp;sid=101&amp;SF=1#38189161101</a:t>
            </a:r>
            <a:endParaRPr lang="en-US" sz="1400" kern="0" dirty="0">
              <a:solidFill>
                <a:schemeClr val="accent3"/>
              </a:solidFill>
            </a:endParaRPr>
          </a:p>
          <a:p>
            <a:endParaRPr lang="en-US" sz="1400" kern="0" dirty="0">
              <a:solidFill>
                <a:schemeClr val="accent3"/>
              </a:solidFill>
            </a:endParaRPr>
          </a:p>
          <a:p>
            <a:endParaRPr lang="en-US" sz="2000" kern="0" dirty="0"/>
          </a:p>
          <a:p>
            <a:endParaRPr lang="en-US" sz="2000" kern="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7338" y="5381625"/>
            <a:ext cx="3648075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125435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Impact Analysis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23623" y="1074056"/>
            <a:ext cx="8459788" cy="754743"/>
          </a:xfrm>
        </p:spPr>
        <p:txBody>
          <a:bodyPr/>
          <a:lstStyle/>
          <a:p>
            <a:r>
              <a:rPr lang="en-US" sz="2000" dirty="0"/>
              <a:t>Example: CIA075_EPE-3539 </a:t>
            </a:r>
          </a:p>
          <a:p>
            <a:r>
              <a:rPr lang="en-US" sz="2000" dirty="0"/>
              <a:t>Exxon required a 3 contact e-stop button (instead of 2 for standard)</a:t>
            </a:r>
          </a:p>
          <a:p>
            <a:endParaRPr lang="en-US" sz="2000" dirty="0"/>
          </a:p>
          <a:p>
            <a:endParaRPr lang="en-US" sz="20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7278" y="2594202"/>
            <a:ext cx="7044356" cy="3371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568824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Impact Analysis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23623" y="1074056"/>
            <a:ext cx="8459788" cy="754743"/>
          </a:xfrm>
        </p:spPr>
        <p:txBody>
          <a:bodyPr/>
          <a:lstStyle/>
          <a:p>
            <a:r>
              <a:rPr lang="en-US" sz="2000" dirty="0"/>
              <a:t>Example: CIA075_EPE-3539 </a:t>
            </a:r>
          </a:p>
          <a:p>
            <a:r>
              <a:rPr lang="en-US" sz="2000" dirty="0"/>
              <a:t>Exxon required a 3 contact e-stop button (instead of 2 for standard)</a:t>
            </a:r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7" name="Espace réservé du contenu 2"/>
          <p:cNvSpPr txBox="1">
            <a:spLocks/>
          </p:cNvSpPr>
          <p:nvPr/>
        </p:nvSpPr>
        <p:spPr bwMode="auto">
          <a:xfrm>
            <a:off x="526823" y="2212975"/>
            <a:ext cx="8138206" cy="4115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004880"/>
              </a:buClr>
              <a:defRPr sz="3200">
                <a:solidFill>
                  <a:srgbClr val="1E4191"/>
                </a:solidFill>
                <a:latin typeface="+mn-lt"/>
                <a:ea typeface="+mn-ea"/>
                <a:cs typeface="+mn-cs"/>
              </a:defRPr>
            </a:lvl1pPr>
            <a:lvl2pPr marL="341313" indent="-339725" algn="l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rgbClr val="004880"/>
              </a:buClr>
              <a:buFont typeface="GE Inspira Pitch" pitchFamily="34" charset="0"/>
              <a:buChar char="•"/>
              <a:defRPr sz="3200">
                <a:solidFill>
                  <a:srgbClr val="1E4191"/>
                </a:solidFill>
                <a:latin typeface="+mn-lt"/>
              </a:defRPr>
            </a:lvl2pPr>
            <a:lvl3pPr marL="744538" indent="-288925" algn="l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4880"/>
              </a:buClr>
              <a:buChar char="–"/>
              <a:defRPr sz="3200">
                <a:solidFill>
                  <a:srgbClr val="1E4191"/>
                </a:solidFill>
                <a:latin typeface="+mn-lt"/>
              </a:defRPr>
            </a:lvl3pPr>
            <a:lvl4pPr marL="1146175" indent="-287338" algn="l" rtl="0" eaLnBrk="1" fontAlgn="base" hangingPunct="1">
              <a:lnSpc>
                <a:spcPct val="90000"/>
              </a:lnSpc>
              <a:spcBef>
                <a:spcPct val="10000"/>
              </a:spcBef>
              <a:spcAft>
                <a:spcPct val="0"/>
              </a:spcAft>
              <a:buClr>
                <a:srgbClr val="004880"/>
              </a:buClr>
              <a:buChar char="–"/>
              <a:defRPr sz="3200">
                <a:solidFill>
                  <a:srgbClr val="1E4191"/>
                </a:solidFill>
                <a:latin typeface="+mn-lt"/>
              </a:defRPr>
            </a:lvl4pPr>
            <a:lvl5pPr marL="1546225" indent="-285750" algn="l" rtl="0" eaLnBrk="1" fontAlgn="base" hangingPunct="1">
              <a:lnSpc>
                <a:spcPct val="90000"/>
              </a:lnSpc>
              <a:spcBef>
                <a:spcPts val="240"/>
              </a:spcBef>
              <a:spcAft>
                <a:spcPct val="0"/>
              </a:spcAft>
              <a:buClr>
                <a:srgbClr val="004880"/>
              </a:buClr>
              <a:buChar char="–"/>
              <a:defRPr sz="3200">
                <a:solidFill>
                  <a:srgbClr val="1E4191"/>
                </a:solidFill>
                <a:latin typeface="+mn-lt"/>
              </a:defRPr>
            </a:lvl5pPr>
            <a:lvl6pPr marL="2003425" indent="-28575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4880"/>
              </a:buClr>
              <a:buChar char="–"/>
              <a:defRPr sz="3200">
                <a:solidFill>
                  <a:srgbClr val="1E4191"/>
                </a:solidFill>
                <a:latin typeface="+mn-lt"/>
              </a:defRPr>
            </a:lvl6pPr>
            <a:lvl7pPr marL="2460625" indent="-28575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4880"/>
              </a:buClr>
              <a:buChar char="–"/>
              <a:defRPr sz="3200">
                <a:solidFill>
                  <a:srgbClr val="1E4191"/>
                </a:solidFill>
                <a:latin typeface="+mn-lt"/>
              </a:defRPr>
            </a:lvl7pPr>
            <a:lvl8pPr marL="2917825" indent="-28575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4880"/>
              </a:buClr>
              <a:buChar char="–"/>
              <a:defRPr sz="3200">
                <a:solidFill>
                  <a:srgbClr val="1E4191"/>
                </a:solidFill>
                <a:latin typeface="+mn-lt"/>
              </a:defRPr>
            </a:lvl8pPr>
            <a:lvl9pPr marL="3375025" indent="-28575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4880"/>
              </a:buClr>
              <a:buChar char="–"/>
              <a:defRPr sz="3200">
                <a:solidFill>
                  <a:srgbClr val="1E4191"/>
                </a:solidFill>
                <a:latin typeface="+mn-lt"/>
              </a:defRPr>
            </a:lvl9pPr>
          </a:lstStyle>
          <a:p>
            <a:r>
              <a:rPr lang="en-US" sz="2000" kern="0" dirty="0"/>
              <a:t>Main parts:</a:t>
            </a:r>
          </a:p>
          <a:p>
            <a:pPr marL="342900" indent="-342900">
              <a:buFontTx/>
              <a:buChar char="-"/>
            </a:pPr>
            <a:r>
              <a:rPr lang="en-US" sz="2000" kern="0" dirty="0"/>
              <a:t>Introduction, reason of the modification</a:t>
            </a:r>
          </a:p>
          <a:p>
            <a:pPr marL="342900" indent="-342900">
              <a:buFontTx/>
              <a:buChar char="-"/>
            </a:pPr>
            <a:r>
              <a:rPr lang="en-US" sz="2000" kern="0" dirty="0"/>
              <a:t>Impacts on documentation (Filled by Safety and Controls team)</a:t>
            </a:r>
          </a:p>
          <a:p>
            <a:pPr marL="342900" indent="-342900">
              <a:buFontTx/>
              <a:buChar char="-"/>
            </a:pPr>
            <a:r>
              <a:rPr lang="en-US" sz="2000" kern="0" dirty="0"/>
              <a:t>Impacts on software/hardware/sensors/actuators</a:t>
            </a:r>
          </a:p>
          <a:p>
            <a:pPr marL="342900" indent="-342900">
              <a:buFontTx/>
              <a:buChar char="-"/>
            </a:pPr>
            <a:r>
              <a:rPr lang="en-US" sz="2000" kern="0" dirty="0"/>
              <a:t>Technical description of the change</a:t>
            </a:r>
          </a:p>
          <a:p>
            <a:pPr marL="342900" indent="-342900">
              <a:buFontTx/>
              <a:buChar char="-"/>
            </a:pPr>
            <a:r>
              <a:rPr lang="en-US" sz="2000" kern="0" dirty="0"/>
              <a:t>Simulation / test plan to be done</a:t>
            </a:r>
          </a:p>
          <a:p>
            <a:pPr marL="342900" indent="-342900">
              <a:buFontTx/>
              <a:buChar char="-"/>
            </a:pPr>
            <a:r>
              <a:rPr lang="en-US" sz="2000" kern="0" dirty="0"/>
              <a:t>First validation before implementation</a:t>
            </a:r>
          </a:p>
          <a:p>
            <a:pPr marL="342900" indent="-342900">
              <a:buFontTx/>
              <a:buChar char="-"/>
            </a:pPr>
            <a:r>
              <a:rPr lang="en-US" sz="2000" kern="0" dirty="0"/>
              <a:t>Result (software, documents, simulations)</a:t>
            </a:r>
          </a:p>
          <a:p>
            <a:pPr marL="342900" indent="-342900">
              <a:buFontTx/>
              <a:buChar char="-"/>
            </a:pPr>
            <a:r>
              <a:rPr lang="en-US" sz="2000" kern="0" dirty="0"/>
              <a:t>Final validation in e-DRB</a:t>
            </a:r>
          </a:p>
          <a:p>
            <a:pPr marL="342900" indent="-342900">
              <a:buFontTx/>
              <a:buChar char="-"/>
            </a:pPr>
            <a:endParaRPr lang="en-US" sz="2000" kern="0" dirty="0"/>
          </a:p>
          <a:p>
            <a:endParaRPr lang="en-US" sz="2000" kern="0" dirty="0"/>
          </a:p>
          <a:p>
            <a:endParaRPr lang="en-US" sz="2000" kern="0" dirty="0"/>
          </a:p>
        </p:txBody>
      </p:sp>
    </p:spTree>
    <p:extLst>
      <p:ext uri="{BB962C8B-B14F-4D97-AF65-F5344CB8AC3E}">
        <p14:creationId xmlns:p14="http://schemas.microsoft.com/office/powerpoint/2010/main" val="3003286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Impact Analysis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23623" y="1074056"/>
            <a:ext cx="8459788" cy="754743"/>
          </a:xfrm>
        </p:spPr>
        <p:txBody>
          <a:bodyPr/>
          <a:lstStyle/>
          <a:p>
            <a:r>
              <a:rPr lang="en-US" sz="2000" dirty="0"/>
              <a:t>Example: CIA078_EPE-3542</a:t>
            </a:r>
          </a:p>
          <a:p>
            <a:r>
              <a:rPr lang="en-US" sz="2000" dirty="0"/>
              <a:t>Apply NAMUR standards for YAIC cards</a:t>
            </a:r>
          </a:p>
          <a:p>
            <a:endParaRPr lang="en-US" sz="2000" dirty="0"/>
          </a:p>
          <a:p>
            <a:endParaRPr lang="en-US" sz="20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533650"/>
            <a:ext cx="8229600" cy="179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655797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proof test – Closing Times</a:t>
            </a:r>
            <a:endParaRPr lang="fr-FR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6838" y="1470025"/>
            <a:ext cx="6320752" cy="354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ZoneTexte 4"/>
          <p:cNvSpPr txBox="1"/>
          <p:nvPr/>
        </p:nvSpPr>
        <p:spPr>
          <a:xfrm>
            <a:off x="219075" y="1447800"/>
            <a:ext cx="250507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SRV/GCV closing time are measured with the help of software/HMI (in BPCS)</a:t>
            </a:r>
          </a:p>
          <a:p>
            <a:endParaRPr lang="en-US" sz="2000" dirty="0"/>
          </a:p>
          <a:p>
            <a:r>
              <a:rPr lang="en-US" sz="2000" dirty="0"/>
              <a:t>Customer is required to test them regularly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19449920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proof test – P1 depressurization</a:t>
            </a:r>
            <a:endParaRPr lang="fr-FR" dirty="0"/>
          </a:p>
        </p:txBody>
      </p:sp>
      <p:sp>
        <p:nvSpPr>
          <p:cNvPr id="5" name="ZoneTexte 4"/>
          <p:cNvSpPr txBox="1"/>
          <p:nvPr/>
        </p:nvSpPr>
        <p:spPr>
          <a:xfrm>
            <a:off x="0" y="1447800"/>
            <a:ext cx="269557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E-stop test is done during crank.</a:t>
            </a:r>
          </a:p>
          <a:p>
            <a:r>
              <a:rPr lang="en-US" sz="2000" dirty="0"/>
              <a:t>It validates:</a:t>
            </a:r>
          </a:p>
          <a:p>
            <a:pPr marL="342900" indent="-342900">
              <a:buFontTx/>
              <a:buChar char="-"/>
            </a:pPr>
            <a:r>
              <a:rPr lang="en-US" sz="2000" dirty="0"/>
              <a:t>E-stop wiring</a:t>
            </a:r>
          </a:p>
          <a:p>
            <a:pPr marL="342900" indent="-342900">
              <a:buFontTx/>
              <a:buChar char="-"/>
            </a:pPr>
            <a:r>
              <a:rPr lang="en-US" sz="2000" dirty="0"/>
              <a:t>P1 depressurization time</a:t>
            </a:r>
          </a:p>
          <a:p>
            <a:pPr marL="342900" indent="-342900">
              <a:buFontTx/>
              <a:buChar char="-"/>
            </a:pPr>
            <a:r>
              <a:rPr lang="en-US" sz="2000" dirty="0"/>
              <a:t>Starting motor stopping time</a:t>
            </a:r>
            <a:endParaRPr lang="fr-FR" sz="2000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0279" y="1676400"/>
            <a:ext cx="6453719" cy="3624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170598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 descr="GEMeatball&amp;Ta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5" name="Rectangle 3"/>
          <p:cNvSpPr>
            <a:spLocks noGrp="1" noChangeArrowheads="1"/>
          </p:cNvSpPr>
          <p:nvPr>
            <p:ph type="title"/>
          </p:nvPr>
        </p:nvSpPr>
        <p:spPr>
          <a:xfrm>
            <a:off x="271463" y="2952750"/>
            <a:ext cx="8459787" cy="498598"/>
          </a:xfrm>
        </p:spPr>
        <p:txBody>
          <a:bodyPr/>
          <a:lstStyle/>
          <a:p>
            <a:pPr algn="ctr" eaLnBrk="1" hangingPunct="1"/>
            <a:r>
              <a:rPr lang="fr-FR" altLang="fr-FR" sz="3600" dirty="0">
                <a:solidFill>
                  <a:schemeClr val="tx1"/>
                </a:solidFill>
              </a:rPr>
              <a:t>Documentation</a:t>
            </a:r>
          </a:p>
        </p:txBody>
      </p:sp>
    </p:spTree>
    <p:extLst>
      <p:ext uri="{BB962C8B-B14F-4D97-AF65-F5344CB8AC3E}">
        <p14:creationId xmlns:p14="http://schemas.microsoft.com/office/powerpoint/2010/main" val="5198176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Documentation</a:t>
            </a:r>
            <a:endParaRPr lang="fr-FR" dirty="0"/>
          </a:p>
        </p:txBody>
      </p:sp>
      <p:sp>
        <p:nvSpPr>
          <p:cNvPr id="5" name="ZoneTexte 4"/>
          <p:cNvSpPr txBox="1"/>
          <p:nvPr/>
        </p:nvSpPr>
        <p:spPr>
          <a:xfrm>
            <a:off x="0" y="1447800"/>
            <a:ext cx="896302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In addition to: </a:t>
            </a:r>
          </a:p>
          <a:p>
            <a:r>
              <a:rPr lang="en-US" sz="2000" dirty="0"/>
              <a:t>GEH- 6723           Safety control functional safety instruction guide</a:t>
            </a:r>
          </a:p>
          <a:p>
            <a:r>
              <a:rPr lang="en-US" sz="2000" dirty="0"/>
              <a:t>GEH-6722	Safety control system guide</a:t>
            </a:r>
          </a:p>
          <a:p>
            <a:endParaRPr lang="en-US" sz="2000" dirty="0"/>
          </a:p>
          <a:p>
            <a:r>
              <a:rPr lang="en-US" sz="2000" dirty="0"/>
              <a:t>Control specification for </a:t>
            </a:r>
            <a:r>
              <a:rPr lang="en-US" sz="2000" dirty="0" err="1"/>
              <a:t>MarkVIeS</a:t>
            </a:r>
            <a:r>
              <a:rPr lang="en-US" sz="2000" dirty="0"/>
              <a:t> (A312  -GT,  HAUS –ST)</a:t>
            </a:r>
          </a:p>
          <a:p>
            <a:r>
              <a:rPr lang="en-US" sz="2000" dirty="0"/>
              <a:t>List of process </a:t>
            </a:r>
            <a:r>
              <a:rPr lang="en-US" sz="2000" dirty="0" err="1"/>
              <a:t>MarkVIeS</a:t>
            </a:r>
            <a:r>
              <a:rPr lang="en-US" sz="2000" dirty="0"/>
              <a:t> alarms with potential causes, consequences and debug support </a:t>
            </a:r>
          </a:p>
          <a:p>
            <a:r>
              <a:rPr lang="en-US" sz="2000" dirty="0"/>
              <a:t>GEK</a:t>
            </a:r>
          </a:p>
          <a:p>
            <a:endParaRPr lang="en-US" sz="2000" dirty="0"/>
          </a:p>
          <a:p>
            <a:r>
              <a:rPr lang="en-US" sz="2000" dirty="0"/>
              <a:t>List of periodic tests (description, acceptance criteria)</a:t>
            </a:r>
          </a:p>
        </p:txBody>
      </p:sp>
    </p:spTree>
    <p:extLst>
      <p:ext uri="{BB962C8B-B14F-4D97-AF65-F5344CB8AC3E}">
        <p14:creationId xmlns:p14="http://schemas.microsoft.com/office/powerpoint/2010/main" val="6199022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 descr="GEMeatball&amp;Ta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5" name="Rectangle 3"/>
          <p:cNvSpPr>
            <a:spLocks noGrp="1" noChangeArrowheads="1"/>
          </p:cNvSpPr>
          <p:nvPr>
            <p:ph type="title"/>
          </p:nvPr>
        </p:nvSpPr>
        <p:spPr>
          <a:xfrm>
            <a:off x="271463" y="2952750"/>
            <a:ext cx="8459787" cy="498598"/>
          </a:xfrm>
        </p:spPr>
        <p:txBody>
          <a:bodyPr/>
          <a:lstStyle/>
          <a:p>
            <a:pPr algn="ctr" eaLnBrk="1" hangingPunct="1"/>
            <a:r>
              <a:rPr lang="fr-FR" altLang="fr-FR" sz="3600" dirty="0">
                <a:solidFill>
                  <a:schemeClr val="bg1"/>
                </a:solidFill>
              </a:rPr>
              <a:t>SAT and site interface</a:t>
            </a:r>
          </a:p>
        </p:txBody>
      </p:sp>
    </p:spTree>
    <p:extLst>
      <p:ext uri="{BB962C8B-B14F-4D97-AF65-F5344CB8AC3E}">
        <p14:creationId xmlns:p14="http://schemas.microsoft.com/office/powerpoint/2010/main" val="12612222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443198"/>
          </a:xfrm>
        </p:spPr>
        <p:txBody>
          <a:bodyPr/>
          <a:lstStyle/>
          <a:p>
            <a:r>
              <a:rPr lang="en-US" dirty="0"/>
              <a:t>Site acceptance test  -SAT </a:t>
            </a:r>
            <a:endParaRPr lang="fr-FR" dirty="0"/>
          </a:p>
        </p:txBody>
      </p:sp>
      <p:sp>
        <p:nvSpPr>
          <p:cNvPr id="5" name="ZoneTexte 4"/>
          <p:cNvSpPr txBox="1"/>
          <p:nvPr/>
        </p:nvSpPr>
        <p:spPr>
          <a:xfrm>
            <a:off x="0" y="2667536"/>
            <a:ext cx="896302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Done by control TA during commissioning</a:t>
            </a:r>
          </a:p>
          <a:p>
            <a:r>
              <a:rPr lang="en-US" sz="2000" dirty="0"/>
              <a:t>Validated by SIL compliance engineer and CST req. engineer</a:t>
            </a:r>
          </a:p>
          <a:p>
            <a:r>
              <a:rPr lang="en-US" sz="2000" dirty="0"/>
              <a:t>Part of the certification folder</a:t>
            </a:r>
          </a:p>
          <a:p>
            <a:r>
              <a:rPr lang="en-US" sz="2000" dirty="0"/>
              <a:t>Results stored and forwarded to </a:t>
            </a:r>
            <a:r>
              <a:rPr lang="en-US" sz="2000" dirty="0" err="1"/>
              <a:t>NoBo</a:t>
            </a:r>
            <a:r>
              <a:rPr lang="en-US" sz="2000" dirty="0"/>
              <a:t> (if necessary) by SIL compliance engineer</a:t>
            </a:r>
          </a:p>
          <a:p>
            <a:endParaRPr lang="en-US" sz="2000" dirty="0"/>
          </a:p>
          <a:p>
            <a:r>
              <a:rPr lang="en-US" sz="2000" dirty="0"/>
              <a:t>SAT specification developed by controls and SCL.</a:t>
            </a:r>
          </a:p>
          <a:p>
            <a:r>
              <a:rPr lang="en-US" sz="2000" dirty="0"/>
              <a:t>Warning: to check and include if different from standard (additional SIFs, etc. modifications identified by CIA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3" y="857251"/>
            <a:ext cx="6829425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600879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 descr="GEMeatball&amp;Ta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5" name="Rectangle 3"/>
          <p:cNvSpPr>
            <a:spLocks noGrp="1" noChangeArrowheads="1"/>
          </p:cNvSpPr>
          <p:nvPr>
            <p:ph type="title"/>
          </p:nvPr>
        </p:nvSpPr>
        <p:spPr>
          <a:xfrm>
            <a:off x="271463" y="2952750"/>
            <a:ext cx="8459787" cy="498598"/>
          </a:xfrm>
        </p:spPr>
        <p:txBody>
          <a:bodyPr/>
          <a:lstStyle/>
          <a:p>
            <a:pPr algn="ctr" eaLnBrk="1" hangingPunct="1"/>
            <a:r>
              <a:rPr lang="fr-FR" altLang="fr-FR" sz="3600" dirty="0" err="1">
                <a:solidFill>
                  <a:schemeClr val="bg1"/>
                </a:solidFill>
              </a:rPr>
              <a:t>Process</a:t>
            </a:r>
            <a:endParaRPr lang="fr-FR" altLang="fr-FR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3721772"/>
      </p:ext>
    </p:extLst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GE Colour Palette">
      <a:dk1>
        <a:srgbClr val="1E4191"/>
      </a:dk1>
      <a:lt1>
        <a:srgbClr val="FFFFFF"/>
      </a:lt1>
      <a:dk2>
        <a:srgbClr val="FF6600"/>
      </a:dk2>
      <a:lt2>
        <a:srgbClr val="EE3324"/>
      </a:lt2>
      <a:accent1>
        <a:srgbClr val="711371"/>
      </a:accent1>
      <a:accent2>
        <a:srgbClr val="28B9F5"/>
      </a:accent2>
      <a:accent3>
        <a:srgbClr val="00AA50"/>
      </a:accent3>
      <a:accent4>
        <a:srgbClr val="CD0078"/>
      </a:accent4>
      <a:accent5>
        <a:srgbClr val="76B900"/>
      </a:accent5>
      <a:accent6>
        <a:srgbClr val="EBD70A"/>
      </a:accent6>
      <a:hlink>
        <a:srgbClr val="EE3324"/>
      </a:hlink>
      <a:folHlink>
        <a:srgbClr val="EE3324"/>
      </a:folHlink>
    </a:clrScheme>
    <a:fontScheme name="GE Fonts">
      <a:majorFont>
        <a:latin typeface="GE Inspira Pitch"/>
        <a:ea typeface=""/>
        <a:cs typeface=""/>
      </a:majorFont>
      <a:minorFont>
        <a:latin typeface="GE Inspira Pitch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GE Energy Template 2006 amélioré">
  <a:themeElements>
    <a:clrScheme name="">
      <a:dk1>
        <a:srgbClr val="1E4191"/>
      </a:dk1>
      <a:lt1>
        <a:srgbClr val="FFFFFF"/>
      </a:lt1>
      <a:dk2>
        <a:srgbClr val="FF6600"/>
      </a:dk2>
      <a:lt2>
        <a:srgbClr val="00AA50"/>
      </a:lt2>
      <a:accent1>
        <a:srgbClr val="9B50D7"/>
      </a:accent1>
      <a:accent2>
        <a:srgbClr val="28B9F5"/>
      </a:accent2>
      <a:accent3>
        <a:srgbClr val="FFFFFF"/>
      </a:accent3>
      <a:accent4>
        <a:srgbClr val="18367B"/>
      </a:accent4>
      <a:accent5>
        <a:srgbClr val="CBB3E8"/>
      </a:accent5>
      <a:accent6>
        <a:srgbClr val="23A7DE"/>
      </a:accent6>
      <a:hlink>
        <a:srgbClr val="CD0078"/>
      </a:hlink>
      <a:folHlink>
        <a:srgbClr val="23E100"/>
      </a:folHlink>
    </a:clrScheme>
    <a:fontScheme name="GE Energy Template 2006 amélioré">
      <a:majorFont>
        <a:latin typeface="GE Inspira Pitch"/>
        <a:ea typeface=""/>
        <a:cs typeface=""/>
      </a:majorFont>
      <a:minorFont>
        <a:latin typeface="GE Inspira Pitch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fr-FR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E Inspira Pitch" pitchFamily="34" charset="0"/>
            <a:cs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fr-FR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E Inspira Pitch" pitchFamily="34" charset="0"/>
            <a:cs typeface="Times New Roman" pitchFamily="18" charset="0"/>
          </a:defRPr>
        </a:defPPr>
      </a:lstStyle>
    </a:lnDef>
  </a:objectDefaults>
  <a:extraClrSchemeLst>
    <a:extraClrScheme>
      <a:clrScheme name="GE Energy Template 2006 amélioré 1">
        <a:dk1>
          <a:srgbClr val="1E4191"/>
        </a:dk1>
        <a:lt1>
          <a:srgbClr val="FFFFFF"/>
        </a:lt1>
        <a:dk2>
          <a:srgbClr val="FF6600"/>
        </a:dk2>
        <a:lt2>
          <a:srgbClr val="00AA50"/>
        </a:lt2>
        <a:accent1>
          <a:srgbClr val="9B50D7"/>
        </a:accent1>
        <a:accent2>
          <a:srgbClr val="28B9F5"/>
        </a:accent2>
        <a:accent3>
          <a:srgbClr val="FFFFFF"/>
        </a:accent3>
        <a:accent4>
          <a:srgbClr val="18367B"/>
        </a:accent4>
        <a:accent5>
          <a:srgbClr val="CBB3E8"/>
        </a:accent5>
        <a:accent6>
          <a:srgbClr val="23A7DE"/>
        </a:accent6>
        <a:hlink>
          <a:srgbClr val="EBD70A"/>
        </a:hlink>
        <a:folHlink>
          <a:srgbClr val="23E1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4880"/>
      </a:dk2>
      <a:lt2>
        <a:srgbClr val="CECECE"/>
      </a:lt2>
      <a:accent1>
        <a:srgbClr val="004880"/>
      </a:accent1>
      <a:accent2>
        <a:srgbClr val="B3D7E8"/>
      </a:accent2>
      <a:accent3>
        <a:srgbClr val="FFFFFF"/>
      </a:accent3>
      <a:accent4>
        <a:srgbClr val="000000"/>
      </a:accent4>
      <a:accent5>
        <a:srgbClr val="AAB1C0"/>
      </a:accent5>
      <a:accent6>
        <a:srgbClr val="A2C3D2"/>
      </a:accent6>
      <a:hlink>
        <a:srgbClr val="094CAD"/>
      </a:hlink>
      <a:folHlink>
        <a:srgbClr val="4393C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4880"/>
      </a:dk2>
      <a:lt2>
        <a:srgbClr val="CECECE"/>
      </a:lt2>
      <a:accent1>
        <a:srgbClr val="004880"/>
      </a:accent1>
      <a:accent2>
        <a:srgbClr val="B3D7E8"/>
      </a:accent2>
      <a:accent3>
        <a:srgbClr val="FFFFFF"/>
      </a:accent3>
      <a:accent4>
        <a:srgbClr val="000000"/>
      </a:accent4>
      <a:accent5>
        <a:srgbClr val="AAB1C0"/>
      </a:accent5>
      <a:accent6>
        <a:srgbClr val="A2C3D2"/>
      </a:accent6>
      <a:hlink>
        <a:srgbClr val="094CAD"/>
      </a:hlink>
      <a:folHlink>
        <a:srgbClr val="4393C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14965</TotalTime>
  <Words>1186</Words>
  <Application>Microsoft Office PowerPoint</Application>
  <PresentationFormat>On-screen Show (4:3)</PresentationFormat>
  <Paragraphs>196</Paragraphs>
  <Slides>27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GE Inspira Pitch</vt:lpstr>
      <vt:lpstr>Wingdings</vt:lpstr>
      <vt:lpstr>blank</vt:lpstr>
      <vt:lpstr>GE Energy Template 2006 amélioré</vt:lpstr>
      <vt:lpstr>Projects with SIL Quick HOWTO</vt:lpstr>
      <vt:lpstr>Context </vt:lpstr>
      <vt:lpstr>SIS Architecture</vt:lpstr>
      <vt:lpstr>PowerPoint Presentation</vt:lpstr>
      <vt:lpstr>Process</vt:lpstr>
      <vt:lpstr>Process</vt:lpstr>
      <vt:lpstr>Process - Software</vt:lpstr>
      <vt:lpstr>Process - Milestones</vt:lpstr>
      <vt:lpstr>SIL Team</vt:lpstr>
      <vt:lpstr>SIL Coding Practices </vt:lpstr>
      <vt:lpstr>IEC61511 – Independence of the safety controller</vt:lpstr>
      <vt:lpstr>Exhaust Purge with Damper</vt:lpstr>
      <vt:lpstr>Exhaust purge with damper</vt:lpstr>
      <vt:lpstr>Process</vt:lpstr>
      <vt:lpstr>Change Impact Analysis</vt:lpstr>
      <vt:lpstr>Change Impact Analysis</vt:lpstr>
      <vt:lpstr>Change Impact Analysis</vt:lpstr>
      <vt:lpstr>Change Impact Analysis</vt:lpstr>
      <vt:lpstr>Change Impact Analysis</vt:lpstr>
      <vt:lpstr>Change Impact Analysis</vt:lpstr>
      <vt:lpstr>Regular proof test – Closing Times</vt:lpstr>
      <vt:lpstr>Regular proof test – P1 depressurization</vt:lpstr>
      <vt:lpstr>Documentation</vt:lpstr>
      <vt:lpstr>Documentation</vt:lpstr>
      <vt:lpstr>SAT and site interface</vt:lpstr>
      <vt:lpstr>Site acceptance test  -SAT </vt:lpstr>
      <vt:lpstr>Process</vt:lpstr>
    </vt:vector>
  </TitlesOfParts>
  <Manager/>
  <Company>GE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Template</dc:title>
  <dc:subject/>
  <dc:creator>Jeanmarc.Ingremeau@ge.com</dc:creator>
  <cp:keywords>September 22, 2004 – Version 1.1</cp:keywords>
  <dc:description>General Electric Company 2004</dc:description>
  <cp:lastModifiedBy>Ingremeau, Jean marc (GE Gas Power)</cp:lastModifiedBy>
  <cp:revision>401</cp:revision>
  <cp:lastPrinted>2012-03-21T12:45:42Z</cp:lastPrinted>
  <dcterms:created xsi:type="dcterms:W3CDTF">2011-08-09T07:53:09Z</dcterms:created>
  <dcterms:modified xsi:type="dcterms:W3CDTF">2021-03-15T12:54:52Z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alette">
    <vt:lpwstr>GE Template</vt:lpwstr>
  </property>
  <property fmtid="{D5CDD505-2E9C-101B-9397-08002B2CF9AE}" pid="3" name="WizKit Template Type">
    <vt:lpwstr>Onscreen</vt:lpwstr>
  </property>
  <property fmtid="{D5CDD505-2E9C-101B-9397-08002B2CF9AE}" pid="4" name="WizKit Template Version">
    <vt:i4>4</vt:i4>
  </property>
  <property fmtid="{D5CDD505-2E9C-101B-9397-08002B2CF9AE}" pid="5" name="TB4 template version">
    <vt:r8>4</vt:r8>
  </property>
  <property fmtid="{D5CDD505-2E9C-101B-9397-08002B2CF9AE}" pid="6" name="TB4 template type">
    <vt:lpwstr>onscreen</vt:lpwstr>
  </property>
</Properties>
</file>